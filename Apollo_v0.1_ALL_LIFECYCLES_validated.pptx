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256" r:id="rId5"/>
    <p:sldId id="269" r:id="rId6"/>
    <p:sldId id="271" r:id="rId7"/>
    <p:sldId id="272" r:id="rId28"/>
    <p:sldId id="273" r:id="rId29"/>
    <p:sldId id="274" r:id="rId30"/>
    <p:sldId id="275" r:id="rId31"/>
    <p:sldId id="276" r:id="rId32"/>
    <p:sldId id="277" r:id="rId33"/>
    <p:sldId id="278" r:id="rId34"/>
    <p:sldId id="257" r:id="rId8"/>
    <p:sldId id="258" r:id="rId9"/>
    <p:sldId id="270"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798E3A-2231-8B41-8771-15EFC5FC58A4}" v="3321" dt="2026-07-31T00:13:03.9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Soehendra" userId="154453db-e56f-44e6-a197-bfbe92865cf8" providerId="ADAL" clId="{DFB18621-0C11-5947-AA7A-8D9AA0F38128}"/>
    <pc:docChg chg="undo redo custSel addSld modSld">
      <pc:chgData name="William Soehendra" userId="154453db-e56f-44e6-a197-bfbe92865cf8" providerId="ADAL" clId="{DFB18621-0C11-5947-AA7A-8D9AA0F38128}" dt="2026-07-31T00:13:03.905" v="3921" actId="1076"/>
      <pc:docMkLst>
        <pc:docMk/>
      </pc:docMkLst>
      <pc:sldChg chg="addSp delSp modSp mod">
        <pc:chgData name="William Soehendra" userId="154453db-e56f-44e6-a197-bfbe92865cf8" providerId="ADAL" clId="{DFB18621-0C11-5947-AA7A-8D9AA0F38128}" dt="2026-07-29T06:22:26.349" v="1428" actId="1076"/>
        <pc:sldMkLst>
          <pc:docMk/>
          <pc:sldMk cId="0" sldId="257"/>
        </pc:sldMkLst>
        <pc:spChg chg="mod">
          <ac:chgData name="William Soehendra" userId="154453db-e56f-44e6-a197-bfbe92865cf8" providerId="ADAL" clId="{DFB18621-0C11-5947-AA7A-8D9AA0F38128}" dt="2026-07-29T06:22:26.349" v="1428" actId="1076"/>
          <ac:spMkLst>
            <pc:docMk/>
            <pc:sldMk cId="0" sldId="257"/>
            <ac:spMk id="34" creationId="{00000000-0000-0000-0000-000000000000}"/>
          </ac:spMkLst>
        </pc:spChg>
      </pc:sldChg>
      <pc:sldChg chg="modSp mod">
        <pc:chgData name="William Soehendra" userId="154453db-e56f-44e6-a197-bfbe92865cf8" providerId="ADAL" clId="{DFB18621-0C11-5947-AA7A-8D9AA0F38128}" dt="2026-07-29T06:19:42.605" v="1240" actId="14734"/>
        <pc:sldMkLst>
          <pc:docMk/>
          <pc:sldMk cId="0" sldId="259"/>
        </pc:sldMkLst>
        <pc:graphicFrameChg chg="modGraphic">
          <ac:chgData name="William Soehendra" userId="154453db-e56f-44e6-a197-bfbe92865cf8" providerId="ADAL" clId="{DFB18621-0C11-5947-AA7A-8D9AA0F38128}" dt="2026-07-29T06:19:42.605" v="1240" actId="14734"/>
          <ac:graphicFrameMkLst>
            <pc:docMk/>
            <pc:sldMk cId="0" sldId="259"/>
            <ac:graphicFrameMk id="10" creationId="{00000000-0000-0000-0000-000000000000}"/>
          </ac:graphicFrameMkLst>
        </pc:graphicFrameChg>
      </pc:sldChg>
      <pc:sldChg chg="addSp delSp modSp mod">
        <pc:chgData name="William Soehendra" userId="154453db-e56f-44e6-a197-bfbe92865cf8" providerId="ADAL" clId="{DFB18621-0C11-5947-AA7A-8D9AA0F38128}" dt="2026-07-30T23:52:23.636" v="2613" actId="1035"/>
        <pc:sldMkLst>
          <pc:docMk/>
          <pc:sldMk cId="2694674380" sldId="269"/>
        </pc:sldMkLst>
        <pc:spChg chg="add del mod">
          <ac:chgData name="William Soehendra" userId="154453db-e56f-44e6-a197-bfbe92865cf8" providerId="ADAL" clId="{DFB18621-0C11-5947-AA7A-8D9AA0F38128}" dt="2026-07-30T14:13:39.912" v="2092" actId="20577"/>
          <ac:spMkLst>
            <pc:docMk/>
            <pc:sldMk cId="2694674380" sldId="269"/>
            <ac:spMk id="3" creationId="{B858967A-59EB-4E63-4169-9A1FEF185C8E}"/>
          </ac:spMkLst>
        </pc:spChg>
        <pc:spChg chg="add mod">
          <ac:chgData name="William Soehendra" userId="154453db-e56f-44e6-a197-bfbe92865cf8" providerId="ADAL" clId="{DFB18621-0C11-5947-AA7A-8D9AA0F38128}" dt="2026-07-29T00:05:11.763" v="7"/>
          <ac:spMkLst>
            <pc:docMk/>
            <pc:sldMk cId="2694674380" sldId="269"/>
            <ac:spMk id="6" creationId="{5E1E798F-F2F4-E1AA-5FBD-7B8D677B7E9E}"/>
          </ac:spMkLst>
        </pc:spChg>
        <pc:spChg chg="add mod">
          <ac:chgData name="William Soehendra" userId="154453db-e56f-44e6-a197-bfbe92865cf8" providerId="ADAL" clId="{DFB18621-0C11-5947-AA7A-8D9AA0F38128}" dt="2026-07-30T03:10:39.415" v="1958" actId="14100"/>
          <ac:spMkLst>
            <pc:docMk/>
            <pc:sldMk cId="2694674380" sldId="269"/>
            <ac:spMk id="7" creationId="{CBB5F9FE-DA58-976A-EAE0-C521CE67E536}"/>
          </ac:spMkLst>
        </pc:spChg>
        <pc:spChg chg="add mod topLvl">
          <ac:chgData name="William Soehendra" userId="154453db-e56f-44e6-a197-bfbe92865cf8" providerId="ADAL" clId="{DFB18621-0C11-5947-AA7A-8D9AA0F38128}" dt="2026-07-29T00:10:35.710" v="259" actId="1036"/>
          <ac:spMkLst>
            <pc:docMk/>
            <pc:sldMk cId="2694674380" sldId="269"/>
            <ac:spMk id="10" creationId="{6BFAB7A8-B2D5-F751-ABA8-1B573AB65679}"/>
          </ac:spMkLst>
        </pc:spChg>
        <pc:spChg chg="add mod">
          <ac:chgData name="William Soehendra" userId="154453db-e56f-44e6-a197-bfbe92865cf8" providerId="ADAL" clId="{DFB18621-0C11-5947-AA7A-8D9AA0F38128}" dt="2026-07-30T14:12:40.982" v="1980" actId="1036"/>
          <ac:spMkLst>
            <pc:docMk/>
            <pc:sldMk cId="2694674380" sldId="269"/>
            <ac:spMk id="14" creationId="{89B31339-AF67-62E0-64B5-C2977A6C19FE}"/>
          </ac:spMkLst>
        </pc:spChg>
        <pc:spChg chg="add mod">
          <ac:chgData name="William Soehendra" userId="154453db-e56f-44e6-a197-bfbe92865cf8" providerId="ADAL" clId="{DFB18621-0C11-5947-AA7A-8D9AA0F38128}" dt="2026-07-29T00:14:39.806" v="322" actId="1076"/>
          <ac:spMkLst>
            <pc:docMk/>
            <pc:sldMk cId="2694674380" sldId="269"/>
            <ac:spMk id="15" creationId="{BE497782-F8F2-AFB5-DC79-ECB5D1BD284D}"/>
          </ac:spMkLst>
        </pc:spChg>
        <pc:spChg chg="add mod">
          <ac:chgData name="William Soehendra" userId="154453db-e56f-44e6-a197-bfbe92865cf8" providerId="ADAL" clId="{DFB18621-0C11-5947-AA7A-8D9AA0F38128}" dt="2026-07-30T14:12:40.982" v="1980" actId="1036"/>
          <ac:spMkLst>
            <pc:docMk/>
            <pc:sldMk cId="2694674380" sldId="269"/>
            <ac:spMk id="17" creationId="{AB8DC521-686B-AC32-B399-43B56CAD5BD3}"/>
          </ac:spMkLst>
        </pc:spChg>
        <pc:spChg chg="add mod">
          <ac:chgData name="William Soehendra" userId="154453db-e56f-44e6-a197-bfbe92865cf8" providerId="ADAL" clId="{DFB18621-0C11-5947-AA7A-8D9AA0F38128}" dt="2026-07-30T23:42:36.081" v="2582" actId="1076"/>
          <ac:spMkLst>
            <pc:docMk/>
            <pc:sldMk cId="2694674380" sldId="269"/>
            <ac:spMk id="25" creationId="{B9A980A9-AB46-FAAD-2E90-452C0BB2E324}"/>
          </ac:spMkLst>
        </pc:spChg>
        <pc:spChg chg="add mod">
          <ac:chgData name="William Soehendra" userId="154453db-e56f-44e6-a197-bfbe92865cf8" providerId="ADAL" clId="{DFB18621-0C11-5947-AA7A-8D9AA0F38128}" dt="2026-07-30T23:43:08.637" v="2594" actId="14100"/>
          <ac:spMkLst>
            <pc:docMk/>
            <pc:sldMk cId="2694674380" sldId="269"/>
            <ac:spMk id="31" creationId="{C109F633-AB8A-39F8-8D45-F6268531F0CB}"/>
          </ac:spMkLst>
        </pc:spChg>
        <pc:spChg chg="add mod">
          <ac:chgData name="William Soehendra" userId="154453db-e56f-44e6-a197-bfbe92865cf8" providerId="ADAL" clId="{DFB18621-0C11-5947-AA7A-8D9AA0F38128}" dt="2026-07-30T14:12:40.982" v="1980" actId="1036"/>
          <ac:spMkLst>
            <pc:docMk/>
            <pc:sldMk cId="2694674380" sldId="269"/>
            <ac:spMk id="32" creationId="{8F0E7CAD-92A4-4F63-BD94-AA0405F4BDE7}"/>
          </ac:spMkLst>
        </pc:spChg>
        <pc:spChg chg="add mod">
          <ac:chgData name="William Soehendra" userId="154453db-e56f-44e6-a197-bfbe92865cf8" providerId="ADAL" clId="{DFB18621-0C11-5947-AA7A-8D9AA0F38128}" dt="2026-07-29T00:16:27.876" v="475" actId="20577"/>
          <ac:spMkLst>
            <pc:docMk/>
            <pc:sldMk cId="2694674380" sldId="269"/>
            <ac:spMk id="33" creationId="{3B98F38A-AE00-3C2A-D903-2B33442D443C}"/>
          </ac:spMkLst>
        </pc:spChg>
        <pc:spChg chg="add mod">
          <ac:chgData name="William Soehendra" userId="154453db-e56f-44e6-a197-bfbe92865cf8" providerId="ADAL" clId="{DFB18621-0C11-5947-AA7A-8D9AA0F38128}" dt="2026-07-30T23:43:11.878" v="2595" actId="1076"/>
          <ac:spMkLst>
            <pc:docMk/>
            <pc:sldMk cId="2694674380" sldId="269"/>
            <ac:spMk id="34" creationId="{827E317F-145C-42EE-6CC9-AAD6E1BC80D5}"/>
          </ac:spMkLst>
        </pc:spChg>
        <pc:spChg chg="add mod">
          <ac:chgData name="William Soehendra" userId="154453db-e56f-44e6-a197-bfbe92865cf8" providerId="ADAL" clId="{DFB18621-0C11-5947-AA7A-8D9AA0F38128}" dt="2026-07-29T00:17:35.768" v="617" actId="20577"/>
          <ac:spMkLst>
            <pc:docMk/>
            <pc:sldMk cId="2694674380" sldId="269"/>
            <ac:spMk id="35" creationId="{289C0252-1601-D14D-7535-47A6F908204E}"/>
          </ac:spMkLst>
        </pc:spChg>
        <pc:spChg chg="add mod">
          <ac:chgData name="William Soehendra" userId="154453db-e56f-44e6-a197-bfbe92865cf8" providerId="ADAL" clId="{DFB18621-0C11-5947-AA7A-8D9AA0F38128}" dt="2026-07-29T00:18:03.007" v="678" actId="20577"/>
          <ac:spMkLst>
            <pc:docMk/>
            <pc:sldMk cId="2694674380" sldId="269"/>
            <ac:spMk id="36" creationId="{FED9633D-06C6-9920-D9D4-0EAE653F1954}"/>
          </ac:spMkLst>
        </pc:spChg>
        <pc:spChg chg="add mod">
          <ac:chgData name="William Soehendra" userId="154453db-e56f-44e6-a197-bfbe92865cf8" providerId="ADAL" clId="{DFB18621-0C11-5947-AA7A-8D9AA0F38128}" dt="2026-07-30T23:43:51.268" v="2606" actId="1076"/>
          <ac:spMkLst>
            <pc:docMk/>
            <pc:sldMk cId="2694674380" sldId="269"/>
            <ac:spMk id="37" creationId="{0AF6D82E-1173-7BDC-856E-CAE9D028007D}"/>
          </ac:spMkLst>
        </pc:spChg>
        <pc:spChg chg="add mod">
          <ac:chgData name="William Soehendra" userId="154453db-e56f-44e6-a197-bfbe92865cf8" providerId="ADAL" clId="{DFB18621-0C11-5947-AA7A-8D9AA0F38128}" dt="2026-07-30T23:44:12.912" v="2611" actId="1076"/>
          <ac:spMkLst>
            <pc:docMk/>
            <pc:sldMk cId="2694674380" sldId="269"/>
            <ac:spMk id="42" creationId="{201A4004-8C94-7FD0-D475-3E2292FD13E4}"/>
          </ac:spMkLst>
        </pc:spChg>
        <pc:spChg chg="add mod">
          <ac:chgData name="William Soehendra" userId="154453db-e56f-44e6-a197-bfbe92865cf8" providerId="ADAL" clId="{DFB18621-0C11-5947-AA7A-8D9AA0F38128}" dt="2026-07-30T23:41:55.516" v="2569" actId="313"/>
          <ac:spMkLst>
            <pc:docMk/>
            <pc:sldMk cId="2694674380" sldId="269"/>
            <ac:spMk id="43" creationId="{22D8F64A-77EE-70B9-66CA-79AE9126F17C}"/>
          </ac:spMkLst>
        </pc:spChg>
        <pc:spChg chg="add mod">
          <ac:chgData name="William Soehendra" userId="154453db-e56f-44e6-a197-bfbe92865cf8" providerId="ADAL" clId="{DFB18621-0C11-5947-AA7A-8D9AA0F38128}" dt="2026-07-29T02:29:24.134" v="802" actId="1076"/>
          <ac:spMkLst>
            <pc:docMk/>
            <pc:sldMk cId="2694674380" sldId="269"/>
            <ac:spMk id="44" creationId="{3C258652-0D22-530E-BB71-2FA4FAC56D84}"/>
          </ac:spMkLst>
        </pc:spChg>
        <pc:spChg chg="add mod">
          <ac:chgData name="William Soehendra" userId="154453db-e56f-44e6-a197-bfbe92865cf8" providerId="ADAL" clId="{DFB18621-0C11-5947-AA7A-8D9AA0F38128}" dt="2026-07-30T23:41:27.928" v="2567" actId="1076"/>
          <ac:spMkLst>
            <pc:docMk/>
            <pc:sldMk cId="2694674380" sldId="269"/>
            <ac:spMk id="45" creationId="{B458BD7F-84F7-B018-5C07-752080959858}"/>
          </ac:spMkLst>
        </pc:spChg>
        <pc:spChg chg="add mod">
          <ac:chgData name="William Soehendra" userId="154453db-e56f-44e6-a197-bfbe92865cf8" providerId="ADAL" clId="{DFB18621-0C11-5947-AA7A-8D9AA0F38128}" dt="2026-07-30T23:41:27.928" v="2567" actId="1076"/>
          <ac:spMkLst>
            <pc:docMk/>
            <pc:sldMk cId="2694674380" sldId="269"/>
            <ac:spMk id="46" creationId="{D359AB76-3FE7-9C9B-53FF-F88B1B9561BD}"/>
          </ac:spMkLst>
        </pc:spChg>
        <pc:spChg chg="add mod">
          <ac:chgData name="William Soehendra" userId="154453db-e56f-44e6-a197-bfbe92865cf8" providerId="ADAL" clId="{DFB18621-0C11-5947-AA7A-8D9AA0F38128}" dt="2026-07-30T23:41:27.928" v="2567" actId="1076"/>
          <ac:spMkLst>
            <pc:docMk/>
            <pc:sldMk cId="2694674380" sldId="269"/>
            <ac:spMk id="47" creationId="{A1F38915-148B-1837-AB72-6D6EB5D6AF64}"/>
          </ac:spMkLst>
        </pc:spChg>
        <pc:spChg chg="add mod">
          <ac:chgData name="William Soehendra" userId="154453db-e56f-44e6-a197-bfbe92865cf8" providerId="ADAL" clId="{DFB18621-0C11-5947-AA7A-8D9AA0F38128}" dt="2026-07-29T06:17:53.147" v="1199" actId="1076"/>
          <ac:spMkLst>
            <pc:docMk/>
            <pc:sldMk cId="2694674380" sldId="269"/>
            <ac:spMk id="50" creationId="{AAEBAA35-31E1-3EA2-F6E5-69366321A726}"/>
          </ac:spMkLst>
        </pc:spChg>
        <pc:spChg chg="add mod">
          <ac:chgData name="William Soehendra" userId="154453db-e56f-44e6-a197-bfbe92865cf8" providerId="ADAL" clId="{DFB18621-0C11-5947-AA7A-8D9AA0F38128}" dt="2026-07-30T23:41:27.928" v="2567" actId="1076"/>
          <ac:spMkLst>
            <pc:docMk/>
            <pc:sldMk cId="2694674380" sldId="269"/>
            <ac:spMk id="53" creationId="{60A8A58D-3887-BEE0-8874-1AD568E5EB16}"/>
          </ac:spMkLst>
        </pc:spChg>
        <pc:spChg chg="add mod">
          <ac:chgData name="William Soehendra" userId="154453db-e56f-44e6-a197-bfbe92865cf8" providerId="ADAL" clId="{DFB18621-0C11-5947-AA7A-8D9AA0F38128}" dt="2026-07-30T23:41:27.928" v="2567" actId="1076"/>
          <ac:spMkLst>
            <pc:docMk/>
            <pc:sldMk cId="2694674380" sldId="269"/>
            <ac:spMk id="59" creationId="{485A93E5-D7AE-9169-45B9-6B38C3CAC8A7}"/>
          </ac:spMkLst>
        </pc:spChg>
        <pc:spChg chg="add mod">
          <ac:chgData name="William Soehendra" userId="154453db-e56f-44e6-a197-bfbe92865cf8" providerId="ADAL" clId="{DFB18621-0C11-5947-AA7A-8D9AA0F38128}" dt="2026-07-30T23:41:27.928" v="2567" actId="1076"/>
          <ac:spMkLst>
            <pc:docMk/>
            <pc:sldMk cId="2694674380" sldId="269"/>
            <ac:spMk id="60" creationId="{42120742-8E5E-275C-4C85-83A434CF1661}"/>
          </ac:spMkLst>
        </pc:spChg>
        <pc:spChg chg="add mod">
          <ac:chgData name="William Soehendra" userId="154453db-e56f-44e6-a197-bfbe92865cf8" providerId="ADAL" clId="{DFB18621-0C11-5947-AA7A-8D9AA0F38128}" dt="2026-07-30T23:41:27.928" v="2567" actId="1076"/>
          <ac:spMkLst>
            <pc:docMk/>
            <pc:sldMk cId="2694674380" sldId="269"/>
            <ac:spMk id="61" creationId="{11009B3E-2C1A-D110-C719-0D05784086A6}"/>
          </ac:spMkLst>
        </pc:spChg>
        <pc:spChg chg="add mod">
          <ac:chgData name="William Soehendra" userId="154453db-e56f-44e6-a197-bfbe92865cf8" providerId="ADAL" clId="{DFB18621-0C11-5947-AA7A-8D9AA0F38128}" dt="2026-07-30T23:41:27.928" v="2567" actId="1076"/>
          <ac:spMkLst>
            <pc:docMk/>
            <pc:sldMk cId="2694674380" sldId="269"/>
            <ac:spMk id="62" creationId="{2625FE6C-CCD7-C18D-2B56-01A31CD7465E}"/>
          </ac:spMkLst>
        </pc:spChg>
        <pc:spChg chg="add mod">
          <ac:chgData name="William Soehendra" userId="154453db-e56f-44e6-a197-bfbe92865cf8" providerId="ADAL" clId="{DFB18621-0C11-5947-AA7A-8D9AA0F38128}" dt="2026-07-30T23:52:23.636" v="2613" actId="1035"/>
          <ac:spMkLst>
            <pc:docMk/>
            <pc:sldMk cId="2694674380" sldId="269"/>
            <ac:spMk id="68" creationId="{E1DCF5E4-6277-790E-D1E2-99BB763A2905}"/>
          </ac:spMkLst>
        </pc:spChg>
        <pc:spChg chg="add mod">
          <ac:chgData name="William Soehendra" userId="154453db-e56f-44e6-a197-bfbe92865cf8" providerId="ADAL" clId="{DFB18621-0C11-5947-AA7A-8D9AA0F38128}" dt="2026-07-30T22:47:48.814" v="2302" actId="1076"/>
          <ac:spMkLst>
            <pc:docMk/>
            <pc:sldMk cId="2694674380" sldId="269"/>
            <ac:spMk id="69" creationId="{C60B1399-15E5-44A5-98B0-254284E330A6}"/>
          </ac:spMkLst>
        </pc:spChg>
        <pc:spChg chg="add mod">
          <ac:chgData name="William Soehendra" userId="154453db-e56f-44e6-a197-bfbe92865cf8" providerId="ADAL" clId="{DFB18621-0C11-5947-AA7A-8D9AA0F38128}" dt="2026-07-30T22:47:52.822" v="2304" actId="1076"/>
          <ac:spMkLst>
            <pc:docMk/>
            <pc:sldMk cId="2694674380" sldId="269"/>
            <ac:spMk id="70" creationId="{BD05A871-6DA4-81D0-7318-23B12F0BC9A1}"/>
          </ac:spMkLst>
        </pc:spChg>
        <pc:cxnChg chg="add mod">
          <ac:chgData name="William Soehendra" userId="154453db-e56f-44e6-a197-bfbe92865cf8" providerId="ADAL" clId="{DFB18621-0C11-5947-AA7A-8D9AA0F38128}" dt="2026-07-29T00:10:35.710" v="259" actId="1036"/>
          <ac:cxnSpMkLst>
            <pc:docMk/>
            <pc:sldMk cId="2694674380" sldId="269"/>
            <ac:cxnSpMk id="19" creationId="{6C78FBAA-4521-6598-34DF-79369CB7DCD7}"/>
          </ac:cxnSpMkLst>
        </pc:cxnChg>
        <pc:cxnChg chg="add mod">
          <ac:chgData name="William Soehendra" userId="154453db-e56f-44e6-a197-bfbe92865cf8" providerId="ADAL" clId="{DFB18621-0C11-5947-AA7A-8D9AA0F38128}" dt="2026-07-29T00:14:39.059" v="320" actId="14100"/>
          <ac:cxnSpMkLst>
            <pc:docMk/>
            <pc:sldMk cId="2694674380" sldId="269"/>
            <ac:cxnSpMk id="20" creationId="{411EBC46-074B-FCEE-6E07-1F8257D0186C}"/>
          </ac:cxnSpMkLst>
        </pc:cxnChg>
        <pc:cxnChg chg="add mod">
          <ac:chgData name="William Soehendra" userId="154453db-e56f-44e6-a197-bfbe92865cf8" providerId="ADAL" clId="{DFB18621-0C11-5947-AA7A-8D9AA0F38128}" dt="2026-07-30T23:42:59.703" v="2592" actId="14100"/>
          <ac:cxnSpMkLst>
            <pc:docMk/>
            <pc:sldMk cId="2694674380" sldId="269"/>
            <ac:cxnSpMk id="21" creationId="{186C85C0-9296-A5E6-6A0B-DA5813288837}"/>
          </ac:cxnSpMkLst>
        </pc:cxnChg>
        <pc:cxnChg chg="add mod">
          <ac:chgData name="William Soehendra" userId="154453db-e56f-44e6-a197-bfbe92865cf8" providerId="ADAL" clId="{DFB18621-0C11-5947-AA7A-8D9AA0F38128}" dt="2026-07-29T00:12:26.914" v="306" actId="1076"/>
          <ac:cxnSpMkLst>
            <pc:docMk/>
            <pc:sldMk cId="2694674380" sldId="269"/>
            <ac:cxnSpMk id="26" creationId="{7E81E15D-731B-DECE-60CE-12A4FD868F0B}"/>
          </ac:cxnSpMkLst>
        </pc:cxnChg>
        <pc:cxnChg chg="add mod">
          <ac:chgData name="William Soehendra" userId="154453db-e56f-44e6-a197-bfbe92865cf8" providerId="ADAL" clId="{DFB18621-0C11-5947-AA7A-8D9AA0F38128}" dt="2026-07-29T00:14:39.059" v="320" actId="14100"/>
          <ac:cxnSpMkLst>
            <pc:docMk/>
            <pc:sldMk cId="2694674380" sldId="269"/>
            <ac:cxnSpMk id="27" creationId="{7A8A54EB-C48A-6B37-29B9-B0797D9D0499}"/>
          </ac:cxnSpMkLst>
        </pc:cxnChg>
        <pc:cxnChg chg="add del mod">
          <ac:chgData name="William Soehendra" userId="154453db-e56f-44e6-a197-bfbe92865cf8" providerId="ADAL" clId="{DFB18621-0C11-5947-AA7A-8D9AA0F38128}" dt="2026-07-30T23:43:21.866" v="2598" actId="478"/>
          <ac:cxnSpMkLst>
            <pc:docMk/>
            <pc:sldMk cId="2694674380" sldId="269"/>
            <ac:cxnSpMk id="39" creationId="{810E3622-8717-E55B-213C-2A1C8969A67B}"/>
          </ac:cxnSpMkLst>
        </pc:cxnChg>
        <pc:cxnChg chg="add mod">
          <ac:chgData name="William Soehendra" userId="154453db-e56f-44e6-a197-bfbe92865cf8" providerId="ADAL" clId="{DFB18621-0C11-5947-AA7A-8D9AA0F38128}" dt="2026-07-29T06:17:42.867" v="1194" actId="14100"/>
          <ac:cxnSpMkLst>
            <pc:docMk/>
            <pc:sldMk cId="2694674380" sldId="269"/>
            <ac:cxnSpMk id="48" creationId="{DB037822-A233-A00A-4530-1971A703551C}"/>
          </ac:cxnSpMkLst>
        </pc:cxnChg>
        <pc:cxnChg chg="add mod">
          <ac:chgData name="William Soehendra" userId="154453db-e56f-44e6-a197-bfbe92865cf8" providerId="ADAL" clId="{DFB18621-0C11-5947-AA7A-8D9AA0F38128}" dt="2026-07-29T06:18:04.888" v="1203" actId="14100"/>
          <ac:cxnSpMkLst>
            <pc:docMk/>
            <pc:sldMk cId="2694674380" sldId="269"/>
            <ac:cxnSpMk id="51" creationId="{A0D7E499-32ED-498E-3164-CAA5A683842C}"/>
          </ac:cxnSpMkLst>
        </pc:cxnChg>
        <pc:cxnChg chg="add mod">
          <ac:chgData name="William Soehendra" userId="154453db-e56f-44e6-a197-bfbe92865cf8" providerId="ADAL" clId="{DFB18621-0C11-5947-AA7A-8D9AA0F38128}" dt="2026-07-29T06:17:36.556" v="1192" actId="14100"/>
          <ac:cxnSpMkLst>
            <pc:docMk/>
            <pc:sldMk cId="2694674380" sldId="269"/>
            <ac:cxnSpMk id="54" creationId="{979113E0-1E40-1DD2-7BF4-43A876892AD3}"/>
          </ac:cxnSpMkLst>
        </pc:cxnChg>
        <pc:cxnChg chg="add mod">
          <ac:chgData name="William Soehendra" userId="154453db-e56f-44e6-a197-bfbe92865cf8" providerId="ADAL" clId="{DFB18621-0C11-5947-AA7A-8D9AA0F38128}" dt="2026-07-29T06:17:49.491" v="1197" actId="14100"/>
          <ac:cxnSpMkLst>
            <pc:docMk/>
            <pc:sldMk cId="2694674380" sldId="269"/>
            <ac:cxnSpMk id="65" creationId="{AAD6E3F5-E103-FF6C-769F-1760818A98D8}"/>
          </ac:cxnSpMkLst>
        </pc:cxnChg>
        <pc:cxnChg chg="add mod">
          <ac:chgData name="William Soehendra" userId="154453db-e56f-44e6-a197-bfbe92865cf8" providerId="ADAL" clId="{DFB18621-0C11-5947-AA7A-8D9AA0F38128}" dt="2026-07-30T23:44:09.700" v="2610" actId="1076"/>
          <ac:cxnSpMkLst>
            <pc:docMk/>
            <pc:sldMk cId="2694674380" sldId="269"/>
            <ac:cxnSpMk id="77" creationId="{3800D035-1D47-680B-B9F4-0C46F001529A}"/>
          </ac:cxnSpMkLst>
        </pc:cxnChg>
      </pc:sldChg>
      <pc:sldChg chg="addSp delSp modSp mod">
        <pc:chgData name="William Soehendra" userId="154453db-e56f-44e6-a197-bfbe92865cf8" providerId="ADAL" clId="{DFB18621-0C11-5947-AA7A-8D9AA0F38128}" dt="2026-07-29T06:26:13.942" v="1644" actId="14100"/>
        <pc:sldMkLst>
          <pc:docMk/>
          <pc:sldMk cId="1670674682" sldId="270"/>
        </pc:sldMkLst>
        <pc:spChg chg="add mod">
          <ac:chgData name="William Soehendra" userId="154453db-e56f-44e6-a197-bfbe92865cf8" providerId="ADAL" clId="{DFB18621-0C11-5947-AA7A-8D9AA0F38128}" dt="2026-07-29T06:19:27.418" v="1234" actId="20577"/>
          <ac:spMkLst>
            <pc:docMk/>
            <pc:sldMk cId="1670674682" sldId="270"/>
            <ac:spMk id="7" creationId="{457EA4F4-ACCA-23FB-8D12-73F5DBB87BD8}"/>
          </ac:spMkLst>
        </pc:spChg>
        <pc:graphicFrameChg chg="add mod modGraphic">
          <ac:chgData name="William Soehendra" userId="154453db-e56f-44e6-a197-bfbe92865cf8" providerId="ADAL" clId="{DFB18621-0C11-5947-AA7A-8D9AA0F38128}" dt="2026-07-29T06:24:47.126" v="1589" actId="20577"/>
          <ac:graphicFrameMkLst>
            <pc:docMk/>
            <pc:sldMk cId="1670674682" sldId="270"/>
            <ac:graphicFrameMk id="9" creationId="{4970D061-A75B-9BE8-7202-4B643075A3A1}"/>
          </ac:graphicFrameMkLst>
        </pc:graphicFrameChg>
        <pc:graphicFrameChg chg="add mod modGraphic">
          <ac:chgData name="William Soehendra" userId="154453db-e56f-44e6-a197-bfbe92865cf8" providerId="ADAL" clId="{DFB18621-0C11-5947-AA7A-8D9AA0F38128}" dt="2026-07-29T06:24:44.269" v="1582" actId="1076"/>
          <ac:graphicFrameMkLst>
            <pc:docMk/>
            <pc:sldMk cId="1670674682" sldId="270"/>
            <ac:graphicFrameMk id="10" creationId="{C88EF119-CE40-8494-22FF-8165BF118E49}"/>
          </ac:graphicFrameMkLst>
        </pc:graphicFrameChg>
        <pc:graphicFrameChg chg="add mod modGraphic">
          <ac:chgData name="William Soehendra" userId="154453db-e56f-44e6-a197-bfbe92865cf8" providerId="ADAL" clId="{DFB18621-0C11-5947-AA7A-8D9AA0F38128}" dt="2026-07-29T06:26:13.942" v="1644" actId="14100"/>
          <ac:graphicFrameMkLst>
            <pc:docMk/>
            <pc:sldMk cId="1670674682" sldId="270"/>
            <ac:graphicFrameMk id="11" creationId="{40DF121E-7A4F-52A6-04B1-84A97B787A49}"/>
          </ac:graphicFrameMkLst>
        </pc:graphicFrameChg>
        <pc:picChg chg="add mod">
          <ac:chgData name="William Soehendra" userId="154453db-e56f-44e6-a197-bfbe92865cf8" providerId="ADAL" clId="{DFB18621-0C11-5947-AA7A-8D9AA0F38128}" dt="2026-07-29T06:19:45.002" v="1242" actId="1076"/>
          <ac:picMkLst>
            <pc:docMk/>
            <pc:sldMk cId="1670674682" sldId="270"/>
            <ac:picMk id="4" creationId="{F9ED76B4-4AD3-7461-8C12-C222424B778A}"/>
          </ac:picMkLst>
        </pc:picChg>
      </pc:sldChg>
      <pc:sldChg chg="addSp delSp modSp add mod">
        <pc:chgData name="William Soehendra" userId="154453db-e56f-44e6-a197-bfbe92865cf8" providerId="ADAL" clId="{DFB18621-0C11-5947-AA7A-8D9AA0F38128}" dt="2026-07-31T00:13:03.905" v="3921" actId="1076"/>
        <pc:sldMkLst>
          <pc:docMk/>
          <pc:sldMk cId="3033675423" sldId="271"/>
        </pc:sldMkLst>
        <pc:spChg chg="add del mod">
          <ac:chgData name="William Soehendra" userId="154453db-e56f-44e6-a197-bfbe92865cf8" providerId="ADAL" clId="{DFB18621-0C11-5947-AA7A-8D9AA0F38128}" dt="2026-07-30T23:58:12.134" v="2765" actId="478"/>
          <ac:spMkLst>
            <pc:docMk/>
            <pc:sldMk cId="3033675423" sldId="271"/>
            <ac:spMk id="2" creationId="{1C17ACDA-705A-4013-FB8B-86176ACA0332}"/>
          </ac:spMkLst>
        </pc:spChg>
        <pc:spChg chg="mod">
          <ac:chgData name="William Soehendra" userId="154453db-e56f-44e6-a197-bfbe92865cf8" providerId="ADAL" clId="{DFB18621-0C11-5947-AA7A-8D9AA0F38128}" dt="2026-07-30T23:59:03.607" v="2831" actId="20577"/>
          <ac:spMkLst>
            <pc:docMk/>
            <pc:sldMk cId="3033675423" sldId="271"/>
            <ac:spMk id="6" creationId="{E428F9AB-0A08-DE0E-C860-1985DE5D72E2}"/>
          </ac:spMkLst>
        </pc:spChg>
        <pc:spChg chg="add del mod">
          <ac:chgData name="William Soehendra" userId="154453db-e56f-44e6-a197-bfbe92865cf8" providerId="ADAL" clId="{DFB18621-0C11-5947-AA7A-8D9AA0F38128}" dt="2026-07-30T23:58:10.324" v="2764" actId="478"/>
          <ac:spMkLst>
            <pc:docMk/>
            <pc:sldMk cId="3033675423" sldId="271"/>
            <ac:spMk id="7" creationId="{8B3DB39D-BD6C-0F7A-2026-FE9C26C9CC6B}"/>
          </ac:spMkLst>
        </pc:spChg>
        <pc:spChg chg="add del mod">
          <ac:chgData name="William Soehendra" userId="154453db-e56f-44e6-a197-bfbe92865cf8" providerId="ADAL" clId="{DFB18621-0C11-5947-AA7A-8D9AA0F38128}" dt="2026-07-30T23:58:12.134" v="2765" actId="478"/>
          <ac:spMkLst>
            <pc:docMk/>
            <pc:sldMk cId="3033675423" sldId="271"/>
            <ac:spMk id="9" creationId="{5879AAF7-E6DE-E538-6D6E-909D28445CEF}"/>
          </ac:spMkLst>
        </pc:spChg>
        <pc:spChg chg="del">
          <ac:chgData name="William Soehendra" userId="154453db-e56f-44e6-a197-bfbe92865cf8" providerId="ADAL" clId="{DFB18621-0C11-5947-AA7A-8D9AA0F38128}" dt="2026-07-30T22:57:57.963" v="2423" actId="478"/>
          <ac:spMkLst>
            <pc:docMk/>
            <pc:sldMk cId="3033675423" sldId="271"/>
            <ac:spMk id="10" creationId="{4864502D-B5B5-C9DC-F896-51534D733C78}"/>
          </ac:spMkLst>
        </pc:spChg>
        <pc:spChg chg="add del mod">
          <ac:chgData name="William Soehendra" userId="154453db-e56f-44e6-a197-bfbe92865cf8" providerId="ADAL" clId="{DFB18621-0C11-5947-AA7A-8D9AA0F38128}" dt="2026-07-30T23:58:12.134" v="2765" actId="478"/>
          <ac:spMkLst>
            <pc:docMk/>
            <pc:sldMk cId="3033675423" sldId="271"/>
            <ac:spMk id="11" creationId="{785B4377-A1A0-8E74-7135-938211847B96}"/>
          </ac:spMkLst>
        </pc:spChg>
        <pc:spChg chg="add del mod">
          <ac:chgData name="William Soehendra" userId="154453db-e56f-44e6-a197-bfbe92865cf8" providerId="ADAL" clId="{DFB18621-0C11-5947-AA7A-8D9AA0F38128}" dt="2026-07-30T23:58:12.134" v="2765" actId="478"/>
          <ac:spMkLst>
            <pc:docMk/>
            <pc:sldMk cId="3033675423" sldId="271"/>
            <ac:spMk id="13" creationId="{71991214-9A9C-EE1B-756A-5E4D0DBDBAE3}"/>
          </ac:spMkLst>
        </pc:spChg>
        <pc:spChg chg="del">
          <ac:chgData name="William Soehendra" userId="154453db-e56f-44e6-a197-bfbe92865cf8" providerId="ADAL" clId="{DFB18621-0C11-5947-AA7A-8D9AA0F38128}" dt="2026-07-30T22:57:57.963" v="2423" actId="478"/>
          <ac:spMkLst>
            <pc:docMk/>
            <pc:sldMk cId="3033675423" sldId="271"/>
            <ac:spMk id="14" creationId="{70DA2D58-E794-265F-3BDE-961EDE502F30}"/>
          </ac:spMkLst>
        </pc:spChg>
        <pc:spChg chg="del">
          <ac:chgData name="William Soehendra" userId="154453db-e56f-44e6-a197-bfbe92865cf8" providerId="ADAL" clId="{DFB18621-0C11-5947-AA7A-8D9AA0F38128}" dt="2026-07-30T22:57:57.963" v="2423" actId="478"/>
          <ac:spMkLst>
            <pc:docMk/>
            <pc:sldMk cId="3033675423" sldId="271"/>
            <ac:spMk id="15" creationId="{A74582C6-1EE4-466A-5A4F-ECF0936B4CAA}"/>
          </ac:spMkLst>
        </pc:spChg>
        <pc:spChg chg="add del mod">
          <ac:chgData name="William Soehendra" userId="154453db-e56f-44e6-a197-bfbe92865cf8" providerId="ADAL" clId="{DFB18621-0C11-5947-AA7A-8D9AA0F38128}" dt="2026-07-30T23:58:12.134" v="2765" actId="478"/>
          <ac:spMkLst>
            <pc:docMk/>
            <pc:sldMk cId="3033675423" sldId="271"/>
            <ac:spMk id="18" creationId="{9FF26787-6097-9D86-8205-3298710948CD}"/>
          </ac:spMkLst>
        </pc:spChg>
        <pc:spChg chg="add del mod">
          <ac:chgData name="William Soehendra" userId="154453db-e56f-44e6-a197-bfbe92865cf8" providerId="ADAL" clId="{DFB18621-0C11-5947-AA7A-8D9AA0F38128}" dt="2026-07-30T23:57:19.242" v="2752" actId="478"/>
          <ac:spMkLst>
            <pc:docMk/>
            <pc:sldMk cId="3033675423" sldId="271"/>
            <ac:spMk id="24" creationId="{CBA6CED9-D85D-AF4D-E6D6-FC1955C93088}"/>
          </ac:spMkLst>
        </pc:spChg>
        <pc:spChg chg="del">
          <ac:chgData name="William Soehendra" userId="154453db-e56f-44e6-a197-bfbe92865cf8" providerId="ADAL" clId="{DFB18621-0C11-5947-AA7A-8D9AA0F38128}" dt="2026-07-30T22:57:57.963" v="2423" actId="478"/>
          <ac:spMkLst>
            <pc:docMk/>
            <pc:sldMk cId="3033675423" sldId="271"/>
            <ac:spMk id="25" creationId="{FDD539B1-5B26-66F5-2C9D-6AE6B3E6C8A3}"/>
          </ac:spMkLst>
        </pc:spChg>
        <pc:spChg chg="del">
          <ac:chgData name="William Soehendra" userId="154453db-e56f-44e6-a197-bfbe92865cf8" providerId="ADAL" clId="{DFB18621-0C11-5947-AA7A-8D9AA0F38128}" dt="2026-07-30T22:57:57.963" v="2423" actId="478"/>
          <ac:spMkLst>
            <pc:docMk/>
            <pc:sldMk cId="3033675423" sldId="271"/>
            <ac:spMk id="31" creationId="{5B3C3E3F-87A9-1728-2251-B84BC10F3272}"/>
          </ac:spMkLst>
        </pc:spChg>
        <pc:spChg chg="del">
          <ac:chgData name="William Soehendra" userId="154453db-e56f-44e6-a197-bfbe92865cf8" providerId="ADAL" clId="{DFB18621-0C11-5947-AA7A-8D9AA0F38128}" dt="2026-07-30T22:57:57.963" v="2423" actId="478"/>
          <ac:spMkLst>
            <pc:docMk/>
            <pc:sldMk cId="3033675423" sldId="271"/>
            <ac:spMk id="32" creationId="{293EA7DC-E1F2-FE85-1E90-7ACCB71F1C2E}"/>
          </ac:spMkLst>
        </pc:spChg>
        <pc:spChg chg="del">
          <ac:chgData name="William Soehendra" userId="154453db-e56f-44e6-a197-bfbe92865cf8" providerId="ADAL" clId="{DFB18621-0C11-5947-AA7A-8D9AA0F38128}" dt="2026-07-30T22:57:57.963" v="2423" actId="478"/>
          <ac:spMkLst>
            <pc:docMk/>
            <pc:sldMk cId="3033675423" sldId="271"/>
            <ac:spMk id="33" creationId="{E682D2E9-D7A1-CED3-9C48-6B1DB863C3B1}"/>
          </ac:spMkLst>
        </pc:spChg>
        <pc:spChg chg="add del mod">
          <ac:chgData name="William Soehendra" userId="154453db-e56f-44e6-a197-bfbe92865cf8" providerId="ADAL" clId="{DFB18621-0C11-5947-AA7A-8D9AA0F38128}" dt="2026-07-30T23:58:12.134" v="2765" actId="478"/>
          <ac:spMkLst>
            <pc:docMk/>
            <pc:sldMk cId="3033675423" sldId="271"/>
            <ac:spMk id="41" creationId="{52813DF8-A481-8C0E-77B3-A4208BB2C818}"/>
          </ac:spMkLst>
        </pc:spChg>
        <pc:spChg chg="del">
          <ac:chgData name="William Soehendra" userId="154453db-e56f-44e6-a197-bfbe92865cf8" providerId="ADAL" clId="{DFB18621-0C11-5947-AA7A-8D9AA0F38128}" dt="2026-07-30T22:57:57.963" v="2423" actId="478"/>
          <ac:spMkLst>
            <pc:docMk/>
            <pc:sldMk cId="3033675423" sldId="271"/>
            <ac:spMk id="42" creationId="{0BF5F556-9FA1-508A-1A0D-759C7069B4D7}"/>
          </ac:spMkLst>
        </pc:spChg>
        <pc:spChg chg="del">
          <ac:chgData name="William Soehendra" userId="154453db-e56f-44e6-a197-bfbe92865cf8" providerId="ADAL" clId="{DFB18621-0C11-5947-AA7A-8D9AA0F38128}" dt="2026-07-30T22:57:57.963" v="2423" actId="478"/>
          <ac:spMkLst>
            <pc:docMk/>
            <pc:sldMk cId="3033675423" sldId="271"/>
            <ac:spMk id="45" creationId="{5B690BED-505E-67D9-A552-8321FEA8FB37}"/>
          </ac:spMkLst>
        </pc:spChg>
        <pc:spChg chg="add del mod">
          <ac:chgData name="William Soehendra" userId="154453db-e56f-44e6-a197-bfbe92865cf8" providerId="ADAL" clId="{DFB18621-0C11-5947-AA7A-8D9AA0F38128}" dt="2026-07-30T23:58:12.134" v="2765" actId="478"/>
          <ac:spMkLst>
            <pc:docMk/>
            <pc:sldMk cId="3033675423" sldId="271"/>
            <ac:spMk id="52" creationId="{9984F932-AD6B-B69D-ED09-66E0F2DCD860}"/>
          </ac:spMkLst>
        </pc:spChg>
        <pc:spChg chg="add del mod">
          <ac:chgData name="William Soehendra" userId="154453db-e56f-44e6-a197-bfbe92865cf8" providerId="ADAL" clId="{DFB18621-0C11-5947-AA7A-8D9AA0F38128}" dt="2026-07-30T23:58:12.134" v="2765" actId="478"/>
          <ac:spMkLst>
            <pc:docMk/>
            <pc:sldMk cId="3033675423" sldId="271"/>
            <ac:spMk id="55" creationId="{9710A646-598C-FAD9-5818-0AF9AF44CDAA}"/>
          </ac:spMkLst>
        </pc:spChg>
        <pc:spChg chg="add del mod">
          <ac:chgData name="William Soehendra" userId="154453db-e56f-44e6-a197-bfbe92865cf8" providerId="ADAL" clId="{DFB18621-0C11-5947-AA7A-8D9AA0F38128}" dt="2026-07-30T23:58:12.134" v="2765" actId="478"/>
          <ac:spMkLst>
            <pc:docMk/>
            <pc:sldMk cId="3033675423" sldId="271"/>
            <ac:spMk id="56" creationId="{4F73044D-B6A4-DA62-3575-55711204D817}"/>
          </ac:spMkLst>
        </pc:spChg>
        <pc:spChg chg="add del mod">
          <ac:chgData name="William Soehendra" userId="154453db-e56f-44e6-a197-bfbe92865cf8" providerId="ADAL" clId="{DFB18621-0C11-5947-AA7A-8D9AA0F38128}" dt="2026-07-30T23:58:12.134" v="2765" actId="478"/>
          <ac:spMkLst>
            <pc:docMk/>
            <pc:sldMk cId="3033675423" sldId="271"/>
            <ac:spMk id="58" creationId="{6BD7713F-77E5-E5AF-1ADD-759A0D6DEB85}"/>
          </ac:spMkLst>
        </pc:spChg>
        <pc:spChg chg="del">
          <ac:chgData name="William Soehendra" userId="154453db-e56f-44e6-a197-bfbe92865cf8" providerId="ADAL" clId="{DFB18621-0C11-5947-AA7A-8D9AA0F38128}" dt="2026-07-30T22:57:57.963" v="2423" actId="478"/>
          <ac:spMkLst>
            <pc:docMk/>
            <pc:sldMk cId="3033675423" sldId="271"/>
            <ac:spMk id="60" creationId="{402AE294-0409-245A-3868-048A076CB08F}"/>
          </ac:spMkLst>
        </pc:spChg>
        <pc:spChg chg="add mod">
          <ac:chgData name="William Soehendra" userId="154453db-e56f-44e6-a197-bfbe92865cf8" providerId="ADAL" clId="{DFB18621-0C11-5947-AA7A-8D9AA0F38128}" dt="2026-07-31T00:11:58.184" v="3804" actId="20577"/>
          <ac:spMkLst>
            <pc:docMk/>
            <pc:sldMk cId="3033675423" sldId="271"/>
            <ac:spMk id="63" creationId="{07F7A6F2-A4B0-75B9-2258-E3B85FDE70B8}"/>
          </ac:spMkLst>
        </pc:spChg>
        <pc:spChg chg="mod">
          <ac:chgData name="William Soehendra" userId="154453db-e56f-44e6-a197-bfbe92865cf8" providerId="ADAL" clId="{DFB18621-0C11-5947-AA7A-8D9AA0F38128}" dt="2026-07-31T00:11:25.517" v="3650" actId="20577"/>
          <ac:spMkLst>
            <pc:docMk/>
            <pc:sldMk cId="3033675423" sldId="271"/>
            <ac:spMk id="64" creationId="{E6E8F543-4752-9692-5657-913C717491F1}"/>
          </ac:spMkLst>
        </pc:spChg>
        <pc:spChg chg="mod">
          <ac:chgData name="William Soehendra" userId="154453db-e56f-44e6-a197-bfbe92865cf8" providerId="ADAL" clId="{DFB18621-0C11-5947-AA7A-8D9AA0F38128}" dt="2026-07-30T23:58:17.099" v="2771" actId="20577"/>
          <ac:spMkLst>
            <pc:docMk/>
            <pc:sldMk cId="3033675423" sldId="271"/>
            <ac:spMk id="66" creationId="{71284D9C-CCBE-D8FE-611F-BAF47464D7AA}"/>
          </ac:spMkLst>
        </pc:spChg>
        <pc:spChg chg="add mod">
          <ac:chgData name="William Soehendra" userId="154453db-e56f-44e6-a197-bfbe92865cf8" providerId="ADAL" clId="{DFB18621-0C11-5947-AA7A-8D9AA0F38128}" dt="2026-07-31T00:03:32.096" v="3020" actId="1035"/>
          <ac:spMkLst>
            <pc:docMk/>
            <pc:sldMk cId="3033675423" sldId="271"/>
            <ac:spMk id="72" creationId="{EAFF3EAF-DE22-6890-D215-580005F33CD3}"/>
          </ac:spMkLst>
        </pc:spChg>
        <pc:spChg chg="mod">
          <ac:chgData name="William Soehendra" userId="154453db-e56f-44e6-a197-bfbe92865cf8" providerId="ADAL" clId="{DFB18621-0C11-5947-AA7A-8D9AA0F38128}" dt="2026-07-31T00:03:32.096" v="3020" actId="1035"/>
          <ac:spMkLst>
            <pc:docMk/>
            <pc:sldMk cId="3033675423" sldId="271"/>
            <ac:spMk id="73" creationId="{D00DEFED-5ED5-4851-5F51-6181A8246097}"/>
          </ac:spMkLst>
        </pc:spChg>
        <pc:spChg chg="add mod">
          <ac:chgData name="William Soehendra" userId="154453db-e56f-44e6-a197-bfbe92865cf8" providerId="ADAL" clId="{DFB18621-0C11-5947-AA7A-8D9AA0F38128}" dt="2026-07-31T00:06:51.905" v="3253" actId="1076"/>
          <ac:spMkLst>
            <pc:docMk/>
            <pc:sldMk cId="3033675423" sldId="271"/>
            <ac:spMk id="80" creationId="{59A5AFA5-CDE1-1D19-414A-C80862542294}"/>
          </ac:spMkLst>
        </pc:spChg>
        <pc:spChg chg="mod">
          <ac:chgData name="William Soehendra" userId="154453db-e56f-44e6-a197-bfbe92865cf8" providerId="ADAL" clId="{DFB18621-0C11-5947-AA7A-8D9AA0F38128}" dt="2026-07-31T00:08:27.632" v="3427" actId="113"/>
          <ac:spMkLst>
            <pc:docMk/>
            <pc:sldMk cId="3033675423" sldId="271"/>
            <ac:spMk id="81" creationId="{845DDA79-01C7-7D35-64DD-0A0705CF7855}"/>
          </ac:spMkLst>
        </pc:spChg>
        <pc:spChg chg="add mod">
          <ac:chgData name="William Soehendra" userId="154453db-e56f-44e6-a197-bfbe92865cf8" providerId="ADAL" clId="{DFB18621-0C11-5947-AA7A-8D9AA0F38128}" dt="2026-07-31T00:07:57.376" v="3398" actId="14100"/>
          <ac:spMkLst>
            <pc:docMk/>
            <pc:sldMk cId="3033675423" sldId="271"/>
            <ac:spMk id="82" creationId="{8EBE07E5-3521-46E4-589A-227BD8E0A96A}"/>
          </ac:spMkLst>
        </pc:spChg>
        <pc:spChg chg="mod">
          <ac:chgData name="William Soehendra" userId="154453db-e56f-44e6-a197-bfbe92865cf8" providerId="ADAL" clId="{DFB18621-0C11-5947-AA7A-8D9AA0F38128}" dt="2026-07-31T00:06:21.461" v="3252" actId="1076"/>
          <ac:spMkLst>
            <pc:docMk/>
            <pc:sldMk cId="3033675423" sldId="271"/>
            <ac:spMk id="83" creationId="{CC3E88FD-CBA8-9719-B393-4D7555A5085F}"/>
          </ac:spMkLst>
        </pc:spChg>
        <pc:spChg chg="add del mod">
          <ac:chgData name="William Soehendra" userId="154453db-e56f-44e6-a197-bfbe92865cf8" providerId="ADAL" clId="{DFB18621-0C11-5947-AA7A-8D9AA0F38128}" dt="2026-07-31T00:04:18.437" v="3038" actId="478"/>
          <ac:spMkLst>
            <pc:docMk/>
            <pc:sldMk cId="3033675423" sldId="271"/>
            <ac:spMk id="84" creationId="{224E1901-45A4-D387-C323-854D9112CDD6}"/>
          </ac:spMkLst>
        </pc:spChg>
        <pc:spChg chg="add mod">
          <ac:chgData name="William Soehendra" userId="154453db-e56f-44e6-a197-bfbe92865cf8" providerId="ADAL" clId="{DFB18621-0C11-5947-AA7A-8D9AA0F38128}" dt="2026-07-31T00:05:00.959" v="3089" actId="404"/>
          <ac:spMkLst>
            <pc:docMk/>
            <pc:sldMk cId="3033675423" sldId="271"/>
            <ac:spMk id="85" creationId="{116CA344-D1DC-F66D-AB1D-2A7F5116908F}"/>
          </ac:spMkLst>
        </pc:spChg>
        <pc:spChg chg="mod">
          <ac:chgData name="William Soehendra" userId="154453db-e56f-44e6-a197-bfbe92865cf8" providerId="ADAL" clId="{DFB18621-0C11-5947-AA7A-8D9AA0F38128}" dt="2026-07-31T00:03:32.096" v="3020" actId="1035"/>
          <ac:spMkLst>
            <pc:docMk/>
            <pc:sldMk cId="3033675423" sldId="271"/>
            <ac:spMk id="86" creationId="{1D162BE0-DB5C-B9C8-1F7B-45595BF258DA}"/>
          </ac:spMkLst>
        </pc:spChg>
        <pc:spChg chg="mod">
          <ac:chgData name="William Soehendra" userId="154453db-e56f-44e6-a197-bfbe92865cf8" providerId="ADAL" clId="{DFB18621-0C11-5947-AA7A-8D9AA0F38128}" dt="2026-07-31T00:10:40.257" v="3601" actId="1076"/>
          <ac:spMkLst>
            <pc:docMk/>
            <pc:sldMk cId="3033675423" sldId="271"/>
            <ac:spMk id="87" creationId="{4BDA93AC-488F-AFDF-5D92-4DFC630494C5}"/>
          </ac:spMkLst>
        </pc:spChg>
        <pc:spChg chg="mod">
          <ac:chgData name="William Soehendra" userId="154453db-e56f-44e6-a197-bfbe92865cf8" providerId="ADAL" clId="{DFB18621-0C11-5947-AA7A-8D9AA0F38128}" dt="2026-07-31T00:10:42.560" v="3602" actId="14100"/>
          <ac:spMkLst>
            <pc:docMk/>
            <pc:sldMk cId="3033675423" sldId="271"/>
            <ac:spMk id="88" creationId="{4979ACED-8607-317F-BF9B-FCB211433910}"/>
          </ac:spMkLst>
        </pc:spChg>
        <pc:spChg chg="add mod">
          <ac:chgData name="William Soehendra" userId="154453db-e56f-44e6-a197-bfbe92865cf8" providerId="ADAL" clId="{DFB18621-0C11-5947-AA7A-8D9AA0F38128}" dt="2026-07-31T00:08:45.219" v="3441" actId="20577"/>
          <ac:spMkLst>
            <pc:docMk/>
            <pc:sldMk cId="3033675423" sldId="271"/>
            <ac:spMk id="90" creationId="{7233D9DB-361B-6DC7-F907-2F7E5D1CB1E8}"/>
          </ac:spMkLst>
        </pc:spChg>
        <pc:spChg chg="mod">
          <ac:chgData name="William Soehendra" userId="154453db-e56f-44e6-a197-bfbe92865cf8" providerId="ADAL" clId="{DFB18621-0C11-5947-AA7A-8D9AA0F38128}" dt="2026-07-31T00:10:52.641" v="3607" actId="1076"/>
          <ac:spMkLst>
            <pc:docMk/>
            <pc:sldMk cId="3033675423" sldId="271"/>
            <ac:spMk id="92" creationId="{28AE0277-E164-D7AE-F20A-FC1415CC5B1F}"/>
          </ac:spMkLst>
        </pc:spChg>
        <pc:spChg chg="mod">
          <ac:chgData name="William Soehendra" userId="154453db-e56f-44e6-a197-bfbe92865cf8" providerId="ADAL" clId="{DFB18621-0C11-5947-AA7A-8D9AA0F38128}" dt="2026-07-31T00:12:32.115" v="3852" actId="20577"/>
          <ac:spMkLst>
            <pc:docMk/>
            <pc:sldMk cId="3033675423" sldId="271"/>
            <ac:spMk id="94" creationId="{4FB39A18-4485-895B-E7B0-0CF783A6002E}"/>
          </ac:spMkLst>
        </pc:spChg>
        <pc:spChg chg="add del mod">
          <ac:chgData name="William Soehendra" userId="154453db-e56f-44e6-a197-bfbe92865cf8" providerId="ADAL" clId="{DFB18621-0C11-5947-AA7A-8D9AA0F38128}" dt="2026-07-31T00:08:50.456" v="3442" actId="478"/>
          <ac:spMkLst>
            <pc:docMk/>
            <pc:sldMk cId="3033675423" sldId="271"/>
            <ac:spMk id="96" creationId="{BB1B2AA4-FD38-443B-E609-B0303A08D27C}"/>
          </ac:spMkLst>
        </pc:spChg>
        <pc:spChg chg="del">
          <ac:chgData name="William Soehendra" userId="154453db-e56f-44e6-a197-bfbe92865cf8" providerId="ADAL" clId="{DFB18621-0C11-5947-AA7A-8D9AA0F38128}" dt="2026-07-31T00:08:50.456" v="3442" actId="478"/>
          <ac:spMkLst>
            <pc:docMk/>
            <pc:sldMk cId="3033675423" sldId="271"/>
            <ac:spMk id="97" creationId="{F56BD52D-EE22-C692-C816-9E2356DDBCAE}"/>
          </ac:spMkLst>
        </pc:spChg>
        <pc:spChg chg="del">
          <ac:chgData name="William Soehendra" userId="154453db-e56f-44e6-a197-bfbe92865cf8" providerId="ADAL" clId="{DFB18621-0C11-5947-AA7A-8D9AA0F38128}" dt="2026-07-31T00:08:50.456" v="3442" actId="478"/>
          <ac:spMkLst>
            <pc:docMk/>
            <pc:sldMk cId="3033675423" sldId="271"/>
            <ac:spMk id="98" creationId="{779C51C3-3C43-90E0-646E-407CE6E7E1BA}"/>
          </ac:spMkLst>
        </pc:spChg>
        <pc:spChg chg="add del mod">
          <ac:chgData name="William Soehendra" userId="154453db-e56f-44e6-a197-bfbe92865cf8" providerId="ADAL" clId="{DFB18621-0C11-5947-AA7A-8D9AA0F38128}" dt="2026-07-31T00:08:50.456" v="3442" actId="478"/>
          <ac:spMkLst>
            <pc:docMk/>
            <pc:sldMk cId="3033675423" sldId="271"/>
            <ac:spMk id="99" creationId="{D2A25762-E6AC-71A3-C100-EE7849E2182B}"/>
          </ac:spMkLst>
        </pc:spChg>
        <pc:spChg chg="del">
          <ac:chgData name="William Soehendra" userId="154453db-e56f-44e6-a197-bfbe92865cf8" providerId="ADAL" clId="{DFB18621-0C11-5947-AA7A-8D9AA0F38128}" dt="2026-07-31T00:08:50.456" v="3442" actId="478"/>
          <ac:spMkLst>
            <pc:docMk/>
            <pc:sldMk cId="3033675423" sldId="271"/>
            <ac:spMk id="101" creationId="{DD0B008F-8660-3D7A-2C21-F2552D4A4FDE}"/>
          </ac:spMkLst>
        </pc:spChg>
        <pc:spChg chg="mod">
          <ac:chgData name="William Soehendra" userId="154453db-e56f-44e6-a197-bfbe92865cf8" providerId="ADAL" clId="{DFB18621-0C11-5947-AA7A-8D9AA0F38128}" dt="2026-07-31T00:12:52.578" v="3918" actId="20577"/>
          <ac:spMkLst>
            <pc:docMk/>
            <pc:sldMk cId="3033675423" sldId="271"/>
            <ac:spMk id="102" creationId="{CC7675C9-0E10-512A-5018-9253B7F0B1D9}"/>
          </ac:spMkLst>
        </pc:spChg>
        <pc:spChg chg="add mod">
          <ac:chgData name="William Soehendra" userId="154453db-e56f-44e6-a197-bfbe92865cf8" providerId="ADAL" clId="{DFB18621-0C11-5947-AA7A-8D9AA0F38128}" dt="2026-07-31T00:13:03.905" v="3921" actId="1076"/>
          <ac:spMkLst>
            <pc:docMk/>
            <pc:sldMk cId="3033675423" sldId="271"/>
            <ac:spMk id="103" creationId="{D0826A1A-428E-5DE5-D2F0-201E16EC2DB8}"/>
          </ac:spMkLst>
        </pc:spChg>
        <pc:spChg chg="add mod">
          <ac:chgData name="William Soehendra" userId="154453db-e56f-44e6-a197-bfbe92865cf8" providerId="ADAL" clId="{DFB18621-0C11-5947-AA7A-8D9AA0F38128}" dt="2026-07-31T00:03:32.096" v="3020" actId="1035"/>
          <ac:spMkLst>
            <pc:docMk/>
            <pc:sldMk cId="3033675423" sldId="271"/>
            <ac:spMk id="107" creationId="{59B684AC-FA69-1AC3-972A-B67F21E0A7B6}"/>
          </ac:spMkLst>
        </pc:spChg>
        <pc:spChg chg="add del mod">
          <ac:chgData name="William Soehendra" userId="154453db-e56f-44e6-a197-bfbe92865cf8" providerId="ADAL" clId="{DFB18621-0C11-5947-AA7A-8D9AA0F38128}" dt="2026-07-31T00:00:44.086" v="2923" actId="478"/>
          <ac:spMkLst>
            <pc:docMk/>
            <pc:sldMk cId="3033675423" sldId="271"/>
            <ac:spMk id="110" creationId="{54D27A3A-9AF7-5C6B-1399-618431F1C3B8}"/>
          </ac:spMkLst>
        </pc:spChg>
        <pc:spChg chg="add mod">
          <ac:chgData name="William Soehendra" userId="154453db-e56f-44e6-a197-bfbe92865cf8" providerId="ADAL" clId="{DFB18621-0C11-5947-AA7A-8D9AA0F38128}" dt="2026-07-31T00:03:32.096" v="3020" actId="1035"/>
          <ac:spMkLst>
            <pc:docMk/>
            <pc:sldMk cId="3033675423" sldId="271"/>
            <ac:spMk id="111" creationId="{3B94F5BF-D18B-3F29-0B83-C57E6EEAED19}"/>
          </ac:spMkLst>
        </pc:spChg>
        <pc:spChg chg="add mod">
          <ac:chgData name="William Soehendra" userId="154453db-e56f-44e6-a197-bfbe92865cf8" providerId="ADAL" clId="{DFB18621-0C11-5947-AA7A-8D9AA0F38128}" dt="2026-07-31T00:03:32.096" v="3020" actId="1035"/>
          <ac:spMkLst>
            <pc:docMk/>
            <pc:sldMk cId="3033675423" sldId="271"/>
            <ac:spMk id="116" creationId="{E01FE335-2D25-F3E6-788F-A1D6C74BF494}"/>
          </ac:spMkLst>
        </pc:spChg>
        <pc:spChg chg="add del mod">
          <ac:chgData name="William Soehendra" userId="154453db-e56f-44e6-a197-bfbe92865cf8" providerId="ADAL" clId="{DFB18621-0C11-5947-AA7A-8D9AA0F38128}" dt="2026-07-31T00:02:46.579" v="2950" actId="478"/>
          <ac:spMkLst>
            <pc:docMk/>
            <pc:sldMk cId="3033675423" sldId="271"/>
            <ac:spMk id="117" creationId="{A42ABE33-F812-FBF4-2EE9-4AF1C8608E45}"/>
          </ac:spMkLst>
        </pc:spChg>
        <pc:spChg chg="add mod">
          <ac:chgData name="William Soehendra" userId="154453db-e56f-44e6-a197-bfbe92865cf8" providerId="ADAL" clId="{DFB18621-0C11-5947-AA7A-8D9AA0F38128}" dt="2026-07-31T00:04:46.460" v="3067" actId="20577"/>
          <ac:spMkLst>
            <pc:docMk/>
            <pc:sldMk cId="3033675423" sldId="271"/>
            <ac:spMk id="118" creationId="{69DF5A40-ED1A-BF73-44B6-9102828F6254}"/>
          </ac:spMkLst>
        </pc:spChg>
        <pc:spChg chg="add mod">
          <ac:chgData name="William Soehendra" userId="154453db-e56f-44e6-a197-bfbe92865cf8" providerId="ADAL" clId="{DFB18621-0C11-5947-AA7A-8D9AA0F38128}" dt="2026-07-31T00:05:58.629" v="3206" actId="1076"/>
          <ac:spMkLst>
            <pc:docMk/>
            <pc:sldMk cId="3033675423" sldId="271"/>
            <ac:spMk id="128" creationId="{7F49CF00-5BD6-E61F-7C60-2E82F40AC276}"/>
          </ac:spMkLst>
        </pc:spChg>
        <pc:spChg chg="add mod">
          <ac:chgData name="William Soehendra" userId="154453db-e56f-44e6-a197-bfbe92865cf8" providerId="ADAL" clId="{DFB18621-0C11-5947-AA7A-8D9AA0F38128}" dt="2026-07-31T00:06:16.773" v="3251" actId="14100"/>
          <ac:spMkLst>
            <pc:docMk/>
            <pc:sldMk cId="3033675423" sldId="271"/>
            <ac:spMk id="129" creationId="{694000A4-C915-6E16-0D32-5452DBA6F56F}"/>
          </ac:spMkLst>
        </pc:spChg>
        <pc:cxnChg chg="add mod">
          <ac:chgData name="William Soehendra" userId="154453db-e56f-44e6-a197-bfbe92865cf8" providerId="ADAL" clId="{DFB18621-0C11-5947-AA7A-8D9AA0F38128}" dt="2026-07-30T23:57:16.929" v="2751" actId="1038"/>
          <ac:cxnSpMkLst>
            <pc:docMk/>
            <pc:sldMk cId="3033675423" sldId="271"/>
            <ac:cxnSpMk id="5" creationId="{2D289F95-3C67-3EA3-0915-8B654C82717F}"/>
          </ac:cxnSpMkLst>
        </pc:cxnChg>
        <pc:cxnChg chg="add mod">
          <ac:chgData name="William Soehendra" userId="154453db-e56f-44e6-a197-bfbe92865cf8" providerId="ADAL" clId="{DFB18621-0C11-5947-AA7A-8D9AA0F38128}" dt="2026-07-30T23:56:30.663" v="2729" actId="1076"/>
          <ac:cxnSpMkLst>
            <pc:docMk/>
            <pc:sldMk cId="3033675423" sldId="271"/>
            <ac:cxnSpMk id="16" creationId="{C341ADD9-7147-96FC-59DC-13E5CAB2EE66}"/>
          </ac:cxnSpMkLst>
        </pc:cxnChg>
        <pc:cxnChg chg="add del mod">
          <ac:chgData name="William Soehendra" userId="154453db-e56f-44e6-a197-bfbe92865cf8" providerId="ADAL" clId="{DFB18621-0C11-5947-AA7A-8D9AA0F38128}" dt="2026-07-30T23:57:50.562" v="2760" actId="478"/>
          <ac:cxnSpMkLst>
            <pc:docMk/>
            <pc:sldMk cId="3033675423" sldId="271"/>
            <ac:cxnSpMk id="23" creationId="{D4B34E52-37BF-5EB0-1C56-D7F551E5D7D0}"/>
          </ac:cxnSpMkLst>
        </pc:cxnChg>
        <pc:cxnChg chg="add del mod">
          <ac:chgData name="William Soehendra" userId="154453db-e56f-44e6-a197-bfbe92865cf8" providerId="ADAL" clId="{DFB18621-0C11-5947-AA7A-8D9AA0F38128}" dt="2026-07-30T23:57:50.562" v="2760" actId="478"/>
          <ac:cxnSpMkLst>
            <pc:docMk/>
            <pc:sldMk cId="3033675423" sldId="271"/>
            <ac:cxnSpMk id="28" creationId="{0B57108A-5DB4-3E21-2687-087590615AAD}"/>
          </ac:cxnSpMkLst>
        </pc:cxnChg>
        <pc:cxnChg chg="add del">
          <ac:chgData name="William Soehendra" userId="154453db-e56f-44e6-a197-bfbe92865cf8" providerId="ADAL" clId="{DFB18621-0C11-5947-AA7A-8D9AA0F38128}" dt="2026-07-30T23:57:50.562" v="2760" actId="478"/>
          <ac:cxnSpMkLst>
            <pc:docMk/>
            <pc:sldMk cId="3033675423" sldId="271"/>
            <ac:cxnSpMk id="38" creationId="{5984E84E-C1F3-3A33-0596-0C87B3BB7104}"/>
          </ac:cxnSpMkLst>
        </pc:cxnChg>
        <pc:cxnChg chg="add del mod">
          <ac:chgData name="William Soehendra" userId="154453db-e56f-44e6-a197-bfbe92865cf8" providerId="ADAL" clId="{DFB18621-0C11-5947-AA7A-8D9AA0F38128}" dt="2026-07-30T23:57:50.562" v="2760" actId="478"/>
          <ac:cxnSpMkLst>
            <pc:docMk/>
            <pc:sldMk cId="3033675423" sldId="271"/>
            <ac:cxnSpMk id="40" creationId="{B3E14F80-1F2F-C9CC-A931-E47142AFED06}"/>
          </ac:cxnSpMkLst>
        </pc:cxnChg>
        <pc:cxnChg chg="add mod">
          <ac:chgData name="William Soehendra" userId="154453db-e56f-44e6-a197-bfbe92865cf8" providerId="ADAL" clId="{DFB18621-0C11-5947-AA7A-8D9AA0F38128}" dt="2026-07-30T23:57:56.777" v="2762" actId="1076"/>
          <ac:cxnSpMkLst>
            <pc:docMk/>
            <pc:sldMk cId="3033675423" sldId="271"/>
            <ac:cxnSpMk id="49" creationId="{DEFA0285-006E-B98F-2E90-79DAAF9CB2BA}"/>
          </ac:cxnSpMkLst>
        </pc:cxnChg>
        <pc:cxnChg chg="add mod">
          <ac:chgData name="William Soehendra" userId="154453db-e56f-44e6-a197-bfbe92865cf8" providerId="ADAL" clId="{DFB18621-0C11-5947-AA7A-8D9AA0F38128}" dt="2026-07-30T23:57:56.777" v="2762" actId="1076"/>
          <ac:cxnSpMkLst>
            <pc:docMk/>
            <pc:sldMk cId="3033675423" sldId="271"/>
            <ac:cxnSpMk id="57" creationId="{4C0FC6C3-ABA2-F737-D34D-48E4BE63ED3B}"/>
          </ac:cxnSpMkLst>
        </pc:cxnChg>
        <pc:cxnChg chg="del mod">
          <ac:chgData name="William Soehendra" userId="154453db-e56f-44e6-a197-bfbe92865cf8" providerId="ADAL" clId="{DFB18621-0C11-5947-AA7A-8D9AA0F38128}" dt="2026-07-31T00:04:03.861" v="3034" actId="478"/>
          <ac:cxnSpMkLst>
            <pc:docMk/>
            <pc:sldMk cId="3033675423" sldId="271"/>
            <ac:cxnSpMk id="78" creationId="{B488E354-973B-32C2-5591-EBEA715C1867}"/>
          </ac:cxnSpMkLst>
        </pc:cxnChg>
        <pc:cxnChg chg="mod">
          <ac:chgData name="William Soehendra" userId="154453db-e56f-44e6-a197-bfbe92865cf8" providerId="ADAL" clId="{DFB18621-0C11-5947-AA7A-8D9AA0F38128}" dt="2026-07-31T00:10:47.320" v="3604" actId="14100"/>
          <ac:cxnSpMkLst>
            <pc:docMk/>
            <pc:sldMk cId="3033675423" sldId="271"/>
            <ac:cxnSpMk id="91" creationId="{24747EFF-3174-7B55-05F9-4F99543B5249}"/>
          </ac:cxnSpMkLst>
        </pc:cxnChg>
        <pc:cxnChg chg="mod">
          <ac:chgData name="William Soehendra" userId="154453db-e56f-44e6-a197-bfbe92865cf8" providerId="ADAL" clId="{DFB18621-0C11-5947-AA7A-8D9AA0F38128}" dt="2026-07-31T00:10:49.108" v="3605" actId="14100"/>
          <ac:cxnSpMkLst>
            <pc:docMk/>
            <pc:sldMk cId="3033675423" sldId="271"/>
            <ac:cxnSpMk id="100" creationId="{6132993A-B2E9-73F2-F901-4B186D46729F}"/>
          </ac:cxnSpMkLst>
        </pc:cxnChg>
        <pc:cxnChg chg="add mod">
          <ac:chgData name="William Soehendra" userId="154453db-e56f-44e6-a197-bfbe92865cf8" providerId="ADAL" clId="{DFB18621-0C11-5947-AA7A-8D9AA0F38128}" dt="2026-07-31T00:01:54.672" v="2932" actId="14100"/>
          <ac:cxnSpMkLst>
            <pc:docMk/>
            <pc:sldMk cId="3033675423" sldId="271"/>
            <ac:cxnSpMk id="106" creationId="{351E3097-D6C3-35AE-C487-B5C31C51DCCB}"/>
          </ac:cxnSpMkLst>
        </pc:cxnChg>
        <pc:cxnChg chg="add mod">
          <ac:chgData name="William Soehendra" userId="154453db-e56f-44e6-a197-bfbe92865cf8" providerId="ADAL" clId="{DFB18621-0C11-5947-AA7A-8D9AA0F38128}" dt="2026-07-31T00:01:59.714" v="2935" actId="14100"/>
          <ac:cxnSpMkLst>
            <pc:docMk/>
            <pc:sldMk cId="3033675423" sldId="271"/>
            <ac:cxnSpMk id="113" creationId="{151B534D-401B-EEF3-2539-84D740AB4875}"/>
          </ac:cxnSpMkLst>
        </pc:cxnChg>
        <pc:cxnChg chg="add mod">
          <ac:chgData name="William Soehendra" userId="154453db-e56f-44e6-a197-bfbe92865cf8" providerId="ADAL" clId="{DFB18621-0C11-5947-AA7A-8D9AA0F38128}" dt="2026-07-31T00:03:24.605" v="3006" actId="1076"/>
          <ac:cxnSpMkLst>
            <pc:docMk/>
            <pc:sldMk cId="3033675423" sldId="271"/>
            <ac:cxnSpMk id="120" creationId="{506EF5EC-8D89-1B52-347A-61DB909A3642}"/>
          </ac:cxnSpMkLst>
        </pc:cxnChg>
        <pc:cxnChg chg="add">
          <ac:chgData name="William Soehendra" userId="154453db-e56f-44e6-a197-bfbe92865cf8" providerId="ADAL" clId="{DFB18621-0C11-5947-AA7A-8D9AA0F38128}" dt="2026-07-31T00:04:11.813" v="3035" actId="11529"/>
          <ac:cxnSpMkLst>
            <pc:docMk/>
            <pc:sldMk cId="3033675423" sldId="271"/>
            <ac:cxnSpMk id="123" creationId="{B0F00DD4-8D85-2C81-D17D-7EEA1FFC90CB}"/>
          </ac:cxnSpMkLst>
        </pc:cxnChg>
        <pc:cxnChg chg="add mod">
          <ac:chgData name="William Soehendra" userId="154453db-e56f-44e6-a197-bfbe92865cf8" providerId="ADAL" clId="{DFB18621-0C11-5947-AA7A-8D9AA0F38128}" dt="2026-07-31T00:04:34.436" v="3041" actId="14100"/>
          <ac:cxnSpMkLst>
            <pc:docMk/>
            <pc:sldMk cId="3033675423" sldId="271"/>
            <ac:cxnSpMk id="124" creationId="{8668CBCC-07FE-F0FB-97C3-1231DFFF2CBE}"/>
          </ac:cxnSpMkLst>
        </pc:cxnChg>
      </pc:sldChg>
    </pc:docChg>
  </pc:docChgLst>
  <pc:docChgLst>
    <pc:chgData name="William Soehendra" userId="S::william.soehendra@servicestream.com.au::154453db-e56f-44e6-a197-bfbe92865cf8" providerId="AD" clId="Web-{4F3019DE-8DEA-DD2C-E1FA-855C54B4B7E6}"/>
    <pc:docChg chg="addSld modSld">
      <pc:chgData name="William Soehendra" userId="S::william.soehendra@servicestream.com.au::154453db-e56f-44e6-a197-bfbe92865cf8" providerId="AD" clId="Web-{4F3019DE-8DEA-DD2C-E1FA-855C54B4B7E6}" dt="2026-07-28T23:51:28.168" v="171" actId="14100"/>
      <pc:docMkLst>
        <pc:docMk/>
      </pc:docMkLst>
      <pc:sldChg chg="addSp delSp modSp">
        <pc:chgData name="William Soehendra" userId="S::william.soehendra@servicestream.com.au::154453db-e56f-44e6-a197-bfbe92865cf8" providerId="AD" clId="Web-{4F3019DE-8DEA-DD2C-E1FA-855C54B4B7E6}" dt="2026-07-28T23:45:30.072" v="27"/>
        <pc:sldMkLst>
          <pc:docMk/>
          <pc:sldMk cId="0" sldId="257"/>
        </pc:sldMkLst>
        <pc:spChg chg="mod">
          <ac:chgData name="William Soehendra" userId="S::william.soehendra@servicestream.com.au::154453db-e56f-44e6-a197-bfbe92865cf8" providerId="AD" clId="Web-{4F3019DE-8DEA-DD2C-E1FA-855C54B4B7E6}" dt="2026-07-28T23:36:01.943" v="1" actId="14100"/>
          <ac:spMkLst>
            <pc:docMk/>
            <pc:sldMk cId="0" sldId="257"/>
            <ac:spMk id="33" creationId="{00000000-0000-0000-0000-000000000000}"/>
          </ac:spMkLst>
        </pc:spChg>
      </pc:sldChg>
      <pc:sldChg chg="modSp">
        <pc:chgData name="William Soehendra" userId="S::william.soehendra@servicestream.com.au::154453db-e56f-44e6-a197-bfbe92865cf8" providerId="AD" clId="Web-{4F3019DE-8DEA-DD2C-E1FA-855C54B4B7E6}" dt="2026-07-28T23:46:47.197" v="111" actId="1076"/>
        <pc:sldMkLst>
          <pc:docMk/>
          <pc:sldMk cId="0" sldId="258"/>
        </pc:sldMkLst>
        <pc:spChg chg="mod">
          <ac:chgData name="William Soehendra" userId="S::william.soehendra@servicestream.com.au::154453db-e56f-44e6-a197-bfbe92865cf8" providerId="AD" clId="Web-{4F3019DE-8DEA-DD2C-E1FA-855C54B4B7E6}" dt="2026-07-28T23:46:31.775" v="108" actId="20577"/>
          <ac:spMkLst>
            <pc:docMk/>
            <pc:sldMk cId="0" sldId="258"/>
            <ac:spMk id="22" creationId="{00000000-0000-0000-0000-000000000000}"/>
          </ac:spMkLst>
        </pc:spChg>
        <pc:spChg chg="mod">
          <ac:chgData name="William Soehendra" userId="S::william.soehendra@servicestream.com.au::154453db-e56f-44e6-a197-bfbe92865cf8" providerId="AD" clId="Web-{4F3019DE-8DEA-DD2C-E1FA-855C54B4B7E6}" dt="2026-07-28T23:46:47.151" v="109" actId="1076"/>
          <ac:spMkLst>
            <pc:docMk/>
            <pc:sldMk cId="0" sldId="258"/>
            <ac:spMk id="56" creationId="{00000000-0000-0000-0000-000000000000}"/>
          </ac:spMkLst>
        </pc:spChg>
        <pc:spChg chg="mod">
          <ac:chgData name="William Soehendra" userId="S::william.soehendra@servicestream.com.au::154453db-e56f-44e6-a197-bfbe92865cf8" providerId="AD" clId="Web-{4F3019DE-8DEA-DD2C-E1FA-855C54B4B7E6}" dt="2026-07-28T23:46:47.166" v="110" actId="1076"/>
          <ac:spMkLst>
            <pc:docMk/>
            <pc:sldMk cId="0" sldId="258"/>
            <ac:spMk id="60" creationId="{00000000-0000-0000-0000-000000000000}"/>
          </ac:spMkLst>
        </pc:spChg>
        <pc:spChg chg="mod">
          <ac:chgData name="William Soehendra" userId="S::william.soehendra@servicestream.com.au::154453db-e56f-44e6-a197-bfbe92865cf8" providerId="AD" clId="Web-{4F3019DE-8DEA-DD2C-E1FA-855C54B4B7E6}" dt="2026-07-28T23:46:47.197" v="111" actId="1076"/>
          <ac:spMkLst>
            <pc:docMk/>
            <pc:sldMk cId="0" sldId="258"/>
            <ac:spMk id="64" creationId="{00000000-0000-0000-0000-000000000000}"/>
          </ac:spMkLst>
        </pc:spChg>
      </pc:sldChg>
      <pc:sldChg chg="addSp modSp new">
        <pc:chgData name="William Soehendra" userId="S::william.soehendra@servicestream.com.au::154453db-e56f-44e6-a197-bfbe92865cf8" providerId="AD" clId="Web-{4F3019DE-8DEA-DD2C-E1FA-855C54B4B7E6}" dt="2026-07-28T23:46:01.572" v="60" actId="20577"/>
        <pc:sldMkLst>
          <pc:docMk/>
          <pc:sldMk cId="2694674380" sldId="269"/>
        </pc:sldMkLst>
      </pc:sldChg>
      <pc:sldChg chg="addSp modSp new">
        <pc:chgData name="William Soehendra" userId="S::william.soehendra@servicestream.com.au::154453db-e56f-44e6-a197-bfbe92865cf8" providerId="AD" clId="Web-{4F3019DE-8DEA-DD2C-E1FA-855C54B4B7E6}" dt="2026-07-28T23:51:28.168" v="171" actId="14100"/>
        <pc:sldMkLst>
          <pc:docMk/>
          <pc:sldMk cId="1670674682" sldId="270"/>
        </pc:sldMkLst>
      </pc:sldChg>
    </pc:docChg>
  </pc:docChgLst>
  <pc:docChgLst>
    <pc:chgData name="Rajesh Sha" userId="S::rajesh.sha@servicestream.com.au::e5c330cc-b689-46e8-96b3-c9831a0eef2d" providerId="AD" clId="Web-{42C49995-C4BB-21B4-8CC7-7096F3352F1F}"/>
    <pc:docChg chg="modSld">
      <pc:chgData name="Rajesh Sha" userId="S::rajesh.sha@servicestream.com.au::e5c330cc-b689-46e8-96b3-c9831a0eef2d" providerId="AD" clId="Web-{42C49995-C4BB-21B4-8CC7-7096F3352F1F}" dt="2026-07-11T06:05:21.758" v="3" actId="20577"/>
      <pc:docMkLst>
        <pc:docMk/>
      </pc:docMkLst>
      <pc:sldChg chg="modSp">
        <pc:chgData name="Rajesh Sha" userId="S::rajesh.sha@servicestream.com.au::e5c330cc-b689-46e8-96b3-c9831a0eef2d" providerId="AD" clId="Web-{42C49995-C4BB-21B4-8CC7-7096F3352F1F}" dt="2026-07-11T06:05:21.758" v="3" actId="20577"/>
        <pc:sldMkLst>
          <pc:docMk/>
          <pc:sldMk cId="0" sldId="268"/>
        </pc:sldMkLst>
        <pc:spChg chg="mod">
          <ac:chgData name="Rajesh Sha" userId="S::rajesh.sha@servicestream.com.au::e5c330cc-b689-46e8-96b3-c9831a0eef2d" providerId="AD" clId="Web-{42C49995-C4BB-21B4-8CC7-7096F3352F1F}" dt="2026-07-11T06:05:21.758" v="3" actId="20577"/>
          <ac:spMkLst>
            <pc:docMk/>
            <pc:sldMk cId="0" sldId="268"/>
            <ac:spMk id="6" creationId="{00000000-0000-0000-0000-000000000000}"/>
          </ac:spMkLst>
        </pc:spChg>
      </pc:sldChg>
    </pc:docChg>
  </pc:docChgLst>
  <pc:docChgLst>
    <pc:chgData name="Rajesh Sha" userId="S::rajesh.sha@servicestream.com.au::e5c330cc-b689-46e8-96b3-c9831a0eef2d" providerId="AD" clId="Web-{96FA285F-9E10-165B-0E30-C0AAB50DA438}"/>
    <pc:docChg chg="modSld">
      <pc:chgData name="Rajesh Sha" userId="S::rajesh.sha@servicestream.com.au::e5c330cc-b689-46e8-96b3-c9831a0eef2d" providerId="AD" clId="Web-{96FA285F-9E10-165B-0E30-C0AAB50DA438}" dt="2026-07-11T06:11:31.435" v="120" actId="20577"/>
      <pc:docMkLst>
        <pc:docMk/>
      </pc:docMkLst>
      <pc:sldChg chg="delSp modSp">
        <pc:chgData name="Rajesh Sha" userId="S::rajesh.sha@servicestream.com.au::e5c330cc-b689-46e8-96b3-c9831a0eef2d" providerId="AD" clId="Web-{96FA285F-9E10-165B-0E30-C0AAB50DA438}" dt="2026-07-11T06:08:09.775" v="40"/>
        <pc:sldMkLst>
          <pc:docMk/>
          <pc:sldMk cId="0" sldId="256"/>
        </pc:sldMkLst>
        <pc:spChg chg="mod">
          <ac:chgData name="Rajesh Sha" userId="S::rajesh.sha@servicestream.com.au::e5c330cc-b689-46e8-96b3-c9831a0eef2d" providerId="AD" clId="Web-{96FA285F-9E10-165B-0E30-C0AAB50DA438}" dt="2026-07-11T06:06:57.555" v="4" actId="20577"/>
          <ac:spMkLst>
            <pc:docMk/>
            <pc:sldMk cId="0" sldId="256"/>
            <ac:spMk id="8" creationId="{00000000-0000-0000-0000-000000000000}"/>
          </ac:spMkLst>
        </pc:spChg>
        <pc:spChg chg="mod">
          <ac:chgData name="Rajesh Sha" userId="S::rajesh.sha@servicestream.com.au::e5c330cc-b689-46e8-96b3-c9831a0eef2d" providerId="AD" clId="Web-{96FA285F-9E10-165B-0E30-C0AAB50DA438}" dt="2026-07-11T06:07:35.118" v="6" actId="1076"/>
          <ac:spMkLst>
            <pc:docMk/>
            <pc:sldMk cId="0" sldId="256"/>
            <ac:spMk id="12" creationId="{00000000-0000-0000-0000-000000000000}"/>
          </ac:spMkLst>
        </pc:spChg>
        <pc:spChg chg="mod">
          <ac:chgData name="Rajesh Sha" userId="S::rajesh.sha@servicestream.com.au::e5c330cc-b689-46e8-96b3-c9831a0eef2d" providerId="AD" clId="Web-{96FA285F-9E10-165B-0E30-C0AAB50DA438}" dt="2026-07-11T06:07:35.134" v="7" actId="1076"/>
          <ac:spMkLst>
            <pc:docMk/>
            <pc:sldMk cId="0" sldId="256"/>
            <ac:spMk id="14" creationId="{00000000-0000-0000-0000-000000000000}"/>
          </ac:spMkLst>
        </pc:spChg>
        <pc:spChg chg="mod">
          <ac:chgData name="Rajesh Sha" userId="S::rajesh.sha@servicestream.com.au::e5c330cc-b689-46e8-96b3-c9831a0eef2d" providerId="AD" clId="Web-{96FA285F-9E10-165B-0E30-C0AAB50DA438}" dt="2026-07-11T06:07:35.134" v="8" actId="1076"/>
          <ac:spMkLst>
            <pc:docMk/>
            <pc:sldMk cId="0" sldId="256"/>
            <ac:spMk id="16" creationId="{00000000-0000-0000-0000-000000000000}"/>
          </ac:spMkLst>
        </pc:spChg>
        <pc:spChg chg="mod">
          <ac:chgData name="Rajesh Sha" userId="S::rajesh.sha@servicestream.com.au::e5c330cc-b689-46e8-96b3-c9831a0eef2d" providerId="AD" clId="Web-{96FA285F-9E10-165B-0E30-C0AAB50DA438}" dt="2026-07-11T06:07:35.149" v="9" actId="1076"/>
          <ac:spMkLst>
            <pc:docMk/>
            <pc:sldMk cId="0" sldId="256"/>
            <ac:spMk id="18" creationId="{00000000-0000-0000-0000-000000000000}"/>
          </ac:spMkLst>
        </pc:spChg>
        <pc:spChg chg="mod">
          <ac:chgData name="Rajesh Sha" userId="S::rajesh.sha@servicestream.com.au::e5c330cc-b689-46e8-96b3-c9831a0eef2d" providerId="AD" clId="Web-{96FA285F-9E10-165B-0E30-C0AAB50DA438}" dt="2026-07-11T06:07:35.165" v="10" actId="1076"/>
          <ac:spMkLst>
            <pc:docMk/>
            <pc:sldMk cId="0" sldId="256"/>
            <ac:spMk id="20" creationId="{00000000-0000-0000-0000-000000000000}"/>
          </ac:spMkLst>
        </pc:spChg>
        <pc:spChg chg="mod">
          <ac:chgData name="Rajesh Sha" userId="S::rajesh.sha@servicestream.com.au::e5c330cc-b689-46e8-96b3-c9831a0eef2d" providerId="AD" clId="Web-{96FA285F-9E10-165B-0E30-C0AAB50DA438}" dt="2026-07-11T06:07:35.165" v="11" actId="1076"/>
          <ac:spMkLst>
            <pc:docMk/>
            <pc:sldMk cId="0" sldId="256"/>
            <ac:spMk id="22" creationId="{00000000-0000-0000-0000-000000000000}"/>
          </ac:spMkLst>
        </pc:spChg>
        <pc:spChg chg="mod">
          <ac:chgData name="Rajesh Sha" userId="S::rajesh.sha@servicestream.com.au::e5c330cc-b689-46e8-96b3-c9831a0eef2d" providerId="AD" clId="Web-{96FA285F-9E10-165B-0E30-C0AAB50DA438}" dt="2026-07-11T06:07:35.181" v="12" actId="1076"/>
          <ac:spMkLst>
            <pc:docMk/>
            <pc:sldMk cId="0" sldId="256"/>
            <ac:spMk id="24" creationId="{00000000-0000-0000-0000-000000000000}"/>
          </ac:spMkLst>
        </pc:spChg>
        <pc:spChg chg="mod">
          <ac:chgData name="Rajesh Sha" userId="S::rajesh.sha@servicestream.com.au::e5c330cc-b689-46e8-96b3-c9831a0eef2d" providerId="AD" clId="Web-{96FA285F-9E10-165B-0E30-C0AAB50DA438}" dt="2026-07-11T06:07:35.196" v="13" actId="1076"/>
          <ac:spMkLst>
            <pc:docMk/>
            <pc:sldMk cId="0" sldId="256"/>
            <ac:spMk id="26" creationId="{00000000-0000-0000-0000-000000000000}"/>
          </ac:spMkLst>
        </pc:spChg>
        <pc:spChg chg="mod">
          <ac:chgData name="Rajesh Sha" userId="S::rajesh.sha@servicestream.com.au::e5c330cc-b689-46e8-96b3-c9831a0eef2d" providerId="AD" clId="Web-{96FA285F-9E10-165B-0E30-C0AAB50DA438}" dt="2026-07-11T06:07:35.196" v="14" actId="1076"/>
          <ac:spMkLst>
            <pc:docMk/>
            <pc:sldMk cId="0" sldId="256"/>
            <ac:spMk id="28" creationId="{00000000-0000-0000-0000-000000000000}"/>
          </ac:spMkLst>
        </pc:spChg>
        <pc:spChg chg="mod">
          <ac:chgData name="Rajesh Sha" userId="S::rajesh.sha@servicestream.com.au::e5c330cc-b689-46e8-96b3-c9831a0eef2d" providerId="AD" clId="Web-{96FA285F-9E10-165B-0E30-C0AAB50DA438}" dt="2026-07-11T06:07:35.212" v="15" actId="1076"/>
          <ac:spMkLst>
            <pc:docMk/>
            <pc:sldMk cId="0" sldId="256"/>
            <ac:spMk id="30" creationId="{00000000-0000-0000-0000-000000000000}"/>
          </ac:spMkLst>
        </pc:spChg>
        <pc:spChg chg="mod">
          <ac:chgData name="Rajesh Sha" userId="S::rajesh.sha@servicestream.com.au::e5c330cc-b689-46e8-96b3-c9831a0eef2d" providerId="AD" clId="Web-{96FA285F-9E10-165B-0E30-C0AAB50DA438}" dt="2026-07-11T06:07:35.227" v="16" actId="1076"/>
          <ac:spMkLst>
            <pc:docMk/>
            <pc:sldMk cId="0" sldId="256"/>
            <ac:spMk id="32" creationId="{00000000-0000-0000-0000-000000000000}"/>
          </ac:spMkLst>
        </pc:spChg>
        <pc:spChg chg="mod">
          <ac:chgData name="Rajesh Sha" userId="S::rajesh.sha@servicestream.com.au::e5c330cc-b689-46e8-96b3-c9831a0eef2d" providerId="AD" clId="Web-{96FA285F-9E10-165B-0E30-C0AAB50DA438}" dt="2026-07-11T06:07:35.227" v="17" actId="1076"/>
          <ac:spMkLst>
            <pc:docMk/>
            <pc:sldMk cId="0" sldId="256"/>
            <ac:spMk id="34" creationId="{00000000-0000-0000-0000-000000000000}"/>
          </ac:spMkLst>
        </pc:spChg>
        <pc:spChg chg="mod">
          <ac:chgData name="Rajesh Sha" userId="S::rajesh.sha@servicestream.com.au::e5c330cc-b689-46e8-96b3-c9831a0eef2d" providerId="AD" clId="Web-{96FA285F-9E10-165B-0E30-C0AAB50DA438}" dt="2026-07-11T06:07:35.243" v="18" actId="1076"/>
          <ac:spMkLst>
            <pc:docMk/>
            <pc:sldMk cId="0" sldId="256"/>
            <ac:spMk id="36" creationId="{00000000-0000-0000-0000-000000000000}"/>
          </ac:spMkLst>
        </pc:spChg>
        <pc:spChg chg="mod">
          <ac:chgData name="Rajesh Sha" userId="S::rajesh.sha@servicestream.com.au::e5c330cc-b689-46e8-96b3-c9831a0eef2d" providerId="AD" clId="Web-{96FA285F-9E10-165B-0E30-C0AAB50DA438}" dt="2026-07-11T06:07:35.259" v="19" actId="1076"/>
          <ac:spMkLst>
            <pc:docMk/>
            <pc:sldMk cId="0" sldId="256"/>
            <ac:spMk id="38" creationId="{00000000-0000-0000-0000-000000000000}"/>
          </ac:spMkLst>
        </pc:spChg>
        <pc:spChg chg="mod">
          <ac:chgData name="Rajesh Sha" userId="S::rajesh.sha@servicestream.com.au::e5c330cc-b689-46e8-96b3-c9831a0eef2d" providerId="AD" clId="Web-{96FA285F-9E10-165B-0E30-C0AAB50DA438}" dt="2026-07-11T06:07:35.259" v="20" actId="1076"/>
          <ac:spMkLst>
            <pc:docMk/>
            <pc:sldMk cId="0" sldId="256"/>
            <ac:spMk id="40" creationId="{00000000-0000-0000-0000-000000000000}"/>
          </ac:spMkLst>
        </pc:spChg>
        <pc:spChg chg="mod">
          <ac:chgData name="Rajesh Sha" userId="S::rajesh.sha@servicestream.com.au::e5c330cc-b689-46e8-96b3-c9831a0eef2d" providerId="AD" clId="Web-{96FA285F-9E10-165B-0E30-C0AAB50DA438}" dt="2026-07-11T06:07:35.274" v="21" actId="1076"/>
          <ac:spMkLst>
            <pc:docMk/>
            <pc:sldMk cId="0" sldId="256"/>
            <ac:spMk id="42" creationId="{00000000-0000-0000-0000-000000000000}"/>
          </ac:spMkLst>
        </pc:spChg>
        <pc:spChg chg="mod">
          <ac:chgData name="Rajesh Sha" userId="S::rajesh.sha@servicestream.com.au::e5c330cc-b689-46e8-96b3-c9831a0eef2d" providerId="AD" clId="Web-{96FA285F-9E10-165B-0E30-C0AAB50DA438}" dt="2026-07-11T06:07:35.290" v="22" actId="1076"/>
          <ac:spMkLst>
            <pc:docMk/>
            <pc:sldMk cId="0" sldId="256"/>
            <ac:spMk id="44" creationId="{00000000-0000-0000-0000-000000000000}"/>
          </ac:spMkLst>
        </pc:spChg>
        <pc:spChg chg="mod">
          <ac:chgData name="Rajesh Sha" userId="S::rajesh.sha@servicestream.com.au::e5c330cc-b689-46e8-96b3-c9831a0eef2d" providerId="AD" clId="Web-{96FA285F-9E10-165B-0E30-C0AAB50DA438}" dt="2026-07-11T06:07:35.290" v="23" actId="1076"/>
          <ac:spMkLst>
            <pc:docMk/>
            <pc:sldMk cId="0" sldId="256"/>
            <ac:spMk id="46" creationId="{00000000-0000-0000-0000-000000000000}"/>
          </ac:spMkLst>
        </pc:spChg>
        <pc:spChg chg="mod">
          <ac:chgData name="Rajesh Sha" userId="S::rajesh.sha@servicestream.com.au::e5c330cc-b689-46e8-96b3-c9831a0eef2d" providerId="AD" clId="Web-{96FA285F-9E10-165B-0E30-C0AAB50DA438}" dt="2026-07-11T06:07:35.306" v="24" actId="1076"/>
          <ac:spMkLst>
            <pc:docMk/>
            <pc:sldMk cId="0" sldId="256"/>
            <ac:spMk id="48" creationId="{00000000-0000-0000-0000-000000000000}"/>
          </ac:spMkLst>
        </pc:spChg>
        <pc:spChg chg="mod">
          <ac:chgData name="Rajesh Sha" userId="S::rajesh.sha@servicestream.com.au::e5c330cc-b689-46e8-96b3-c9831a0eef2d" providerId="AD" clId="Web-{96FA285F-9E10-165B-0E30-C0AAB50DA438}" dt="2026-07-11T06:07:35.321" v="25" actId="1076"/>
          <ac:spMkLst>
            <pc:docMk/>
            <pc:sldMk cId="0" sldId="256"/>
            <ac:spMk id="50" creationId="{00000000-0000-0000-0000-000000000000}"/>
          </ac:spMkLst>
        </pc:spChg>
        <pc:spChg chg="mod">
          <ac:chgData name="Rajesh Sha" userId="S::rajesh.sha@servicestream.com.au::e5c330cc-b689-46e8-96b3-c9831a0eef2d" providerId="AD" clId="Web-{96FA285F-9E10-165B-0E30-C0AAB50DA438}" dt="2026-07-11T06:07:35.321" v="26" actId="1076"/>
          <ac:spMkLst>
            <pc:docMk/>
            <pc:sldMk cId="0" sldId="256"/>
            <ac:spMk id="52" creationId="{00000000-0000-0000-0000-000000000000}"/>
          </ac:spMkLst>
        </pc:spChg>
        <pc:spChg chg="mod">
          <ac:chgData name="Rajesh Sha" userId="S::rajesh.sha@servicestream.com.au::e5c330cc-b689-46e8-96b3-c9831a0eef2d" providerId="AD" clId="Web-{96FA285F-9E10-165B-0E30-C0AAB50DA438}" dt="2026-07-11T06:07:35.337" v="27" actId="1076"/>
          <ac:spMkLst>
            <pc:docMk/>
            <pc:sldMk cId="0" sldId="256"/>
            <ac:spMk id="54" creationId="{00000000-0000-0000-0000-000000000000}"/>
          </ac:spMkLst>
        </pc:spChg>
        <pc:spChg chg="mod">
          <ac:chgData name="Rajesh Sha" userId="S::rajesh.sha@servicestream.com.au::e5c330cc-b689-46e8-96b3-c9831a0eef2d" providerId="AD" clId="Web-{96FA285F-9E10-165B-0E30-C0AAB50DA438}" dt="2026-07-11T06:07:35.352" v="28" actId="1076"/>
          <ac:spMkLst>
            <pc:docMk/>
            <pc:sldMk cId="0" sldId="256"/>
            <ac:spMk id="56" creationId="{00000000-0000-0000-0000-000000000000}"/>
          </ac:spMkLst>
        </pc:spChg>
        <pc:spChg chg="mod">
          <ac:chgData name="Rajesh Sha" userId="S::rajesh.sha@servicestream.com.au::e5c330cc-b689-46e8-96b3-c9831a0eef2d" providerId="AD" clId="Web-{96FA285F-9E10-165B-0E30-C0AAB50DA438}" dt="2026-07-11T06:07:35.368" v="29" actId="1076"/>
          <ac:spMkLst>
            <pc:docMk/>
            <pc:sldMk cId="0" sldId="256"/>
            <ac:spMk id="58" creationId="{00000000-0000-0000-0000-000000000000}"/>
          </ac:spMkLst>
        </pc:spChg>
        <pc:spChg chg="mod">
          <ac:chgData name="Rajesh Sha" userId="S::rajesh.sha@servicestream.com.au::e5c330cc-b689-46e8-96b3-c9831a0eef2d" providerId="AD" clId="Web-{96FA285F-9E10-165B-0E30-C0AAB50DA438}" dt="2026-07-11T06:07:35.399" v="32" actId="1076"/>
          <ac:spMkLst>
            <pc:docMk/>
            <pc:sldMk cId="0" sldId="256"/>
            <ac:spMk id="64" creationId="{00000000-0000-0000-0000-000000000000}"/>
          </ac:spMkLst>
        </pc:spChg>
      </pc:sldChg>
      <pc:sldChg chg="modSp">
        <pc:chgData name="Rajesh Sha" userId="S::rajesh.sha@servicestream.com.au::e5c330cc-b689-46e8-96b3-c9831a0eef2d" providerId="AD" clId="Web-{96FA285F-9E10-165B-0E30-C0AAB50DA438}" dt="2026-07-11T06:08:41.854" v="45" actId="20577"/>
        <pc:sldMkLst>
          <pc:docMk/>
          <pc:sldMk cId="0" sldId="257"/>
        </pc:sldMkLst>
        <pc:spChg chg="mod">
          <ac:chgData name="Rajesh Sha" userId="S::rajesh.sha@servicestream.com.au::e5c330cc-b689-46e8-96b3-c9831a0eef2d" providerId="AD" clId="Web-{96FA285F-9E10-165B-0E30-C0AAB50DA438}" dt="2026-07-11T06:08:41.854" v="45" actId="20577"/>
          <ac:spMkLst>
            <pc:docMk/>
            <pc:sldMk cId="0" sldId="257"/>
            <ac:spMk id="4" creationId="{00000000-0000-0000-0000-000000000000}"/>
          </ac:spMkLst>
        </pc:spChg>
      </pc:sldChg>
      <pc:sldChg chg="modSp">
        <pc:chgData name="Rajesh Sha" userId="S::rajesh.sha@servicestream.com.au::e5c330cc-b689-46e8-96b3-c9831a0eef2d" providerId="AD" clId="Web-{96FA285F-9E10-165B-0E30-C0AAB50DA438}" dt="2026-07-11T06:09:00.573" v="51" actId="20577"/>
        <pc:sldMkLst>
          <pc:docMk/>
          <pc:sldMk cId="0" sldId="258"/>
        </pc:sldMkLst>
        <pc:spChg chg="mod">
          <ac:chgData name="Rajesh Sha" userId="S::rajesh.sha@servicestream.com.au::e5c330cc-b689-46e8-96b3-c9831a0eef2d" providerId="AD" clId="Web-{96FA285F-9E10-165B-0E30-C0AAB50DA438}" dt="2026-07-11T06:09:00.573" v="51" actId="20577"/>
          <ac:spMkLst>
            <pc:docMk/>
            <pc:sldMk cId="0" sldId="258"/>
            <ac:spMk id="6" creationId="{00000000-0000-0000-0000-000000000000}"/>
          </ac:spMkLst>
        </pc:spChg>
      </pc:sldChg>
      <pc:sldChg chg="modSp">
        <pc:chgData name="Rajesh Sha" userId="S::rajesh.sha@servicestream.com.au::e5c330cc-b689-46e8-96b3-c9831a0eef2d" providerId="AD" clId="Web-{96FA285F-9E10-165B-0E30-C0AAB50DA438}" dt="2026-07-11T06:09:37.823" v="68" actId="20577"/>
        <pc:sldMkLst>
          <pc:docMk/>
          <pc:sldMk cId="0" sldId="260"/>
        </pc:sldMkLst>
        <pc:spChg chg="mod">
          <ac:chgData name="Rajesh Sha" userId="S::rajesh.sha@servicestream.com.au::e5c330cc-b689-46e8-96b3-c9831a0eef2d" providerId="AD" clId="Web-{96FA285F-9E10-165B-0E30-C0AAB50DA438}" dt="2026-07-11T06:09:37.823" v="68" actId="20577"/>
          <ac:spMkLst>
            <pc:docMk/>
            <pc:sldMk cId="0" sldId="260"/>
            <ac:spMk id="6" creationId="{00000000-0000-0000-0000-000000000000}"/>
          </ac:spMkLst>
        </pc:spChg>
      </pc:sldChg>
      <pc:sldChg chg="modSp">
        <pc:chgData name="Rajesh Sha" userId="S::rajesh.sha@servicestream.com.au::e5c330cc-b689-46e8-96b3-c9831a0eef2d" providerId="AD" clId="Web-{96FA285F-9E10-165B-0E30-C0AAB50DA438}" dt="2026-07-11T06:10:28.387" v="78" actId="20577"/>
        <pc:sldMkLst>
          <pc:docMk/>
          <pc:sldMk cId="0" sldId="261"/>
        </pc:sldMkLst>
        <pc:spChg chg="mod">
          <ac:chgData name="Rajesh Sha" userId="S::rajesh.sha@servicestream.com.au::e5c330cc-b689-46e8-96b3-c9831a0eef2d" providerId="AD" clId="Web-{96FA285F-9E10-165B-0E30-C0AAB50DA438}" dt="2026-07-11T06:10:28.387" v="78" actId="20577"/>
          <ac:spMkLst>
            <pc:docMk/>
            <pc:sldMk cId="0" sldId="261"/>
            <ac:spMk id="6" creationId="{00000000-0000-0000-0000-000000000000}"/>
          </ac:spMkLst>
        </pc:spChg>
      </pc:sldChg>
      <pc:sldChg chg="modSp">
        <pc:chgData name="Rajesh Sha" userId="S::rajesh.sha@servicestream.com.au::e5c330cc-b689-46e8-96b3-c9831a0eef2d" providerId="AD" clId="Web-{96FA285F-9E10-165B-0E30-C0AAB50DA438}" dt="2026-07-11T06:10:54.403" v="91" actId="20577"/>
        <pc:sldMkLst>
          <pc:docMk/>
          <pc:sldMk cId="0" sldId="262"/>
        </pc:sldMkLst>
        <pc:spChg chg="mod">
          <ac:chgData name="Rajesh Sha" userId="S::rajesh.sha@servicestream.com.au::e5c330cc-b689-46e8-96b3-c9831a0eef2d" providerId="AD" clId="Web-{96FA285F-9E10-165B-0E30-C0AAB50DA438}" dt="2026-07-11T06:10:54.403" v="91" actId="20577"/>
          <ac:spMkLst>
            <pc:docMk/>
            <pc:sldMk cId="0" sldId="262"/>
            <ac:spMk id="6" creationId="{00000000-0000-0000-0000-000000000000}"/>
          </ac:spMkLst>
        </pc:spChg>
      </pc:sldChg>
      <pc:sldChg chg="modSp">
        <pc:chgData name="Rajesh Sha" userId="S::rajesh.sha@servicestream.com.au::e5c330cc-b689-46e8-96b3-c9831a0eef2d" providerId="AD" clId="Web-{96FA285F-9E10-165B-0E30-C0AAB50DA438}" dt="2026-07-11T06:11:31.435" v="120" actId="20577"/>
        <pc:sldMkLst>
          <pc:docMk/>
          <pc:sldMk cId="0" sldId="265"/>
        </pc:sldMkLst>
        <pc:spChg chg="mod">
          <ac:chgData name="Rajesh Sha" userId="S::rajesh.sha@servicestream.com.au::e5c330cc-b689-46e8-96b3-c9831a0eef2d" providerId="AD" clId="Web-{96FA285F-9E10-165B-0E30-C0AAB50DA438}" dt="2026-07-11T06:11:31.435" v="120" actId="20577"/>
          <ac:spMkLst>
            <pc:docMk/>
            <pc:sldMk cId="0" sldId="265"/>
            <ac:spMk id="6" creationId="{00000000-0000-0000-0000-000000000000}"/>
          </ac:spMkLst>
        </pc:spChg>
      </pc:sldChg>
    </pc:docChg>
  </pc:docChgLst>
  <pc:docChgLst>
    <pc:chgData name="Rajesh Sha" userId="e5c330cc-b689-46e8-96b3-c9831a0eef2d" providerId="ADAL" clId="{66D4E6DF-50A5-459F-A2AB-EB2A579DE9F6}"/>
    <pc:docChg chg="undo custSel modSld">
      <pc:chgData name="Rajesh Sha" userId="e5c330cc-b689-46e8-96b3-c9831a0eef2d" providerId="ADAL" clId="{66D4E6DF-50A5-459F-A2AB-EB2A579DE9F6}" dt="2026-07-28T03:05:31.478" v="59" actId="14100"/>
      <pc:docMkLst>
        <pc:docMk/>
      </pc:docMkLst>
      <pc:sldChg chg="addSp delSp modSp mod">
        <pc:chgData name="Rajesh Sha" userId="e5c330cc-b689-46e8-96b3-c9831a0eef2d" providerId="ADAL" clId="{66D4E6DF-50A5-459F-A2AB-EB2A579DE9F6}" dt="2026-07-28T03:05:31.478" v="59" actId="14100"/>
        <pc:sldMkLst>
          <pc:docMk/>
          <pc:sldMk cId="0" sldId="257"/>
        </pc:sldMkLst>
        <pc:spChg chg="mod">
          <ac:chgData name="Rajesh Sha" userId="e5c330cc-b689-46e8-96b3-c9831a0eef2d" providerId="ADAL" clId="{66D4E6DF-50A5-459F-A2AB-EB2A579DE9F6}" dt="2026-07-14T08:35:18.691" v="41" actId="20577"/>
          <ac:spMkLst>
            <pc:docMk/>
            <pc:sldMk cId="0" sldId="257"/>
            <ac:spMk id="19" creationId="{00000000-0000-0000-0000-000000000000}"/>
          </ac:spMkLst>
        </pc:spChg>
        <pc:spChg chg="mod">
          <ac:chgData name="Rajesh Sha" userId="e5c330cc-b689-46e8-96b3-c9831a0eef2d" providerId="ADAL" clId="{66D4E6DF-50A5-459F-A2AB-EB2A579DE9F6}" dt="2026-07-28T03:05:31.478" v="59" actId="14100"/>
          <ac:spMkLst>
            <pc:docMk/>
            <pc:sldMk cId="0" sldId="257"/>
            <ac:spMk id="33" creationId="{00000000-0000-0000-0000-000000000000}"/>
          </ac:spMkLst>
        </pc:spChg>
        <pc:spChg chg="mod">
          <ac:chgData name="Rajesh Sha" userId="e5c330cc-b689-46e8-96b3-c9831a0eef2d" providerId="ADAL" clId="{66D4E6DF-50A5-459F-A2AB-EB2A579DE9F6}" dt="2026-07-28T03:05:21.411" v="55" actId="1076"/>
          <ac:spMkLst>
            <pc:docMk/>
            <pc:sldMk cId="0" sldId="257"/>
            <ac:spMk id="34" creationId="{00000000-0000-0000-0000-000000000000}"/>
          </ac:spMkLst>
        </pc:spChg>
      </pc:sldChg>
      <pc:sldChg chg="modSp mod">
        <pc:chgData name="Rajesh Sha" userId="e5c330cc-b689-46e8-96b3-c9831a0eef2d" providerId="ADAL" clId="{66D4E6DF-50A5-459F-A2AB-EB2A579DE9F6}" dt="2026-07-13T00:50:13.097" v="4" actId="14734"/>
        <pc:sldMkLst>
          <pc:docMk/>
          <pc:sldMk cId="0" sldId="259"/>
        </pc:sldMkLst>
        <pc:graphicFrameChg chg="modGraphic">
          <ac:chgData name="Rajesh Sha" userId="e5c330cc-b689-46e8-96b3-c9831a0eef2d" providerId="ADAL" clId="{66D4E6DF-50A5-459F-A2AB-EB2A579DE9F6}" dt="2026-07-13T00:50:13.097" v="4" actId="14734"/>
          <ac:graphicFrameMkLst>
            <pc:docMk/>
            <pc:sldMk cId="0" sldId="259"/>
            <ac:graphicFrameMk id="10" creationId="{00000000-0000-0000-0000-000000000000}"/>
          </ac:graphicFrameMkLst>
        </pc:graphicFrameChg>
      </pc:sldChg>
      <pc:sldChg chg="modSp mod">
        <pc:chgData name="Rajesh Sha" userId="e5c330cc-b689-46e8-96b3-c9831a0eef2d" providerId="ADAL" clId="{66D4E6DF-50A5-459F-A2AB-EB2A579DE9F6}" dt="2026-07-13T00:42:06.564" v="0" actId="14734"/>
        <pc:sldMkLst>
          <pc:docMk/>
          <pc:sldMk cId="0" sldId="260"/>
        </pc:sldMkLst>
        <pc:graphicFrameChg chg="modGraphic">
          <ac:chgData name="Rajesh Sha" userId="e5c330cc-b689-46e8-96b3-c9831a0eef2d" providerId="ADAL" clId="{66D4E6DF-50A5-459F-A2AB-EB2A579DE9F6}" dt="2026-07-13T00:42:06.564" v="0" actId="14734"/>
          <ac:graphicFrameMkLst>
            <pc:docMk/>
            <pc:sldMk cId="0" sldId="260"/>
            <ac:graphicFrameMk id="18" creationId="{00000000-0000-0000-0000-000000000000}"/>
          </ac:graphicFrameMkLst>
        </pc:graphicFrameChg>
      </pc:sldChg>
      <pc:sldChg chg="addSp delSp modSp mod">
        <pc:chgData name="Rajesh Sha" userId="e5c330cc-b689-46e8-96b3-c9831a0eef2d" providerId="ADAL" clId="{66D4E6DF-50A5-459F-A2AB-EB2A579DE9F6}" dt="2026-07-13T02:08:52.115" v="29" actId="1076"/>
        <pc:sldMkLst>
          <pc:docMk/>
          <pc:sldMk cId="0" sldId="262"/>
        </pc:sldMkLst>
        <pc:spChg chg="mod">
          <ac:chgData name="Rajesh Sha" userId="e5c330cc-b689-46e8-96b3-c9831a0eef2d" providerId="ADAL" clId="{66D4E6DF-50A5-459F-A2AB-EB2A579DE9F6}" dt="2026-07-13T01:54:22.220" v="7" actId="20577"/>
          <ac:spMkLst>
            <pc:docMk/>
            <pc:sldMk cId="0" sldId="262"/>
            <ac:spMk id="6" creationId="{00000000-0000-0000-0000-000000000000}"/>
          </ac:spMkLst>
        </pc:spChg>
        <pc:spChg chg="mod">
          <ac:chgData name="Rajesh Sha" userId="e5c330cc-b689-46e8-96b3-c9831a0eef2d" providerId="ADAL" clId="{66D4E6DF-50A5-459F-A2AB-EB2A579DE9F6}" dt="2026-07-13T01:54:33.024" v="14" actId="20577"/>
          <ac:spMkLst>
            <pc:docMk/>
            <pc:sldMk cId="0" sldId="262"/>
            <ac:spMk id="12" creationId="{00000000-0000-0000-0000-000000000000}"/>
          </ac:spMkLst>
        </pc:spChg>
        <pc:spChg chg="mod">
          <ac:chgData name="Rajesh Sha" userId="e5c330cc-b689-46e8-96b3-c9831a0eef2d" providerId="ADAL" clId="{66D4E6DF-50A5-459F-A2AB-EB2A579DE9F6}" dt="2026-07-13T00:45:23.485" v="2" actId="1076"/>
          <ac:spMkLst>
            <pc:docMk/>
            <pc:sldMk cId="0" sldId="262"/>
            <ac:spMk id="20" creationId="{00000000-0000-0000-0000-000000000000}"/>
          </ac:spMkLst>
        </pc:spChg>
        <pc:picChg chg="add mod">
          <ac:chgData name="Rajesh Sha" userId="e5c330cc-b689-46e8-96b3-c9831a0eef2d" providerId="ADAL" clId="{66D4E6DF-50A5-459F-A2AB-EB2A579DE9F6}" dt="2026-07-13T02:08:52.115" v="29" actId="1076"/>
          <ac:picMkLst>
            <pc:docMk/>
            <pc:sldMk cId="0" sldId="262"/>
            <ac:picMk id="9" creationId="{98CC56CC-7D3A-2B8A-178B-7FA97748AD8F}"/>
          </ac:picMkLst>
        </pc:picChg>
      </pc:sldChg>
      <pc:sldChg chg="modSp mod">
        <pc:chgData name="Rajesh Sha" userId="e5c330cc-b689-46e8-96b3-c9831a0eef2d" providerId="ADAL" clId="{66D4E6DF-50A5-459F-A2AB-EB2A579DE9F6}" dt="2026-07-13T01:24:12.626" v="6" actId="1076"/>
        <pc:sldMkLst>
          <pc:docMk/>
          <pc:sldMk cId="0" sldId="263"/>
        </pc:sldMkLst>
        <pc:spChg chg="mod">
          <ac:chgData name="Rajesh Sha" userId="e5c330cc-b689-46e8-96b3-c9831a0eef2d" providerId="ADAL" clId="{66D4E6DF-50A5-459F-A2AB-EB2A579DE9F6}" dt="2026-07-13T01:24:12.626" v="6" actId="1076"/>
          <ac:spMkLst>
            <pc:docMk/>
            <pc:sldMk cId="0" sldId="263"/>
            <ac:spMk id="44" creationId="{00000000-0000-0000-0000-000000000000}"/>
          </ac:spMkLst>
        </pc:spChg>
      </pc:sldChg>
      <pc:sldChg chg="modSp">
        <pc:chgData name="Rajesh Sha" userId="e5c330cc-b689-46e8-96b3-c9831a0eef2d" providerId="ADAL" clId="{66D4E6DF-50A5-459F-A2AB-EB2A579DE9F6}" dt="2026-07-13T00:55:32.426" v="5" actId="20578"/>
        <pc:sldMkLst>
          <pc:docMk/>
          <pc:sldMk cId="0" sldId="266"/>
        </pc:sldMkLst>
        <pc:spChg chg="mod">
          <ac:chgData name="Rajesh Sha" userId="e5c330cc-b689-46e8-96b3-c9831a0eef2d" providerId="ADAL" clId="{66D4E6DF-50A5-459F-A2AB-EB2A579DE9F6}" dt="2026-07-13T00:55:32.426" v="5" actId="20578"/>
          <ac:spMkLst>
            <pc:docMk/>
            <pc:sldMk cId="0" sldId="266"/>
            <ac:spMk id="16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601F9941-F7F6-4A23-82F2-423D54DF54A7}" type="datetimeFigureOut">
              <a:t>7/30/2026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8F6047B6-74DD-4183-9FD9-730780A3464F}" type="slidenum">
              <a:t>‹#›</a:t>
            </a:fld>
            <a:endParaRPr lang="en-US"/>
          </a:p>
        </p:txBody>
      </p:sp>
    </p:spTree>
    <p:extLst>
      <p:ext uri="{BB962C8B-B14F-4D97-AF65-F5344CB8AC3E}">
        <p14:creationId xmlns:p14="http://schemas.microsoft.com/office/powerpoint/2010/main" val="418340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6047B6-74DD-4183-9FD9-730780A3464F}" type="slidenum">
              <a:rPr lang="en-AU" smtClean="0"/>
              <a:t>2</a:t>
            </a:fld>
            <a:endParaRPr lang="en-AU"/>
          </a:p>
        </p:txBody>
      </p:sp>
    </p:spTree>
    <p:extLst>
      <p:ext uri="{BB962C8B-B14F-4D97-AF65-F5344CB8AC3E}">
        <p14:creationId xmlns:p14="http://schemas.microsoft.com/office/powerpoint/2010/main" val="3520935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0BEF2-EF14-8652-F6DD-64FE049BF1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93E00-DEB7-666F-D7A9-E8BB98D1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C6CEB-8512-6C1E-F4C9-F4B2CA6B740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E05DB9-549F-4028-5BA0-FF4520CE4484}"/>
              </a:ext>
            </a:extLst>
          </p:cNvPr>
          <p:cNvSpPr>
            <a:spLocks noGrp="1"/>
          </p:cNvSpPr>
          <p:nvPr>
            <p:ph type="sldNum" sz="quarter" idx="5"/>
          </p:nvPr>
        </p:nvSpPr>
        <p:spPr/>
        <p:txBody>
          <a:bodyPr/>
          <a:lstStyle/>
          <a:p>
            <a:fld id="{8F6047B6-74DD-4183-9FD9-730780A3464F}" type="slidenum">
              <a:rPr lang="en-AU" smtClean="0"/>
              <a:t>3</a:t>
            </a:fld>
            <a:endParaRPr lang="en-AU"/>
          </a:p>
        </p:txBody>
      </p:sp>
    </p:spTree>
    <p:extLst>
      <p:ext uri="{BB962C8B-B14F-4D97-AF65-F5344CB8AC3E}">
        <p14:creationId xmlns:p14="http://schemas.microsoft.com/office/powerpoint/2010/main" val="2087006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api.sap.com/api/API_ENTERPRISE_PROJECT_SRV_0002/over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3"/>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txBody>
          <a:bodyPr/>
          <a:lstStyle/>
          <a:p>
            <a:endParaRPr lang="en-AU"/>
          </a:p>
        </p:txBody>
      </p:sp>
      <p:sp>
        <p:nvSpPr>
          <p:cNvPr id="4" name="Text 5"/>
          <p:cNvSpPr/>
          <p:nvPr/>
        </p:nvSpPr>
        <p:spPr>
          <a:xfrm>
            <a:off x="11201400" y="201168"/>
            <a:ext cx="777240" cy="274320"/>
          </a:xfrm>
          <a:prstGeom prst="rect">
            <a:avLst/>
          </a:prstGeom>
          <a:noFill/>
          <a:ln/>
        </p:spPr>
        <p:txBody>
          <a:bodyPr wrap="square" lIns="0" tIns="0" rIns="0" bIns="0" rtlCol="0" anchor="ctr"/>
          <a:lstStyle/>
          <a:p>
            <a:pPr marL="0" indent="0" algn="ctr">
              <a:buNone/>
            </a:pPr>
            <a:r>
              <a:rPr lang="en-US" sz="1000" b="1">
                <a:solidFill>
                  <a:srgbClr val="8A8A8A"/>
                </a:solidFill>
                <a:latin typeface="Arial" pitchFamily="34" charset="0"/>
                <a:ea typeface="Arial" pitchFamily="34" charset="-122"/>
                <a:cs typeface="Arial" pitchFamily="34" charset="-120"/>
              </a:rPr>
              <a:t>DRAFT</a:t>
            </a:r>
          </a:p>
        </p:txBody>
      </p:sp>
      <p:sp>
        <p:nvSpPr>
          <p:cNvPr id="6" name="Text 7"/>
          <p:cNvSpPr/>
          <p:nvPr/>
        </p:nvSpPr>
        <p:spPr>
          <a:xfrm>
            <a:off x="502920" y="1250000"/>
            <a:ext cx="11186160" cy="300000"/>
          </a:xfrm>
          <a:prstGeom prst="rect">
            <a:avLst/>
          </a:prstGeom>
          <a:noFill/>
          <a:ln/>
        </p:spPr>
        <p:txBody>
          <a:bodyPr wrap="square" lIns="0" tIns="0" rIns="0" bIns="0" rtlCol="0" anchor="ctr"/>
          <a:lstStyle/>
          <a:p>
            <a:pPr marL="0" indent="0" algn="ctr">
              <a:buNone/>
            </a:pPr>
            <a:r>
              <a:rPr lang="en-US" sz="1100" b="1">
                <a:solidFill>
                  <a:srgbClr val="8A8A8A"/>
                </a:solidFill>
                <a:latin typeface="Arial" pitchFamily="34" charset="0"/>
                <a:ea typeface="Arial" pitchFamily="34" charset="-122"/>
                <a:cs typeface="Arial" pitchFamily="34" charset="-120"/>
              </a:rPr>
              <a:t>PROJECT APOLLO  ·  INTEGRATION DESIGN PAPER v0.1</a:t>
            </a:r>
          </a:p>
        </p:txBody>
      </p:sp>
      <p:sp>
        <p:nvSpPr>
          <p:cNvPr id="8" name="Text 9"/>
          <p:cNvSpPr/>
          <p:nvPr/>
        </p:nvSpPr>
        <p:spPr>
          <a:xfrm>
            <a:off x="502920" y="1650000"/>
            <a:ext cx="11186160" cy="900000"/>
          </a:xfrm>
          <a:prstGeom prst="rect">
            <a:avLst/>
          </a:prstGeom>
          <a:noFill/>
          <a:ln/>
        </p:spPr>
        <p:txBody>
          <a:bodyPr wrap="square" lIns="0" tIns="0" rIns="0" bIns="0" rtlCol="0" anchor="ctr"/>
          <a:lstStyle/>
          <a:p>
            <a:pPr algn="ctr"/>
            <a:r>
              <a:rPr lang="en-US" sz="3600" b="1">
                <a:solidFill>
                  <a:srgbClr val="1F3864"/>
                </a:solidFill>
                <a:latin typeface="Arial"/>
                <a:ea typeface="Arial" pitchFamily="34" charset="-122"/>
                <a:cs typeface="Arial"/>
              </a:rPr>
              <a:t>FSM - Canonical Request &amp; Response Pattern</a:t>
            </a:r>
          </a:p>
        </p:txBody>
      </p:sp>
      <p:sp>
        <p:nvSpPr>
          <p:cNvPr id="12" name="Shape 13"/>
          <p:cNvSpPr/>
          <p:nvPr/>
        </p:nvSpPr>
        <p:spPr>
          <a:xfrm>
            <a:off x="502920" y="3072629"/>
            <a:ext cx="2100000" cy="900000"/>
          </a:xfrm>
          <a:prstGeom prst="roundRect">
            <a:avLst>
              <a:gd name="adj" fmla="val 8000"/>
            </a:avLst>
          </a:prstGeom>
          <a:solidFill>
            <a:srgbClr val="FFFFFF"/>
          </a:solidFill>
          <a:ln w="12700">
            <a:solidFill>
              <a:srgbClr val="1F3864"/>
            </a:solidFill>
            <a:prstDash val="solid"/>
          </a:ln>
        </p:spPr>
        <p:txBody>
          <a:bodyPr/>
          <a:lstStyle/>
          <a:p>
            <a:endParaRPr lang="en-AU"/>
          </a:p>
        </p:txBody>
      </p:sp>
      <p:sp>
        <p:nvSpPr>
          <p:cNvPr id="14" name="Text 15"/>
          <p:cNvSpPr/>
          <p:nvPr/>
        </p:nvSpPr>
        <p:spPr>
          <a:xfrm>
            <a:off x="622920" y="3202629"/>
            <a:ext cx="1860000" cy="260000"/>
          </a:xfrm>
          <a:prstGeom prst="rect">
            <a:avLst/>
          </a:prstGeom>
          <a:noFill/>
          <a:ln/>
        </p:spPr>
        <p:txBody>
          <a:bodyPr wrap="square" lIns="0" tIns="0" rIns="0" bIns="0" rtlCol="0" anchor="t"/>
          <a:lstStyle/>
          <a:p>
            <a:pPr marL="0" indent="0" algn="ctr">
              <a:buNone/>
            </a:pPr>
            <a:r>
              <a:rPr lang="en-US" sz="1050" b="1">
                <a:solidFill>
                  <a:srgbClr val="1F3864"/>
                </a:solidFill>
                <a:latin typeface="Arial" pitchFamily="34" charset="0"/>
                <a:ea typeface="Arial" pitchFamily="34" charset="-122"/>
                <a:cs typeface="Arial" pitchFamily="34" charset="-120"/>
              </a:rPr>
              <a:t>Architecture</a:t>
            </a:r>
          </a:p>
        </p:txBody>
      </p:sp>
      <p:sp>
        <p:nvSpPr>
          <p:cNvPr id="16" name="Text 17"/>
          <p:cNvSpPr/>
          <p:nvPr/>
        </p:nvSpPr>
        <p:spPr>
          <a:xfrm>
            <a:off x="622920" y="3472629"/>
            <a:ext cx="1860000" cy="220000"/>
          </a:xfrm>
          <a:prstGeom prst="rect">
            <a:avLst/>
          </a:prstGeom>
          <a:noFill/>
          <a:ln/>
        </p:spPr>
        <p:txBody>
          <a:bodyPr wrap="square" lIns="0" tIns="0" rIns="0" bIns="0" rtlCol="0" anchor="t"/>
          <a:lstStyle/>
          <a:p>
            <a:pPr marL="0" indent="0" algn="ctr">
              <a:buNone/>
            </a:pPr>
            <a:r>
              <a:rPr lang="en-US" sz="850">
                <a:solidFill>
                  <a:srgbClr val="444444"/>
                </a:solidFill>
                <a:latin typeface="Arial" pitchFamily="34" charset="0"/>
                <a:ea typeface="Arial" pitchFamily="34" charset="-122"/>
                <a:cs typeface="Arial" pitchFamily="34" charset="-120"/>
              </a:rPr>
              <a:t>what it looks like</a:t>
            </a:r>
          </a:p>
        </p:txBody>
      </p:sp>
      <p:sp>
        <p:nvSpPr>
          <p:cNvPr id="18" name="Text 19"/>
          <p:cNvSpPr/>
          <p:nvPr/>
        </p:nvSpPr>
        <p:spPr>
          <a:xfrm>
            <a:off x="622920" y="3692629"/>
            <a:ext cx="1860000" cy="200000"/>
          </a:xfrm>
          <a:prstGeom prst="rect">
            <a:avLst/>
          </a:prstGeom>
          <a:noFill/>
          <a:ln/>
        </p:spPr>
        <p:txBody>
          <a:bodyPr wrap="square" lIns="0" tIns="0" rIns="0" bIns="0" rtlCol="0" anchor="t"/>
          <a:lstStyle/>
          <a:p>
            <a:pPr marL="0" indent="0" algn="ctr">
              <a:buNone/>
            </a:pPr>
            <a:r>
              <a:rPr lang="en-US" sz="800">
                <a:solidFill>
                  <a:srgbClr val="8A8A8A"/>
                </a:solidFill>
                <a:latin typeface="Arial" pitchFamily="34" charset="0"/>
                <a:ea typeface="Arial" pitchFamily="34" charset="-122"/>
                <a:cs typeface="Arial" pitchFamily="34" charset="-120"/>
              </a:rPr>
              <a:t>slides 2–13</a:t>
            </a:r>
          </a:p>
        </p:txBody>
      </p:sp>
      <p:sp>
        <p:nvSpPr>
          <p:cNvPr id="20" name="Arrow 21"/>
          <p:cNvSpPr/>
          <p:nvPr/>
        </p:nvSpPr>
        <p:spPr>
          <a:xfrm>
            <a:off x="2622920" y="3522629"/>
            <a:ext cx="130000" cy="1"/>
          </a:xfrm>
          <a:prstGeom prst="line">
            <a:avLst/>
          </a:prstGeom>
          <a:noFill/>
          <a:ln w="19050">
            <a:solidFill>
              <a:srgbClr val="8A8A8A"/>
            </a:solidFill>
            <a:prstDash val="solid"/>
            <a:headEnd type="none"/>
            <a:tailEnd type="triangle"/>
          </a:ln>
        </p:spPr>
        <p:txBody>
          <a:bodyPr/>
          <a:lstStyle/>
          <a:p>
            <a:endParaRPr lang="en-AU"/>
          </a:p>
        </p:txBody>
      </p:sp>
      <p:sp>
        <p:nvSpPr>
          <p:cNvPr id="22" name="Shape 23"/>
          <p:cNvSpPr/>
          <p:nvPr/>
        </p:nvSpPr>
        <p:spPr>
          <a:xfrm>
            <a:off x="2772920" y="3072629"/>
            <a:ext cx="2100000" cy="900000"/>
          </a:xfrm>
          <a:prstGeom prst="roundRect">
            <a:avLst>
              <a:gd name="adj" fmla="val 8000"/>
            </a:avLst>
          </a:prstGeom>
          <a:solidFill>
            <a:srgbClr val="FFFFFF"/>
          </a:solidFill>
          <a:ln w="12700">
            <a:solidFill>
              <a:srgbClr val="1F3864"/>
            </a:solidFill>
            <a:prstDash val="solid"/>
          </a:ln>
        </p:spPr>
        <p:txBody>
          <a:bodyPr/>
          <a:lstStyle/>
          <a:p>
            <a:endParaRPr lang="en-AU"/>
          </a:p>
        </p:txBody>
      </p:sp>
      <p:sp>
        <p:nvSpPr>
          <p:cNvPr id="24" name="Text 25"/>
          <p:cNvSpPr/>
          <p:nvPr/>
        </p:nvSpPr>
        <p:spPr>
          <a:xfrm>
            <a:off x="2892920" y="3202629"/>
            <a:ext cx="1860000" cy="260000"/>
          </a:xfrm>
          <a:prstGeom prst="rect">
            <a:avLst/>
          </a:prstGeom>
          <a:noFill/>
          <a:ln/>
        </p:spPr>
        <p:txBody>
          <a:bodyPr wrap="square" lIns="0" tIns="0" rIns="0" bIns="0" rtlCol="0" anchor="t"/>
          <a:lstStyle/>
          <a:p>
            <a:pPr marL="0" indent="0" algn="ctr">
              <a:buNone/>
            </a:pPr>
            <a:r>
              <a:rPr lang="en-US" sz="1050" b="1">
                <a:solidFill>
                  <a:srgbClr val="085041"/>
                </a:solidFill>
                <a:latin typeface="Arial" pitchFamily="34" charset="0"/>
                <a:ea typeface="Arial" pitchFamily="34" charset="-122"/>
                <a:cs typeface="Arial" pitchFamily="34" charset="-120"/>
              </a:rPr>
              <a:t>Solution</a:t>
            </a:r>
          </a:p>
        </p:txBody>
      </p:sp>
      <p:sp>
        <p:nvSpPr>
          <p:cNvPr id="26" name="Text 27"/>
          <p:cNvSpPr/>
          <p:nvPr/>
        </p:nvSpPr>
        <p:spPr>
          <a:xfrm>
            <a:off x="2892920" y="3472629"/>
            <a:ext cx="1860000" cy="220000"/>
          </a:xfrm>
          <a:prstGeom prst="rect">
            <a:avLst/>
          </a:prstGeom>
          <a:noFill/>
          <a:ln/>
        </p:spPr>
        <p:txBody>
          <a:bodyPr wrap="square" lIns="0" tIns="0" rIns="0" bIns="0" rtlCol="0" anchor="t"/>
          <a:lstStyle/>
          <a:p>
            <a:pPr marL="0" indent="0" algn="ctr">
              <a:buNone/>
            </a:pPr>
            <a:r>
              <a:rPr lang="en-US" sz="850">
                <a:solidFill>
                  <a:srgbClr val="444444"/>
                </a:solidFill>
                <a:latin typeface="Arial" pitchFamily="34" charset="0"/>
                <a:ea typeface="Arial" pitchFamily="34" charset="-122"/>
                <a:cs typeface="Arial" pitchFamily="34" charset="-120"/>
              </a:rPr>
              <a:t>what we decided</a:t>
            </a:r>
          </a:p>
        </p:txBody>
      </p:sp>
      <p:sp>
        <p:nvSpPr>
          <p:cNvPr id="28" name="Text 29"/>
          <p:cNvSpPr/>
          <p:nvPr/>
        </p:nvSpPr>
        <p:spPr>
          <a:xfrm>
            <a:off x="2892920" y="3692629"/>
            <a:ext cx="1860000" cy="200000"/>
          </a:xfrm>
          <a:prstGeom prst="rect">
            <a:avLst/>
          </a:prstGeom>
          <a:noFill/>
          <a:ln/>
        </p:spPr>
        <p:txBody>
          <a:bodyPr wrap="square" lIns="0" tIns="0" rIns="0" bIns="0" rtlCol="0" anchor="t"/>
          <a:lstStyle/>
          <a:p>
            <a:pPr marL="0" indent="0" algn="ctr">
              <a:buNone/>
            </a:pPr>
            <a:r>
              <a:rPr lang="en-US" sz="800">
                <a:solidFill>
                  <a:srgbClr val="8A8A8A"/>
                </a:solidFill>
                <a:latin typeface="Arial" pitchFamily="34" charset="0"/>
                <a:ea typeface="Arial" pitchFamily="34" charset="-122"/>
                <a:cs typeface="Arial" pitchFamily="34" charset="-120"/>
              </a:rPr>
              <a:t>slides 14–17</a:t>
            </a:r>
          </a:p>
        </p:txBody>
      </p:sp>
      <p:sp>
        <p:nvSpPr>
          <p:cNvPr id="30" name="Arrow 31"/>
          <p:cNvSpPr/>
          <p:nvPr/>
        </p:nvSpPr>
        <p:spPr>
          <a:xfrm>
            <a:off x="4892920" y="3522629"/>
            <a:ext cx="130000" cy="1"/>
          </a:xfrm>
          <a:prstGeom prst="line">
            <a:avLst/>
          </a:prstGeom>
          <a:noFill/>
          <a:ln w="19050">
            <a:solidFill>
              <a:srgbClr val="8A8A8A"/>
            </a:solidFill>
            <a:prstDash val="solid"/>
            <a:headEnd type="none"/>
            <a:tailEnd type="triangle"/>
          </a:ln>
        </p:spPr>
        <p:txBody>
          <a:bodyPr/>
          <a:lstStyle/>
          <a:p>
            <a:endParaRPr lang="en-AU"/>
          </a:p>
        </p:txBody>
      </p:sp>
      <p:sp>
        <p:nvSpPr>
          <p:cNvPr id="32" name="Shape 33"/>
          <p:cNvSpPr/>
          <p:nvPr/>
        </p:nvSpPr>
        <p:spPr>
          <a:xfrm>
            <a:off x="5042920" y="3072629"/>
            <a:ext cx="2100000" cy="900000"/>
          </a:xfrm>
          <a:prstGeom prst="roundRect">
            <a:avLst>
              <a:gd name="adj" fmla="val 8000"/>
            </a:avLst>
          </a:prstGeom>
          <a:solidFill>
            <a:srgbClr val="FFFFFF"/>
          </a:solidFill>
          <a:ln w="12700">
            <a:solidFill>
              <a:srgbClr val="1F3864"/>
            </a:solidFill>
            <a:prstDash val="solid"/>
          </a:ln>
        </p:spPr>
        <p:txBody>
          <a:bodyPr/>
          <a:lstStyle/>
          <a:p>
            <a:endParaRPr lang="en-AU"/>
          </a:p>
        </p:txBody>
      </p:sp>
      <p:sp>
        <p:nvSpPr>
          <p:cNvPr id="34" name="Text 35"/>
          <p:cNvSpPr/>
          <p:nvPr/>
        </p:nvSpPr>
        <p:spPr>
          <a:xfrm>
            <a:off x="5162920" y="3202629"/>
            <a:ext cx="1860000" cy="260000"/>
          </a:xfrm>
          <a:prstGeom prst="rect">
            <a:avLst/>
          </a:prstGeom>
          <a:noFill/>
          <a:ln/>
        </p:spPr>
        <p:txBody>
          <a:bodyPr wrap="square" lIns="0" tIns="0" rIns="0" bIns="0" rtlCol="0" anchor="t"/>
          <a:lstStyle/>
          <a:p>
            <a:pPr marL="0" indent="0" algn="ctr">
              <a:buNone/>
            </a:pPr>
            <a:r>
              <a:rPr lang="en-US" sz="1050" b="1">
                <a:solidFill>
                  <a:srgbClr val="3B3491"/>
                </a:solidFill>
                <a:latin typeface="Arial" pitchFamily="34" charset="0"/>
                <a:ea typeface="Arial" pitchFamily="34" charset="-122"/>
                <a:cs typeface="Arial" pitchFamily="34" charset="-120"/>
              </a:rPr>
              <a:t>Example</a:t>
            </a:r>
          </a:p>
        </p:txBody>
      </p:sp>
      <p:sp>
        <p:nvSpPr>
          <p:cNvPr id="36" name="Text 37"/>
          <p:cNvSpPr/>
          <p:nvPr/>
        </p:nvSpPr>
        <p:spPr>
          <a:xfrm>
            <a:off x="5162920" y="3472629"/>
            <a:ext cx="1860000" cy="220000"/>
          </a:xfrm>
          <a:prstGeom prst="rect">
            <a:avLst/>
          </a:prstGeom>
          <a:noFill/>
          <a:ln/>
        </p:spPr>
        <p:txBody>
          <a:bodyPr wrap="square" lIns="0" tIns="0" rIns="0" bIns="0" rtlCol="0" anchor="t"/>
          <a:lstStyle/>
          <a:p>
            <a:pPr marL="0" indent="0" algn="ctr">
              <a:buNone/>
            </a:pPr>
            <a:r>
              <a:rPr lang="en-US" sz="850">
                <a:solidFill>
                  <a:srgbClr val="444444"/>
                </a:solidFill>
                <a:latin typeface="Arial" pitchFamily="34" charset="0"/>
                <a:ea typeface="Arial" pitchFamily="34" charset="-122"/>
                <a:cs typeface="Arial" pitchFamily="34" charset="-120"/>
              </a:rPr>
              <a:t>how it runs</a:t>
            </a:r>
          </a:p>
        </p:txBody>
      </p:sp>
      <p:sp>
        <p:nvSpPr>
          <p:cNvPr id="38" name="Text 39"/>
          <p:cNvSpPr/>
          <p:nvPr/>
        </p:nvSpPr>
        <p:spPr>
          <a:xfrm>
            <a:off x="5162920" y="3692629"/>
            <a:ext cx="1860000" cy="200000"/>
          </a:xfrm>
          <a:prstGeom prst="rect">
            <a:avLst/>
          </a:prstGeom>
          <a:noFill/>
          <a:ln/>
        </p:spPr>
        <p:txBody>
          <a:bodyPr wrap="square" lIns="0" tIns="0" rIns="0" bIns="0" rtlCol="0" anchor="t"/>
          <a:lstStyle/>
          <a:p>
            <a:pPr marL="0" indent="0" algn="ctr">
              <a:buNone/>
            </a:pPr>
            <a:r>
              <a:rPr lang="en-US" sz="800">
                <a:solidFill>
                  <a:srgbClr val="8A8A8A"/>
                </a:solidFill>
                <a:latin typeface="Arial" pitchFamily="34" charset="0"/>
                <a:ea typeface="Arial" pitchFamily="34" charset="-122"/>
                <a:cs typeface="Arial" pitchFamily="34" charset="-120"/>
              </a:rPr>
              <a:t>slides 18–19</a:t>
            </a:r>
          </a:p>
        </p:txBody>
      </p:sp>
      <p:sp>
        <p:nvSpPr>
          <p:cNvPr id="40" name="Arrow 41"/>
          <p:cNvSpPr/>
          <p:nvPr/>
        </p:nvSpPr>
        <p:spPr>
          <a:xfrm>
            <a:off x="7162920" y="3522629"/>
            <a:ext cx="130000" cy="1"/>
          </a:xfrm>
          <a:prstGeom prst="line">
            <a:avLst/>
          </a:prstGeom>
          <a:noFill/>
          <a:ln w="19050">
            <a:solidFill>
              <a:srgbClr val="8A8A8A"/>
            </a:solidFill>
            <a:prstDash val="solid"/>
            <a:headEnd type="none"/>
            <a:tailEnd type="triangle"/>
          </a:ln>
        </p:spPr>
        <p:txBody>
          <a:bodyPr/>
          <a:lstStyle/>
          <a:p>
            <a:endParaRPr lang="en-AU"/>
          </a:p>
        </p:txBody>
      </p:sp>
      <p:sp>
        <p:nvSpPr>
          <p:cNvPr id="42" name="Shape 43"/>
          <p:cNvSpPr/>
          <p:nvPr/>
        </p:nvSpPr>
        <p:spPr>
          <a:xfrm>
            <a:off x="7312920" y="3072629"/>
            <a:ext cx="2100000" cy="900000"/>
          </a:xfrm>
          <a:prstGeom prst="roundRect">
            <a:avLst>
              <a:gd name="adj" fmla="val 8000"/>
            </a:avLst>
          </a:prstGeom>
          <a:solidFill>
            <a:srgbClr val="FFFFFF"/>
          </a:solidFill>
          <a:ln w="12700">
            <a:solidFill>
              <a:srgbClr val="1F3864"/>
            </a:solidFill>
            <a:prstDash val="solid"/>
          </a:ln>
        </p:spPr>
        <p:txBody>
          <a:bodyPr/>
          <a:lstStyle/>
          <a:p>
            <a:endParaRPr lang="en-AU"/>
          </a:p>
        </p:txBody>
      </p:sp>
      <p:sp>
        <p:nvSpPr>
          <p:cNvPr id="44" name="Text 45"/>
          <p:cNvSpPr/>
          <p:nvPr/>
        </p:nvSpPr>
        <p:spPr>
          <a:xfrm>
            <a:off x="7432920" y="3202629"/>
            <a:ext cx="1860000" cy="260000"/>
          </a:xfrm>
          <a:prstGeom prst="rect">
            <a:avLst/>
          </a:prstGeom>
          <a:noFill/>
          <a:ln/>
        </p:spPr>
        <p:txBody>
          <a:bodyPr wrap="square" lIns="0" tIns="0" rIns="0" bIns="0" rtlCol="0" anchor="t"/>
          <a:lstStyle/>
          <a:p>
            <a:pPr marL="0" indent="0" algn="ctr">
              <a:buNone/>
            </a:pPr>
            <a:r>
              <a:rPr lang="en-US" sz="1050" b="1">
                <a:solidFill>
                  <a:srgbClr val="72243E"/>
                </a:solidFill>
                <a:latin typeface="Arial" pitchFamily="34" charset="0"/>
                <a:ea typeface="Arial" pitchFamily="34" charset="-122"/>
                <a:cs typeface="Arial" pitchFamily="34" charset="-120"/>
              </a:rPr>
              <a:t>Operations</a:t>
            </a:r>
          </a:p>
        </p:txBody>
      </p:sp>
      <p:sp>
        <p:nvSpPr>
          <p:cNvPr id="46" name="Text 47"/>
          <p:cNvSpPr/>
          <p:nvPr/>
        </p:nvSpPr>
        <p:spPr>
          <a:xfrm>
            <a:off x="7432920" y="3472629"/>
            <a:ext cx="1860000" cy="220000"/>
          </a:xfrm>
          <a:prstGeom prst="rect">
            <a:avLst/>
          </a:prstGeom>
          <a:noFill/>
          <a:ln/>
        </p:spPr>
        <p:txBody>
          <a:bodyPr wrap="square" lIns="0" tIns="0" rIns="0" bIns="0" rtlCol="0" anchor="t"/>
          <a:lstStyle/>
          <a:p>
            <a:pPr marL="0" indent="0" algn="ctr">
              <a:buNone/>
            </a:pPr>
            <a:r>
              <a:rPr lang="en-US" sz="850">
                <a:solidFill>
                  <a:srgbClr val="444444"/>
                </a:solidFill>
                <a:latin typeface="Arial" pitchFamily="34" charset="0"/>
                <a:ea typeface="Arial" pitchFamily="34" charset="-122"/>
                <a:cs typeface="Arial" pitchFamily="34" charset="-120"/>
              </a:rPr>
              <a:t>when it fails</a:t>
            </a:r>
          </a:p>
        </p:txBody>
      </p:sp>
      <p:sp>
        <p:nvSpPr>
          <p:cNvPr id="48" name="Text 49"/>
          <p:cNvSpPr/>
          <p:nvPr/>
        </p:nvSpPr>
        <p:spPr>
          <a:xfrm>
            <a:off x="7432920" y="3692629"/>
            <a:ext cx="1860000" cy="200000"/>
          </a:xfrm>
          <a:prstGeom prst="rect">
            <a:avLst/>
          </a:prstGeom>
          <a:noFill/>
          <a:ln/>
        </p:spPr>
        <p:txBody>
          <a:bodyPr wrap="square" lIns="0" tIns="0" rIns="0" bIns="0" rtlCol="0" anchor="t"/>
          <a:lstStyle/>
          <a:p>
            <a:pPr marL="0" indent="0" algn="ctr">
              <a:buNone/>
            </a:pPr>
            <a:r>
              <a:rPr lang="en-US" sz="800">
                <a:solidFill>
                  <a:srgbClr val="8A8A8A"/>
                </a:solidFill>
                <a:latin typeface="Arial" pitchFamily="34" charset="0"/>
                <a:ea typeface="Arial" pitchFamily="34" charset="-122"/>
                <a:cs typeface="Arial" pitchFamily="34" charset="-120"/>
              </a:rPr>
              <a:t>slides 20–21</a:t>
            </a:r>
          </a:p>
        </p:txBody>
      </p:sp>
      <p:sp>
        <p:nvSpPr>
          <p:cNvPr id="50" name="Arrow 51"/>
          <p:cNvSpPr/>
          <p:nvPr/>
        </p:nvSpPr>
        <p:spPr>
          <a:xfrm>
            <a:off x="9432920" y="3522629"/>
            <a:ext cx="130000" cy="1"/>
          </a:xfrm>
          <a:prstGeom prst="line">
            <a:avLst/>
          </a:prstGeom>
          <a:noFill/>
          <a:ln w="19050">
            <a:solidFill>
              <a:srgbClr val="8A8A8A"/>
            </a:solidFill>
            <a:prstDash val="solid"/>
            <a:headEnd type="none"/>
            <a:tailEnd type="triangle"/>
          </a:ln>
        </p:spPr>
        <p:txBody>
          <a:bodyPr/>
          <a:lstStyle/>
          <a:p>
            <a:endParaRPr lang="en-AU"/>
          </a:p>
        </p:txBody>
      </p:sp>
      <p:sp>
        <p:nvSpPr>
          <p:cNvPr id="52" name="Shape 53"/>
          <p:cNvSpPr/>
          <p:nvPr/>
        </p:nvSpPr>
        <p:spPr>
          <a:xfrm>
            <a:off x="9582920" y="3072629"/>
            <a:ext cx="2100000" cy="900000"/>
          </a:xfrm>
          <a:prstGeom prst="roundRect">
            <a:avLst>
              <a:gd name="adj" fmla="val 8000"/>
            </a:avLst>
          </a:prstGeom>
          <a:solidFill>
            <a:srgbClr val="FFFFFF"/>
          </a:solidFill>
          <a:ln w="12700">
            <a:solidFill>
              <a:srgbClr val="1F3864"/>
            </a:solidFill>
            <a:prstDash val="solid"/>
          </a:ln>
        </p:spPr>
        <p:txBody>
          <a:bodyPr/>
          <a:lstStyle/>
          <a:p>
            <a:endParaRPr lang="en-AU"/>
          </a:p>
        </p:txBody>
      </p:sp>
      <p:sp>
        <p:nvSpPr>
          <p:cNvPr id="54" name="Text 55"/>
          <p:cNvSpPr/>
          <p:nvPr/>
        </p:nvSpPr>
        <p:spPr>
          <a:xfrm>
            <a:off x="9702920" y="3202629"/>
            <a:ext cx="1860000" cy="260000"/>
          </a:xfrm>
          <a:prstGeom prst="rect">
            <a:avLst/>
          </a:prstGeom>
          <a:noFill/>
          <a:ln/>
        </p:spPr>
        <p:txBody>
          <a:bodyPr wrap="square" lIns="0" tIns="0" rIns="0" bIns="0" rtlCol="0" anchor="t"/>
          <a:lstStyle/>
          <a:p>
            <a:pPr marL="0" indent="0" algn="ctr">
              <a:buNone/>
            </a:pPr>
            <a:r>
              <a:rPr lang="en-US" sz="1050" b="1">
                <a:solidFill>
                  <a:srgbClr val="5B6570"/>
                </a:solidFill>
                <a:latin typeface="Arial" pitchFamily="34" charset="0"/>
                <a:ea typeface="Arial" pitchFamily="34" charset="-122"/>
                <a:cs typeface="Arial" pitchFamily="34" charset="-120"/>
              </a:rPr>
              <a:t>Implementation</a:t>
            </a:r>
          </a:p>
        </p:txBody>
      </p:sp>
      <p:sp>
        <p:nvSpPr>
          <p:cNvPr id="56" name="Text 57"/>
          <p:cNvSpPr/>
          <p:nvPr/>
        </p:nvSpPr>
        <p:spPr>
          <a:xfrm>
            <a:off x="9702920" y="3472629"/>
            <a:ext cx="1860000" cy="220000"/>
          </a:xfrm>
          <a:prstGeom prst="rect">
            <a:avLst/>
          </a:prstGeom>
          <a:noFill/>
          <a:ln/>
        </p:spPr>
        <p:txBody>
          <a:bodyPr wrap="square" lIns="0" tIns="0" rIns="0" bIns="0" rtlCol="0" anchor="t"/>
          <a:lstStyle/>
          <a:p>
            <a:pPr marL="0" indent="0" algn="ctr">
              <a:buNone/>
            </a:pPr>
            <a:r>
              <a:rPr lang="en-US" sz="850">
                <a:solidFill>
                  <a:srgbClr val="444444"/>
                </a:solidFill>
                <a:latin typeface="Arial" pitchFamily="34" charset="0"/>
                <a:ea typeface="Arial" pitchFamily="34" charset="-122"/>
                <a:cs typeface="Arial" pitchFamily="34" charset="-120"/>
              </a:rPr>
              <a:t>what we build</a:t>
            </a:r>
          </a:p>
        </p:txBody>
      </p:sp>
      <p:sp>
        <p:nvSpPr>
          <p:cNvPr id="58" name="Text 59"/>
          <p:cNvSpPr/>
          <p:nvPr/>
        </p:nvSpPr>
        <p:spPr>
          <a:xfrm>
            <a:off x="9702920" y="3692629"/>
            <a:ext cx="1860000" cy="200000"/>
          </a:xfrm>
          <a:prstGeom prst="rect">
            <a:avLst/>
          </a:prstGeom>
          <a:noFill/>
          <a:ln/>
        </p:spPr>
        <p:txBody>
          <a:bodyPr wrap="square" lIns="0" tIns="0" rIns="0" bIns="0" rtlCol="0" anchor="t"/>
          <a:lstStyle/>
          <a:p>
            <a:pPr marL="0" indent="0" algn="ctr">
              <a:buNone/>
            </a:pPr>
            <a:r>
              <a:rPr lang="en-US" sz="800">
                <a:solidFill>
                  <a:srgbClr val="8A8A8A"/>
                </a:solidFill>
                <a:latin typeface="Arial" pitchFamily="34" charset="0"/>
                <a:ea typeface="Arial" pitchFamily="34" charset="-122"/>
                <a:cs typeface="Arial" pitchFamily="34" charset="-120"/>
              </a:rPr>
              <a:t>slides 22–23</a:t>
            </a:r>
          </a:p>
        </p:txBody>
      </p:sp>
      <p:sp>
        <p:nvSpPr>
          <p:cNvPr id="64" name="Text 65"/>
          <p:cNvSpPr/>
          <p:nvPr/>
        </p:nvSpPr>
        <p:spPr>
          <a:xfrm>
            <a:off x="502920" y="5052629"/>
            <a:ext cx="11186160" cy="300000"/>
          </a:xfrm>
          <a:prstGeom prst="rect">
            <a:avLst/>
          </a:prstGeom>
          <a:noFill/>
          <a:ln/>
        </p:spPr>
        <p:txBody>
          <a:bodyPr wrap="square" lIns="0" tIns="0" rIns="0" bIns="0" rtlCol="0" anchor="ctr"/>
          <a:lstStyle/>
          <a:p>
            <a:pPr marL="0" indent="0" algn="ctr">
              <a:buNone/>
            </a:pPr>
            <a:r>
              <a:rPr lang="en-US" sz="1000">
                <a:solidFill>
                  <a:srgbClr val="595959"/>
                </a:solidFill>
                <a:latin typeface="Arial" pitchFamily="34" charset="0"/>
                <a:ea typeface="Arial" pitchFamily="34" charset="-122"/>
                <a:cs typeface="Arial" pitchFamily="34" charset="-120"/>
              </a:rPr>
              <a:t>Rajesh Sha — SAP Integration and Data Architect, Project Apollo   ·   for the architecture forum   ·   July 2026</a:t>
            </a:r>
          </a:p>
        </p:txBody>
      </p:sp>
      <p:sp>
        <p:nvSpPr>
          <p:cNvPr id="66" name="Text 67"/>
          <p:cNvSpPr/>
          <p:nvPr/>
        </p:nvSpPr>
        <p:spPr>
          <a:xfrm>
            <a:off x="502920" y="6510528"/>
            <a:ext cx="5943600" cy="237744"/>
          </a:xfrm>
          <a:prstGeom prst="rect">
            <a:avLst/>
          </a:prstGeom>
          <a:noFill/>
          <a:ln/>
        </p:spPr>
        <p:txBody>
          <a:bodyPr wrap="square" lIns="0" tIns="0" rIns="0" bIns="0" rtlCol="0" anchor="ctr"/>
          <a:lstStyle/>
          <a:p>
            <a:pPr marL="0" indent="0">
              <a:buNone/>
            </a:pPr>
            <a:r>
              <a:rPr lang="en-US" sz="900">
                <a:solidFill>
                  <a:srgbClr val="8A8A8A"/>
                </a:solidFill>
                <a:latin typeface="Arial" pitchFamily="34" charset="0"/>
                <a:ea typeface="Arial" pitchFamily="34" charset="-122"/>
                <a:cs typeface="Arial" pitchFamily="34" charset="-120"/>
              </a:rPr>
              <a:t>Prepared by Rajesh Sha — SAP Integration and Data Architect</a:t>
            </a:r>
          </a:p>
        </p:txBody>
      </p:sp>
      <p:sp>
        <p:nvSpPr>
          <p:cNvPr id="68" name="Text 69"/>
          <p:cNvSpPr/>
          <p:nvPr/>
        </p:nvSpPr>
        <p:spPr>
          <a:xfrm>
            <a:off x="6035040" y="6510528"/>
            <a:ext cx="5943600" cy="237744"/>
          </a:xfrm>
          <a:prstGeom prst="rect">
            <a:avLst/>
          </a:prstGeom>
          <a:noFill/>
          <a:ln/>
        </p:spPr>
        <p:txBody>
          <a:bodyPr wrap="square" lIns="0" tIns="0" rIns="0" bIns="0" rtlCol="0" anchor="ctr"/>
          <a:lstStyle/>
          <a:p>
            <a:pPr marL="0" indent="0" algn="r">
              <a:buNone/>
            </a:pPr>
            <a:r>
              <a:rPr lang="en-US" sz="900">
                <a:solidFill>
                  <a:srgbClr val="8A8A8A"/>
                </a:solidFill>
                <a:latin typeface="Arial" pitchFamily="34" charset="0"/>
                <a:ea typeface="Arial" pitchFamily="34" charset="-122"/>
                <a:cs typeface="Arial" pitchFamily="34" charset="-120"/>
              </a:rPr>
              <a:t>Project Apollo — canonical request and response pattern — design paper v0.1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10">
            <a:extLst>
              <a:ext uri="{FF2B5EF4-FFF2-40B4-BE49-F238E27FC236}">
                <a16:creationId xmlns:a16="http://schemas.microsoft.com/office/drawing/2014/main" id="{22D8F64A-77EE-70B9-66CA-79AE9126F17C}"/>
              </a:ext>
            </a:extLst>
          </p:cNvPr>
          <p:cNvSpPr/>
          <p:nvPr/>
        </p:nvSpPr>
        <p:spPr>
          <a:xfrm>
            <a:off x="350873" y="4128303"/>
            <a:ext cx="11525693" cy="2320033"/>
          </a:xfrm>
          <a:prstGeom prst="roundRect">
            <a:avLst>
              <a:gd name="adj" fmla="val 10465"/>
            </a:avLst>
          </a:prstGeom>
          <a:solidFill>
            <a:schemeClr val="bg1"/>
          </a:solidFill>
          <a:ln w="15875">
            <a:noFill/>
            <a:prstDash val="solid"/>
          </a:ln>
        </p:spPr>
        <p:txBody>
          <a:bodyPr/>
          <a:lstStyle/>
          <a:p>
            <a:r>
              <a:rPr lang="en-AU" sz="1600" b="1"/>
              <a:t>Response type 2: Pull of S/4HANA data after processing — a separate endpoint the FSM calls when it wants the data</a:t>
            </a:r>
          </a:p>
        </p:txBody>
      </p:sp>
      <p:sp>
        <p:nvSpPr>
          <p:cNvPr id="3" name="Shape 10">
            <a:extLst>
              <a:ext uri="{FF2B5EF4-FFF2-40B4-BE49-F238E27FC236}">
                <a16:creationId xmlns:a16="http://schemas.microsoft.com/office/drawing/2014/main" id="{B858967A-59EB-4E63-4169-9A1FEF185C8E}"/>
              </a:ext>
            </a:extLst>
          </p:cNvPr>
          <p:cNvSpPr/>
          <p:nvPr/>
        </p:nvSpPr>
        <p:spPr>
          <a:xfrm>
            <a:off x="350873" y="1543928"/>
            <a:ext cx="11525693" cy="1966168"/>
          </a:xfrm>
          <a:prstGeom prst="roundRect">
            <a:avLst>
              <a:gd name="adj" fmla="val 10465"/>
            </a:avLst>
          </a:prstGeom>
          <a:solidFill>
            <a:schemeClr val="bg1"/>
          </a:solidFill>
          <a:ln w="15875">
            <a:noFill/>
            <a:prstDash val="solid"/>
          </a:ln>
        </p:spPr>
        <p:txBody>
          <a:bodyPr/>
          <a:lstStyle/>
          <a:p>
            <a:r>
              <a:rPr lang="en-AU" sz="1600" b="1"/>
              <a:t>Response type 1: Acknowledgement and outcome callback — status + correlationId, no document details</a:t>
            </a:r>
          </a:p>
        </p:txBody>
      </p:sp>
      <p:sp>
        <p:nvSpPr>
          <p:cNvPr id="6" name="Text 2">
            <a:extLst>
              <a:ext uri="{FF2B5EF4-FFF2-40B4-BE49-F238E27FC236}">
                <a16:creationId xmlns:a16="http://schemas.microsoft.com/office/drawing/2014/main" id="{5E1E798F-F2F4-E1AA-5FBD-7B8D677B7E9E}"/>
              </a:ext>
            </a:extLst>
          </p:cNvPr>
          <p:cNvSpPr/>
          <p:nvPr/>
        </p:nvSpPr>
        <p:spPr>
          <a:xfrm>
            <a:off x="502920" y="182880"/>
            <a:ext cx="8503920" cy="502920"/>
          </a:xfrm>
          <a:prstGeom prst="rect">
            <a:avLst/>
          </a:prstGeom>
          <a:noFill/>
          <a:ln/>
        </p:spPr>
        <p:txBody>
          <a:bodyPr wrap="square" lIns="0" tIns="0" rIns="0" bIns="0" rtlCol="0" anchor="ctr"/>
          <a:lstStyle/>
          <a:p>
            <a:r>
              <a:rPr lang="en-US" sz="2300" b="1">
                <a:solidFill>
                  <a:srgbClr val="1F3864"/>
                </a:solidFill>
                <a:latin typeface="Arial"/>
                <a:ea typeface="Arial" pitchFamily="34" charset="-122"/>
                <a:cs typeface="Arial"/>
              </a:rPr>
              <a:t>FSM - Canonical request and response — end to end</a:t>
            </a:r>
            <a:endParaRPr lang="en-US" sz="2300">
              <a:latin typeface="Arial"/>
              <a:cs typeface="Arial"/>
            </a:endParaRPr>
          </a:p>
        </p:txBody>
      </p:sp>
      <p:sp>
        <p:nvSpPr>
          <p:cNvPr id="7" name="Text 5">
            <a:extLst>
              <a:ext uri="{FF2B5EF4-FFF2-40B4-BE49-F238E27FC236}">
                <a16:creationId xmlns:a16="http://schemas.microsoft.com/office/drawing/2014/main" id="{CBB5F9FE-DA58-976A-EAE0-C521CE67E536}"/>
              </a:ext>
            </a:extLst>
          </p:cNvPr>
          <p:cNvSpPr/>
          <p:nvPr/>
        </p:nvSpPr>
        <p:spPr>
          <a:xfrm>
            <a:off x="502920" y="676655"/>
            <a:ext cx="11155680" cy="399059"/>
          </a:xfrm>
          <a:prstGeom prst="rect">
            <a:avLst/>
          </a:prstGeom>
          <a:noFill/>
          <a:ln/>
        </p:spPr>
        <p:txBody>
          <a:bodyPr wrap="square" lIns="0" tIns="0" rIns="0" bIns="0" rtlCol="0" anchor="t"/>
          <a:lstStyle/>
          <a:p>
            <a:pPr marL="0" indent="0">
              <a:buNone/>
            </a:pPr>
            <a:r>
              <a:rPr lang="en-US" sz="1200">
                <a:solidFill>
                  <a:srgbClr val="595959"/>
                </a:solidFill>
                <a:latin typeface="Arial" pitchFamily="34" charset="0"/>
                <a:ea typeface="Arial" pitchFamily="34" charset="-122"/>
                <a:cs typeface="Arial" pitchFamily="34" charset="-120"/>
              </a:rPr>
              <a:t>Responses back to the FSM follow two pathways: the first is an acknowledgement and outcome callback to FSMs that send a canonical message through a 1st-leg interface; the second is a separate endpoint that exposes S/4HANA data for FSMs to pull on their own schedule.</a:t>
            </a:r>
            <a:endParaRPr lang="en-US" sz="1200"/>
          </a:p>
        </p:txBody>
      </p:sp>
      <p:sp>
        <p:nvSpPr>
          <p:cNvPr id="10" name="Shape 8">
            <a:extLst>
              <a:ext uri="{FF2B5EF4-FFF2-40B4-BE49-F238E27FC236}">
                <a16:creationId xmlns:a16="http://schemas.microsoft.com/office/drawing/2014/main" id="{6BFAB7A8-B2D5-F751-ABA8-1B573AB65679}"/>
              </a:ext>
            </a:extLst>
          </p:cNvPr>
          <p:cNvSpPr/>
          <p:nvPr/>
        </p:nvSpPr>
        <p:spPr>
          <a:xfrm>
            <a:off x="779366" y="2378158"/>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Source FSM</a:t>
            </a:r>
          </a:p>
        </p:txBody>
      </p:sp>
      <p:sp>
        <p:nvSpPr>
          <p:cNvPr id="25" name="Rounded Rectangle 24">
            <a:extLst>
              <a:ext uri="{FF2B5EF4-FFF2-40B4-BE49-F238E27FC236}">
                <a16:creationId xmlns:a16="http://schemas.microsoft.com/office/drawing/2014/main" id="{B9A980A9-AB46-FAAD-2E90-452C0BB2E324}"/>
              </a:ext>
            </a:extLst>
          </p:cNvPr>
          <p:cNvSpPr/>
          <p:nvPr/>
        </p:nvSpPr>
        <p:spPr>
          <a:xfrm>
            <a:off x="3455581" y="1978166"/>
            <a:ext cx="4986670"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14" name="Shape 8">
            <a:extLst>
              <a:ext uri="{FF2B5EF4-FFF2-40B4-BE49-F238E27FC236}">
                <a16:creationId xmlns:a16="http://schemas.microsoft.com/office/drawing/2014/main" id="{89B31339-AF67-62E0-64B5-C2977A6C19FE}"/>
              </a:ext>
            </a:extLst>
          </p:cNvPr>
          <p:cNvSpPr/>
          <p:nvPr/>
        </p:nvSpPr>
        <p:spPr>
          <a:xfrm>
            <a:off x="3933602" y="2378158"/>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1</a:t>
            </a:r>
            <a:r>
              <a:rPr lang="en-AU" sz="1400" b="1" baseline="30000"/>
              <a:t>st</a:t>
            </a:r>
            <a:r>
              <a:rPr lang="en-AU" sz="1400" b="1"/>
              <a:t> Leg Interfaces</a:t>
            </a:r>
          </a:p>
        </p:txBody>
      </p:sp>
      <p:sp>
        <p:nvSpPr>
          <p:cNvPr id="15" name="Shape 8">
            <a:extLst>
              <a:ext uri="{FF2B5EF4-FFF2-40B4-BE49-F238E27FC236}">
                <a16:creationId xmlns:a16="http://schemas.microsoft.com/office/drawing/2014/main" id="{BE497782-F8F2-AFB5-DC79-ECB5D1BD284D}"/>
              </a:ext>
            </a:extLst>
          </p:cNvPr>
          <p:cNvSpPr/>
          <p:nvPr/>
        </p:nvSpPr>
        <p:spPr>
          <a:xfrm>
            <a:off x="6417456" y="2378158"/>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Canonical Model</a:t>
            </a:r>
          </a:p>
        </p:txBody>
      </p:sp>
      <p:sp>
        <p:nvSpPr>
          <p:cNvPr id="17" name="Shape 26">
            <a:extLst>
              <a:ext uri="{FF2B5EF4-FFF2-40B4-BE49-F238E27FC236}">
                <a16:creationId xmlns:a16="http://schemas.microsoft.com/office/drawing/2014/main" id="{AB8DC521-686B-AC32-B399-43B56CAD5BD3}"/>
              </a:ext>
            </a:extLst>
          </p:cNvPr>
          <p:cNvSpPr/>
          <p:nvPr/>
        </p:nvSpPr>
        <p:spPr>
          <a:xfrm>
            <a:off x="9571692" y="2378158"/>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cxnSp>
        <p:nvCxnSpPr>
          <p:cNvPr id="19" name="Straight Arrow Connector 18">
            <a:extLst>
              <a:ext uri="{FF2B5EF4-FFF2-40B4-BE49-F238E27FC236}">
                <a16:creationId xmlns:a16="http://schemas.microsoft.com/office/drawing/2014/main" id="{6C78FBAA-4521-6598-34DF-79369CB7DCD7}"/>
              </a:ext>
            </a:extLst>
          </p:cNvPr>
          <p:cNvCxnSpPr/>
          <p:nvPr/>
        </p:nvCxnSpPr>
        <p:spPr>
          <a:xfrm>
            <a:off x="2254102" y="2542535"/>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11EBC46-074B-FCEE-6E07-1F8257D0186C}"/>
              </a:ext>
            </a:extLst>
          </p:cNvPr>
          <p:cNvCxnSpPr>
            <a:cxnSpLocks/>
          </p:cNvCxnSpPr>
          <p:nvPr/>
        </p:nvCxnSpPr>
        <p:spPr>
          <a:xfrm>
            <a:off x="7892192" y="2542535"/>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86C85C0-9296-A5E6-6A0B-DA5813288837}"/>
              </a:ext>
            </a:extLst>
          </p:cNvPr>
          <p:cNvCxnSpPr>
            <a:cxnSpLocks/>
          </p:cNvCxnSpPr>
          <p:nvPr/>
        </p:nvCxnSpPr>
        <p:spPr>
          <a:xfrm>
            <a:off x="5408338" y="2553168"/>
            <a:ext cx="7053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E81E15D-731B-DECE-60CE-12A4FD868F0B}"/>
              </a:ext>
            </a:extLst>
          </p:cNvPr>
          <p:cNvCxnSpPr>
            <a:cxnSpLocks/>
          </p:cNvCxnSpPr>
          <p:nvPr/>
        </p:nvCxnSpPr>
        <p:spPr>
          <a:xfrm flipH="1">
            <a:off x="2243469" y="3056442"/>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A8A54EB-C48A-6B37-29B9-B0797D9D0499}"/>
              </a:ext>
            </a:extLst>
          </p:cNvPr>
          <p:cNvCxnSpPr>
            <a:cxnSpLocks/>
          </p:cNvCxnSpPr>
          <p:nvPr/>
        </p:nvCxnSpPr>
        <p:spPr>
          <a:xfrm flipH="1">
            <a:off x="7892192" y="3056442"/>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Shape 8">
            <a:extLst>
              <a:ext uri="{FF2B5EF4-FFF2-40B4-BE49-F238E27FC236}">
                <a16:creationId xmlns:a16="http://schemas.microsoft.com/office/drawing/2014/main" id="{C109F633-AB8A-39F8-8D45-F6268531F0CB}"/>
              </a:ext>
            </a:extLst>
          </p:cNvPr>
          <p:cNvSpPr/>
          <p:nvPr/>
        </p:nvSpPr>
        <p:spPr>
          <a:xfrm>
            <a:off x="6113718" y="2384068"/>
            <a:ext cx="249855" cy="841965"/>
          </a:xfrm>
          <a:prstGeom prst="roundRect">
            <a:avLst>
              <a:gd name="adj" fmla="val 17621"/>
            </a:avLst>
          </a:prstGeom>
          <a:solidFill>
            <a:srgbClr val="EEF2F8"/>
          </a:solidFill>
          <a:ln w="19050">
            <a:solidFill>
              <a:srgbClr val="1F3864"/>
            </a:solidFill>
            <a:prstDash val="solid"/>
          </a:ln>
        </p:spPr>
        <p:txBody>
          <a:bodyPr vert="vert270" anchor="ctr"/>
          <a:lstStyle/>
          <a:p>
            <a:pPr algn="ctr"/>
            <a:r>
              <a:rPr lang="en-AU" sz="1100" b="1"/>
              <a:t>JMS Queue</a:t>
            </a:r>
          </a:p>
        </p:txBody>
      </p:sp>
      <p:sp>
        <p:nvSpPr>
          <p:cNvPr id="32" name="TextBox 31">
            <a:extLst>
              <a:ext uri="{FF2B5EF4-FFF2-40B4-BE49-F238E27FC236}">
                <a16:creationId xmlns:a16="http://schemas.microsoft.com/office/drawing/2014/main" id="{8F0E7CAD-92A4-4F63-BD94-AA0405F4BDE7}"/>
              </a:ext>
            </a:extLst>
          </p:cNvPr>
          <p:cNvSpPr txBox="1"/>
          <p:nvPr/>
        </p:nvSpPr>
        <p:spPr>
          <a:xfrm>
            <a:off x="2243469" y="3065499"/>
            <a:ext cx="1212112" cy="553998"/>
          </a:xfrm>
          <a:prstGeom prst="rect">
            <a:avLst/>
          </a:prstGeom>
          <a:noFill/>
        </p:spPr>
        <p:txBody>
          <a:bodyPr wrap="square" rtlCol="0">
            <a:spAutoFit/>
          </a:bodyPr>
          <a:lstStyle/>
          <a:p>
            <a:r>
              <a:rPr lang="en-US" sz="1000" b="1" i="1">
                <a:solidFill>
                  <a:schemeClr val="bg1">
                    <a:lumMod val="50000"/>
                  </a:schemeClr>
                </a:solidFill>
              </a:rPr>
              <a:t>Acknowledgement.</a:t>
            </a:r>
            <a:br>
              <a:rPr lang="en-US" sz="1000" i="1">
                <a:solidFill>
                  <a:schemeClr val="bg1">
                    <a:lumMod val="50000"/>
                  </a:schemeClr>
                </a:solidFill>
              </a:rPr>
            </a:br>
            <a:r>
              <a:rPr lang="en-US" sz="1000" i="1">
                <a:solidFill>
                  <a:schemeClr val="bg1">
                    <a:lumMod val="50000"/>
                  </a:schemeClr>
                </a:solidFill>
              </a:rPr>
              <a:t>HTTP Response Code</a:t>
            </a:r>
          </a:p>
        </p:txBody>
      </p:sp>
      <p:sp>
        <p:nvSpPr>
          <p:cNvPr id="33" name="TextBox 32">
            <a:extLst>
              <a:ext uri="{FF2B5EF4-FFF2-40B4-BE49-F238E27FC236}">
                <a16:creationId xmlns:a16="http://schemas.microsoft.com/office/drawing/2014/main" id="{3B98F38A-AE00-3C2A-D903-2B33442D443C}"/>
              </a:ext>
            </a:extLst>
          </p:cNvPr>
          <p:cNvSpPr txBox="1"/>
          <p:nvPr/>
        </p:nvSpPr>
        <p:spPr>
          <a:xfrm>
            <a:off x="2254102" y="1985227"/>
            <a:ext cx="1212112" cy="553998"/>
          </a:xfrm>
          <a:prstGeom prst="rect">
            <a:avLst/>
          </a:prstGeom>
          <a:noFill/>
        </p:spPr>
        <p:txBody>
          <a:bodyPr wrap="square" rtlCol="0">
            <a:spAutoFit/>
          </a:bodyPr>
          <a:lstStyle/>
          <a:p>
            <a:r>
              <a:rPr lang="en-US" sz="1000" b="1" i="1">
                <a:solidFill>
                  <a:schemeClr val="bg1">
                    <a:lumMod val="50000"/>
                  </a:schemeClr>
                </a:solidFill>
              </a:rPr>
              <a:t>FSM Trigger</a:t>
            </a:r>
            <a:br>
              <a:rPr lang="en-US" sz="1000" b="1" i="1">
                <a:solidFill>
                  <a:schemeClr val="bg1">
                    <a:lumMod val="50000"/>
                  </a:schemeClr>
                </a:solidFill>
              </a:rPr>
            </a:br>
            <a:r>
              <a:rPr lang="en-US" sz="1000" i="1">
                <a:solidFill>
                  <a:schemeClr val="bg1">
                    <a:lumMod val="50000"/>
                  </a:schemeClr>
                </a:solidFill>
              </a:rPr>
              <a:t>Push messages or Pull request/resp.</a:t>
            </a:r>
          </a:p>
        </p:txBody>
      </p:sp>
      <p:sp>
        <p:nvSpPr>
          <p:cNvPr id="34" name="TextBox 33">
            <a:extLst>
              <a:ext uri="{FF2B5EF4-FFF2-40B4-BE49-F238E27FC236}">
                <a16:creationId xmlns:a16="http://schemas.microsoft.com/office/drawing/2014/main" id="{827E317F-145C-42EE-6CC9-AAD6E1BC80D5}"/>
              </a:ext>
            </a:extLst>
          </p:cNvPr>
          <p:cNvSpPr txBox="1"/>
          <p:nvPr/>
        </p:nvSpPr>
        <p:spPr>
          <a:xfrm>
            <a:off x="5397705" y="1978166"/>
            <a:ext cx="1212112" cy="553998"/>
          </a:xfrm>
          <a:prstGeom prst="rect">
            <a:avLst/>
          </a:prstGeom>
          <a:noFill/>
        </p:spPr>
        <p:txBody>
          <a:bodyPr wrap="square" rtlCol="0">
            <a:spAutoFit/>
          </a:bodyPr>
          <a:lstStyle/>
          <a:p>
            <a:r>
              <a:rPr lang="en-US" sz="1000" b="1" i="1">
                <a:solidFill>
                  <a:schemeClr val="bg1">
                    <a:lumMod val="50000"/>
                  </a:schemeClr>
                </a:solidFill>
              </a:rPr>
              <a:t>Canonical Trigger</a:t>
            </a:r>
          </a:p>
          <a:p>
            <a:r>
              <a:rPr lang="en-US" sz="1000" i="1">
                <a:solidFill>
                  <a:schemeClr val="bg1">
                    <a:lumMod val="50000"/>
                  </a:schemeClr>
                </a:solidFill>
              </a:rPr>
              <a:t>CPI Process to Process call</a:t>
            </a:r>
          </a:p>
        </p:txBody>
      </p:sp>
      <p:sp>
        <p:nvSpPr>
          <p:cNvPr id="35" name="TextBox 34">
            <a:extLst>
              <a:ext uri="{FF2B5EF4-FFF2-40B4-BE49-F238E27FC236}">
                <a16:creationId xmlns:a16="http://schemas.microsoft.com/office/drawing/2014/main" id="{289C0252-1601-D14D-7535-47A6F908204E}"/>
              </a:ext>
            </a:extLst>
          </p:cNvPr>
          <p:cNvSpPr txBox="1"/>
          <p:nvPr/>
        </p:nvSpPr>
        <p:spPr>
          <a:xfrm>
            <a:off x="8534312" y="1933843"/>
            <a:ext cx="1212112" cy="553998"/>
          </a:xfrm>
          <a:prstGeom prst="rect">
            <a:avLst/>
          </a:prstGeom>
          <a:noFill/>
        </p:spPr>
        <p:txBody>
          <a:bodyPr wrap="square" rtlCol="0">
            <a:spAutoFit/>
          </a:bodyPr>
          <a:lstStyle/>
          <a:p>
            <a:r>
              <a:rPr lang="en-US" sz="1000" b="1" i="1">
                <a:solidFill>
                  <a:schemeClr val="bg1">
                    <a:lumMod val="50000"/>
                  </a:schemeClr>
                </a:solidFill>
              </a:rPr>
              <a:t>S/4HANA Trigger</a:t>
            </a:r>
          </a:p>
          <a:p>
            <a:r>
              <a:rPr lang="en-US" sz="1000" i="1">
                <a:solidFill>
                  <a:schemeClr val="bg1">
                    <a:lumMod val="50000"/>
                  </a:schemeClr>
                </a:solidFill>
              </a:rPr>
              <a:t>Sequenced API calls as per Canonical</a:t>
            </a:r>
          </a:p>
        </p:txBody>
      </p:sp>
      <p:sp>
        <p:nvSpPr>
          <p:cNvPr id="36" name="TextBox 35">
            <a:extLst>
              <a:ext uri="{FF2B5EF4-FFF2-40B4-BE49-F238E27FC236}">
                <a16:creationId xmlns:a16="http://schemas.microsoft.com/office/drawing/2014/main" id="{FED9633D-06C6-9920-D9D4-0EAE653F1954}"/>
              </a:ext>
            </a:extLst>
          </p:cNvPr>
          <p:cNvSpPr txBox="1"/>
          <p:nvPr/>
        </p:nvSpPr>
        <p:spPr>
          <a:xfrm>
            <a:off x="8534312" y="3119079"/>
            <a:ext cx="1212112" cy="553998"/>
          </a:xfrm>
          <a:prstGeom prst="rect">
            <a:avLst/>
          </a:prstGeom>
          <a:noFill/>
        </p:spPr>
        <p:txBody>
          <a:bodyPr wrap="square" rtlCol="0">
            <a:spAutoFit/>
          </a:bodyPr>
          <a:lstStyle/>
          <a:p>
            <a:r>
              <a:rPr lang="en-US" sz="1000" b="1" i="1">
                <a:solidFill>
                  <a:schemeClr val="bg1">
                    <a:lumMod val="50000"/>
                  </a:schemeClr>
                </a:solidFill>
              </a:rPr>
              <a:t>API Response</a:t>
            </a:r>
          </a:p>
          <a:p>
            <a:r>
              <a:rPr lang="en-US" sz="1000" i="1">
                <a:solidFill>
                  <a:schemeClr val="bg1">
                    <a:lumMod val="50000"/>
                  </a:schemeClr>
                </a:solidFill>
              </a:rPr>
              <a:t>Success/Error messages from S/4</a:t>
            </a:r>
          </a:p>
        </p:txBody>
      </p:sp>
      <p:sp>
        <p:nvSpPr>
          <p:cNvPr id="37" name="Shape 8">
            <a:extLst>
              <a:ext uri="{FF2B5EF4-FFF2-40B4-BE49-F238E27FC236}">
                <a16:creationId xmlns:a16="http://schemas.microsoft.com/office/drawing/2014/main" id="{0AF6D82E-1173-7BDC-856E-CAE9D028007D}"/>
              </a:ext>
            </a:extLst>
          </p:cNvPr>
          <p:cNvSpPr/>
          <p:nvPr/>
        </p:nvSpPr>
        <p:spPr>
          <a:xfrm>
            <a:off x="6417456" y="3465296"/>
            <a:ext cx="1474736" cy="237029"/>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Error Logging</a:t>
            </a:r>
          </a:p>
        </p:txBody>
      </p:sp>
      <p:sp>
        <p:nvSpPr>
          <p:cNvPr id="42" name="TextBox 41">
            <a:extLst>
              <a:ext uri="{FF2B5EF4-FFF2-40B4-BE49-F238E27FC236}">
                <a16:creationId xmlns:a16="http://schemas.microsoft.com/office/drawing/2014/main" id="{201A4004-8C94-7FD0-D475-3E2292FD13E4}"/>
              </a:ext>
            </a:extLst>
          </p:cNvPr>
          <p:cNvSpPr txBox="1"/>
          <p:nvPr/>
        </p:nvSpPr>
        <p:spPr>
          <a:xfrm>
            <a:off x="6766172" y="3217857"/>
            <a:ext cx="1619025" cy="246221"/>
          </a:xfrm>
          <a:prstGeom prst="rect">
            <a:avLst/>
          </a:prstGeom>
          <a:noFill/>
        </p:spPr>
        <p:txBody>
          <a:bodyPr wrap="square" rtlCol="0">
            <a:spAutoFit/>
          </a:bodyPr>
          <a:lstStyle/>
          <a:p>
            <a:r>
              <a:rPr lang="en-US" sz="1000" b="1" i="1">
                <a:solidFill>
                  <a:schemeClr val="bg1">
                    <a:lumMod val="50000"/>
                  </a:schemeClr>
                </a:solidFill>
              </a:rPr>
              <a:t>Canonical Error Logging</a:t>
            </a:r>
          </a:p>
        </p:txBody>
      </p:sp>
      <p:sp>
        <p:nvSpPr>
          <p:cNvPr id="44" name="Shape 26">
            <a:extLst>
              <a:ext uri="{FF2B5EF4-FFF2-40B4-BE49-F238E27FC236}">
                <a16:creationId xmlns:a16="http://schemas.microsoft.com/office/drawing/2014/main" id="{3C258652-0D22-530E-BB71-2FA4FAC56D84}"/>
              </a:ext>
            </a:extLst>
          </p:cNvPr>
          <p:cNvSpPr/>
          <p:nvPr/>
        </p:nvSpPr>
        <p:spPr>
          <a:xfrm>
            <a:off x="9571691" y="5104249"/>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sp>
        <p:nvSpPr>
          <p:cNvPr id="45" name="Rounded Rectangle 44">
            <a:extLst>
              <a:ext uri="{FF2B5EF4-FFF2-40B4-BE49-F238E27FC236}">
                <a16:creationId xmlns:a16="http://schemas.microsoft.com/office/drawing/2014/main" id="{B458BD7F-84F7-B018-5C07-752080959858}"/>
              </a:ext>
            </a:extLst>
          </p:cNvPr>
          <p:cNvSpPr/>
          <p:nvPr/>
        </p:nvSpPr>
        <p:spPr>
          <a:xfrm>
            <a:off x="3922969" y="4690740"/>
            <a:ext cx="3806299"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46" name="Shape 8">
            <a:extLst>
              <a:ext uri="{FF2B5EF4-FFF2-40B4-BE49-F238E27FC236}">
                <a16:creationId xmlns:a16="http://schemas.microsoft.com/office/drawing/2014/main" id="{D359AB76-3FE7-9C9B-53FF-F88B1B9561BD}"/>
              </a:ext>
            </a:extLst>
          </p:cNvPr>
          <p:cNvSpPr/>
          <p:nvPr/>
        </p:nvSpPr>
        <p:spPr>
          <a:xfrm>
            <a:off x="4180664" y="5418804"/>
            <a:ext cx="3269003" cy="136687"/>
          </a:xfrm>
          <a:prstGeom prst="roundRect">
            <a:avLst>
              <a:gd name="adj" fmla="val 17621"/>
            </a:avLst>
          </a:prstGeom>
          <a:solidFill>
            <a:srgbClr val="EEF2F8"/>
          </a:solidFill>
          <a:ln w="19050">
            <a:solidFill>
              <a:srgbClr val="1F3864"/>
            </a:solidFill>
            <a:prstDash val="solid"/>
          </a:ln>
        </p:spPr>
        <p:txBody>
          <a:bodyPr anchor="ctr"/>
          <a:lstStyle/>
          <a:p>
            <a:pPr algn="ctr"/>
            <a:r>
              <a:rPr lang="en-AU" sz="1100"/>
              <a:t>Enterprise Project List</a:t>
            </a:r>
          </a:p>
        </p:txBody>
      </p:sp>
      <p:sp>
        <p:nvSpPr>
          <p:cNvPr id="47" name="Shape 8">
            <a:extLst>
              <a:ext uri="{FF2B5EF4-FFF2-40B4-BE49-F238E27FC236}">
                <a16:creationId xmlns:a16="http://schemas.microsoft.com/office/drawing/2014/main" id="{A1F38915-148B-1837-AB72-6D6EB5D6AF64}"/>
              </a:ext>
            </a:extLst>
          </p:cNvPr>
          <p:cNvSpPr/>
          <p:nvPr/>
        </p:nvSpPr>
        <p:spPr>
          <a:xfrm>
            <a:off x="768733" y="5204610"/>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Consuming FSM</a:t>
            </a:r>
          </a:p>
        </p:txBody>
      </p:sp>
      <p:cxnSp>
        <p:nvCxnSpPr>
          <p:cNvPr id="48" name="Straight Arrow Connector 47">
            <a:extLst>
              <a:ext uri="{FF2B5EF4-FFF2-40B4-BE49-F238E27FC236}">
                <a16:creationId xmlns:a16="http://schemas.microsoft.com/office/drawing/2014/main" id="{DB037822-A233-A00A-4530-1971A703551C}"/>
              </a:ext>
            </a:extLst>
          </p:cNvPr>
          <p:cNvCxnSpPr>
            <a:cxnSpLocks/>
          </p:cNvCxnSpPr>
          <p:nvPr/>
        </p:nvCxnSpPr>
        <p:spPr>
          <a:xfrm>
            <a:off x="2254102" y="5429874"/>
            <a:ext cx="16688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AAEBAA35-31E1-3EA2-F6E5-69366321A726}"/>
              </a:ext>
            </a:extLst>
          </p:cNvPr>
          <p:cNvSpPr txBox="1"/>
          <p:nvPr/>
        </p:nvSpPr>
        <p:spPr>
          <a:xfrm>
            <a:off x="2243468" y="4847178"/>
            <a:ext cx="1679501" cy="553998"/>
          </a:xfrm>
          <a:prstGeom prst="rect">
            <a:avLst/>
          </a:prstGeom>
          <a:noFill/>
        </p:spPr>
        <p:txBody>
          <a:bodyPr wrap="square" rtlCol="0">
            <a:spAutoFit/>
          </a:bodyPr>
          <a:lstStyle/>
          <a:p>
            <a:r>
              <a:rPr lang="en-US" sz="1000" b="1" i="1">
                <a:solidFill>
                  <a:schemeClr val="bg1">
                    <a:lumMod val="50000"/>
                  </a:schemeClr>
                </a:solidFill>
              </a:rPr>
              <a:t>FSM Pull Request</a:t>
            </a:r>
            <a:br>
              <a:rPr lang="en-US" sz="1000" b="1" i="1">
                <a:solidFill>
                  <a:schemeClr val="bg1">
                    <a:lumMod val="50000"/>
                  </a:schemeClr>
                </a:solidFill>
              </a:rPr>
            </a:br>
            <a:r>
              <a:rPr lang="en-US" sz="1000" i="1">
                <a:solidFill>
                  <a:schemeClr val="bg1">
                    <a:lumMod val="50000"/>
                  </a:schemeClr>
                </a:solidFill>
              </a:rPr>
              <a:t>GET queries with URL Params and Filter Conditions</a:t>
            </a:r>
          </a:p>
        </p:txBody>
      </p:sp>
      <p:cxnSp>
        <p:nvCxnSpPr>
          <p:cNvPr id="51" name="Straight Arrow Connector 50">
            <a:extLst>
              <a:ext uri="{FF2B5EF4-FFF2-40B4-BE49-F238E27FC236}">
                <a16:creationId xmlns:a16="http://schemas.microsoft.com/office/drawing/2014/main" id="{A0D7E499-32ED-498E-3164-CAA5A683842C}"/>
              </a:ext>
            </a:extLst>
          </p:cNvPr>
          <p:cNvCxnSpPr>
            <a:cxnSpLocks/>
          </p:cNvCxnSpPr>
          <p:nvPr/>
        </p:nvCxnSpPr>
        <p:spPr>
          <a:xfrm>
            <a:off x="7729268" y="5401176"/>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60A8A58D-3887-BEE0-8874-1AD568E5EB16}"/>
              </a:ext>
            </a:extLst>
          </p:cNvPr>
          <p:cNvSpPr txBox="1"/>
          <p:nvPr/>
        </p:nvSpPr>
        <p:spPr>
          <a:xfrm>
            <a:off x="7781708" y="4677561"/>
            <a:ext cx="1737543" cy="707886"/>
          </a:xfrm>
          <a:prstGeom prst="rect">
            <a:avLst/>
          </a:prstGeom>
          <a:noFill/>
        </p:spPr>
        <p:txBody>
          <a:bodyPr wrap="square" rtlCol="0">
            <a:spAutoFit/>
          </a:bodyPr>
          <a:lstStyle/>
          <a:p>
            <a:r>
              <a:rPr lang="en-US" sz="1000" b="1" i="1">
                <a:solidFill>
                  <a:schemeClr val="bg1">
                    <a:lumMod val="50000"/>
                  </a:schemeClr>
                </a:solidFill>
              </a:rPr>
              <a:t>S/4HANA Passthrough API Query</a:t>
            </a:r>
            <a:br>
              <a:rPr lang="en-US" sz="1000" b="1" i="1">
                <a:solidFill>
                  <a:schemeClr val="bg1">
                    <a:lumMod val="50000"/>
                  </a:schemeClr>
                </a:solidFill>
              </a:rPr>
            </a:br>
            <a:r>
              <a:rPr lang="en-US" sz="1000" i="1">
                <a:solidFill>
                  <a:schemeClr val="bg1">
                    <a:lumMod val="50000"/>
                  </a:schemeClr>
                </a:solidFill>
              </a:rPr>
              <a:t>GET query to S/4HANA API Endpoint</a:t>
            </a:r>
          </a:p>
        </p:txBody>
      </p:sp>
      <p:cxnSp>
        <p:nvCxnSpPr>
          <p:cNvPr id="54" name="Straight Arrow Connector 53">
            <a:extLst>
              <a:ext uri="{FF2B5EF4-FFF2-40B4-BE49-F238E27FC236}">
                <a16:creationId xmlns:a16="http://schemas.microsoft.com/office/drawing/2014/main" id="{979113E0-1E40-1DD2-7BF4-43A876892AD3}"/>
              </a:ext>
            </a:extLst>
          </p:cNvPr>
          <p:cNvCxnSpPr>
            <a:cxnSpLocks/>
          </p:cNvCxnSpPr>
          <p:nvPr/>
        </p:nvCxnSpPr>
        <p:spPr>
          <a:xfrm flipH="1">
            <a:off x="7729268" y="5772569"/>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Shape 8">
            <a:extLst>
              <a:ext uri="{FF2B5EF4-FFF2-40B4-BE49-F238E27FC236}">
                <a16:creationId xmlns:a16="http://schemas.microsoft.com/office/drawing/2014/main" id="{485A93E5-D7AE-9169-45B9-6B38C3CAC8A7}"/>
              </a:ext>
            </a:extLst>
          </p:cNvPr>
          <p:cNvSpPr/>
          <p:nvPr/>
        </p:nvSpPr>
        <p:spPr>
          <a:xfrm>
            <a:off x="4180664" y="5595743"/>
            <a:ext cx="3269003" cy="136687"/>
          </a:xfrm>
          <a:prstGeom prst="roundRect">
            <a:avLst>
              <a:gd name="adj" fmla="val 17621"/>
            </a:avLst>
          </a:prstGeom>
          <a:solidFill>
            <a:srgbClr val="EEF2F8"/>
          </a:solidFill>
          <a:ln w="19050">
            <a:solidFill>
              <a:srgbClr val="1F3864"/>
            </a:solidFill>
            <a:prstDash val="solid"/>
          </a:ln>
        </p:spPr>
        <p:txBody>
          <a:bodyPr anchor="ctr"/>
          <a:lstStyle/>
          <a:p>
            <a:pPr algn="ctr"/>
            <a:r>
              <a:rPr lang="en-AU" sz="1100"/>
              <a:t>Customer Invoice</a:t>
            </a:r>
          </a:p>
        </p:txBody>
      </p:sp>
      <p:sp>
        <p:nvSpPr>
          <p:cNvPr id="60" name="Shape 8">
            <a:extLst>
              <a:ext uri="{FF2B5EF4-FFF2-40B4-BE49-F238E27FC236}">
                <a16:creationId xmlns:a16="http://schemas.microsoft.com/office/drawing/2014/main" id="{42120742-8E5E-275C-4C85-83A434CF1661}"/>
              </a:ext>
            </a:extLst>
          </p:cNvPr>
          <p:cNvSpPr/>
          <p:nvPr/>
        </p:nvSpPr>
        <p:spPr>
          <a:xfrm>
            <a:off x="4180664" y="5773295"/>
            <a:ext cx="3269003" cy="136687"/>
          </a:xfrm>
          <a:prstGeom prst="roundRect">
            <a:avLst>
              <a:gd name="adj" fmla="val 17621"/>
            </a:avLst>
          </a:prstGeom>
          <a:solidFill>
            <a:srgbClr val="EEF2F8"/>
          </a:solidFill>
          <a:ln w="19050">
            <a:solidFill>
              <a:srgbClr val="1F3864"/>
            </a:solidFill>
            <a:prstDash val="solid"/>
          </a:ln>
        </p:spPr>
        <p:txBody>
          <a:bodyPr anchor="ctr"/>
          <a:lstStyle/>
          <a:p>
            <a:pPr algn="ctr"/>
            <a:r>
              <a:rPr lang="en-AU" sz="1100"/>
              <a:t>Project time &amp; Equipment Usage</a:t>
            </a:r>
          </a:p>
        </p:txBody>
      </p:sp>
      <p:sp>
        <p:nvSpPr>
          <p:cNvPr id="61" name="Shape 8">
            <a:extLst>
              <a:ext uri="{FF2B5EF4-FFF2-40B4-BE49-F238E27FC236}">
                <a16:creationId xmlns:a16="http://schemas.microsoft.com/office/drawing/2014/main" id="{11009B3E-2C1A-D110-C719-0D05784086A6}"/>
              </a:ext>
            </a:extLst>
          </p:cNvPr>
          <p:cNvSpPr/>
          <p:nvPr/>
        </p:nvSpPr>
        <p:spPr>
          <a:xfrm>
            <a:off x="4180664" y="5957629"/>
            <a:ext cx="3269003" cy="136687"/>
          </a:xfrm>
          <a:prstGeom prst="roundRect">
            <a:avLst>
              <a:gd name="adj" fmla="val 17621"/>
            </a:avLst>
          </a:prstGeom>
          <a:solidFill>
            <a:srgbClr val="EEF2F8"/>
          </a:solidFill>
          <a:ln w="19050">
            <a:solidFill>
              <a:srgbClr val="1F3864"/>
            </a:solidFill>
            <a:prstDash val="solid"/>
          </a:ln>
        </p:spPr>
        <p:txBody>
          <a:bodyPr anchor="ctr"/>
          <a:lstStyle/>
          <a:p>
            <a:pPr algn="ctr"/>
            <a:r>
              <a:rPr lang="en-AU" sz="1100"/>
              <a:t>Supplier Invoice/RCTI Payments</a:t>
            </a:r>
          </a:p>
        </p:txBody>
      </p:sp>
      <p:sp>
        <p:nvSpPr>
          <p:cNvPr id="62" name="Shape 8">
            <a:extLst>
              <a:ext uri="{FF2B5EF4-FFF2-40B4-BE49-F238E27FC236}">
                <a16:creationId xmlns:a16="http://schemas.microsoft.com/office/drawing/2014/main" id="{2625FE6C-CCD7-C18D-2B56-01A31CD7465E}"/>
              </a:ext>
            </a:extLst>
          </p:cNvPr>
          <p:cNvSpPr/>
          <p:nvPr/>
        </p:nvSpPr>
        <p:spPr>
          <a:xfrm>
            <a:off x="4180664" y="6135181"/>
            <a:ext cx="3269003" cy="136687"/>
          </a:xfrm>
          <a:prstGeom prst="roundRect">
            <a:avLst>
              <a:gd name="adj" fmla="val 17621"/>
            </a:avLst>
          </a:prstGeom>
          <a:solidFill>
            <a:srgbClr val="EEF2F8"/>
          </a:solidFill>
          <a:ln w="19050">
            <a:solidFill>
              <a:srgbClr val="1F3864"/>
            </a:solidFill>
            <a:prstDash val="solid"/>
          </a:ln>
        </p:spPr>
        <p:txBody>
          <a:bodyPr anchor="ctr"/>
          <a:lstStyle/>
          <a:p>
            <a:pPr algn="ctr"/>
            <a:r>
              <a:rPr lang="en-AU" sz="1100"/>
              <a:t>Available Stock Query</a:t>
            </a:r>
          </a:p>
        </p:txBody>
      </p:sp>
      <p:cxnSp>
        <p:nvCxnSpPr>
          <p:cNvPr id="65" name="Straight Arrow Connector 64">
            <a:extLst>
              <a:ext uri="{FF2B5EF4-FFF2-40B4-BE49-F238E27FC236}">
                <a16:creationId xmlns:a16="http://schemas.microsoft.com/office/drawing/2014/main" id="{AAD6E3F5-E103-FF6C-769F-1760818A98D8}"/>
              </a:ext>
            </a:extLst>
          </p:cNvPr>
          <p:cNvCxnSpPr>
            <a:cxnSpLocks/>
          </p:cNvCxnSpPr>
          <p:nvPr/>
        </p:nvCxnSpPr>
        <p:spPr>
          <a:xfrm flipH="1">
            <a:off x="2243469" y="584377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Shape 8">
            <a:extLst>
              <a:ext uri="{FF2B5EF4-FFF2-40B4-BE49-F238E27FC236}">
                <a16:creationId xmlns:a16="http://schemas.microsoft.com/office/drawing/2014/main" id="{E1DCF5E4-6277-790E-D1E2-99BB763A2905}"/>
              </a:ext>
            </a:extLst>
          </p:cNvPr>
          <p:cNvSpPr/>
          <p:nvPr/>
        </p:nvSpPr>
        <p:spPr>
          <a:xfrm>
            <a:off x="4180664" y="5241252"/>
            <a:ext cx="3269003" cy="136687"/>
          </a:xfrm>
          <a:prstGeom prst="roundRect">
            <a:avLst>
              <a:gd name="adj" fmla="val 17621"/>
            </a:avLst>
          </a:prstGeom>
          <a:solidFill>
            <a:srgbClr val="EEF2F8"/>
          </a:solidFill>
          <a:ln w="19050">
            <a:solidFill>
              <a:srgbClr val="1F3864"/>
            </a:solidFill>
            <a:prstDash val="solid"/>
          </a:ln>
        </p:spPr>
        <p:txBody>
          <a:bodyPr anchor="ctr"/>
          <a:lstStyle/>
          <a:p>
            <a:pPr algn="ctr"/>
            <a:r>
              <a:rPr lang="en-AU" sz="1100"/>
              <a:t>Service Orders</a:t>
            </a:r>
          </a:p>
        </p:txBody>
      </p:sp>
      <p:sp>
        <p:nvSpPr>
          <p:cNvPr id="69" name="TextBox 68">
            <a:extLst>
              <a:ext uri="{FF2B5EF4-FFF2-40B4-BE49-F238E27FC236}">
                <a16:creationId xmlns:a16="http://schemas.microsoft.com/office/drawing/2014/main" id="{C60B1399-15E5-44A5-98B0-254284E330A6}"/>
              </a:ext>
            </a:extLst>
          </p:cNvPr>
          <p:cNvSpPr txBox="1"/>
          <p:nvPr/>
        </p:nvSpPr>
        <p:spPr>
          <a:xfrm>
            <a:off x="7781707" y="5873401"/>
            <a:ext cx="1737543" cy="553998"/>
          </a:xfrm>
          <a:prstGeom prst="rect">
            <a:avLst/>
          </a:prstGeom>
          <a:noFill/>
        </p:spPr>
        <p:txBody>
          <a:bodyPr wrap="square" rtlCol="0">
            <a:spAutoFit/>
          </a:bodyPr>
          <a:lstStyle/>
          <a:p>
            <a:r>
              <a:rPr lang="en-US" sz="1000" b="1" i="1">
                <a:solidFill>
                  <a:schemeClr val="bg1">
                    <a:lumMod val="50000"/>
                  </a:schemeClr>
                </a:solidFill>
              </a:rPr>
              <a:t>Response Message</a:t>
            </a:r>
            <a:br>
              <a:rPr lang="en-US" sz="1000" b="1" i="1">
                <a:solidFill>
                  <a:schemeClr val="bg1">
                    <a:lumMod val="50000"/>
                  </a:schemeClr>
                </a:solidFill>
              </a:rPr>
            </a:br>
            <a:r>
              <a:rPr lang="en-US" sz="1000" i="1">
                <a:solidFill>
                  <a:schemeClr val="bg1">
                    <a:lumMod val="50000"/>
                  </a:schemeClr>
                </a:solidFill>
              </a:rPr>
              <a:t>GET response from S/4HANA API</a:t>
            </a:r>
          </a:p>
        </p:txBody>
      </p:sp>
      <p:sp>
        <p:nvSpPr>
          <p:cNvPr id="70" name="TextBox 69">
            <a:extLst>
              <a:ext uri="{FF2B5EF4-FFF2-40B4-BE49-F238E27FC236}">
                <a16:creationId xmlns:a16="http://schemas.microsoft.com/office/drawing/2014/main" id="{BD05A871-6DA4-81D0-7318-23B12F0BC9A1}"/>
              </a:ext>
            </a:extLst>
          </p:cNvPr>
          <p:cNvSpPr txBox="1"/>
          <p:nvPr/>
        </p:nvSpPr>
        <p:spPr>
          <a:xfrm>
            <a:off x="2204002" y="5909982"/>
            <a:ext cx="1737543" cy="553998"/>
          </a:xfrm>
          <a:prstGeom prst="rect">
            <a:avLst/>
          </a:prstGeom>
          <a:noFill/>
        </p:spPr>
        <p:txBody>
          <a:bodyPr wrap="square" rtlCol="0">
            <a:spAutoFit/>
          </a:bodyPr>
          <a:lstStyle/>
          <a:p>
            <a:r>
              <a:rPr lang="en-US" sz="1000" b="1" i="1">
                <a:solidFill>
                  <a:schemeClr val="bg1">
                    <a:lumMod val="50000"/>
                  </a:schemeClr>
                </a:solidFill>
              </a:rPr>
              <a:t>Response Message</a:t>
            </a:r>
            <a:br>
              <a:rPr lang="en-US" sz="1000" b="1" i="1">
                <a:solidFill>
                  <a:schemeClr val="bg1">
                    <a:lumMod val="50000"/>
                  </a:schemeClr>
                </a:solidFill>
              </a:rPr>
            </a:br>
            <a:r>
              <a:rPr lang="en-US" sz="1000" i="1">
                <a:solidFill>
                  <a:schemeClr val="bg1">
                    <a:lumMod val="50000"/>
                  </a:schemeClr>
                </a:solidFill>
              </a:rPr>
              <a:t>GET response from S/4HANA API</a:t>
            </a:r>
          </a:p>
        </p:txBody>
      </p:sp>
      <p:cxnSp>
        <p:nvCxnSpPr>
          <p:cNvPr id="77" name="Straight Arrow Connector 76">
            <a:extLst>
              <a:ext uri="{FF2B5EF4-FFF2-40B4-BE49-F238E27FC236}">
                <a16:creationId xmlns:a16="http://schemas.microsoft.com/office/drawing/2014/main" id="{3800D035-1D47-680B-B9F4-0C46F001529A}"/>
              </a:ext>
            </a:extLst>
          </p:cNvPr>
          <p:cNvCxnSpPr>
            <a:cxnSpLocks/>
          </p:cNvCxnSpPr>
          <p:nvPr/>
        </p:nvCxnSpPr>
        <p:spPr>
          <a:xfrm>
            <a:off x="6746744" y="3227544"/>
            <a:ext cx="0" cy="236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01" name="Note9501"/>
          <p:cNvSpPr/>
          <p:nvPr/>
        </p:nvSpPr>
        <p:spPr>
          <a:xfrm>
            <a:off x="350873" y="3600000"/>
            <a:ext cx="11525693" cy="260000"/>
          </a:xfrm>
          <a:prstGeom prst="rect">
            <a:avLst/>
          </a:prstGeom>
          <a:noFill/>
          <a:ln/>
        </p:spPr>
        <p:txBody>
          <a:bodyPr wrap="square" lIns="0" tIns="0" rIns="0" bIns="0" anchor="t"/>
          <a:lstStyle/>
          <a:p>
            <a:pPr indent="0" marL="0">
              <a:buNone/>
            </a:pPr>
            <a:r>
              <a:rPr lang="en-US" sz="850" i="1" dirty="0">
                <a:solidFill>
                  <a:srgbClr val="595959"/>
                </a:solidFill>
                <a:latin typeface="Arial" pitchFamily="34" charset="0"/>
              </a:rPr>
              <a:t>JAMS sign-off (28 July 2026): the callback carries status + correlationId only — document details wait on the pull below. Both without any write into JAMS records.</a:t>
            </a:r>
          </a:p>
        </p:txBody>
      </p:sp>
      <p:sp>
        <p:nvSpPr>
          <p:cNvPr id="9502" name="Note9502"/>
          <p:cNvSpPr/>
          <p:nvPr/>
        </p:nvSpPr>
        <p:spPr>
          <a:xfrm>
            <a:off x="350873" y="6500000"/>
            <a:ext cx="11525693" cy="260000"/>
          </a:xfrm>
          <a:prstGeom prst="rect">
            <a:avLst/>
          </a:prstGeom>
          <a:noFill/>
          <a:ln/>
        </p:spPr>
        <p:txBody>
          <a:bodyPr wrap="square" lIns="0" tIns="0" rIns="0" bIns="0" anchor="t"/>
          <a:lstStyle/>
          <a:p>
            <a:pPr indent="0" marL="0">
              <a:buNone/>
            </a:pPr>
            <a:r>
              <a:rPr lang="en-US" sz="850" i="1" dirty="0">
                <a:solidFill>
                  <a:srgbClr val="595959"/>
                </a:solidFill>
                <a:latin typeface="Arial" pitchFamily="34" charset="0"/>
              </a:rPr>
              <a:t>The pull is keyed by contract ID + FSM job number — one address, a registered query per system; a missed pull loses nothing (tracker, 90 days).</a:t>
            </a:r>
          </a:p>
        </p:txBody>
      </p:sp>
    </p:spTree>
    <p:extLst>
      <p:ext uri="{BB962C8B-B14F-4D97-AF65-F5344CB8AC3E}">
        <p14:creationId xmlns:p14="http://schemas.microsoft.com/office/powerpoint/2010/main" val="2694674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40111-CABB-A7D4-A45C-F5CE7BBEA0D2}"/>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E428F9AB-0A08-DE0E-C860-1985DE5D72E2}"/>
              </a:ext>
            </a:extLst>
          </p:cNvPr>
          <p:cNvSpPr/>
          <p:nvPr/>
        </p:nvSpPr>
        <p:spPr>
          <a:xfrm>
            <a:off x="502919" y="182880"/>
            <a:ext cx="10258283" cy="502920"/>
          </a:xfrm>
          <a:prstGeom prst="rect">
            <a:avLst/>
          </a:prstGeom>
          <a:noFill/>
          <a:ln/>
        </p:spPr>
        <p:txBody>
          <a:bodyPr wrap="square" lIns="0" tIns="0" rIns="0" bIns="0" rtlCol="0" anchor="ctr"/>
          <a:lstStyle/>
          <a:p>
            <a:r>
              <a:rPr lang="en-US" sz="2300" b="1">
                <a:solidFill>
                  <a:srgbClr val="1F3864"/>
                </a:solidFill>
                <a:latin typeface="Arial"/>
                <a:ea typeface="Arial" pitchFamily="34" charset="-122"/>
                <a:cs typeface="Arial"/>
              </a:rPr>
              <a:t>FSM – JAMS WBS Canonical Lifecycle</a:t>
            </a:r>
            <a:endParaRPr lang="en-US" sz="2300">
              <a:latin typeface="Arial"/>
              <a:cs typeface="Arial"/>
            </a:endParaRPr>
          </a:p>
        </p:txBody>
      </p:sp>
      <p:sp>
        <p:nvSpPr>
          <p:cNvPr id="7" name="Text 5">
            <a:extLst>
              <a:ext uri="{FF2B5EF4-FFF2-40B4-BE49-F238E27FC236}">
                <a16:creationId xmlns:a16="http://schemas.microsoft.com/office/drawing/2014/main" id="{8B3DB39D-BD6C-0F7A-2026-FE9C26C9CC6B}"/>
              </a:ext>
            </a:extLst>
          </p:cNvPr>
          <p:cNvSpPr/>
          <p:nvPr/>
        </p:nvSpPr>
        <p:spPr>
          <a:xfrm>
            <a:off x="502920" y="676655"/>
            <a:ext cx="11155680" cy="399059"/>
          </a:xfrm>
          <a:prstGeom prst="rect">
            <a:avLst/>
          </a:prstGeom>
          <a:noFill/>
          <a:ln/>
        </p:spPr>
        <p:txBody>
          <a:bodyPr wrap="square" lIns="0" tIns="0" rIns="0" bIns="0" rtlCol="0" anchor="t"/>
          <a:lstStyle/>
          <a:p>
            <a:pPr marL="0" indent="0">
              <a:buNone/>
            </a:pPr>
            <a:r>
              <a:rPr lang="en-US" sz="1200">
                <a:solidFill>
                  <a:srgbClr val="595959"/>
                </a:solidFill>
                <a:latin typeface="Arial" pitchFamily="34" charset="0"/>
                <a:ea typeface="Arial" pitchFamily="34" charset="-122"/>
                <a:cs typeface="Arial" pitchFamily="34" charset="-120"/>
              </a:rPr>
              <a:t>At creation of the JOB (trigger TBC), JAMS sends Project_WBS; S/4HANA creates the Enterprise Project and its WBS. The canonical response confirms receipt and outcome — document details come from the Step 2 pull.</a:t>
            </a:r>
            <a:endParaRPr lang="en-US" sz="1200"/>
          </a:p>
        </p:txBody>
      </p:sp>
      <p:sp>
        <p:nvSpPr>
          <p:cNvPr id="63" name="Shape 10">
            <a:extLst>
              <a:ext uri="{FF2B5EF4-FFF2-40B4-BE49-F238E27FC236}">
                <a16:creationId xmlns:a16="http://schemas.microsoft.com/office/drawing/2014/main" id="{07F7A6F2-A4B0-75B9-2258-E3B85FDE70B8}"/>
              </a:ext>
            </a:extLst>
          </p:cNvPr>
          <p:cNvSpPr/>
          <p:nvPr/>
        </p:nvSpPr>
        <p:spPr>
          <a:xfrm>
            <a:off x="333153" y="3740564"/>
            <a:ext cx="11525693" cy="2320033"/>
          </a:xfrm>
          <a:prstGeom prst="roundRect">
            <a:avLst>
              <a:gd name="adj" fmla="val 10465"/>
            </a:avLst>
          </a:prstGeom>
          <a:solidFill>
            <a:schemeClr val="bg1"/>
          </a:solidFill>
          <a:ln w="15875">
            <a:noFill/>
            <a:prstDash val="solid"/>
          </a:ln>
        </p:spPr>
        <p:txBody>
          <a:bodyPr/>
          <a:lstStyle/>
          <a:p>
            <a:r>
              <a:rPr lang="en-AU" sz="1600" b="1"/>
              <a:t>Step 2: Retrieval of created Projects/</a:t>
            </a:r>
            <a:r>
              <a:rPr lang="en-AU" sz="1600" b="1" err="1"/>
              <a:t>WBSes</a:t>
            </a:r>
            <a:r>
              <a:rPr lang="en-AU" sz="1600" b="1"/>
              <a:t> in S/4HANA </a:t>
            </a:r>
          </a:p>
        </p:txBody>
      </p:sp>
      <p:sp>
        <p:nvSpPr>
          <p:cNvPr id="64" name="Shape 10">
            <a:extLst>
              <a:ext uri="{FF2B5EF4-FFF2-40B4-BE49-F238E27FC236}">
                <a16:creationId xmlns:a16="http://schemas.microsoft.com/office/drawing/2014/main" id="{E6E8F543-4752-9692-5657-913C717491F1}"/>
              </a:ext>
            </a:extLst>
          </p:cNvPr>
          <p:cNvSpPr/>
          <p:nvPr/>
        </p:nvSpPr>
        <p:spPr>
          <a:xfrm>
            <a:off x="333153" y="973306"/>
            <a:ext cx="11525693" cy="1966168"/>
          </a:xfrm>
          <a:prstGeom prst="roundRect">
            <a:avLst>
              <a:gd name="adj" fmla="val 10465"/>
            </a:avLst>
          </a:prstGeom>
          <a:solidFill>
            <a:schemeClr val="bg1"/>
          </a:solidFill>
          <a:ln w="15875">
            <a:noFill/>
            <a:prstDash val="solid"/>
          </a:ln>
        </p:spPr>
        <p:txBody>
          <a:bodyPr/>
          <a:lstStyle/>
          <a:p>
            <a:r>
              <a:rPr lang="en-AU" sz="1600" b="1"/>
              <a:t>Step 1: </a:t>
            </a:r>
            <a:r>
              <a:rPr lang="en-AU" sz="1600" b="1" err="1"/>
              <a:t>Project_WBS</a:t>
            </a:r>
            <a:r>
              <a:rPr lang="en-AU" sz="1600" b="1"/>
              <a:t> for Creation of Job and Canonical Response</a:t>
            </a:r>
          </a:p>
        </p:txBody>
      </p:sp>
      <p:sp>
        <p:nvSpPr>
          <p:cNvPr id="66" name="Shape 8">
            <a:extLst>
              <a:ext uri="{FF2B5EF4-FFF2-40B4-BE49-F238E27FC236}">
                <a16:creationId xmlns:a16="http://schemas.microsoft.com/office/drawing/2014/main" id="{71284D9C-CCBE-D8FE-611F-BAF47464D7AA}"/>
              </a:ext>
            </a:extLst>
          </p:cNvPr>
          <p:cNvSpPr/>
          <p:nvPr/>
        </p:nvSpPr>
        <p:spPr>
          <a:xfrm>
            <a:off x="761646"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JAMS</a:t>
            </a:r>
          </a:p>
        </p:txBody>
      </p:sp>
      <p:sp>
        <p:nvSpPr>
          <p:cNvPr id="67" name="Rounded Rectangle 66">
            <a:extLst>
              <a:ext uri="{FF2B5EF4-FFF2-40B4-BE49-F238E27FC236}">
                <a16:creationId xmlns:a16="http://schemas.microsoft.com/office/drawing/2014/main" id="{135921EE-A7CE-6E4A-64C9-AD992733634B}"/>
              </a:ext>
            </a:extLst>
          </p:cNvPr>
          <p:cNvSpPr/>
          <p:nvPr/>
        </p:nvSpPr>
        <p:spPr>
          <a:xfrm>
            <a:off x="3437861" y="1407544"/>
            <a:ext cx="4986670"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71" name="Shape 8">
            <a:extLst>
              <a:ext uri="{FF2B5EF4-FFF2-40B4-BE49-F238E27FC236}">
                <a16:creationId xmlns:a16="http://schemas.microsoft.com/office/drawing/2014/main" id="{C0C34612-DA8E-977D-E71D-46613133C200}"/>
              </a:ext>
            </a:extLst>
          </p:cNvPr>
          <p:cNvSpPr/>
          <p:nvPr/>
        </p:nvSpPr>
        <p:spPr>
          <a:xfrm>
            <a:off x="3915882"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1</a:t>
            </a:r>
            <a:r>
              <a:rPr lang="en-AU" sz="1400" b="1" baseline="30000"/>
              <a:t>st</a:t>
            </a:r>
            <a:r>
              <a:rPr lang="en-AU" sz="1400" b="1"/>
              <a:t> Leg Interfaces</a:t>
            </a:r>
          </a:p>
        </p:txBody>
      </p:sp>
      <p:sp>
        <p:nvSpPr>
          <p:cNvPr id="72" name="Shape 8">
            <a:extLst>
              <a:ext uri="{FF2B5EF4-FFF2-40B4-BE49-F238E27FC236}">
                <a16:creationId xmlns:a16="http://schemas.microsoft.com/office/drawing/2014/main" id="{EAFF3EAF-DE22-6890-D215-580005F33CD3}"/>
              </a:ext>
            </a:extLst>
          </p:cNvPr>
          <p:cNvSpPr/>
          <p:nvPr/>
        </p:nvSpPr>
        <p:spPr>
          <a:xfrm>
            <a:off x="6399736"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Canonical Model</a:t>
            </a:r>
          </a:p>
        </p:txBody>
      </p:sp>
      <p:sp>
        <p:nvSpPr>
          <p:cNvPr id="73" name="Shape 26">
            <a:extLst>
              <a:ext uri="{FF2B5EF4-FFF2-40B4-BE49-F238E27FC236}">
                <a16:creationId xmlns:a16="http://schemas.microsoft.com/office/drawing/2014/main" id="{D00DEFED-5ED5-4851-5F51-6181A8246097}"/>
              </a:ext>
            </a:extLst>
          </p:cNvPr>
          <p:cNvSpPr/>
          <p:nvPr/>
        </p:nvSpPr>
        <p:spPr>
          <a:xfrm>
            <a:off x="9553972" y="1807536"/>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cxnSp>
        <p:nvCxnSpPr>
          <p:cNvPr id="74" name="Straight Arrow Connector 73">
            <a:extLst>
              <a:ext uri="{FF2B5EF4-FFF2-40B4-BE49-F238E27FC236}">
                <a16:creationId xmlns:a16="http://schemas.microsoft.com/office/drawing/2014/main" id="{CE6480D8-8C6B-21C6-D7B7-D048E19BDD2E}"/>
              </a:ext>
            </a:extLst>
          </p:cNvPr>
          <p:cNvCxnSpPr/>
          <p:nvPr/>
        </p:nvCxnSpPr>
        <p:spPr>
          <a:xfrm>
            <a:off x="2236382" y="197191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9D83CE9-3817-8790-D52A-D755A00412A8}"/>
              </a:ext>
            </a:extLst>
          </p:cNvPr>
          <p:cNvCxnSpPr>
            <a:cxnSpLocks/>
          </p:cNvCxnSpPr>
          <p:nvPr/>
        </p:nvCxnSpPr>
        <p:spPr>
          <a:xfrm>
            <a:off x="7874472" y="197191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8E8BD4F-B178-2D50-6A09-A397CC8846B5}"/>
              </a:ext>
            </a:extLst>
          </p:cNvPr>
          <p:cNvCxnSpPr>
            <a:cxnSpLocks/>
          </p:cNvCxnSpPr>
          <p:nvPr/>
        </p:nvCxnSpPr>
        <p:spPr>
          <a:xfrm>
            <a:off x="5390618" y="1982546"/>
            <a:ext cx="7053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00F9DFE-D2B5-8C2F-4622-BA0913265AED}"/>
              </a:ext>
            </a:extLst>
          </p:cNvPr>
          <p:cNvCxnSpPr>
            <a:cxnSpLocks/>
          </p:cNvCxnSpPr>
          <p:nvPr/>
        </p:nvCxnSpPr>
        <p:spPr>
          <a:xfrm flipH="1">
            <a:off x="2225749" y="2485820"/>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Shape 8">
            <a:extLst>
              <a:ext uri="{FF2B5EF4-FFF2-40B4-BE49-F238E27FC236}">
                <a16:creationId xmlns:a16="http://schemas.microsoft.com/office/drawing/2014/main" id="{90D8951B-6A21-7B71-3C6A-A74797A5DC58}"/>
              </a:ext>
            </a:extLst>
          </p:cNvPr>
          <p:cNvSpPr/>
          <p:nvPr/>
        </p:nvSpPr>
        <p:spPr>
          <a:xfrm>
            <a:off x="6095998" y="1813446"/>
            <a:ext cx="249855" cy="841965"/>
          </a:xfrm>
          <a:prstGeom prst="roundRect">
            <a:avLst>
              <a:gd name="adj" fmla="val 17621"/>
            </a:avLst>
          </a:prstGeom>
          <a:solidFill>
            <a:srgbClr val="EEF2F8"/>
          </a:solidFill>
          <a:ln w="19050">
            <a:solidFill>
              <a:srgbClr val="1F3864"/>
            </a:solidFill>
            <a:prstDash val="solid"/>
          </a:ln>
        </p:spPr>
        <p:txBody>
          <a:bodyPr vert="vert270" anchor="ctr"/>
          <a:lstStyle/>
          <a:p>
            <a:pPr algn="ctr"/>
            <a:r>
              <a:rPr lang="en-AU" sz="1100" b="1"/>
              <a:t>JMS Queue</a:t>
            </a:r>
          </a:p>
        </p:txBody>
      </p:sp>
      <p:sp>
        <p:nvSpPr>
          <p:cNvPr id="80" name="TextBox 79">
            <a:extLst>
              <a:ext uri="{FF2B5EF4-FFF2-40B4-BE49-F238E27FC236}">
                <a16:creationId xmlns:a16="http://schemas.microsoft.com/office/drawing/2014/main" id="{59A5AFA5-CDE1-1D19-414A-C80862542294}"/>
              </a:ext>
            </a:extLst>
          </p:cNvPr>
          <p:cNvSpPr txBox="1"/>
          <p:nvPr/>
        </p:nvSpPr>
        <p:spPr>
          <a:xfrm>
            <a:off x="2264834" y="2526893"/>
            <a:ext cx="1212112" cy="553998"/>
          </a:xfrm>
          <a:prstGeom prst="rect">
            <a:avLst/>
          </a:prstGeom>
          <a:noFill/>
        </p:spPr>
        <p:txBody>
          <a:bodyPr wrap="square" rtlCol="0">
            <a:spAutoFit/>
          </a:bodyPr>
          <a:lstStyle/>
          <a:p>
            <a:r>
              <a:rPr lang="en-US" sz="1000" b="1" i="1">
                <a:solidFill>
                  <a:schemeClr val="bg1">
                    <a:lumMod val="50000"/>
                  </a:schemeClr>
                </a:solidFill>
              </a:rPr>
              <a:t>Acknowledgement.</a:t>
            </a:r>
            <a:br>
              <a:rPr lang="en-US" sz="1000" i="1">
                <a:solidFill>
                  <a:schemeClr val="bg1">
                    <a:lumMod val="50000"/>
                  </a:schemeClr>
                </a:solidFill>
              </a:rPr>
            </a:br>
            <a:r>
              <a:rPr lang="en-US" sz="1000" i="1">
                <a:solidFill>
                  <a:schemeClr val="bg1">
                    <a:lumMod val="50000"/>
                  </a:schemeClr>
                </a:solidFill>
              </a:rPr>
              <a:t>HTTP Response Code</a:t>
            </a:r>
          </a:p>
        </p:txBody>
      </p:sp>
      <p:sp>
        <p:nvSpPr>
          <p:cNvPr id="81" name="TextBox 80">
            <a:extLst>
              <a:ext uri="{FF2B5EF4-FFF2-40B4-BE49-F238E27FC236}">
                <a16:creationId xmlns:a16="http://schemas.microsoft.com/office/drawing/2014/main" id="{845DDA79-01C7-7D35-64DD-0A0705CF7855}"/>
              </a:ext>
            </a:extLst>
          </p:cNvPr>
          <p:cNvSpPr txBox="1"/>
          <p:nvPr/>
        </p:nvSpPr>
        <p:spPr>
          <a:xfrm>
            <a:off x="2264834" y="1522104"/>
            <a:ext cx="1212112" cy="400110"/>
          </a:xfrm>
          <a:prstGeom prst="rect">
            <a:avLst/>
          </a:prstGeom>
          <a:noFill/>
        </p:spPr>
        <p:txBody>
          <a:bodyPr wrap="square" rtlCol="0">
            <a:spAutoFit/>
          </a:bodyPr>
          <a:lstStyle/>
          <a:p>
            <a:r>
              <a:rPr lang="en-US" sz="1000" b="1" i="1" err="1">
                <a:solidFill>
                  <a:schemeClr val="bg1">
                    <a:lumMod val="50000"/>
                  </a:schemeClr>
                </a:solidFill>
              </a:rPr>
              <a:t>Project_WBS</a:t>
            </a:r>
            <a:br>
              <a:rPr lang="en-US" sz="1000" b="1" i="1">
                <a:solidFill>
                  <a:schemeClr val="bg1">
                    <a:lumMod val="50000"/>
                  </a:schemeClr>
                </a:solidFill>
              </a:rPr>
            </a:br>
            <a:r>
              <a:rPr lang="en-US" sz="1000" i="1">
                <a:solidFill>
                  <a:schemeClr val="bg1">
                    <a:lumMod val="50000"/>
                  </a:schemeClr>
                </a:solidFill>
              </a:rPr>
              <a:t>Outbound JAMS</a:t>
            </a:r>
          </a:p>
        </p:txBody>
      </p:sp>
      <p:sp>
        <p:nvSpPr>
          <p:cNvPr id="82" name="TextBox 81">
            <a:extLst>
              <a:ext uri="{FF2B5EF4-FFF2-40B4-BE49-F238E27FC236}">
                <a16:creationId xmlns:a16="http://schemas.microsoft.com/office/drawing/2014/main" id="{8EBE07E5-3521-46E4-589A-227BD8E0A96A}"/>
              </a:ext>
            </a:extLst>
          </p:cNvPr>
          <p:cNvSpPr txBox="1"/>
          <p:nvPr/>
        </p:nvSpPr>
        <p:spPr>
          <a:xfrm>
            <a:off x="3860117" y="2686108"/>
            <a:ext cx="1623459" cy="553998"/>
          </a:xfrm>
          <a:prstGeom prst="rect">
            <a:avLst/>
          </a:prstGeom>
          <a:noFill/>
        </p:spPr>
        <p:txBody>
          <a:bodyPr wrap="square" rtlCol="0">
            <a:spAutoFit/>
          </a:bodyPr>
          <a:lstStyle/>
          <a:p>
            <a:r>
              <a:rPr lang="en-US" sz="1000" b="1" i="1">
                <a:solidFill>
                  <a:schemeClr val="bg1">
                    <a:lumMod val="50000"/>
                  </a:schemeClr>
                </a:solidFill>
              </a:rPr>
              <a:t>Mapping and Canonical Trigger</a:t>
            </a:r>
          </a:p>
          <a:p>
            <a:r>
              <a:rPr lang="en-US" sz="1000" i="1">
                <a:solidFill>
                  <a:schemeClr val="bg1">
                    <a:lumMod val="50000"/>
                  </a:schemeClr>
                </a:solidFill>
              </a:rPr>
              <a:t>CPI Process to Process call</a:t>
            </a:r>
          </a:p>
        </p:txBody>
      </p:sp>
      <p:sp>
        <p:nvSpPr>
          <p:cNvPr id="83" name="TextBox 82">
            <a:extLst>
              <a:ext uri="{FF2B5EF4-FFF2-40B4-BE49-F238E27FC236}">
                <a16:creationId xmlns:a16="http://schemas.microsoft.com/office/drawing/2014/main" id="{CC3E88FD-CBA8-9719-B393-4D7555A5085F}"/>
              </a:ext>
            </a:extLst>
          </p:cNvPr>
          <p:cNvSpPr txBox="1"/>
          <p:nvPr/>
        </p:nvSpPr>
        <p:spPr>
          <a:xfrm>
            <a:off x="8353267" y="1582436"/>
            <a:ext cx="1293540" cy="400110"/>
          </a:xfrm>
          <a:prstGeom prst="rect">
            <a:avLst/>
          </a:prstGeom>
          <a:noFill/>
        </p:spPr>
        <p:txBody>
          <a:bodyPr wrap="square" rtlCol="0">
            <a:spAutoFit/>
          </a:bodyPr>
          <a:lstStyle/>
          <a:p>
            <a:r>
              <a:rPr lang="en-US" sz="1000" b="1" i="1">
                <a:solidFill>
                  <a:schemeClr val="bg1">
                    <a:lumMod val="50000"/>
                  </a:schemeClr>
                </a:solidFill>
              </a:rPr>
              <a:t>S/4HANA API Call</a:t>
            </a:r>
          </a:p>
          <a:p>
            <a:r>
              <a:rPr lang="en-US" sz="1000" i="1" err="1">
                <a:solidFill>
                  <a:schemeClr val="bg1">
                    <a:lumMod val="50000"/>
                  </a:schemeClr>
                </a:solidFill>
              </a:rPr>
              <a:t>A_EnterpriseProjects</a:t>
            </a:r>
            <a:endParaRPr lang="en-US" sz="1000" i="1">
              <a:solidFill>
                <a:schemeClr val="bg1">
                  <a:lumMod val="50000"/>
                </a:schemeClr>
              </a:solidFill>
            </a:endParaRPr>
          </a:p>
        </p:txBody>
      </p:sp>
      <p:sp>
        <p:nvSpPr>
          <p:cNvPr id="85" name="Shape 8">
            <a:extLst>
              <a:ext uri="{FF2B5EF4-FFF2-40B4-BE49-F238E27FC236}">
                <a16:creationId xmlns:a16="http://schemas.microsoft.com/office/drawing/2014/main" id="{116CA344-D1DC-F66D-AB1D-2A7F5116908F}"/>
              </a:ext>
            </a:extLst>
          </p:cNvPr>
          <p:cNvSpPr/>
          <p:nvPr/>
        </p:nvSpPr>
        <p:spPr>
          <a:xfrm>
            <a:off x="6399736" y="2894674"/>
            <a:ext cx="1474736" cy="237029"/>
          </a:xfrm>
          <a:prstGeom prst="roundRect">
            <a:avLst>
              <a:gd name="adj" fmla="val 17621"/>
            </a:avLst>
          </a:prstGeom>
          <a:solidFill>
            <a:srgbClr val="EEF2F8"/>
          </a:solidFill>
          <a:ln w="19050">
            <a:solidFill>
              <a:srgbClr val="1F3864"/>
            </a:solidFill>
            <a:prstDash val="solid"/>
          </a:ln>
        </p:spPr>
        <p:txBody>
          <a:bodyPr anchor="ctr"/>
          <a:lstStyle/>
          <a:p>
            <a:pPr algn="ctr"/>
            <a:r>
              <a:rPr lang="en-AU" sz="1100" b="1"/>
              <a:t>Exception Subprocess</a:t>
            </a:r>
          </a:p>
        </p:txBody>
      </p:sp>
      <p:sp>
        <p:nvSpPr>
          <p:cNvPr id="86" name="TextBox 85">
            <a:extLst>
              <a:ext uri="{FF2B5EF4-FFF2-40B4-BE49-F238E27FC236}">
                <a16:creationId xmlns:a16="http://schemas.microsoft.com/office/drawing/2014/main" id="{1D162BE0-DB5C-B9C8-1F7B-45595BF258DA}"/>
              </a:ext>
            </a:extLst>
          </p:cNvPr>
          <p:cNvSpPr txBox="1"/>
          <p:nvPr/>
        </p:nvSpPr>
        <p:spPr>
          <a:xfrm>
            <a:off x="6748452" y="2647235"/>
            <a:ext cx="1619025" cy="246221"/>
          </a:xfrm>
          <a:prstGeom prst="rect">
            <a:avLst/>
          </a:prstGeom>
          <a:noFill/>
        </p:spPr>
        <p:txBody>
          <a:bodyPr wrap="square" rtlCol="0">
            <a:spAutoFit/>
          </a:bodyPr>
          <a:lstStyle/>
          <a:p>
            <a:r>
              <a:rPr lang="en-US" sz="1000" b="1" i="1">
                <a:solidFill>
                  <a:schemeClr val="bg1">
                    <a:lumMod val="50000"/>
                  </a:schemeClr>
                </a:solidFill>
              </a:rPr>
              <a:t>Canonical Error Logging</a:t>
            </a:r>
          </a:p>
        </p:txBody>
      </p:sp>
      <p:sp>
        <p:nvSpPr>
          <p:cNvPr id="87" name="Shape 26">
            <a:extLst>
              <a:ext uri="{FF2B5EF4-FFF2-40B4-BE49-F238E27FC236}">
                <a16:creationId xmlns:a16="http://schemas.microsoft.com/office/drawing/2014/main" id="{4BDA93AC-488F-AFDF-5D92-4DFC630494C5}"/>
              </a:ext>
            </a:extLst>
          </p:cNvPr>
          <p:cNvSpPr/>
          <p:nvPr/>
        </p:nvSpPr>
        <p:spPr>
          <a:xfrm>
            <a:off x="9549512" y="4738383"/>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sp>
        <p:nvSpPr>
          <p:cNvPr id="88" name="Rounded Rectangle 87">
            <a:extLst>
              <a:ext uri="{FF2B5EF4-FFF2-40B4-BE49-F238E27FC236}">
                <a16:creationId xmlns:a16="http://schemas.microsoft.com/office/drawing/2014/main" id="{4979ACED-8607-317F-BF9B-FCB211433910}"/>
              </a:ext>
            </a:extLst>
          </p:cNvPr>
          <p:cNvSpPr/>
          <p:nvPr/>
        </p:nvSpPr>
        <p:spPr>
          <a:xfrm>
            <a:off x="4063713" y="4303001"/>
            <a:ext cx="3647835"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89" name="Shape 8">
            <a:extLst>
              <a:ext uri="{FF2B5EF4-FFF2-40B4-BE49-F238E27FC236}">
                <a16:creationId xmlns:a16="http://schemas.microsoft.com/office/drawing/2014/main" id="{5640CCFF-69A8-1C94-E69E-BD4CCE724D35}"/>
              </a:ext>
            </a:extLst>
          </p:cNvPr>
          <p:cNvSpPr/>
          <p:nvPr/>
        </p:nvSpPr>
        <p:spPr>
          <a:xfrm>
            <a:off x="4162944" y="5031065"/>
            <a:ext cx="3269003" cy="136687"/>
          </a:xfrm>
          <a:prstGeom prst="roundRect">
            <a:avLst>
              <a:gd name="adj" fmla="val 17621"/>
            </a:avLst>
          </a:prstGeom>
          <a:solidFill>
            <a:srgbClr val="EEF2F8"/>
          </a:solidFill>
          <a:ln w="19050">
            <a:solidFill>
              <a:srgbClr val="1F3864"/>
            </a:solidFill>
            <a:prstDash val="solid"/>
          </a:ln>
        </p:spPr>
        <p:txBody>
          <a:bodyPr anchor="ctr"/>
          <a:lstStyle/>
          <a:p>
            <a:pPr algn="ctr"/>
            <a:r>
              <a:rPr lang="en-AU" sz="1100"/>
              <a:t>Enterprise Project List</a:t>
            </a:r>
          </a:p>
        </p:txBody>
      </p:sp>
      <p:sp>
        <p:nvSpPr>
          <p:cNvPr id="90" name="Shape 8">
            <a:extLst>
              <a:ext uri="{FF2B5EF4-FFF2-40B4-BE49-F238E27FC236}">
                <a16:creationId xmlns:a16="http://schemas.microsoft.com/office/drawing/2014/main" id="{7233D9DB-361B-6DC7-F907-2F7E5D1CB1E8}"/>
              </a:ext>
            </a:extLst>
          </p:cNvPr>
          <p:cNvSpPr/>
          <p:nvPr/>
        </p:nvSpPr>
        <p:spPr>
          <a:xfrm>
            <a:off x="751013" y="4816871"/>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JAMS</a:t>
            </a:r>
          </a:p>
        </p:txBody>
      </p:sp>
      <p:cxnSp>
        <p:nvCxnSpPr>
          <p:cNvPr id="91" name="Straight Arrow Connector 90">
            <a:extLst>
              <a:ext uri="{FF2B5EF4-FFF2-40B4-BE49-F238E27FC236}">
                <a16:creationId xmlns:a16="http://schemas.microsoft.com/office/drawing/2014/main" id="{24747EFF-3174-7B55-05F9-4F99543B5249}"/>
              </a:ext>
            </a:extLst>
          </p:cNvPr>
          <p:cNvCxnSpPr>
            <a:cxnSpLocks/>
          </p:cNvCxnSpPr>
          <p:nvPr/>
        </p:nvCxnSpPr>
        <p:spPr>
          <a:xfrm>
            <a:off x="2236382" y="5042135"/>
            <a:ext cx="18273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28AE0277-E164-D7AE-F20A-FC1415CC5B1F}"/>
              </a:ext>
            </a:extLst>
          </p:cNvPr>
          <p:cNvSpPr txBox="1"/>
          <p:nvPr/>
        </p:nvSpPr>
        <p:spPr>
          <a:xfrm>
            <a:off x="2254201" y="4417448"/>
            <a:ext cx="1798879" cy="569387"/>
          </a:xfrm>
          <a:prstGeom prst="rect">
            <a:avLst/>
          </a:prstGeom>
          <a:noFill/>
        </p:spPr>
        <p:txBody>
          <a:bodyPr wrap="square" rtlCol="0">
            <a:spAutoFit/>
          </a:bodyPr>
          <a:lstStyle/>
          <a:p>
            <a:r>
              <a:rPr lang="en-US" sz="1000" b="1" i="1">
                <a:solidFill>
                  <a:schemeClr val="bg1">
                    <a:lumMod val="50000"/>
                  </a:schemeClr>
                </a:solidFill>
              </a:rPr>
              <a:t>GET Call to Enterprise Projects</a:t>
            </a:r>
            <a:br>
              <a:rPr lang="en-US" sz="1000" b="1" i="1">
                <a:solidFill>
                  <a:schemeClr val="bg1">
                    <a:lumMod val="50000"/>
                  </a:schemeClr>
                </a:solidFill>
              </a:rPr>
            </a:br>
            <a:r>
              <a:rPr lang="en-AU" sz="1050"/>
              <a:t>/</a:t>
            </a:r>
            <a:r>
              <a:rPr lang="en-AU" sz="1050" err="1"/>
              <a:t>enterpriseprojects</a:t>
            </a:r>
            <a:r>
              <a:rPr lang="en-AU" sz="500" err="1"/>
              <a:t>?</a:t>
            </a:r>
            <a:r>
              <a:rPr lang="en-AU" sz="1050" err="1"/>
              <a:t>system</a:t>
            </a:r>
            <a:r>
              <a:rPr lang="en-AU" sz="1050"/>
              <a:t>=JAMS&amp;contract=CCR-145…</a:t>
            </a:r>
            <a:endParaRPr lang="en-US" sz="1000" i="1">
              <a:solidFill>
                <a:schemeClr val="bg1">
                  <a:lumMod val="50000"/>
                </a:schemeClr>
              </a:solidFill>
            </a:endParaRPr>
          </a:p>
        </p:txBody>
      </p:sp>
      <p:cxnSp>
        <p:nvCxnSpPr>
          <p:cNvPr id="93" name="Straight Arrow Connector 92">
            <a:extLst>
              <a:ext uri="{FF2B5EF4-FFF2-40B4-BE49-F238E27FC236}">
                <a16:creationId xmlns:a16="http://schemas.microsoft.com/office/drawing/2014/main" id="{C62B78B9-717C-4EC4-093A-DE1E9F881740}"/>
              </a:ext>
            </a:extLst>
          </p:cNvPr>
          <p:cNvCxnSpPr>
            <a:cxnSpLocks/>
          </p:cNvCxnSpPr>
          <p:nvPr/>
        </p:nvCxnSpPr>
        <p:spPr>
          <a:xfrm>
            <a:off x="7711548" y="5013437"/>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4FB39A18-4485-895B-E7B0-0CF783A6002E}"/>
              </a:ext>
            </a:extLst>
          </p:cNvPr>
          <p:cNvSpPr txBox="1"/>
          <p:nvPr/>
        </p:nvSpPr>
        <p:spPr>
          <a:xfrm>
            <a:off x="7763988" y="4289822"/>
            <a:ext cx="1737543" cy="400110"/>
          </a:xfrm>
          <a:prstGeom prst="rect">
            <a:avLst/>
          </a:prstGeom>
          <a:noFill/>
        </p:spPr>
        <p:txBody>
          <a:bodyPr wrap="square" rtlCol="0">
            <a:spAutoFit/>
          </a:bodyPr>
          <a:lstStyle/>
          <a:p>
            <a:r>
              <a:rPr lang="en-US" sz="1000" b="1" i="1">
                <a:solidFill>
                  <a:schemeClr val="bg1">
                    <a:lumMod val="50000"/>
                  </a:schemeClr>
                </a:solidFill>
              </a:rPr>
              <a:t>S/4HANA API Call</a:t>
            </a:r>
            <a:br>
              <a:rPr lang="en-US" sz="1000" b="1" i="1">
                <a:solidFill>
                  <a:schemeClr val="bg1">
                    <a:lumMod val="50000"/>
                  </a:schemeClr>
                </a:solidFill>
              </a:rPr>
            </a:br>
            <a:r>
              <a:rPr lang="en-US" sz="1000" i="1">
                <a:solidFill>
                  <a:schemeClr val="bg1">
                    <a:lumMod val="50000"/>
                  </a:schemeClr>
                </a:solidFill>
              </a:rPr>
              <a:t>/</a:t>
            </a:r>
            <a:r>
              <a:rPr lang="en-US" sz="1000" i="1" err="1">
                <a:solidFill>
                  <a:schemeClr val="bg1">
                    <a:lumMod val="50000"/>
                  </a:schemeClr>
                </a:solidFill>
              </a:rPr>
              <a:t>A_EnterpriseProject</a:t>
            </a:r>
            <a:r>
              <a:rPr lang="en-US" sz="1000" i="1">
                <a:solidFill>
                  <a:schemeClr val="bg1">
                    <a:lumMod val="50000"/>
                  </a:schemeClr>
                </a:solidFill>
              </a:rPr>
              <a:t>/….</a:t>
            </a:r>
          </a:p>
        </p:txBody>
      </p:sp>
      <p:cxnSp>
        <p:nvCxnSpPr>
          <p:cNvPr id="95" name="Straight Arrow Connector 94">
            <a:extLst>
              <a:ext uri="{FF2B5EF4-FFF2-40B4-BE49-F238E27FC236}">
                <a16:creationId xmlns:a16="http://schemas.microsoft.com/office/drawing/2014/main" id="{F6692B6A-A0B9-A154-A2F6-25AA3A8063F5}"/>
              </a:ext>
            </a:extLst>
          </p:cNvPr>
          <p:cNvCxnSpPr>
            <a:cxnSpLocks/>
          </p:cNvCxnSpPr>
          <p:nvPr/>
        </p:nvCxnSpPr>
        <p:spPr>
          <a:xfrm flipH="1">
            <a:off x="7711548" y="5384830"/>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6132993A-B2E9-73F2-F901-4B186D46729F}"/>
              </a:ext>
            </a:extLst>
          </p:cNvPr>
          <p:cNvCxnSpPr>
            <a:cxnSpLocks/>
          </p:cNvCxnSpPr>
          <p:nvPr/>
        </p:nvCxnSpPr>
        <p:spPr>
          <a:xfrm flipH="1">
            <a:off x="2225749" y="5456034"/>
            <a:ext cx="18379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CC7675C9-0E10-512A-5018-9253B7F0B1D9}"/>
              </a:ext>
            </a:extLst>
          </p:cNvPr>
          <p:cNvSpPr txBox="1"/>
          <p:nvPr/>
        </p:nvSpPr>
        <p:spPr>
          <a:xfrm>
            <a:off x="7763987" y="5485662"/>
            <a:ext cx="1737543" cy="400110"/>
          </a:xfrm>
          <a:prstGeom prst="rect">
            <a:avLst/>
          </a:prstGeom>
          <a:noFill/>
        </p:spPr>
        <p:txBody>
          <a:bodyPr wrap="square" rtlCol="0">
            <a:spAutoFit/>
          </a:bodyPr>
          <a:lstStyle/>
          <a:p>
            <a:r>
              <a:rPr lang="en-US" sz="1000" b="1" i="1">
                <a:solidFill>
                  <a:schemeClr val="bg1">
                    <a:lumMod val="50000"/>
                  </a:schemeClr>
                </a:solidFill>
              </a:rPr>
              <a:t>S/4HANA API Response</a:t>
            </a:r>
            <a:br>
              <a:rPr lang="en-US" sz="1000" b="1" i="1">
                <a:solidFill>
                  <a:schemeClr val="bg1">
                    <a:lumMod val="50000"/>
                  </a:schemeClr>
                </a:solidFill>
              </a:rPr>
            </a:br>
            <a:r>
              <a:rPr lang="en-US" sz="1000" i="1">
                <a:solidFill>
                  <a:schemeClr val="bg1">
                    <a:lumMod val="50000"/>
                  </a:schemeClr>
                </a:solidFill>
              </a:rPr>
              <a:t>Standard API Payload</a:t>
            </a:r>
          </a:p>
        </p:txBody>
      </p:sp>
      <p:sp>
        <p:nvSpPr>
          <p:cNvPr id="103" name="TextBox 102">
            <a:extLst>
              <a:ext uri="{FF2B5EF4-FFF2-40B4-BE49-F238E27FC236}">
                <a16:creationId xmlns:a16="http://schemas.microsoft.com/office/drawing/2014/main" id="{D0826A1A-428E-5DE5-D2F0-201E16EC2DB8}"/>
              </a:ext>
            </a:extLst>
          </p:cNvPr>
          <p:cNvSpPr txBox="1"/>
          <p:nvPr/>
        </p:nvSpPr>
        <p:spPr>
          <a:xfrm>
            <a:off x="2273731" y="5518622"/>
            <a:ext cx="1737543" cy="400110"/>
          </a:xfrm>
          <a:prstGeom prst="rect">
            <a:avLst/>
          </a:prstGeom>
          <a:noFill/>
        </p:spPr>
        <p:txBody>
          <a:bodyPr wrap="square" rtlCol="0">
            <a:spAutoFit/>
          </a:bodyPr>
          <a:lstStyle/>
          <a:p>
            <a:r>
              <a:rPr lang="en-US" sz="1000" b="1" i="1">
                <a:solidFill>
                  <a:schemeClr val="bg1">
                    <a:lumMod val="50000"/>
                  </a:schemeClr>
                </a:solidFill>
              </a:rPr>
              <a:t>Response Message</a:t>
            </a:r>
            <a:br>
              <a:rPr lang="en-US" sz="1000" b="1" i="1">
                <a:solidFill>
                  <a:schemeClr val="bg1">
                    <a:lumMod val="50000"/>
                  </a:schemeClr>
                </a:solidFill>
              </a:rPr>
            </a:br>
            <a:r>
              <a:rPr lang="en-US" sz="1000" i="1">
                <a:solidFill>
                  <a:schemeClr val="bg1">
                    <a:lumMod val="50000"/>
                  </a:schemeClr>
                </a:solidFill>
              </a:rPr>
              <a:t>Standard API Payload</a:t>
            </a:r>
          </a:p>
        </p:txBody>
      </p:sp>
      <p:cxnSp>
        <p:nvCxnSpPr>
          <p:cNvPr id="104" name="Straight Arrow Connector 103">
            <a:extLst>
              <a:ext uri="{FF2B5EF4-FFF2-40B4-BE49-F238E27FC236}">
                <a16:creationId xmlns:a16="http://schemas.microsoft.com/office/drawing/2014/main" id="{3B2754E7-07CA-67B8-E75A-6A3DD79B8881}"/>
              </a:ext>
            </a:extLst>
          </p:cNvPr>
          <p:cNvCxnSpPr>
            <a:cxnSpLocks/>
          </p:cNvCxnSpPr>
          <p:nvPr/>
        </p:nvCxnSpPr>
        <p:spPr>
          <a:xfrm>
            <a:off x="6729024" y="2656922"/>
            <a:ext cx="0" cy="236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105">
            <a:extLst>
              <a:ext uri="{FF2B5EF4-FFF2-40B4-BE49-F238E27FC236}">
                <a16:creationId xmlns:a16="http://schemas.microsoft.com/office/drawing/2014/main" id="{351E3097-D6C3-35AE-C487-B5C31C51DCCB}"/>
              </a:ext>
            </a:extLst>
          </p:cNvPr>
          <p:cNvCxnSpPr>
            <a:cxnSpLocks/>
            <a:stCxn id="73" idx="3"/>
          </p:cNvCxnSpPr>
          <p:nvPr/>
        </p:nvCxnSpPr>
        <p:spPr>
          <a:xfrm flipV="1">
            <a:off x="11153109" y="1552789"/>
            <a:ext cx="277245" cy="68004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Snip Single Corner of Rectangle 106">
            <a:extLst>
              <a:ext uri="{FF2B5EF4-FFF2-40B4-BE49-F238E27FC236}">
                <a16:creationId xmlns:a16="http://schemas.microsoft.com/office/drawing/2014/main" id="{59B684AC-FA69-1AC3-972A-B67F21E0A7B6}"/>
              </a:ext>
            </a:extLst>
          </p:cNvPr>
          <p:cNvSpPr/>
          <p:nvPr/>
        </p:nvSpPr>
        <p:spPr>
          <a:xfrm>
            <a:off x="10174916" y="1121124"/>
            <a:ext cx="1869599" cy="196276"/>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Enterprise Project Created</a:t>
            </a:r>
          </a:p>
        </p:txBody>
      </p:sp>
      <p:sp>
        <p:nvSpPr>
          <p:cNvPr id="111" name="Snip Single Corner of Rectangle 110">
            <a:extLst>
              <a:ext uri="{FF2B5EF4-FFF2-40B4-BE49-F238E27FC236}">
                <a16:creationId xmlns:a16="http://schemas.microsoft.com/office/drawing/2014/main" id="{3B94F5BF-D18B-3F29-0B83-C57E6EEAED19}"/>
              </a:ext>
            </a:extLst>
          </p:cNvPr>
          <p:cNvSpPr/>
          <p:nvPr/>
        </p:nvSpPr>
        <p:spPr>
          <a:xfrm>
            <a:off x="10174916" y="1356513"/>
            <a:ext cx="1869599" cy="196276"/>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Enterprise Project Created</a:t>
            </a:r>
          </a:p>
        </p:txBody>
      </p:sp>
      <p:cxnSp>
        <p:nvCxnSpPr>
          <p:cNvPr id="113" name="Elbow Connector 112">
            <a:extLst>
              <a:ext uri="{FF2B5EF4-FFF2-40B4-BE49-F238E27FC236}">
                <a16:creationId xmlns:a16="http://schemas.microsoft.com/office/drawing/2014/main" id="{151B534D-401B-EEF3-2539-84D740AB4875}"/>
              </a:ext>
            </a:extLst>
          </p:cNvPr>
          <p:cNvCxnSpPr>
            <a:cxnSpLocks/>
            <a:stCxn id="73" idx="3"/>
          </p:cNvCxnSpPr>
          <p:nvPr/>
        </p:nvCxnSpPr>
        <p:spPr>
          <a:xfrm>
            <a:off x="11153109" y="2232838"/>
            <a:ext cx="277245" cy="7828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Snip Single Corner of Rectangle 115">
            <a:extLst>
              <a:ext uri="{FF2B5EF4-FFF2-40B4-BE49-F238E27FC236}">
                <a16:creationId xmlns:a16="http://schemas.microsoft.com/office/drawing/2014/main" id="{E01FE335-2D25-F3E6-788F-A1D6C74BF494}"/>
              </a:ext>
            </a:extLst>
          </p:cNvPr>
          <p:cNvSpPr/>
          <p:nvPr/>
        </p:nvSpPr>
        <p:spPr>
          <a:xfrm>
            <a:off x="10174915" y="3047817"/>
            <a:ext cx="1869599" cy="196276"/>
          </a:xfrm>
          <a:prstGeom prst="snip1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Enterprise Project Errored</a:t>
            </a:r>
          </a:p>
        </p:txBody>
      </p:sp>
      <p:cxnSp>
        <p:nvCxnSpPr>
          <p:cNvPr id="120" name="Straight Arrow Connector 119">
            <a:extLst>
              <a:ext uri="{FF2B5EF4-FFF2-40B4-BE49-F238E27FC236}">
                <a16:creationId xmlns:a16="http://schemas.microsoft.com/office/drawing/2014/main" id="{506EF5EC-8D89-1B52-347A-61DB909A3642}"/>
              </a:ext>
            </a:extLst>
          </p:cNvPr>
          <p:cNvCxnSpPr>
            <a:stCxn id="85" idx="2"/>
            <a:endCxn id="118" idx="0"/>
          </p:cNvCxnSpPr>
          <p:nvPr/>
        </p:nvCxnSpPr>
        <p:spPr>
          <a:xfrm>
            <a:off x="7137104" y="3131703"/>
            <a:ext cx="0" cy="3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Elbow Connector 122">
            <a:extLst>
              <a:ext uri="{FF2B5EF4-FFF2-40B4-BE49-F238E27FC236}">
                <a16:creationId xmlns:a16="http://schemas.microsoft.com/office/drawing/2014/main" id="{B0F00DD4-8D85-2C81-D17D-7EEA1FFC90CB}"/>
              </a:ext>
            </a:extLst>
          </p:cNvPr>
          <p:cNvCxnSpPr>
            <a:stCxn id="107" idx="2"/>
            <a:endCxn id="72" idx="0"/>
          </p:cNvCxnSpPr>
          <p:nvPr/>
        </p:nvCxnSpPr>
        <p:spPr>
          <a:xfrm rot="10800000" flipV="1">
            <a:off x="7137104" y="1219262"/>
            <a:ext cx="3037812" cy="58827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8668CBCC-07FE-F0FB-97C3-1231DFFF2CBE}"/>
              </a:ext>
            </a:extLst>
          </p:cNvPr>
          <p:cNvCxnSpPr>
            <a:cxnSpLocks/>
            <a:stCxn id="116" idx="2"/>
          </p:cNvCxnSpPr>
          <p:nvPr/>
        </p:nvCxnSpPr>
        <p:spPr>
          <a:xfrm rot="10800000">
            <a:off x="7874473" y="2234687"/>
            <a:ext cx="2300443" cy="911269"/>
          </a:xfrm>
          <a:prstGeom prst="bentConnector3">
            <a:avLst>
              <a:gd name="adj1" fmla="val 69173"/>
            </a:avLst>
          </a:prstGeom>
          <a:ln>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7F49CF00-5BD6-E61F-7C60-2E82F40AC276}"/>
              </a:ext>
            </a:extLst>
          </p:cNvPr>
          <p:cNvSpPr txBox="1"/>
          <p:nvPr/>
        </p:nvSpPr>
        <p:spPr>
          <a:xfrm>
            <a:off x="8632758" y="3179633"/>
            <a:ext cx="1510995" cy="400110"/>
          </a:xfrm>
          <a:prstGeom prst="rect">
            <a:avLst/>
          </a:prstGeom>
          <a:noFill/>
        </p:spPr>
        <p:txBody>
          <a:bodyPr wrap="square" rtlCol="0">
            <a:spAutoFit/>
          </a:bodyPr>
          <a:lstStyle/>
          <a:p>
            <a:r>
              <a:rPr lang="en-US" sz="1000" b="1" i="1">
                <a:solidFill>
                  <a:schemeClr val="bg1">
                    <a:lumMod val="50000"/>
                  </a:schemeClr>
                </a:solidFill>
              </a:rPr>
              <a:t>Error Documents</a:t>
            </a:r>
          </a:p>
          <a:p>
            <a:r>
              <a:rPr lang="en-US" sz="1000" i="1">
                <a:solidFill>
                  <a:schemeClr val="bg1">
                    <a:lumMod val="50000"/>
                  </a:schemeClr>
                </a:solidFill>
              </a:rPr>
              <a:t>API Response and Owner</a:t>
            </a:r>
          </a:p>
        </p:txBody>
      </p:sp>
      <p:sp>
        <p:nvSpPr>
          <p:cNvPr id="129" name="TextBox 128">
            <a:extLst>
              <a:ext uri="{FF2B5EF4-FFF2-40B4-BE49-F238E27FC236}">
                <a16:creationId xmlns:a16="http://schemas.microsoft.com/office/drawing/2014/main" id="{694000A4-C915-6E16-0D32-5452DBA6F56F}"/>
              </a:ext>
            </a:extLst>
          </p:cNvPr>
          <p:cNvSpPr txBox="1"/>
          <p:nvPr/>
        </p:nvSpPr>
        <p:spPr>
          <a:xfrm>
            <a:off x="7137104" y="825322"/>
            <a:ext cx="1869599" cy="400110"/>
          </a:xfrm>
          <a:prstGeom prst="rect">
            <a:avLst/>
          </a:prstGeom>
          <a:noFill/>
        </p:spPr>
        <p:txBody>
          <a:bodyPr wrap="square" rtlCol="0">
            <a:spAutoFit/>
          </a:bodyPr>
          <a:lstStyle/>
          <a:p>
            <a:r>
              <a:rPr lang="en-US" sz="1000" b="1" i="1">
                <a:solidFill>
                  <a:schemeClr val="bg1">
                    <a:lumMod val="50000"/>
                  </a:schemeClr>
                </a:solidFill>
              </a:rPr>
              <a:t>Success Documents</a:t>
            </a:r>
          </a:p>
          <a:p>
            <a:r>
              <a:rPr lang="en-US" sz="1000" i="1">
                <a:solidFill>
                  <a:schemeClr val="bg1">
                    <a:lumMod val="50000"/>
                  </a:schemeClr>
                </a:solidFill>
              </a:rPr>
              <a:t>API Response and Document</a:t>
            </a:r>
          </a:p>
        </p:txBody>
      </p:sp>
      <p:sp>
        <p:nvSpPr>
          <p:cNvPr id="9601" name="Chip9601"/>
          <p:cNvSpPr/>
          <p:nvPr/>
        </p:nvSpPr>
        <p:spPr>
          <a:xfrm>
            <a:off x="350873" y="3405000"/>
            <a:ext cx="5480000" cy="300000"/>
          </a:xfrm>
          <a:prstGeom prst="roundRect">
            <a:avLst>
              <a:gd name="adj" fmla="val 12000"/>
            </a:avLst>
          </a:prstGeom>
          <a:solidFill>
            <a:srgbClr val="FDF6E3"/>
          </a:solidFill>
          <a:ln w="9525">
            <a:solidFill>
              <a:srgbClr val="9C6A00"/>
            </a:solidFill>
          </a:ln>
        </p:spPr>
        <p:txBody>
          <a:bodyPr wrap="square" lIns="72000" tIns="18000" rIns="72000" bIns="18000" anchor="ctr"/>
          <a:lstStyle/>
          <a:p>
            <a:pPr indent="0" marL="0">
              <a:buNone/>
            </a:pPr>
            <a:r>
              <a:rPr lang="en-US" sz="720" b="1" dirty="0">
                <a:solidFill>
                  <a:srgbClr val="9C6A00"/>
                </a:solidFill>
                <a:latin typeface="Arial" pitchFamily="34" charset="0"/>
              </a:rPr>
              <a:t>Business / data error:  </a:t>
            </a:r>
            <a:r>
              <a:rPr lang="en-US" sz="720" dirty="0">
                <a:solidFill>
                  <a:srgbClr val="444444"/>
                </a:solidFill>
                <a:latin typeface="Arial" pitchFamily="34" charset="0"/>
              </a:rPr>
              <a:t>email to the business area mailbox (cc technical) → analysed and fixed in JAMS, resent with a new ID — no ticket.</a:t>
            </a:r>
          </a:p>
        </p:txBody>
      </p:sp>
      <p:sp>
        <p:nvSpPr>
          <p:cNvPr id="9602" name="Chip9602"/>
          <p:cNvSpPr/>
          <p:nvPr/>
        </p:nvSpPr>
        <p:spPr>
          <a:xfrm>
            <a:off x="5950000" y="3405000"/>
            <a:ext cx="5926566" cy="300000"/>
          </a:xfrm>
          <a:prstGeom prst="roundRect">
            <a:avLst>
              <a:gd name="adj" fmla="val 12000"/>
            </a:avLst>
          </a:prstGeom>
          <a:solidFill>
            <a:srgbClr val="EEF2F8"/>
          </a:solidFill>
          <a:ln w="9525">
            <a:solidFill>
              <a:srgbClr val="1F3864"/>
            </a:solidFill>
          </a:ln>
        </p:spPr>
        <p:txBody>
          <a:bodyPr wrap="square" lIns="72000" tIns="18000" rIns="72000" bIns="18000" anchor="ctr"/>
          <a:lstStyle/>
          <a:p>
            <a:pPr indent="0" marL="0">
              <a:buNone/>
            </a:pPr>
            <a:r>
              <a:rPr lang="en-US" sz="720" b="1" dirty="0">
                <a:solidFill>
                  <a:srgbClr val="1F3864"/>
                </a:solidFill>
                <a:latin typeface="Arial" pitchFamily="34" charset="0"/>
              </a:rPr>
              <a:t>Technical or S/4-side:  </a:t>
            </a:r>
            <a:r>
              <a:rPr lang="en-US" sz="720" dirty="0">
                <a:solidFill>
                  <a:srgbClr val="444444"/>
                </a:solidFill>
                <a:latin typeface="Arial" pitchFamily="34" charset="0"/>
              </a:rPr>
              <a:t>email to the technical mailbox + automatic ServiceNow ticket (production) → analysed and fixed in CPI / S/4, replayed — JAMS does nothing.</a:t>
            </a:r>
          </a:p>
        </p:txBody>
      </p:sp>
    </p:spTree>
    <p:extLst>
      <p:ext uri="{BB962C8B-B14F-4D97-AF65-F5344CB8AC3E}">
        <p14:creationId xmlns:p14="http://schemas.microsoft.com/office/powerpoint/2010/main" val="3033675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3" name="Text 1"/>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endParaRPr lang="en-US" sz="1000" dirty="0"/>
          </a:p>
        </p:txBody>
      </p:sp>
      <p:sp>
        <p:nvSpPr>
          <p:cNvPr id="4" name="Text 2"/>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FSM - Canonical request and response — end to end</a:t>
            </a:r>
            <a:endParaRPr lang="en-US" sz="2300" dirty="0"/>
          </a:p>
        </p:txBody>
      </p:sp>
      <p:sp>
        <p:nvSpPr>
          <p:cNvPr id="5" name="Shape 3"/>
          <p:cNvSpPr/>
          <p:nvPr/>
        </p:nvSpPr>
        <p:spPr>
          <a:xfrm>
            <a:off x="9916668" y="201168"/>
            <a:ext cx="1175004" cy="274320"/>
          </a:xfrm>
          <a:prstGeom prst="roundRect">
            <a:avLst>
              <a:gd name="adj" fmla="val 40000"/>
            </a:avLst>
          </a:prstGeom>
          <a:solidFill>
            <a:srgbClr val="E1F5EE"/>
          </a:solidFill>
          <a:ln w="12700">
            <a:solidFill>
              <a:srgbClr val="0F6E56"/>
            </a:solidFill>
            <a:prstDash val="solid"/>
          </a:ln>
        </p:spPr>
      </p:sp>
      <p:sp>
        <p:nvSpPr>
          <p:cNvPr id="6" name="Text 4"/>
          <p:cNvSpPr/>
          <p:nvPr/>
        </p:nvSpPr>
        <p:spPr>
          <a:xfrm>
            <a:off x="9916668" y="201168"/>
            <a:ext cx="1175004"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Architecture</a:t>
            </a:r>
            <a:endParaRPr lang="en-US" sz="1000" dirty="0"/>
          </a:p>
        </p:txBody>
      </p:sp>
      <p:sp>
        <p:nvSpPr>
          <p:cNvPr id="7" name="Text 5"/>
          <p:cNvSpPr/>
          <p:nvPr/>
        </p:nvSpPr>
        <p:spPr>
          <a:xfrm>
            <a:off x="502920" y="676656"/>
            <a:ext cx="11155680" cy="292608"/>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One pattern for all seven canonical models: map each system's message into the canonical inside CPI, confirm receipt once it is stored, then send exactly one final answer. The numbered path below is the agreement every model follows.</a:t>
            </a:r>
            <a:endParaRPr lang="en-US" sz="1200" dirty="0"/>
          </a:p>
        </p:txBody>
      </p:sp>
      <p:sp>
        <p:nvSpPr>
          <p:cNvPr id="8" name="Text 6"/>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endParaRPr lang="en-US" sz="900" dirty="0"/>
          </a:p>
        </p:txBody>
      </p:sp>
      <p:sp>
        <p:nvSpPr>
          <p:cNvPr id="9" name="Text 7"/>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endParaRPr lang="en-US" sz="900" dirty="0"/>
          </a:p>
        </p:txBody>
      </p:sp>
      <p:sp>
        <p:nvSpPr>
          <p:cNvPr id="10" name="Shape 8"/>
          <p:cNvSpPr/>
          <p:nvPr/>
        </p:nvSpPr>
        <p:spPr>
          <a:xfrm>
            <a:off x="502920" y="1691640"/>
            <a:ext cx="1874520" cy="1417320"/>
          </a:xfrm>
          <a:prstGeom prst="roundRect">
            <a:avLst>
              <a:gd name="adj" fmla="val 3871"/>
            </a:avLst>
          </a:prstGeom>
          <a:solidFill>
            <a:srgbClr val="EEF2F8"/>
          </a:solidFill>
          <a:ln w="19050">
            <a:solidFill>
              <a:srgbClr val="1F3864"/>
            </a:solidFill>
            <a:prstDash val="solid"/>
          </a:ln>
        </p:spPr>
      </p:sp>
      <p:sp>
        <p:nvSpPr>
          <p:cNvPr id="11" name="Text 9"/>
          <p:cNvSpPr/>
          <p:nvPr/>
        </p:nvSpPr>
        <p:spPr>
          <a:xfrm>
            <a:off x="502920" y="1691640"/>
            <a:ext cx="1874520" cy="1417320"/>
          </a:xfrm>
          <a:prstGeom prst="rect">
            <a:avLst/>
          </a:prstGeom>
          <a:noFill/>
          <a:ln/>
        </p:spPr>
        <p:txBody>
          <a:bodyPr wrap="square" lIns="508" tIns="508" rIns="508" bIns="508"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Source FSM</a:t>
            </a:r>
            <a:endParaRPr lang="en-US" sz="1300" dirty="0"/>
          </a:p>
          <a:p>
            <a:pPr algn="ctr" indent="0" marL="0">
              <a:buNone/>
            </a:pPr>
            <a:r>
              <a:rPr lang="en-US" sz="1000" dirty="0">
                <a:solidFill>
                  <a:srgbClr val="1F3864"/>
                </a:solidFill>
                <a:latin typeface="Arial" pitchFamily="34" charset="0"/>
                <a:ea typeface="Arial" pitchFamily="34" charset="-122"/>
                <a:cs typeface="Arial" pitchFamily="34" charset="-120"/>
              </a:rPr>
              <a:t>JAMS, ServiceNow, SiteTracker, MDFS (+5 more — slide 22)</a:t>
            </a:r>
            <a:endParaRPr lang="en-US" sz="1300" dirty="0"/>
          </a:p>
        </p:txBody>
      </p:sp>
      <p:sp>
        <p:nvSpPr>
          <p:cNvPr id="12" name="Shape 10"/>
          <p:cNvSpPr/>
          <p:nvPr/>
        </p:nvSpPr>
        <p:spPr>
          <a:xfrm>
            <a:off x="3063240" y="1234440"/>
            <a:ext cx="5943600" cy="2331720"/>
          </a:xfrm>
          <a:prstGeom prst="roundRect">
            <a:avLst>
              <a:gd name="adj" fmla="val 2353"/>
            </a:avLst>
          </a:prstGeom>
          <a:solidFill>
            <a:srgbClr val="F7F7F5"/>
          </a:solidFill>
          <a:ln w="15875">
            <a:solidFill>
              <a:srgbClr val="8A8A8A"/>
            </a:solidFill>
            <a:prstDash val="solid"/>
          </a:ln>
        </p:spPr>
      </p:sp>
      <p:sp>
        <p:nvSpPr>
          <p:cNvPr id="13" name="Text 11"/>
          <p:cNvSpPr/>
          <p:nvPr/>
        </p:nvSpPr>
        <p:spPr>
          <a:xfrm>
            <a:off x="3063240" y="1298448"/>
            <a:ext cx="5943600" cy="274320"/>
          </a:xfrm>
          <a:prstGeom prst="rect">
            <a:avLst/>
          </a:prstGeom>
          <a:noFill/>
          <a:ln/>
        </p:spPr>
        <p:txBody>
          <a:bodyPr wrap="square" lIns="0" tIns="0" rIns="0" bIns="0" rtlCol="0" anchor="ctr"/>
          <a:lstStyle/>
          <a:p>
            <a:pPr algn="ctr" indent="0" marL="0">
              <a:buNone/>
            </a:pPr>
            <a:r>
              <a:rPr lang="en-US" sz="1200" b="1" dirty="0">
                <a:solidFill>
                  <a:srgbClr val="1F3864"/>
                </a:solidFill>
                <a:latin typeface="Arial" pitchFamily="34" charset="0"/>
                <a:ea typeface="Arial" pitchFamily="34" charset="-122"/>
                <a:cs typeface="Arial" pitchFamily="34" charset="-120"/>
              </a:rPr>
              <a:t>SAP Integration Suite (CPI)</a:t>
            </a:r>
            <a:endParaRPr lang="en-US" sz="1200" dirty="0"/>
          </a:p>
        </p:txBody>
      </p:sp>
      <p:sp>
        <p:nvSpPr>
          <p:cNvPr id="200" name="Shape 200"/>
          <p:cNvSpPr/>
          <p:nvPr/>
        </p:nvSpPr>
        <p:spPr>
          <a:xfrm>
            <a:off x="3263240" y="1828800"/>
            <a:ext cx="2681200" cy="960120"/>
          </a:xfrm>
          <a:prstGeom prst="roundRect">
            <a:avLst>
              <a:gd name="adj" fmla="val 4762"/>
            </a:avLst>
          </a:prstGeom>
          <a:solidFill>
            <a:srgbClr val="FFFFFF"/>
          </a:solidFill>
          <a:ln w="15875">
            <a:solidFill>
              <a:srgbClr val="1F3864"/>
            </a:solidFill>
            <a:prstDash val="solid"/>
          </a:ln>
        </p:spPr>
      </p:sp>
      <p:sp>
        <p:nvSpPr>
          <p:cNvPr id="201" name="Text 201"/>
          <p:cNvSpPr/>
          <p:nvPr/>
        </p:nvSpPr>
        <p:spPr>
          <a:xfrm>
            <a:off x="3263240" y="1828800"/>
            <a:ext cx="2481200" cy="960120"/>
          </a:xfrm>
          <a:prstGeom prst="rect">
            <a:avLst/>
          </a:prstGeom>
          <a:noFill/>
          <a:ln/>
        </p:spPr>
        <p:txBody>
          <a:bodyPr wrap="square" lIns="381" tIns="381" rIns="381" bIns="381" rtlCol="0" anchor="ctr"/>
          <a:lstStyle/>
          <a:p>
            <a:pPr algn="ctr" indent="0" marL="0">
              <a:buNone/>
            </a:pPr>
            <a:r>
              <a:rPr lang="en-US" sz="1050" b="1" dirty="0">
                <a:solidFill>
                  <a:srgbClr val="1F3864"/>
                </a:solidFill>
                <a:latin typeface="Arial" pitchFamily="34" charset="0"/>
                <a:ea typeface="Arial" pitchFamily="34" charset="-122"/>
                <a:cs typeface="Arial" pitchFamily="34" charset="-120"/>
              </a:rPr>
              <a:t>1st leg responsibility</a:t>
            </a:r>
            <a:endParaRPr lang="en-US" sz="1050" dirty="0"/>
          </a:p>
          <a:p>
            <a:pPr algn="ctr" indent="0" marL="0">
              <a:buNone/>
            </a:pPr>
            <a:r>
              <a:rPr lang="en-US" sz="800" dirty="0">
                <a:solidFill>
                  <a:srgbClr val="595959"/>
                </a:solidFill>
                <a:latin typeface="Arial" pitchFamily="34" charset="0"/>
                <a:ea typeface="Arial" pitchFamily="34" charset="-122"/>
                <a:cs typeface="Arial" pitchFamily="34" charset="-120"/>
              </a:rPr>
              <a:t>Map (per FSM): JAMS / ITSM / ODM fields → the canonical model. Check and tag (shared): structure, values, required fields, duplicates; correlationId assigned. Invalid = HTTP 400, never stored</a:t>
            </a:r>
            <a:endParaRPr lang="en-US" sz="1050" dirty="0"/>
          </a:p>
        </p:txBody>
      </p:sp>
      <p:sp>
        <p:nvSpPr>
          <p:cNvPr id="16" name="Shape 14"/>
          <p:cNvSpPr/>
          <p:nvPr/>
        </p:nvSpPr>
        <p:spPr>
          <a:xfrm>
            <a:off x="6125640" y="1828800"/>
            <a:ext cx="1250000" cy="960120"/>
          </a:xfrm>
          <a:prstGeom prst="roundRect">
            <a:avLst>
              <a:gd name="adj" fmla="val 4762"/>
            </a:avLst>
          </a:prstGeom>
          <a:solidFill>
            <a:srgbClr val="FFFFFF"/>
          </a:solidFill>
          <a:ln w="15875">
            <a:solidFill>
              <a:srgbClr val="1F3864"/>
            </a:solidFill>
            <a:prstDash val="solid"/>
          </a:ln>
        </p:spPr>
      </p:sp>
      <p:sp>
        <p:nvSpPr>
          <p:cNvPr id="17" name="Text 15"/>
          <p:cNvSpPr/>
          <p:nvPr/>
        </p:nvSpPr>
        <p:spPr>
          <a:xfrm>
            <a:off x="6125640" y="1828800"/>
            <a:ext cx="1250000" cy="960120"/>
          </a:xfrm>
          <a:prstGeom prst="rect">
            <a:avLst/>
          </a:prstGeom>
          <a:noFill/>
          <a:ln/>
        </p:spPr>
        <p:txBody>
          <a:bodyPr wrap="square" lIns="381" tIns="381" rIns="381" bIns="381" rtlCol="0" anchor="ctr"/>
          <a:lstStyle/>
          <a:p>
            <a:pPr algn="ctr" indent="0" marL="0">
              <a:buNone/>
            </a:pPr>
            <a:r>
              <a:rPr lang="en-US" sz="1050" b="1" dirty="0">
                <a:solidFill>
                  <a:srgbClr val="1F3864"/>
                </a:solidFill>
                <a:latin typeface="Arial" pitchFamily="34" charset="0"/>
                <a:ea typeface="Arial" pitchFamily="34" charset="-122"/>
                <a:cs typeface="Arial" pitchFamily="34" charset="-120"/>
              </a:rPr>
              <a:t>Canonical JMS queue</a:t>
            </a:r>
            <a:endParaRPr lang="en-US" sz="1050" dirty="0"/>
          </a:p>
          <a:p>
            <a:pPr algn="ctr" indent="0" marL="0">
              <a:buNone/>
            </a:pPr>
            <a:r>
              <a:rPr lang="en-US" sz="650" dirty="0">
                <a:solidFill>
                  <a:srgbClr val="595959"/>
                </a:solidFill>
                <a:latin typeface="Arial" pitchFamily="34" charset="0"/>
                <a:ea typeface="Arial" pitchFamily="34" charset="-122"/>
                <a:cs typeface="Arial" pitchFamily="34" charset="-120"/>
              </a:rPr>
              <a:t>CANONICAL_&lt;MODEL&gt;_IN</a:t>
            </a:r>
            <a:endParaRPr lang="en-US" sz="650" dirty="0"/>
          </a:p>
          <a:p>
            <a:pPr algn="ctr" indent="0" marL="0">
              <a:buNone/>
            </a:pPr>
            <a:r>
              <a:rPr lang="en-US" sz="800" dirty="0">
                <a:solidFill>
                  <a:srgbClr val="595959"/>
                </a:solidFill>
                <a:latin typeface="Arial" pitchFamily="34" charset="0"/>
                <a:ea typeface="Arial" pitchFamily="34" charset="-122"/>
                <a:cs typeface="Arial" pitchFamily="34" charset="-120"/>
              </a:rPr>
              <a:t>one per model. Stored here; every technical retry starts from here</a:t>
            </a:r>
            <a:endParaRPr lang="en-US" sz="1050" dirty="0"/>
          </a:p>
        </p:txBody>
      </p:sp>
      <p:sp>
        <p:nvSpPr>
          <p:cNvPr id="18" name="Shape 16"/>
          <p:cNvSpPr/>
          <p:nvPr/>
        </p:nvSpPr>
        <p:spPr>
          <a:xfrm>
            <a:off x="7556840" y="1828800"/>
            <a:ext cx="1250000" cy="960120"/>
          </a:xfrm>
          <a:prstGeom prst="roundRect">
            <a:avLst>
              <a:gd name="adj" fmla="val 4762"/>
            </a:avLst>
          </a:prstGeom>
          <a:solidFill>
            <a:srgbClr val="FFFFFF"/>
          </a:solidFill>
          <a:ln w="15875">
            <a:solidFill>
              <a:srgbClr val="1F3864"/>
            </a:solidFill>
            <a:prstDash val="solid"/>
          </a:ln>
        </p:spPr>
      </p:sp>
      <p:sp>
        <p:nvSpPr>
          <p:cNvPr id="19" name="Text 17"/>
          <p:cNvSpPr/>
          <p:nvPr/>
        </p:nvSpPr>
        <p:spPr>
          <a:xfrm>
            <a:off x="7556840" y="1828800"/>
            <a:ext cx="1250000" cy="960120"/>
          </a:xfrm>
          <a:prstGeom prst="rect">
            <a:avLst/>
          </a:prstGeom>
          <a:noFill/>
          <a:ln/>
        </p:spPr>
        <p:txBody>
          <a:bodyPr wrap="square" lIns="381" tIns="381" rIns="381" bIns="381" rtlCol="0" anchor="ctr"/>
          <a:lstStyle/>
          <a:p>
            <a:pPr algn="ctr" indent="0" marL="0">
              <a:buNone/>
            </a:pPr>
            <a:r>
              <a:rPr lang="en-US" sz="1050" b="1" dirty="0">
                <a:solidFill>
                  <a:srgbClr val="1F3864"/>
                </a:solidFill>
                <a:latin typeface="Arial" pitchFamily="34" charset="0"/>
                <a:ea typeface="Arial" pitchFamily="34" charset="-122"/>
                <a:cs typeface="Arial" pitchFamily="34" charset="-120"/>
              </a:rPr>
              <a:t>Canonical model flow</a:t>
            </a:r>
            <a:endParaRPr lang="en-US" sz="1050" dirty="0"/>
          </a:p>
          <a:p>
            <a:pPr algn="ctr" indent="0" marL="0">
              <a:buNone/>
            </a:pPr>
            <a:r>
              <a:rPr lang="en-US" sz="800" dirty="0">
                <a:solidFill>
                  <a:srgbClr val="595959"/>
                </a:solidFill>
                <a:latin typeface="Arial" pitchFamily="34" charset="0"/>
                <a:ea typeface="Arial" pitchFamily="34" charset="-122"/>
                <a:cs typeface="Arial" pitchFamily="34" charset="-120"/>
              </a:rPr>
              <a:t>One shared flow per model: version and order checks, cross-refs and lookups — no outside calls mid-flight</a:t>
            </a:r>
            <a:endParaRPr lang="en-US" sz="1050" dirty="0"/>
          </a:p>
        </p:txBody>
      </p:sp>
      <p:sp>
        <p:nvSpPr>
          <p:cNvPr id="204" name="Shape 204"/>
          <p:cNvSpPr/>
          <p:nvPr/>
        </p:nvSpPr>
        <p:spPr>
          <a:xfrm>
            <a:off x="7385640" y="2304288"/>
            <a:ext cx="161200" cy="0"/>
          </a:xfrm>
          <a:prstGeom prst="line">
            <a:avLst/>
          </a:prstGeom>
          <a:noFill/>
          <a:ln w="22225">
            <a:solidFill>
              <a:srgbClr val="444444"/>
            </a:solidFill>
            <a:prstDash val="solid"/>
            <a:headEnd type="none"/>
            <a:tailEnd type="triangle"/>
          </a:ln>
        </p:spPr>
      </p:sp>
      <p:sp>
        <p:nvSpPr>
          <p:cNvPr id="21" name="Shape 19"/>
          <p:cNvSpPr/>
          <p:nvPr/>
        </p:nvSpPr>
        <p:spPr>
          <a:xfrm>
            <a:off x="5954440" y="2304288"/>
            <a:ext cx="161200" cy="0"/>
          </a:xfrm>
          <a:prstGeom prst="line">
            <a:avLst/>
          </a:prstGeom>
          <a:noFill/>
          <a:ln w="22225">
            <a:solidFill>
              <a:srgbClr val="444444"/>
            </a:solidFill>
            <a:prstDash val="solid"/>
            <a:headEnd type="none"/>
            <a:tailEnd type="triangle"/>
          </a:ln>
        </p:spPr>
      </p:sp>
      <p:sp>
        <p:nvSpPr>
          <p:cNvPr id="22" name="Shape 20"/>
          <p:cNvSpPr/>
          <p:nvPr/>
        </p:nvSpPr>
        <p:spPr>
          <a:xfrm>
            <a:off x="4476904" y="1609344"/>
            <a:ext cx="256032" cy="256032"/>
          </a:xfrm>
          <a:prstGeom prst="ellipse">
            <a:avLst/>
          </a:prstGeom>
          <a:solidFill>
            <a:srgbClr val="1F3864"/>
          </a:solidFill>
          <a:ln w="12700">
            <a:solidFill>
              <a:srgbClr val="FFFFFF"/>
            </a:solidFill>
            <a:prstDash val="solid"/>
          </a:ln>
        </p:spPr>
      </p:sp>
      <p:sp>
        <p:nvSpPr>
          <p:cNvPr id="23" name="Text 21"/>
          <p:cNvSpPr/>
          <p:nvPr/>
        </p:nvSpPr>
        <p:spPr>
          <a:xfrm>
            <a:off x="4421040" y="1591056"/>
            <a:ext cx="365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02" name="Shape 202"/>
          <p:cNvSpPr/>
          <p:nvPr/>
        </p:nvSpPr>
        <p:spPr>
          <a:xfrm>
            <a:off x="8053824" y="1609344"/>
            <a:ext cx="256032" cy="256032"/>
          </a:xfrm>
          <a:prstGeom prst="ellipse">
            <a:avLst/>
          </a:prstGeom>
          <a:solidFill>
            <a:srgbClr val="1F3864"/>
          </a:solidFill>
          <a:ln w="12700">
            <a:solidFill>
              <a:srgbClr val="FFFFFF"/>
            </a:solidFill>
            <a:prstDash val="solid"/>
          </a:ln>
        </p:spPr>
      </p:sp>
      <p:sp>
        <p:nvSpPr>
          <p:cNvPr id="203" name="Text 203"/>
          <p:cNvSpPr/>
          <p:nvPr/>
        </p:nvSpPr>
        <p:spPr>
          <a:xfrm>
            <a:off x="7997960" y="1591056"/>
            <a:ext cx="365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6" name="Shape 24"/>
          <p:cNvSpPr/>
          <p:nvPr/>
        </p:nvSpPr>
        <p:spPr>
          <a:xfrm>
            <a:off x="6622624" y="1609344"/>
            <a:ext cx="256032" cy="256032"/>
          </a:xfrm>
          <a:prstGeom prst="ellipse">
            <a:avLst/>
          </a:prstGeom>
          <a:solidFill>
            <a:srgbClr val="1F3864"/>
          </a:solidFill>
          <a:ln w="12700">
            <a:solidFill>
              <a:srgbClr val="FFFFFF"/>
            </a:solidFill>
            <a:prstDash val="solid"/>
          </a:ln>
        </p:spPr>
      </p:sp>
      <p:sp>
        <p:nvSpPr>
          <p:cNvPr id="27" name="Text 25"/>
          <p:cNvSpPr/>
          <p:nvPr/>
        </p:nvSpPr>
        <p:spPr>
          <a:xfrm>
            <a:off x="6566760" y="1591056"/>
            <a:ext cx="365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8" name="Shape 26"/>
          <p:cNvSpPr/>
          <p:nvPr/>
        </p:nvSpPr>
        <p:spPr>
          <a:xfrm>
            <a:off x="9692640" y="1691640"/>
            <a:ext cx="1965960" cy="1417320"/>
          </a:xfrm>
          <a:prstGeom prst="roundRect">
            <a:avLst>
              <a:gd name="adj" fmla="val 3871"/>
            </a:avLst>
          </a:prstGeom>
          <a:solidFill>
            <a:srgbClr val="E1F5EE"/>
          </a:solidFill>
          <a:ln w="19050">
            <a:solidFill>
              <a:srgbClr val="0F6E56"/>
            </a:solidFill>
            <a:prstDash val="solid"/>
          </a:ln>
        </p:spPr>
      </p:sp>
      <p:sp>
        <p:nvSpPr>
          <p:cNvPr id="29" name="Text 27"/>
          <p:cNvSpPr/>
          <p:nvPr/>
        </p:nvSpPr>
        <p:spPr>
          <a:xfrm>
            <a:off x="9692640" y="1691640"/>
            <a:ext cx="1965960" cy="1417320"/>
          </a:xfrm>
          <a:prstGeom prst="rect">
            <a:avLst/>
          </a:prstGeom>
          <a:noFill/>
          <a:ln/>
        </p:spPr>
        <p:txBody>
          <a:bodyPr wrap="square" lIns="508" tIns="508" rIns="508" bIns="508" rtlCol="0" anchor="ctr"/>
          <a:lstStyle/>
          <a:p>
            <a:pPr algn="ctr" indent="0" marL="0">
              <a:buNone/>
            </a:pPr>
            <a:r>
              <a:rPr lang="en-US" sz="1300" b="1" dirty="0">
                <a:solidFill>
                  <a:srgbClr val="085041"/>
                </a:solidFill>
                <a:latin typeface="Arial" pitchFamily="34" charset="0"/>
                <a:ea typeface="Arial" pitchFamily="34" charset="-122"/>
                <a:cs typeface="Arial" pitchFamily="34" charset="-120"/>
              </a:rPr>
              <a:t>S/4HANA Cloud</a:t>
            </a:r>
            <a:endParaRPr lang="en-US" sz="1300" dirty="0"/>
          </a:p>
          <a:p>
            <a:pPr algn="ctr" indent="0" marL="0">
              <a:buNone/>
            </a:pPr>
            <a:r>
              <a:rPr lang="en-US" sz="1000" dirty="0">
                <a:solidFill>
                  <a:srgbClr val="085041"/>
                </a:solidFill>
                <a:latin typeface="Arial" pitchFamily="34" charset="0"/>
                <a:ea typeface="Arial" pitchFamily="34" charset="-122"/>
                <a:cs typeface="Arial" pitchFamily="34" charset="-120"/>
              </a:rPr>
              <a:t>SAP-supported APIs only — no custom code in SAP</a:t>
            </a:r>
            <a:endParaRPr lang="en-US" sz="1300" dirty="0"/>
          </a:p>
        </p:txBody>
      </p:sp>
      <p:sp>
        <p:nvSpPr>
          <p:cNvPr id="30" name="Shape 28"/>
          <p:cNvSpPr/>
          <p:nvPr/>
        </p:nvSpPr>
        <p:spPr>
          <a:xfrm>
            <a:off x="2395728" y="2057400"/>
            <a:ext cx="649224" cy="0"/>
          </a:xfrm>
          <a:prstGeom prst="line">
            <a:avLst/>
          </a:prstGeom>
          <a:noFill/>
          <a:ln w="25400">
            <a:solidFill>
              <a:srgbClr val="444444"/>
            </a:solidFill>
            <a:prstDash val="solid"/>
            <a:headEnd type="none"/>
            <a:tailEnd type="triangle"/>
          </a:ln>
        </p:spPr>
      </p:sp>
      <p:sp>
        <p:nvSpPr>
          <p:cNvPr id="31" name="Shape 29"/>
          <p:cNvSpPr/>
          <p:nvPr/>
        </p:nvSpPr>
        <p:spPr>
          <a:xfrm>
            <a:off x="2587752" y="1828800"/>
            <a:ext cx="256032" cy="256032"/>
          </a:xfrm>
          <a:prstGeom prst="ellipse">
            <a:avLst/>
          </a:prstGeom>
          <a:solidFill>
            <a:srgbClr val="1F3864"/>
          </a:solidFill>
          <a:ln w="12700">
            <a:solidFill>
              <a:srgbClr val="FFFFFF"/>
            </a:solidFill>
            <a:prstDash val="solid"/>
          </a:ln>
        </p:spPr>
      </p:sp>
      <p:sp>
        <p:nvSpPr>
          <p:cNvPr id="32" name="Text 30"/>
          <p:cNvSpPr/>
          <p:nvPr/>
        </p:nvSpPr>
        <p:spPr>
          <a:xfrm>
            <a:off x="2532888" y="1810512"/>
            <a:ext cx="365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33" name="Shape 31"/>
          <p:cNvSpPr/>
          <p:nvPr/>
        </p:nvSpPr>
        <p:spPr>
          <a:xfrm flipH="1">
            <a:off x="2395728" y="2697480"/>
            <a:ext cx="649224" cy="0"/>
          </a:xfrm>
          <a:prstGeom prst="line">
            <a:avLst/>
          </a:prstGeom>
          <a:noFill/>
          <a:ln w="22225">
            <a:solidFill>
              <a:srgbClr val="444444"/>
            </a:solidFill>
            <a:prstDash val="dash"/>
            <a:headEnd type="none"/>
            <a:tailEnd type="triangle"/>
          </a:ln>
        </p:spPr>
      </p:sp>
      <p:sp>
        <p:nvSpPr>
          <p:cNvPr id="34" name="Text 32"/>
          <p:cNvSpPr/>
          <p:nvPr/>
        </p:nvSpPr>
        <p:spPr>
          <a:xfrm>
            <a:off x="1600000" y="3150000"/>
            <a:ext cx="1280160" cy="182880"/>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receipt: HTTP 202 (3)</a:t>
            </a:r>
            <a:endParaRPr lang="en-US" sz="800" dirty="0"/>
          </a:p>
        </p:txBody>
      </p:sp>
      <p:sp>
        <p:nvSpPr>
          <p:cNvPr id="35" name="Shape 33"/>
          <p:cNvSpPr/>
          <p:nvPr/>
        </p:nvSpPr>
        <p:spPr>
          <a:xfrm>
            <a:off x="9025128" y="2057400"/>
            <a:ext cx="649224" cy="0"/>
          </a:xfrm>
          <a:prstGeom prst="line">
            <a:avLst/>
          </a:prstGeom>
          <a:noFill/>
          <a:ln w="25400">
            <a:solidFill>
              <a:srgbClr val="444444"/>
            </a:solidFill>
            <a:prstDash val="solid"/>
            <a:headEnd type="none"/>
            <a:tailEnd type="triangle"/>
          </a:ln>
        </p:spPr>
      </p:sp>
      <p:sp>
        <p:nvSpPr>
          <p:cNvPr id="36" name="Shape 34"/>
          <p:cNvSpPr/>
          <p:nvPr/>
        </p:nvSpPr>
        <p:spPr>
          <a:xfrm>
            <a:off x="9217152" y="1828800"/>
            <a:ext cx="256032" cy="256032"/>
          </a:xfrm>
          <a:prstGeom prst="ellipse">
            <a:avLst/>
          </a:prstGeom>
          <a:solidFill>
            <a:srgbClr val="1F3864"/>
          </a:solidFill>
          <a:ln w="12700">
            <a:solidFill>
              <a:srgbClr val="FFFFFF"/>
            </a:solidFill>
            <a:prstDash val="solid"/>
          </a:ln>
        </p:spPr>
      </p:sp>
      <p:sp>
        <p:nvSpPr>
          <p:cNvPr id="37" name="Text 35"/>
          <p:cNvSpPr/>
          <p:nvPr/>
        </p:nvSpPr>
        <p:spPr>
          <a:xfrm>
            <a:off x="9162288" y="1810512"/>
            <a:ext cx="365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8" name="Shape 36"/>
          <p:cNvSpPr/>
          <p:nvPr/>
        </p:nvSpPr>
        <p:spPr>
          <a:xfrm flipH="1">
            <a:off x="9025128" y="2697480"/>
            <a:ext cx="649224" cy="0"/>
          </a:xfrm>
          <a:prstGeom prst="line">
            <a:avLst/>
          </a:prstGeom>
          <a:noFill/>
          <a:ln w="22225">
            <a:solidFill>
              <a:srgbClr val="444444"/>
            </a:solidFill>
            <a:prstDash val="dash"/>
            <a:headEnd type="none"/>
            <a:tailEnd type="triangle"/>
          </a:ln>
        </p:spPr>
      </p:sp>
      <p:sp>
        <p:nvSpPr>
          <p:cNvPr id="39" name="Shape 37"/>
          <p:cNvSpPr/>
          <p:nvPr/>
        </p:nvSpPr>
        <p:spPr>
          <a:xfrm>
            <a:off x="9217152" y="2761488"/>
            <a:ext cx="256032" cy="256032"/>
          </a:xfrm>
          <a:prstGeom prst="ellipse">
            <a:avLst/>
          </a:prstGeom>
          <a:solidFill>
            <a:srgbClr val="1F3864"/>
          </a:solidFill>
          <a:ln w="12700">
            <a:solidFill>
              <a:srgbClr val="FFFFFF"/>
            </a:solidFill>
            <a:prstDash val="solid"/>
          </a:ln>
        </p:spPr>
      </p:sp>
      <p:sp>
        <p:nvSpPr>
          <p:cNvPr id="40" name="Text 38"/>
          <p:cNvSpPr/>
          <p:nvPr/>
        </p:nvSpPr>
        <p:spPr>
          <a:xfrm>
            <a:off x="9162288" y="2743200"/>
            <a:ext cx="365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41" name="Text 39"/>
          <p:cNvSpPr/>
          <p:nvPr/>
        </p:nvSpPr>
        <p:spPr>
          <a:xfrm>
            <a:off x="8690000" y="3070000"/>
            <a:ext cx="960000" cy="182880"/>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document / error</a:t>
            </a:r>
            <a:endParaRPr lang="en-US" sz="800" dirty="0"/>
          </a:p>
        </p:txBody>
      </p:sp>
      <p:sp>
        <p:nvSpPr>
          <p:cNvPr id="42" name="Shape 40"/>
          <p:cNvSpPr/>
          <p:nvPr/>
        </p:nvSpPr>
        <p:spPr>
          <a:xfrm flipH="1">
            <a:off x="1463040" y="3794760"/>
            <a:ext cx="4526280" cy="0"/>
          </a:xfrm>
          <a:prstGeom prst="line">
            <a:avLst/>
          </a:prstGeom>
          <a:noFill/>
          <a:ln w="25400">
            <a:solidFill>
              <a:srgbClr val="1F3864"/>
            </a:solidFill>
            <a:prstDash val="solid"/>
            <a:headEnd type="none"/>
            <a:tailEnd type="triangle"/>
          </a:ln>
        </p:spPr>
      </p:sp>
      <p:sp>
        <p:nvSpPr>
          <p:cNvPr id="43" name="Shape 41"/>
          <p:cNvSpPr/>
          <p:nvPr/>
        </p:nvSpPr>
        <p:spPr>
          <a:xfrm>
            <a:off x="5989320" y="3566160"/>
            <a:ext cx="0" cy="228600"/>
          </a:xfrm>
          <a:prstGeom prst="line">
            <a:avLst/>
          </a:prstGeom>
          <a:noFill/>
          <a:ln w="25400">
            <a:solidFill>
              <a:srgbClr val="1F3864"/>
            </a:solidFill>
            <a:prstDash val="solid"/>
          </a:ln>
        </p:spPr>
      </p:sp>
      <p:sp>
        <p:nvSpPr>
          <p:cNvPr id="44" name="Shape 42"/>
          <p:cNvSpPr/>
          <p:nvPr/>
        </p:nvSpPr>
        <p:spPr>
          <a:xfrm>
            <a:off x="1463040" y="3108960"/>
            <a:ext cx="0" cy="685800"/>
          </a:xfrm>
          <a:prstGeom prst="line">
            <a:avLst/>
          </a:prstGeom>
          <a:noFill/>
          <a:ln w="25400">
            <a:solidFill>
              <a:srgbClr val="1F3864"/>
            </a:solidFill>
            <a:prstDash val="solid"/>
          </a:ln>
        </p:spPr>
      </p:sp>
      <p:sp>
        <p:nvSpPr>
          <p:cNvPr id="45" name="Shape 43"/>
          <p:cNvSpPr/>
          <p:nvPr/>
        </p:nvSpPr>
        <p:spPr>
          <a:xfrm>
            <a:off x="3566160" y="3500000"/>
            <a:ext cx="256032" cy="256032"/>
          </a:xfrm>
          <a:prstGeom prst="ellipse">
            <a:avLst/>
          </a:prstGeom>
          <a:solidFill>
            <a:srgbClr val="1F3864"/>
          </a:solidFill>
          <a:ln w="12700">
            <a:solidFill>
              <a:srgbClr val="FFFFFF"/>
            </a:solidFill>
            <a:prstDash val="solid"/>
          </a:ln>
        </p:spPr>
      </p:sp>
      <p:sp>
        <p:nvSpPr>
          <p:cNvPr id="46" name="Text 44"/>
          <p:cNvSpPr/>
          <p:nvPr/>
        </p:nvSpPr>
        <p:spPr>
          <a:xfrm>
            <a:off x="3511296" y="3481712"/>
            <a:ext cx="365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47" name="Text 45"/>
          <p:cNvSpPr/>
          <p:nvPr/>
        </p:nvSpPr>
        <p:spPr>
          <a:xfrm>
            <a:off x="6120000" y="3480000"/>
            <a:ext cx="5490000" cy="430000"/>
          </a:xfrm>
          <a:prstGeom prst="rect">
            <a:avLst/>
          </a:prstGeom>
          <a:noFill/>
          <a:ln/>
        </p:spPr>
        <p:txBody>
          <a:bodyPr wrap="square" lIns="0" tIns="0" rIns="0" bIns="0" rtlCol="0" anchor="ctr"/>
          <a:lstStyle/>
          <a:p>
            <a:pPr indent="0" marL="0">
              <a:buNone/>
            </a:pPr>
            <a:r>
              <a:rPr lang="en-US" sz="900" i="1" dirty="0">
                <a:solidFill>
                  <a:srgbClr val="1F3864"/>
                </a:solidFill>
                <a:latin typeface="Arial" pitchFamily="34" charset="0"/>
                <a:ea typeface="Arial" pitchFamily="34" charset="-122"/>
                <a:cs typeface="Arial" pitchFamily="34" charset="-120"/>
              </a:rPr>
              <a:t>one final response per message: SUCCEEDED / PARTIAL / FAILED, with the correlationId and the SAP document numbers or the error detail</a:t>
            </a:r>
            <a:endParaRPr lang="en-US" sz="900" dirty="0"/>
          </a:p>
        </p:txBody>
      </p:sp>
      <p:sp>
        <p:nvSpPr>
          <p:cNvPr id="48" name="Text 46"/>
          <p:cNvSpPr/>
          <p:nvPr/>
        </p:nvSpPr>
        <p:spPr>
          <a:xfrm>
            <a:off x="502920" y="4114800"/>
            <a:ext cx="5394960" cy="219456"/>
          </a:xfrm>
          <a:prstGeom prst="rect">
            <a:avLst/>
          </a:prstGeom>
          <a:noFill/>
          <a:ln/>
        </p:spPr>
        <p:txBody>
          <a:bodyPr wrap="square" lIns="0" tIns="0" rIns="0" bIns="0" rtlCol="0" anchor="ctr"/>
          <a:lstStyle/>
          <a:p>
            <a:pPr indent="0" marL="0">
              <a:buNone/>
            </a:pPr>
            <a:r>
              <a:rPr lang="en-US" sz="1150" b="1" dirty="0">
                <a:solidFill>
                  <a:srgbClr val="444444"/>
                </a:solidFill>
                <a:latin typeface="Arial" pitchFamily="34" charset="0"/>
                <a:ea typeface="Arial" pitchFamily="34" charset="-122"/>
                <a:cs typeface="Arial" pitchFamily="34" charset="-120"/>
              </a:rPr>
              <a:t>Request path</a:t>
            </a:r>
            <a:endParaRPr lang="en-US" sz="1150" dirty="0"/>
          </a:p>
        </p:txBody>
      </p:sp>
      <p:sp>
        <p:nvSpPr>
          <p:cNvPr id="49" name="Text 47"/>
          <p:cNvSpPr/>
          <p:nvPr/>
        </p:nvSpPr>
        <p:spPr>
          <a:xfrm>
            <a:off x="502920" y="4343400"/>
            <a:ext cx="5577840" cy="1691640"/>
          </a:xfrm>
          <a:prstGeom prst="rect">
            <a:avLst/>
          </a:prstGeom>
          <a:noFill/>
          <a:ln/>
        </p:spPr>
        <p:txBody>
          <a:bodyPr wrap="square" lIns="0" tIns="0" rIns="0" bIns="0" rtlCol="0" anchor="t"/>
          <a:lstStyle/>
          <a:p>
            <a:pPr indent="0" marL="0">
              <a:spcAft>
                <a:spcPts val="300"/>
              </a:spcAft>
              <a:buNone/>
            </a:pPr>
            <a:r>
              <a:rPr lang="en-US" sz="1000" b="1" dirty="0">
                <a:solidFill>
                  <a:srgbClr val="1F3864"/>
                </a:solidFill>
                <a:latin typeface="Arial" pitchFamily="34" charset="0"/>
                <a:ea typeface="Arial" pitchFamily="34" charset="-122"/>
                <a:cs typeface="Arial" pitchFamily="34" charset="-120"/>
              </a:rPr>
              <a:t>1  </a:t>
            </a:r>
            <a:pPr indent="0" marL="0">
              <a:spcAft>
                <a:spcPts val="300"/>
              </a:spcAft>
              <a:buNone/>
            </a:pPr>
            <a:r>
              <a:rPr lang="en-US" sz="1000" dirty="0">
                <a:solidFill>
                  <a:srgbClr val="444444"/>
                </a:solidFill>
                <a:latin typeface="Arial" pitchFamily="34" charset="0"/>
                <a:ea typeface="Arial" pitchFamily="34" charset="-122"/>
                <a:cs typeface="Arial" pitchFamily="34" charset="-120"/>
              </a:rPr>
              <a:t>The FSM sends its own message over HTTPS with the standard header fields: sourceSystem, sourceMessageId, businessKey, versionStamp</a:t>
            </a:r>
            <a:endParaRPr lang="en-US" sz="1000" dirty="0"/>
          </a:p>
          <a:p>
            <a:pPr indent="0" marL="0">
              <a:spcAft>
                <a:spcPts val="300"/>
              </a:spcAft>
              <a:buNone/>
            </a:pPr>
            <a:r>
              <a:rPr lang="en-US" sz="1000" b="1" dirty="0">
                <a:solidFill>
                  <a:srgbClr val="1F3864"/>
                </a:solidFill>
                <a:latin typeface="Arial" pitchFamily="34" charset="0"/>
                <a:ea typeface="Arial" pitchFamily="34" charset="-122"/>
                <a:cs typeface="Arial" pitchFamily="34" charset="-120"/>
              </a:rPr>
              <a:t>2  </a:t>
            </a:r>
            <a:pPr indent="0" marL="0">
              <a:spcAft>
                <a:spcPts val="300"/>
              </a:spcAft>
              <a:buNone/>
            </a:pPr>
            <a:r>
              <a:rPr lang="en-US" sz="1000" dirty="0">
                <a:solidFill>
                  <a:srgbClr val="444444"/>
                </a:solidFill>
                <a:latin typeface="Arial" pitchFamily="34" charset="0"/>
                <a:ea typeface="Arial" pitchFamily="34" charset="-122"/>
                <a:cs typeface="Arial" pitchFamily="34" charset="-120"/>
              </a:rPr>
              <a:t>The 1st leg — one small mapping flow per FSM, the only part that differs per system — maps the message into the canonical model, then runs the shared checks: structure, values, required fields, duplicates ((sourceSystem, sourceMessageId), 90 days). The correlationId is assigned and used on every later step</a:t>
            </a:r>
            <a:endParaRPr lang="en-US" sz="1000" dirty="0"/>
          </a:p>
          <a:p>
            <a:pPr indent="0" marL="0">
              <a:spcAft>
                <a:spcPts val="300"/>
              </a:spcAft>
              <a:buNone/>
            </a:pPr>
            <a:r>
              <a:rPr lang="en-US" sz="1000" b="1" dirty="0">
                <a:solidFill>
                  <a:srgbClr val="1F3864"/>
                </a:solidFill>
                <a:latin typeface="Arial" pitchFamily="34" charset="0"/>
                <a:ea typeface="Arial" pitchFamily="34" charset="-122"/>
                <a:cs typeface="Arial" pitchFamily="34" charset="-120"/>
              </a:rPr>
              <a:t>3  </a:t>
            </a:r>
            <a:pPr indent="0" marL="0">
              <a:spcAft>
                <a:spcPts val="300"/>
              </a:spcAft>
              <a:buNone/>
            </a:pPr>
            <a:r>
              <a:rPr lang="en-US" sz="1000" dirty="0">
                <a:solidFill>
                  <a:srgbClr val="444444"/>
                </a:solidFill>
                <a:latin typeface="Arial" pitchFamily="34" charset="0"/>
                <a:ea typeface="Arial" pitchFamily="34" charset="-122"/>
                <a:cs typeface="Arial" pitchFamily="34" charset="-120"/>
              </a:rPr>
              <a:t>Stored in the canonical JMS queue first, then HTTP 202 — received, not yet posted. Invalid = 400, never stored; a repeat gets the saved answer, or the same receipt while the first copy runs</a:t>
            </a:r>
            <a:endParaRPr lang="en-US" sz="1000" dirty="0"/>
          </a:p>
          <a:p>
            <a:pPr indent="0" marL="0">
              <a:spcAft>
                <a:spcPts val="300"/>
              </a:spcAft>
              <a:buNone/>
            </a:pPr>
            <a:r>
              <a:rPr lang="en-US" sz="1000" b="1" dirty="0">
                <a:solidFill>
                  <a:srgbClr val="1F3864"/>
                </a:solidFill>
                <a:latin typeface="Arial" pitchFamily="34" charset="0"/>
                <a:ea typeface="Arial" pitchFamily="34" charset="-122"/>
                <a:cs typeface="Arial" pitchFamily="34" charset="-120"/>
              </a:rPr>
              <a:t>4  </a:t>
            </a:r>
            <a:pPr indent="0" marL="0">
              <a:spcAft>
                <a:spcPts val="300"/>
              </a:spcAft>
              <a:buNone/>
            </a:pPr>
            <a:r>
              <a:rPr lang="en-US" sz="1000" dirty="0">
                <a:solidFill>
                  <a:srgbClr val="444444"/>
                </a:solidFill>
                <a:latin typeface="Arial" pitchFamily="34" charset="0"/>
                <a:ea typeface="Arial" pitchFamily="34" charset="-122"/>
                <a:cs typeface="Arial" pitchFamily="34" charset="-120"/>
              </a:rPr>
              <a:t>After the receipt, in the background: cross-refs and lookups; the version check drops out-of-date updates; a too-early message waits and retries — never failed for arriving early</a:t>
            </a:r>
            <a:endParaRPr lang="en-US" sz="1000" dirty="0"/>
          </a:p>
        </p:txBody>
      </p:sp>
      <p:sp>
        <p:nvSpPr>
          <p:cNvPr id="50" name="Text 48"/>
          <p:cNvSpPr/>
          <p:nvPr/>
        </p:nvSpPr>
        <p:spPr>
          <a:xfrm>
            <a:off x="6400800" y="4114800"/>
            <a:ext cx="5303520" cy="219456"/>
          </a:xfrm>
          <a:prstGeom prst="rect">
            <a:avLst/>
          </a:prstGeom>
          <a:noFill/>
          <a:ln/>
        </p:spPr>
        <p:txBody>
          <a:bodyPr wrap="square" lIns="0" tIns="0" rIns="0" bIns="0" rtlCol="0" anchor="ctr"/>
          <a:lstStyle/>
          <a:p>
            <a:pPr indent="0" marL="0">
              <a:buNone/>
            </a:pPr>
            <a:r>
              <a:rPr lang="en-US" sz="1150" b="1" dirty="0">
                <a:solidFill>
                  <a:srgbClr val="444444"/>
                </a:solidFill>
                <a:latin typeface="Arial" pitchFamily="34" charset="0"/>
                <a:ea typeface="Arial" pitchFamily="34" charset="-122"/>
                <a:cs typeface="Arial" pitchFamily="34" charset="-120"/>
              </a:rPr>
              <a:t>Response path</a:t>
            </a:r>
            <a:endParaRPr lang="en-US" sz="1150" dirty="0"/>
          </a:p>
        </p:txBody>
      </p:sp>
      <p:sp>
        <p:nvSpPr>
          <p:cNvPr id="51" name="Text 49"/>
          <p:cNvSpPr/>
          <p:nvPr/>
        </p:nvSpPr>
        <p:spPr>
          <a:xfrm>
            <a:off x="6400800" y="4343400"/>
            <a:ext cx="5303520" cy="1691640"/>
          </a:xfrm>
          <a:prstGeom prst="rect">
            <a:avLst/>
          </a:prstGeom>
          <a:noFill/>
          <a:ln/>
        </p:spPr>
        <p:txBody>
          <a:bodyPr wrap="square" lIns="0" tIns="0" rIns="0" bIns="0" rtlCol="0" anchor="t"/>
          <a:lstStyle/>
          <a:p>
            <a:pPr indent="0" marL="0">
              <a:spcAft>
                <a:spcPts val="300"/>
              </a:spcAft>
              <a:buNone/>
            </a:pPr>
            <a:r>
              <a:rPr lang="en-US" sz="1000" b="1" dirty="0">
                <a:solidFill>
                  <a:srgbClr val="1F3864"/>
                </a:solidFill>
                <a:latin typeface="Arial" pitchFamily="34" charset="0"/>
                <a:ea typeface="Arial" pitchFamily="34" charset="-122"/>
                <a:cs typeface="Arial" pitchFamily="34" charset="-120"/>
              </a:rPr>
              <a:t>5  </a:t>
            </a:r>
            <a:pPr indent="0" marL="0">
              <a:spcAft>
                <a:spcPts val="300"/>
              </a:spcAft>
              <a:buNone/>
            </a:pPr>
            <a:r>
              <a:rPr lang="en-US" sz="1000" dirty="0">
                <a:solidFill>
                  <a:srgbClr val="444444"/>
                </a:solidFill>
                <a:latin typeface="Arial" pitchFamily="34" charset="0"/>
                <a:ea typeface="Arial" pitchFamily="34" charset="-122"/>
                <a:cs typeface="Arial" pitchFamily="34" charset="-120"/>
              </a:rPr>
              <a:t>CPI posts through the SAP-supported API. Multi-step flows record each completed step, so a retry picks up where it stopped instead of starting again</a:t>
            </a:r>
            <a:endParaRPr lang="en-US" sz="1000" dirty="0"/>
          </a:p>
          <a:p>
            <a:pPr indent="0" marL="0">
              <a:spcAft>
                <a:spcPts val="300"/>
              </a:spcAft>
              <a:buNone/>
            </a:pPr>
            <a:r>
              <a:rPr lang="en-US" sz="1000" b="1" dirty="0">
                <a:solidFill>
                  <a:srgbClr val="1F3864"/>
                </a:solidFill>
                <a:latin typeface="Arial" pitchFamily="34" charset="0"/>
                <a:ea typeface="Arial" pitchFamily="34" charset="-122"/>
                <a:cs typeface="Arial" pitchFamily="34" charset="-120"/>
              </a:rPr>
              <a:t>6  </a:t>
            </a:r>
            <a:pPr indent="0" marL="0">
              <a:spcAft>
                <a:spcPts val="300"/>
              </a:spcAft>
              <a:buNone/>
            </a:pPr>
            <a:r>
              <a:rPr lang="en-US" sz="1000" dirty="0">
                <a:solidFill>
                  <a:srgbClr val="444444"/>
                </a:solidFill>
                <a:latin typeface="Arial" pitchFamily="34" charset="0"/>
                <a:ea typeface="Arial" pitchFamily="34" charset="-122"/>
                <a:cs typeface="Arial" pitchFamily="34" charset="-120"/>
              </a:rPr>
              <a:t>Success or failure is judged on SAP's detailed error list, never on the HTTP status code alone</a:t>
            </a:r>
            <a:endParaRPr lang="en-US" sz="1000" dirty="0"/>
          </a:p>
          <a:p>
            <a:pPr indent="0" marL="0">
              <a:spcAft>
                <a:spcPts val="300"/>
              </a:spcAft>
              <a:buNone/>
            </a:pPr>
            <a:r>
              <a:rPr lang="en-US" sz="1000" b="1" dirty="0">
                <a:solidFill>
                  <a:srgbClr val="1F3864"/>
                </a:solidFill>
                <a:latin typeface="Arial" pitchFamily="34" charset="0"/>
                <a:ea typeface="Arial" pitchFamily="34" charset="-122"/>
                <a:cs typeface="Arial" pitchFamily="34" charset="-120"/>
              </a:rPr>
              <a:t>7  </a:t>
            </a:r>
            <a:pPr indent="0" marL="0">
              <a:spcAft>
                <a:spcPts val="300"/>
              </a:spcAft>
              <a:buNone/>
            </a:pPr>
            <a:r>
              <a:rPr lang="en-US" sz="1000" dirty="0">
                <a:solidFill>
                  <a:srgbClr val="444444"/>
                </a:solidFill>
                <a:latin typeface="Arial" pitchFamily="34" charset="0"/>
                <a:ea typeface="Arial" pitchFamily="34" charset="-122"/>
                <a:cs typeface="Arial" pitchFamily="34" charset="-120"/>
              </a:rPr>
              <a:t>One response format for all seven models. If the response cannot be delivered, CPI retries the response on its own — the SAP posting is not repeated. Every accepted message ends with exactly one final response — and the status can always be looked up by correlationId</a:t>
            </a:r>
            <a:endParaRPr lang="en-US" sz="1000" dirty="0"/>
          </a:p>
        </p:txBody>
      </p:sp>
      <p:sp>
        <p:nvSpPr>
          <p:cNvPr id="52" name="Text 50"/>
          <p:cNvSpPr/>
          <p:nvPr/>
        </p:nvSpPr>
        <p:spPr>
          <a:xfrm>
            <a:off x="502920" y="6126480"/>
            <a:ext cx="11201400" cy="347472"/>
          </a:xfrm>
          <a:prstGeom prst="rect">
            <a:avLst/>
          </a:prstGeom>
          <a:noFill/>
          <a:ln/>
        </p:spPr>
        <p:txBody>
          <a:bodyPr wrap="square" lIns="0" tIns="0" rIns="0" bIns="0" rtlCol="0" anchor="ctr"/>
          <a:lstStyle/>
          <a:p>
            <a:pPr indent="0" marL="0">
              <a:buNone/>
            </a:pPr>
            <a:r>
              <a:rPr lang="en-US" sz="1000" i="1" dirty="0">
                <a:solidFill>
                  <a:srgbClr val="595959"/>
                </a:solidFill>
                <a:latin typeface="Arial" pitchFamily="34" charset="0"/>
                <a:ea typeface="Arial" pitchFamily="34" charset="-122"/>
                <a:cs typeface="Arial" pitchFamily="34" charset="-120"/>
              </a:rPr>
              <a:t>The same four identifiers are used on every canonical: sourceMessageId (the FSM's event ID), correlationId (assigned by CPI — the name canonicalMessageId is dropped), businessKey (which job or claim — clientJobNumber on the project model), versionStamp (which version is newest).</a:t>
            </a:r>
            <a:endParaRPr lang="en-US" sz="1000" dirty="0"/>
          </a:p>
        </p:txBody>
      </p:sp>
      <p:sp>
        <p:nvSpPr>
          <p:cNvPr id="9063" name="Rule63"/>
          <p:cNvSpPr/>
          <p:nvPr/>
        </p:nvSpPr>
        <p:spPr>
          <a:xfrm>
            <a:off x="3263240" y="2900000"/>
            <a:ext cx="1250000" cy="18000"/>
          </a:xfrm>
          <a:prstGeom prst="rect">
            <a:avLst/>
          </a:prstGeom>
          <a:solidFill>
            <a:srgbClr val="1F3864"/>
          </a:solidFill>
          <a:ln/>
        </p:spPr>
      </p:sp>
      <p:sp>
        <p:nvSpPr>
          <p:cNvPr id="9401" name="Lbl9401"/>
          <p:cNvSpPr/>
          <p:nvPr/>
        </p:nvSpPr>
        <p:spPr>
          <a:xfrm>
            <a:off x="3163240" y="2960000"/>
            <a:ext cx="1450000" cy="320000"/>
          </a:xfrm>
          <a:prstGeom prst="rect">
            <a:avLst/>
          </a:prstGeom>
          <a:noFill/>
          <a:ln/>
        </p:spPr>
        <p:txBody>
          <a:bodyPr wrap="square" lIns="0" tIns="0" rIns="0" bIns="0" anchor="t"/>
          <a:lstStyle/>
          <a:p>
            <a:pPr algn="ctr" indent="0" marL="0">
              <a:buNone/>
            </a:pPr>
            <a:r>
              <a:rPr lang="en-US" sz="750" b="1" i="1" dirty="0">
                <a:solidFill>
                  <a:srgbClr val="1F3864"/>
                </a:solidFill>
                <a:latin typeface="Arial" pitchFamily="34" charset="0"/>
              </a:rPr>
              <a:t>map — per FSM: the only part that differs</a:t>
            </a:r>
          </a:p>
        </p:txBody>
      </p:sp>
      <p:sp>
        <p:nvSpPr>
          <p:cNvPr id="9028" name="Rule28"/>
          <p:cNvSpPr/>
          <p:nvPr/>
        </p:nvSpPr>
        <p:spPr>
          <a:xfrm>
            <a:off x="4694440" y="2900000"/>
            <a:ext cx="4112400" cy="18000"/>
          </a:xfrm>
          <a:prstGeom prst="rect">
            <a:avLst/>
          </a:prstGeom>
          <a:solidFill>
            <a:srgbClr val="0F6E56"/>
          </a:solidFill>
          <a:ln/>
        </p:spPr>
      </p:sp>
      <p:sp>
        <p:nvSpPr>
          <p:cNvPr id="9402" name="Lbl9402"/>
          <p:cNvSpPr/>
          <p:nvPr/>
        </p:nvSpPr>
        <p:spPr>
          <a:xfrm>
            <a:off x="4694440" y="2960000"/>
            <a:ext cx="4112400" cy="320000"/>
          </a:xfrm>
          <a:prstGeom prst="rect">
            <a:avLst/>
          </a:prstGeom>
          <a:noFill/>
          <a:ln/>
        </p:spPr>
        <p:txBody>
          <a:bodyPr wrap="square" lIns="0" tIns="0" rIns="0" bIns="0" anchor="t"/>
          <a:lstStyle/>
          <a:p>
            <a:pPr algn="ctr" indent="0" marL="0">
              <a:buNone/>
            </a:pPr>
            <a:r>
              <a:rPr lang="en-US" sz="750" b="1" i="1" dirty="0">
                <a:solidFill>
                  <a:srgbClr val="085041"/>
                </a:solidFill>
                <a:latin typeface="Arial" pitchFamily="34" charset="0"/>
              </a:rPr>
              <a:t>shared canonical pipeline — built once per model, used by every FSM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3"/>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4" name="Text 5"/>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p>
        </p:txBody>
      </p:sp>
      <p:sp>
        <p:nvSpPr>
          <p:cNvPr id="6" name="Text 7"/>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S/4 - Outbound to the FSMs — responses push, data pulls</a:t>
            </a:r>
          </a:p>
        </p:txBody>
      </p:sp>
      <p:sp>
        <p:nvSpPr>
          <p:cNvPr id="8" name="Shape 9"/>
          <p:cNvSpPr/>
          <p:nvPr/>
        </p:nvSpPr>
        <p:spPr>
          <a:xfrm>
            <a:off x="9591672" y="201168"/>
            <a:ext cx="1500000" cy="274320"/>
          </a:xfrm>
          <a:prstGeom prst="roundRect">
            <a:avLst>
              <a:gd name="adj" fmla="val 40000"/>
            </a:avLst>
          </a:prstGeom>
          <a:solidFill>
            <a:srgbClr val="E1F5EE"/>
          </a:solidFill>
          <a:ln w="12700">
            <a:solidFill>
              <a:srgbClr val="0F6E56"/>
            </a:solidFill>
            <a:prstDash val="solid"/>
          </a:ln>
        </p:spPr>
      </p:sp>
      <p:sp>
        <p:nvSpPr>
          <p:cNvPr id="10" name="Text 11"/>
          <p:cNvSpPr/>
          <p:nvPr/>
        </p:nvSpPr>
        <p:spPr>
          <a:xfrm>
            <a:off x="9591672" y="201168"/>
            <a:ext cx="1500000"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Architecture</a:t>
            </a:r>
          </a:p>
        </p:txBody>
      </p:sp>
      <p:sp>
        <p:nvSpPr>
          <p:cNvPr id="12" name="Text 13"/>
          <p:cNvSpPr/>
          <p:nvPr/>
        </p:nvSpPr>
        <p:spPr>
          <a:xfrm>
            <a:off x="502920" y="676656"/>
            <a:ext cx="11201400" cy="340000"/>
          </a:xfrm>
          <a:prstGeom prst="rect">
            <a:avLst/>
          </a:prstGeom>
          <a:noFill/>
          <a:ln/>
        </p:spPr>
        <p:txBody>
          <a:bodyPr wrap="square" lIns="0" tIns="0" rIns="0" bIns="0" rtlCol="0" anchor="t"/>
          <a:lstStyle/>
          <a:p>
            <a:pPr indent="0" marL="0">
              <a:buNone/>
            </a:pPr>
            <a:r>
              <a:rPr lang="en-US" sz="1150" dirty="0">
                <a:solidFill>
                  <a:srgbClr val="595959"/>
                </a:solidFill>
                <a:latin typeface="Arial" pitchFamily="34" charset="0"/>
                <a:ea typeface="Arial" pitchFamily="34" charset="-122"/>
                <a:cs typeface="Arial" pitchFamily="34" charset="-120"/>
              </a:rPr>
              <a:t>Two kinds of traffic leave S/4 for the field service systems, and they need different patterns: the answer to a request is pushed once, with its tracking ID; cost, status and payment data is pulled through one shared service. Each box below says exactly what gets built.</a:t>
            </a:r>
          </a:p>
        </p:txBody>
      </p:sp>
      <p:sp>
        <p:nvSpPr>
          <p:cNvPr id="14" name="Text 15"/>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p>
        </p:txBody>
      </p:sp>
      <p:sp>
        <p:nvSpPr>
          <p:cNvPr id="16" name="Text 17"/>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p>
        </p:txBody>
      </p:sp>
      <p:sp>
        <p:nvSpPr>
          <p:cNvPr id="18" name="Shape 19"/>
          <p:cNvSpPr/>
          <p:nvPr/>
        </p:nvSpPr>
        <p:spPr>
          <a:xfrm>
            <a:off x="502920" y="1700000"/>
            <a:ext cx="1650000" cy="3260000"/>
          </a:xfrm>
          <a:prstGeom prst="roundRect">
            <a:avLst>
              <a:gd name="adj" fmla="val 4000"/>
            </a:avLst>
          </a:prstGeom>
          <a:solidFill>
            <a:srgbClr val="E1F5EE"/>
          </a:solidFill>
          <a:ln w="15875">
            <a:solidFill>
              <a:srgbClr val="0F6E56"/>
            </a:solidFill>
            <a:prstDash val="solid"/>
          </a:ln>
        </p:spPr>
      </p:sp>
      <p:sp>
        <p:nvSpPr>
          <p:cNvPr id="20" name="Text 21"/>
          <p:cNvSpPr/>
          <p:nvPr/>
        </p:nvSpPr>
        <p:spPr>
          <a:xfrm>
            <a:off x="632920" y="1830000"/>
            <a:ext cx="1390000" cy="300000"/>
          </a:xfrm>
          <a:prstGeom prst="rect">
            <a:avLst/>
          </a:prstGeom>
          <a:noFill/>
          <a:ln/>
        </p:spPr>
        <p:txBody>
          <a:bodyPr wrap="square" lIns="0" tIns="0" rIns="0" bIns="0" rtlCol="0" anchor="t"/>
          <a:lstStyle/>
          <a:p>
            <a:pPr indent="0" marL="0">
              <a:buNone/>
            </a:pPr>
            <a:r>
              <a:rPr lang="en-US" sz="1050" b="1" dirty="0">
                <a:solidFill>
                  <a:srgbClr val="085041"/>
                </a:solidFill>
                <a:latin typeface="Arial" pitchFamily="34" charset="0"/>
                <a:ea typeface="Arial" pitchFamily="34" charset="-122"/>
                <a:cs typeface="Arial" pitchFamily="34" charset="-120"/>
              </a:rPr>
              <a:t>S/4HANA Cloud</a:t>
            </a:r>
          </a:p>
        </p:txBody>
      </p:sp>
      <p:sp>
        <p:nvSpPr>
          <p:cNvPr id="22" name="Text 23"/>
          <p:cNvSpPr/>
          <p:nvPr/>
        </p:nvSpPr>
        <p:spPr>
          <a:xfrm>
            <a:off x="632920" y="2150000"/>
            <a:ext cx="1390000" cy="2700000"/>
          </a:xfrm>
          <a:prstGeom prst="rect">
            <a:avLst/>
          </a:prstGeom>
          <a:noFill/>
          <a:ln/>
        </p:spPr>
        <p:txBody>
          <a:bodyPr wrap="square" lIns="0" tIns="0" rIns="0" bIns="0" rtlCol="0" anchor="t"/>
          <a:lstStyle/>
          <a:p>
            <a:pPr indent="0" marL="0">
              <a:spcAft>
                <a:spcPts val="300"/>
              </a:spcAft>
              <a:buNone/>
            </a:pPr>
            <a:r>
              <a:rPr lang="en-US" sz="800" b="1" dirty="0">
                <a:solidFill>
                  <a:srgbClr val="085041"/>
                </a:solidFill>
                <a:latin typeface="Arial" pitchFamily="34" charset="0"/>
                <a:ea typeface="Arial" pitchFamily="34" charset="-122"/>
                <a:cs typeface="Arial" pitchFamily="34" charset="-120"/>
              </a:rPr>
              <a:t>SAP-supported public APIs only (OData)</a:t>
            </a:r>
          </a:p>
          <a:p>
            <a:pPr indent="0" marL="0">
              <a:spcAft>
                <a:spcPts val="300"/>
              </a:spcAft>
              <a:buNone/>
            </a:pPr>
            <a:r>
              <a:rPr lang="en-US" sz="780" dirty="0">
                <a:solidFill>
                  <a:srgbClr val="085041"/>
                </a:solidFill>
                <a:latin typeface="Arial" pitchFamily="34" charset="0"/>
                <a:ea typeface="Arial" pitchFamily="34" charset="-122"/>
                <a:cs typeface="Arial" pitchFamily="34" charset="-120"/>
              </a:rPr>
              <a:t>API_PROJECT, A_EnterpriseProject, billing + goods-movement APIs</a:t>
            </a:r>
          </a:p>
          <a:p>
            <a:pPr indent="0" marL="0">
              <a:spcAft>
                <a:spcPts val="300"/>
              </a:spcAft>
              <a:buNone/>
            </a:pPr>
            <a:r>
              <a:rPr lang="en-US" sz="780" dirty="0">
                <a:solidFill>
                  <a:srgbClr val="085041"/>
                </a:solidFill>
                <a:latin typeface="Arial" pitchFamily="34" charset="0"/>
                <a:ea typeface="Arial" pitchFamily="34" charset="-122"/>
                <a:cs typeface="Arial" pitchFamily="34" charset="-120"/>
              </a:rPr>
              <a:t>Standard SAP connection setup with a dedicated system user</a:t>
            </a:r>
          </a:p>
          <a:p>
            <a:pPr indent="0" marL="0">
              <a:buNone/>
            </a:pPr>
            <a:r>
              <a:rPr lang="en-US" sz="780" i="1" dirty="0">
                <a:solidFill>
                  <a:srgbClr val="085041"/>
                </a:solidFill>
                <a:latin typeface="Arial" pitchFamily="34" charset="0"/>
                <a:ea typeface="Arial" pitchFamily="34" charset="-122"/>
                <a:cs typeface="Arial" pitchFamily="34" charset="-120"/>
              </a:rPr>
              <a:t>No custom development inside SAP</a:t>
            </a:r>
          </a:p>
        </p:txBody>
      </p:sp>
      <p:sp>
        <p:nvSpPr>
          <p:cNvPr id="24" name="Shape 25"/>
          <p:cNvSpPr/>
          <p:nvPr/>
        </p:nvSpPr>
        <p:spPr>
          <a:xfrm>
            <a:off x="2360000" y="1280000"/>
            <a:ext cx="5100000" cy="3900000"/>
          </a:xfrm>
          <a:prstGeom prst="roundRect">
            <a:avLst>
              <a:gd name="adj" fmla="val 2500"/>
            </a:avLst>
          </a:prstGeom>
          <a:solidFill>
            <a:srgbClr val="F7F7F5"/>
          </a:solidFill>
          <a:ln w="12700">
            <a:solidFill>
              <a:srgbClr val="D9D9D9"/>
            </a:solidFill>
            <a:prstDash val="solid"/>
          </a:ln>
        </p:spPr>
      </p:sp>
      <p:sp>
        <p:nvSpPr>
          <p:cNvPr id="26" name="Text 27"/>
          <p:cNvSpPr/>
          <p:nvPr/>
        </p:nvSpPr>
        <p:spPr>
          <a:xfrm>
            <a:off x="2490000" y="1360000"/>
            <a:ext cx="4850000" cy="260000"/>
          </a:xfrm>
          <a:prstGeom prst="rect">
            <a:avLst/>
          </a:prstGeom>
          <a:noFill/>
          <a:ln/>
        </p:spPr>
        <p:txBody>
          <a:bodyPr wrap="square" lIns="0" tIns="0" rIns="0" bIns="0" rtlCol="0" anchor="t"/>
          <a:lstStyle/>
          <a:p>
            <a:pPr indent="0" marL="0">
              <a:buNone/>
            </a:pPr>
            <a:r>
              <a:rPr lang="en-US" sz="1050" b="1" dirty="0">
                <a:solidFill>
                  <a:srgbClr val="1F3864"/>
                </a:solidFill>
                <a:latin typeface="Arial" pitchFamily="34" charset="0"/>
                <a:ea typeface="Arial" pitchFamily="34" charset="-122"/>
                <a:cs typeface="Arial" pitchFamily="34" charset="-120"/>
              </a:rPr>
              <a:t>CPI — one outbound layer, three services (per-component build)</a:t>
            </a:r>
          </a:p>
        </p:txBody>
      </p:sp>
      <p:sp>
        <p:nvSpPr>
          <p:cNvPr id="28" name="Shape 29"/>
          <p:cNvSpPr/>
          <p:nvPr/>
        </p:nvSpPr>
        <p:spPr>
          <a:xfrm>
            <a:off x="2490000" y="1700000"/>
            <a:ext cx="4840000" cy="1080000"/>
          </a:xfrm>
          <a:prstGeom prst="roundRect">
            <a:avLst>
              <a:gd name="adj" fmla="val 5000"/>
            </a:avLst>
          </a:prstGeom>
          <a:solidFill>
            <a:srgbClr val="EEEDFE"/>
          </a:solidFill>
          <a:ln w="12700">
            <a:solidFill>
              <a:srgbClr val="534AB7"/>
            </a:solidFill>
            <a:prstDash val="solid"/>
          </a:ln>
        </p:spPr>
      </p:sp>
      <p:sp>
        <p:nvSpPr>
          <p:cNvPr id="30" name="Text 31"/>
          <p:cNvSpPr/>
          <p:nvPr/>
        </p:nvSpPr>
        <p:spPr>
          <a:xfrm>
            <a:off x="2620000" y="1770000"/>
            <a:ext cx="4580000" cy="240000"/>
          </a:xfrm>
          <a:prstGeom prst="rect">
            <a:avLst/>
          </a:prstGeom>
          <a:noFill/>
          <a:ln/>
        </p:spPr>
        <p:txBody>
          <a:bodyPr wrap="square" lIns="0" tIns="0" rIns="0" bIns="0" rtlCol="0" anchor="t"/>
          <a:lstStyle/>
          <a:p>
            <a:pPr indent="0" marL="0">
              <a:buNone/>
            </a:pPr>
            <a:r>
              <a:rPr lang="en-US" sz="950" b="1" dirty="0">
                <a:solidFill>
                  <a:srgbClr val="3B3491"/>
                </a:solidFill>
                <a:latin typeface="Arial" pitchFamily="34" charset="0"/>
                <a:ea typeface="Arial" pitchFamily="34" charset="-122"/>
                <a:cs typeface="Arial" pitchFamily="34" charset="-120"/>
              </a:rPr>
              <a:t>1 · Response dispatcher — PUSH</a:t>
            </a:r>
          </a:p>
        </p:txBody>
      </p:sp>
      <p:sp>
        <p:nvSpPr>
          <p:cNvPr id="32" name="Text 33"/>
          <p:cNvSpPr/>
          <p:nvPr/>
        </p:nvSpPr>
        <p:spPr>
          <a:xfrm>
            <a:off x="2620000" y="2020000"/>
            <a:ext cx="4580000" cy="740000"/>
          </a:xfrm>
          <a:prstGeom prst="rect">
            <a:avLst/>
          </a:prstGeom>
          <a:noFill/>
          <a:ln/>
        </p:spPr>
        <p:txBody>
          <a:bodyPr wrap="square" lIns="0" tIns="0" rIns="0" bIns="0" rtlCol="0" anchor="t"/>
          <a:lstStyle/>
          <a:p>
            <a:pPr indent="0" marL="0">
              <a:spcAft>
                <a:spcPts val="100"/>
              </a:spcAft>
              <a:buNone/>
            </a:pPr>
            <a:r>
              <a:rPr lang="en-US" sz="760" b="1" dirty="0">
                <a:solidFill>
                  <a:srgbClr val="3B3491"/>
                </a:solidFill>
                <a:latin typeface="Arial" pitchFamily="34" charset="0"/>
                <a:ea typeface="Arial" pitchFamily="34" charset="-122"/>
                <a:cs typeface="Arial" pitchFamily="34" charset="-120"/>
              </a:rPr>
              <a:t>Flow:  </a:t>
            </a:r>
            <a:r>
              <a:rPr lang="en-US" sz="760" dirty="0">
                <a:solidFill>
                  <a:srgbClr val="444444"/>
                </a:solidFill>
                <a:latin typeface="Arial" pitchFamily="34" charset="0"/>
                <a:ea typeface="Arial" pitchFamily="34" charset="-122"/>
                <a:cs typeface="Arial" pitchFamily="34" charset="-120"/>
              </a:rPr>
              <a:t>the answer waits in its own queue → routed by source system → sent to that system's configured address (OAuth2 login from CPI's secure store).</a:t>
            </a:r>
          </a:p>
          <a:p>
            <a:pPr indent="0" marL="0">
              <a:spcAft>
                <a:spcPts val="100"/>
              </a:spcAft>
              <a:buNone/>
            </a:pPr>
            <a:r>
              <a:rPr lang="en-US" sz="760" b="1" dirty="0">
                <a:solidFill>
                  <a:srgbClr val="3B3491"/>
                </a:solidFill>
                <a:latin typeface="Arial" pitchFamily="34" charset="0"/>
                <a:ea typeface="Arial" pitchFamily="34" charset="-122"/>
                <a:cs typeface="Arial" pitchFamily="34" charset="-120"/>
              </a:rPr>
              <a:t>Content:  </a:t>
            </a:r>
            <a:r>
              <a:rPr lang="en-US" sz="760" dirty="0">
                <a:solidFill>
                  <a:srgbClr val="444444"/>
                </a:solidFill>
                <a:latin typeface="Arial" pitchFamily="34" charset="0"/>
                <a:ea typeface="Arial" pitchFamily="34" charset="-122"/>
                <a:cs typeface="Arial" pitchFamily="34" charset="-120"/>
              </a:rPr>
              <a:t>the full shape { status, correlationId, sapServiceOrder, sapStatus } from each model's OUT mapping tab. JAMS sign-off (28 July): its callback carries status + correlationId only — document details come from the pull, keyed by contract ID + FSM job number (slide 10).</a:t>
            </a:r>
          </a:p>
          <a:p>
            <a:pPr indent="0" marL="0">
              <a:spcAft>
                <a:spcPts val="100"/>
              </a:spcAft>
              <a:buNone/>
            </a:pPr>
            <a:r>
              <a:rPr lang="en-US" sz="760" b="1" dirty="0">
                <a:solidFill>
                  <a:srgbClr val="3B3491"/>
                </a:solidFill>
                <a:latin typeface="Arial" pitchFamily="34" charset="0"/>
                <a:ea typeface="Arial" pitchFamily="34" charset="-122"/>
                <a:cs typeface="Arial" pitchFamily="34" charset="-120"/>
              </a:rPr>
              <a:t>On failure:  </a:t>
            </a:r>
            <a:r>
              <a:rPr lang="en-US" sz="760" dirty="0">
                <a:solidFill>
                  <a:srgbClr val="444444"/>
                </a:solidFill>
                <a:latin typeface="Arial" pitchFamily="34" charset="0"/>
                <a:ea typeface="Arial" pitchFamily="34" charset="-122"/>
                <a:cs typeface="Arial" pitchFamily="34" charset="-120"/>
              </a:rPr>
              <a:t>only the answer is retried, never the SAP posting.</a:t>
            </a:r>
          </a:p>
        </p:txBody>
      </p:sp>
      <p:sp>
        <p:nvSpPr>
          <p:cNvPr id="34" name="Shape 35"/>
          <p:cNvSpPr/>
          <p:nvPr/>
        </p:nvSpPr>
        <p:spPr>
          <a:xfrm>
            <a:off x="2490000" y="2830000"/>
            <a:ext cx="4840000" cy="1080000"/>
          </a:xfrm>
          <a:prstGeom prst="roundRect">
            <a:avLst>
              <a:gd name="adj" fmla="val 5000"/>
            </a:avLst>
          </a:prstGeom>
          <a:solidFill>
            <a:srgbClr val="E1F5EE"/>
          </a:solidFill>
          <a:ln w="12700">
            <a:solidFill>
              <a:srgbClr val="0F6E56"/>
            </a:solidFill>
            <a:prstDash val="solid"/>
          </a:ln>
        </p:spPr>
      </p:sp>
      <p:sp>
        <p:nvSpPr>
          <p:cNvPr id="36" name="Text 37"/>
          <p:cNvSpPr/>
          <p:nvPr/>
        </p:nvSpPr>
        <p:spPr>
          <a:xfrm>
            <a:off x="2620000" y="2900000"/>
            <a:ext cx="4580000" cy="240000"/>
          </a:xfrm>
          <a:prstGeom prst="rect">
            <a:avLst/>
          </a:prstGeom>
          <a:noFill/>
          <a:ln/>
        </p:spPr>
        <p:txBody>
          <a:bodyPr wrap="square" lIns="0" tIns="0" rIns="0" bIns="0" rtlCol="0" anchor="t"/>
          <a:lstStyle/>
          <a:p>
            <a:pPr indent="0" marL="0">
              <a:buNone/>
            </a:pPr>
            <a:r>
              <a:rPr lang="en-US" sz="950" b="1" dirty="0">
                <a:solidFill>
                  <a:srgbClr val="085041"/>
                </a:solidFill>
                <a:latin typeface="Arial" pitchFamily="34" charset="0"/>
                <a:ea typeface="Arial" pitchFamily="34" charset="-122"/>
                <a:cs typeface="Arial" pitchFamily="34" charset="-120"/>
              </a:rPr>
              <a:t>2 · Reference-data API — PULL</a:t>
            </a:r>
          </a:p>
        </p:txBody>
      </p:sp>
      <p:sp>
        <p:nvSpPr>
          <p:cNvPr id="38" name="Text 39"/>
          <p:cNvSpPr/>
          <p:nvPr/>
        </p:nvSpPr>
        <p:spPr>
          <a:xfrm>
            <a:off x="2620000" y="3150000"/>
            <a:ext cx="4580000" cy="740000"/>
          </a:xfrm>
          <a:prstGeom prst="rect">
            <a:avLst/>
          </a:prstGeom>
          <a:noFill/>
          <a:ln/>
        </p:spPr>
        <p:txBody>
          <a:bodyPr wrap="square" lIns="0" tIns="0" rIns="0" bIns="0" rtlCol="0" anchor="t"/>
          <a:lstStyle/>
          <a:p>
            <a:pPr indent="0" marL="0">
              <a:spcAft>
                <a:spcPts val="100"/>
              </a:spcAft>
              <a:buNone/>
            </a:pPr>
            <a:r>
              <a:rPr lang="en-US" sz="760" b="1" dirty="0">
                <a:solidFill>
                  <a:srgbClr val="085041"/>
                </a:solidFill>
                <a:latin typeface="Arial" pitchFamily="34" charset="0"/>
                <a:ea typeface="Arial" pitchFamily="34" charset="-122"/>
                <a:cs typeface="Arial" pitchFamily="34" charset="-120"/>
              </a:rPr>
              <a:t>Address:  </a:t>
            </a:r>
            <a:r>
              <a:rPr lang="en-US" sz="760" dirty="0">
                <a:solidFill>
                  <a:srgbClr val="444444"/>
                </a:solidFill>
                <a:latin typeface="Arial" pitchFamily="34" charset="0"/>
                <a:ea typeface="Arial" pitchFamily="34" charset="-122"/>
                <a:cs typeface="Arial" pitchFamily="34" charset="-120"/>
              </a:rPr>
              <a:t>GET /refdata/v1/{domain}?system=JAMS&amp;changedSince=… — one address behind the API gateway; each system has its own login and usage limit. Document pulls are keyed by contract ID + FSM job number (JAMS sign-off).</a:t>
            </a:r>
          </a:p>
          <a:p>
            <a:pPr indent="0" marL="0">
              <a:spcAft>
                <a:spcPts val="100"/>
              </a:spcAft>
              <a:buNone/>
            </a:pPr>
            <a:r>
              <a:rPr lang="en-US" sz="760" b="1" dirty="0">
                <a:solidFill>
                  <a:srgbClr val="085041"/>
                </a:solidFill>
                <a:latin typeface="Arial" pitchFamily="34" charset="0"/>
                <a:ea typeface="Arial" pitchFamily="34" charset="-122"/>
                <a:cs typeface="Arial" pitchFamily="34" charset="-120"/>
              </a:rPr>
              <a:t>Routing:  </a:t>
            </a:r>
            <a:r>
              <a:rPr lang="en-US" sz="760" dirty="0">
                <a:solidFill>
                  <a:srgbClr val="444444"/>
                </a:solidFill>
                <a:latin typeface="Arial" pitchFamily="34" charset="0"/>
                <a:ea typeface="Arial" pitchFamily="34" charset="-122"/>
                <a:cs typeface="Arial" pitchFamily="34" charset="-120"/>
              </a:rPr>
              <a:t>the system parameter picks that system's query, read from S/4 via the supported APIs; sensitive data (supplier invoices, payments) is filtered per system.</a:t>
            </a:r>
          </a:p>
          <a:p>
            <a:pPr indent="0" marL="0">
              <a:spcAft>
                <a:spcPts val="100"/>
              </a:spcAft>
              <a:buNone/>
            </a:pPr>
            <a:r>
              <a:rPr lang="en-US" sz="760" b="1" dirty="0">
                <a:solidFill>
                  <a:srgbClr val="085041"/>
                </a:solidFill>
                <a:latin typeface="Arial" pitchFamily="34" charset="0"/>
                <a:ea typeface="Arial" pitchFamily="34" charset="-122"/>
                <a:cs typeface="Arial" pitchFamily="34" charset="-120"/>
              </a:rPr>
              <a:t>Only changes:  </a:t>
            </a:r>
            <a:r>
              <a:rPr lang="en-US" sz="760" dirty="0">
                <a:solidFill>
                  <a:srgbClr val="444444"/>
                </a:solidFill>
                <a:latin typeface="Arial" pitchFamily="34" charset="0"/>
                <a:ea typeface="Arial" pitchFamily="34" charset="-122"/>
                <a:cs typeface="Arial" pitchFamily="34" charset="-120"/>
              </a:rPr>
              <a:t>each call asks only for what changed since the last call; the caller keeps a bookmark — a failed call is retried from the same bookmark, so no changes are missed.</a:t>
            </a:r>
          </a:p>
        </p:txBody>
      </p:sp>
      <p:sp>
        <p:nvSpPr>
          <p:cNvPr id="40" name="Shape 41"/>
          <p:cNvSpPr/>
          <p:nvPr/>
        </p:nvSpPr>
        <p:spPr>
          <a:xfrm>
            <a:off x="2490000" y="3960000"/>
            <a:ext cx="4840000" cy="1080000"/>
          </a:xfrm>
          <a:prstGeom prst="roundRect">
            <a:avLst>
              <a:gd name="adj" fmla="val 5000"/>
            </a:avLst>
          </a:prstGeom>
          <a:solidFill>
            <a:srgbClr val="EEF2F8"/>
          </a:solidFill>
          <a:ln w="12700">
            <a:solidFill>
              <a:srgbClr val="1F3864"/>
            </a:solidFill>
            <a:prstDash val="solid"/>
          </a:ln>
        </p:spPr>
      </p:sp>
      <p:sp>
        <p:nvSpPr>
          <p:cNvPr id="42" name="Text 43"/>
          <p:cNvSpPr/>
          <p:nvPr/>
        </p:nvSpPr>
        <p:spPr>
          <a:xfrm>
            <a:off x="2620000" y="4030000"/>
            <a:ext cx="4580000" cy="240000"/>
          </a:xfrm>
          <a:prstGeom prst="rect">
            <a:avLst/>
          </a:prstGeom>
          <a:noFill/>
          <a:ln/>
        </p:spPr>
        <p:txBody>
          <a:bodyPr wrap="square" lIns="0" tIns="0" rIns="0" bIns="0" rtlCol="0" anchor="t"/>
          <a:lstStyle/>
          <a:p>
            <a:pPr indent="0" marL="0">
              <a:buNone/>
            </a:pPr>
            <a:r>
              <a:rPr lang="en-US" sz="950" b="1" dirty="0">
                <a:solidFill>
                  <a:srgbClr val="1F3864"/>
                </a:solidFill>
                <a:latin typeface="Arial" pitchFamily="34" charset="0"/>
                <a:ea typeface="Arial" pitchFamily="34" charset="-122"/>
                <a:cs typeface="Arial" pitchFamily="34" charset="-120"/>
              </a:rPr>
              <a:t>3 · Response tracker — OData GET</a:t>
            </a:r>
          </a:p>
        </p:txBody>
      </p:sp>
      <p:sp>
        <p:nvSpPr>
          <p:cNvPr id="44" name="Text 45"/>
          <p:cNvSpPr/>
          <p:nvPr/>
        </p:nvSpPr>
        <p:spPr>
          <a:xfrm>
            <a:off x="2620000" y="4280000"/>
            <a:ext cx="4580000" cy="740000"/>
          </a:xfrm>
          <a:prstGeom prst="rect">
            <a:avLst/>
          </a:prstGeom>
          <a:noFill/>
          <a:ln/>
        </p:spPr>
        <p:txBody>
          <a:bodyPr wrap="square" lIns="0" tIns="0" rIns="0" bIns="0" rtlCol="0" anchor="t"/>
          <a:lstStyle/>
          <a:p>
            <a:pPr indent="0" marL="0">
              <a:spcAft>
                <a:spcPts val="100"/>
              </a:spcAft>
              <a:buNone/>
            </a:pPr>
            <a:r>
              <a:rPr lang="en-US" sz="760" b="1" dirty="0">
                <a:solidFill>
                  <a:srgbClr val="1F3864"/>
                </a:solidFill>
                <a:latin typeface="Arial" pitchFamily="34" charset="0"/>
                <a:ea typeface="Arial" pitchFamily="34" charset="-122"/>
                <a:cs typeface="Arial" pitchFamily="34" charset="-120"/>
              </a:rPr>
              <a:t>Store:  </a:t>
            </a:r>
            <a:r>
              <a:rPr lang="en-US" sz="760" dirty="0">
                <a:solidFill>
                  <a:srgbClr val="444444"/>
                </a:solidFill>
                <a:latin typeface="Arial" pitchFamily="34" charset="0"/>
                <a:ea typeface="Arial" pitchFamily="34" charset="-122"/>
                <a:cs typeface="Arial" pitchFamily="34" charset="-120"/>
              </a:rPr>
              <a:t>a lookup service over the tracker store — filed under the tracking ID, kept 90 days, updated at every step.</a:t>
            </a:r>
          </a:p>
          <a:p>
            <a:pPr indent="0" marL="0">
              <a:spcAft>
                <a:spcPts val="100"/>
              </a:spcAft>
              <a:buNone/>
            </a:pPr>
            <a:r>
              <a:rPr lang="en-US" sz="760" b="1" dirty="0">
                <a:solidFill>
                  <a:srgbClr val="1F3864"/>
                </a:solidFill>
                <a:latin typeface="Arial" pitchFamily="34" charset="0"/>
                <a:ea typeface="Arial" pitchFamily="34" charset="-122"/>
                <a:cs typeface="Arial" pitchFamily="34" charset="-120"/>
              </a:rPr>
              <a:t>Address:  </a:t>
            </a:r>
            <a:r>
              <a:rPr lang="en-US" sz="760" dirty="0">
                <a:solidFill>
                  <a:srgbClr val="444444"/>
                </a:solidFill>
                <a:latin typeface="Arial" pitchFamily="34" charset="0"/>
                <a:ea typeface="Arial" pitchFamily="34" charset="-122"/>
                <a:cs typeface="Arial" pitchFamily="34" charset="-120"/>
              </a:rPr>
              <a:t>GET /status/v1?correlationId=… returns the state (RECEIVED / PROCESSING / SUCCEEDED / PARTIAL / FAILED), the documents and any errors.</a:t>
            </a:r>
          </a:p>
          <a:p>
            <a:pPr indent="0" marL="0">
              <a:spcAft>
                <a:spcPts val="100"/>
              </a:spcAft>
              <a:buNone/>
            </a:pPr>
            <a:r>
              <a:rPr lang="en-US" sz="760" b="1" dirty="0">
                <a:solidFill>
                  <a:srgbClr val="1F3864"/>
                </a:solidFill>
                <a:latin typeface="Arial" pitchFamily="34" charset="0"/>
                <a:ea typeface="Arial" pitchFamily="34" charset="-122"/>
                <a:cs typeface="Arial" pitchFamily="34" charset="-120"/>
              </a:rPr>
              <a:t>Purpose:  </a:t>
            </a:r>
            <a:r>
              <a:rPr lang="en-US" sz="760" dirty="0">
                <a:solidFill>
                  <a:srgbClr val="444444"/>
                </a:solidFill>
                <a:latin typeface="Arial" pitchFamily="34" charset="0"/>
                <a:ea typeface="Arial" pitchFamily="34" charset="-122"/>
                <a:cs typeface="Arial" pitchFamily="34" charset="-120"/>
              </a:rPr>
              <a:t>the fallback when an answer cannot be delivered, and end-of-day checking.</a:t>
            </a:r>
          </a:p>
        </p:txBody>
      </p:sp>
      <p:sp>
        <p:nvSpPr>
          <p:cNvPr id="46" name="Arrow 47"/>
          <p:cNvSpPr/>
          <p:nvPr/>
        </p:nvSpPr>
        <p:spPr>
          <a:xfrm>
            <a:off x="2152920" y="3330000"/>
            <a:ext cx="207080" cy="1"/>
          </a:xfrm>
          <a:prstGeom prst="line">
            <a:avLst/>
          </a:prstGeom>
          <a:noFill/>
          <a:ln w="25400">
            <a:solidFill>
              <a:srgbClr val="1F3864"/>
            </a:solidFill>
            <a:prstDash val="solid"/>
            <a:headEnd type="none"/>
            <a:tailEnd type="triangle"/>
          </a:ln>
        </p:spPr>
      </p:sp>
      <p:sp>
        <p:nvSpPr>
          <p:cNvPr id="48" name="Shape 49"/>
          <p:cNvSpPr/>
          <p:nvPr/>
        </p:nvSpPr>
        <p:spPr>
          <a:xfrm>
            <a:off x="9200000" y="1700000"/>
            <a:ext cx="2488480" cy="3260000"/>
          </a:xfrm>
          <a:prstGeom prst="roundRect">
            <a:avLst>
              <a:gd name="adj" fmla="val 4000"/>
            </a:avLst>
          </a:prstGeom>
          <a:solidFill>
            <a:srgbClr val="EEF2F8"/>
          </a:solidFill>
          <a:ln w="15875">
            <a:solidFill>
              <a:srgbClr val="1F3864"/>
            </a:solidFill>
            <a:prstDash val="solid"/>
          </a:ln>
        </p:spPr>
      </p:sp>
      <p:sp>
        <p:nvSpPr>
          <p:cNvPr id="50" name="Text 51"/>
          <p:cNvSpPr/>
          <p:nvPr/>
        </p:nvSpPr>
        <p:spPr>
          <a:xfrm>
            <a:off x="9330000" y="1830000"/>
            <a:ext cx="2230000" cy="300000"/>
          </a:xfrm>
          <a:prstGeom prst="rect">
            <a:avLst/>
          </a:prstGeom>
          <a:noFill/>
          <a:ln/>
        </p:spPr>
        <p:txBody>
          <a:bodyPr wrap="square" lIns="0" tIns="0" rIns="0" bIns="0" rtlCol="0" anchor="t"/>
          <a:lstStyle/>
          <a:p>
            <a:pPr indent="0" marL="0">
              <a:buNone/>
            </a:pPr>
            <a:r>
              <a:rPr lang="en-US" sz="1050" b="1" dirty="0">
                <a:solidFill>
                  <a:srgbClr val="1F3864"/>
                </a:solidFill>
                <a:latin typeface="Arial" pitchFamily="34" charset="0"/>
                <a:ea typeface="Arial" pitchFamily="34" charset="-122"/>
                <a:cs typeface="Arial" pitchFamily="34" charset="-120"/>
              </a:rPr>
              <a:t>FSMs — consumers</a:t>
            </a:r>
          </a:p>
        </p:txBody>
      </p:sp>
      <p:sp>
        <p:nvSpPr>
          <p:cNvPr id="52" name="Text 53"/>
          <p:cNvSpPr/>
          <p:nvPr/>
        </p:nvSpPr>
        <p:spPr>
          <a:xfrm>
            <a:off x="9330000" y="2150000"/>
            <a:ext cx="2230000" cy="1200000"/>
          </a:xfrm>
          <a:prstGeom prst="rect">
            <a:avLst/>
          </a:prstGeom>
          <a:noFill/>
          <a:ln/>
        </p:spPr>
        <p:txBody>
          <a:bodyPr wrap="square" lIns="0" tIns="0" rIns="0" bIns="0" rtlCol="0" anchor="t"/>
          <a:lstStyle/>
          <a:p>
            <a:pPr indent="0" marL="0">
              <a:spcAft>
                <a:spcPts val="150"/>
              </a:spcAft>
              <a:buNone/>
            </a:pPr>
            <a:r>
              <a:rPr lang="en-US" sz="850" b="1" dirty="0">
                <a:solidFill>
                  <a:srgbClr val="1F3864"/>
                </a:solidFill>
                <a:latin typeface="Arial" pitchFamily="34" charset="0"/>
                <a:ea typeface="Arial" pitchFamily="34" charset="-122"/>
                <a:cs typeface="Arial" pitchFamily="34" charset="-120"/>
              </a:rPr>
              <a:t>JAMS</a:t>
            </a:r>
          </a:p>
          <a:p>
            <a:pPr indent="0" marL="0">
              <a:spcAft>
                <a:spcPts val="150"/>
              </a:spcAft>
              <a:buNone/>
            </a:pPr>
            <a:r>
              <a:rPr lang="en-US" sz="850" b="1" dirty="0">
                <a:solidFill>
                  <a:srgbClr val="1F3864"/>
                </a:solidFill>
                <a:latin typeface="Arial" pitchFamily="34" charset="0"/>
                <a:ea typeface="Arial" pitchFamily="34" charset="-122"/>
                <a:cs typeface="Arial" pitchFamily="34" charset="-120"/>
              </a:rPr>
              <a:t>ServiceNow (ITSM)</a:t>
            </a:r>
          </a:p>
          <a:p>
            <a:pPr indent="0" marL="0">
              <a:spcAft>
                <a:spcPts val="150"/>
              </a:spcAft>
              <a:buNone/>
            </a:pPr>
            <a:r>
              <a:rPr lang="en-US" sz="850" b="1" dirty="0">
                <a:solidFill>
                  <a:srgbClr val="1F3864"/>
                </a:solidFill>
                <a:latin typeface="Arial" pitchFamily="34" charset="0"/>
                <a:ea typeface="Arial" pitchFamily="34" charset="-122"/>
                <a:cs typeface="Arial" pitchFamily="34" charset="-120"/>
              </a:rPr>
              <a:t>SiteTracker (ODM)</a:t>
            </a:r>
          </a:p>
          <a:p>
            <a:pPr indent="0" marL="0">
              <a:spcAft>
                <a:spcPts val="150"/>
              </a:spcAft>
              <a:buNone/>
            </a:pPr>
            <a:r>
              <a:rPr lang="en-US" sz="850" b="1" dirty="0">
                <a:solidFill>
                  <a:srgbClr val="1F3864"/>
                </a:solidFill>
                <a:latin typeface="Arial" pitchFamily="34" charset="0"/>
                <a:ea typeface="Arial" pitchFamily="34" charset="-122"/>
                <a:cs typeface="Arial" pitchFamily="34" charset="-120"/>
              </a:rPr>
              <a:t>MDFS · PIMS · MARS</a:t>
            </a:r>
          </a:p>
          <a:p>
            <a:pPr indent="0" marL="0">
              <a:buNone/>
            </a:pPr>
            <a:r>
              <a:rPr lang="en-US" sz="850" b="1" dirty="0">
                <a:solidFill>
                  <a:srgbClr val="1F3864"/>
                </a:solidFill>
                <a:latin typeface="Arial" pitchFamily="34" charset="0"/>
                <a:ea typeface="Arial" pitchFamily="34" charset="-122"/>
                <a:cs typeface="Arial" pitchFamily="34" charset="-120"/>
              </a:rPr>
              <a:t>UNIWOH · Konect · MEX</a:t>
            </a:r>
          </a:p>
        </p:txBody>
      </p:sp>
      <p:sp>
        <p:nvSpPr>
          <p:cNvPr id="54" name="Text 55"/>
          <p:cNvSpPr/>
          <p:nvPr/>
        </p:nvSpPr>
        <p:spPr>
          <a:xfrm>
            <a:off x="9330000" y="3560000"/>
            <a:ext cx="2230000" cy="1350000"/>
          </a:xfrm>
          <a:prstGeom prst="rect">
            <a:avLst/>
          </a:prstGeom>
          <a:noFill/>
          <a:ln/>
        </p:spPr>
        <p:txBody>
          <a:bodyPr wrap="square" lIns="0" tIns="0" rIns="0" bIns="0" rtlCol="0" anchor="t"/>
          <a:lstStyle/>
          <a:p>
            <a:pPr indent="0" marL="0">
              <a:spcAft>
                <a:spcPts val="100"/>
              </a:spcAft>
              <a:buNone/>
            </a:pPr>
            <a:r>
              <a:rPr lang="en-US" sz="800" b="1" dirty="0">
                <a:solidFill>
                  <a:srgbClr val="1F3864"/>
                </a:solidFill>
                <a:latin typeface="Arial" pitchFamily="34" charset="0"/>
                <a:ea typeface="Arial" pitchFamily="34" charset="-122"/>
                <a:cs typeface="Arial" pitchFamily="34" charset="-120"/>
              </a:rPr>
              <a:t>Each FSM builds:</a:t>
            </a:r>
          </a:p>
          <a:p>
            <a:pPr indent="0" marL="0">
              <a:spcAft>
                <a:spcPts val="100"/>
              </a:spcAft>
              <a:buNone/>
            </a:pPr>
            <a:r>
              <a:rPr lang="en-US" sz="780" dirty="0">
                <a:solidFill>
                  <a:srgbClr val="444444"/>
                </a:solidFill>
                <a:latin typeface="Arial" pitchFamily="34" charset="0"/>
                <a:ea typeface="Arial" pitchFamily="34" charset="-122"/>
                <a:cs typeface="Arial" pitchFamily="34" charset="-120"/>
              </a:rPr>
              <a:t>· an address to receive answers (push)</a:t>
            </a:r>
          </a:p>
          <a:p>
            <a:pPr indent="0" marL="0">
              <a:spcAft>
                <a:spcPts val="100"/>
              </a:spcAft>
              <a:buNone/>
            </a:pPr>
            <a:r>
              <a:rPr lang="en-US" sz="780" dirty="0">
                <a:solidFill>
                  <a:srgbClr val="444444"/>
                </a:solidFill>
                <a:latin typeface="Arial" pitchFamily="34" charset="0"/>
                <a:ea typeface="Arial" pitchFamily="34" charset="-122"/>
                <a:cs typeface="Arial" pitchFamily="34" charset="-120"/>
              </a:rPr>
              <a:t>· a scheduled job that asks for changes (pull)</a:t>
            </a:r>
          </a:p>
          <a:p>
            <a:pPr indent="0" marL="0">
              <a:buNone/>
            </a:pPr>
            <a:r>
              <a:rPr lang="en-US" sz="780" dirty="0">
                <a:solidFill>
                  <a:srgbClr val="444444"/>
                </a:solidFill>
                <a:latin typeface="Arial" pitchFamily="34" charset="0"/>
                <a:ea typeface="Arial" pitchFamily="34" charset="-122"/>
                <a:cs typeface="Arial" pitchFamily="34" charset="-120"/>
              </a:rPr>
              <a:t>· status lookup — same login as the pull</a:t>
            </a:r>
          </a:p>
        </p:txBody>
      </p:sp>
      <p:sp>
        <p:nvSpPr>
          <p:cNvPr id="56" name="Text 57"/>
          <p:cNvSpPr/>
          <p:nvPr/>
        </p:nvSpPr>
        <p:spPr>
          <a:xfrm>
            <a:off x="7460000" y="1900000"/>
            <a:ext cx="1650000" cy="380000"/>
          </a:xfrm>
          <a:prstGeom prst="rect">
            <a:avLst/>
          </a:prstGeom>
          <a:noFill/>
          <a:ln/>
        </p:spPr>
        <p:txBody>
          <a:bodyPr wrap="square" lIns="0" tIns="0" rIns="0" bIns="0" rtlCol="0" anchor="t"/>
          <a:lstStyle/>
          <a:p>
            <a:pPr indent="0" marL="0">
              <a:spcAft>
                <a:spcPts val="100"/>
              </a:spcAft>
              <a:buNone/>
            </a:pPr>
            <a:r>
              <a:rPr lang="en-US" sz="780" b="1" dirty="0">
                <a:solidFill>
                  <a:srgbClr val="3B3491"/>
                </a:solidFill>
                <a:latin typeface="Arial" pitchFamily="34" charset="0"/>
                <a:ea typeface="Arial" pitchFamily="34" charset="-122"/>
                <a:cs typeface="Arial" pitchFamily="34" charset="-120"/>
              </a:rPr>
              <a:t>PUSH — CPI sends</a:t>
            </a:r>
          </a:p>
          <a:p>
            <a:pPr indent="0" marL="0">
              <a:buNone/>
            </a:pPr>
            <a:r>
              <a:rPr lang="en-US" sz="720" dirty="0">
                <a:solidFill>
                  <a:srgbClr val="3B3491"/>
                </a:solidFill>
                <a:latin typeface="Arial" pitchFamily="34" charset="0"/>
                <a:ea typeface="Arial" pitchFamily="34" charset="-122"/>
                <a:cs typeface="Arial" pitchFamily="34" charset="-120"/>
              </a:rPr>
              <a:t>to the system's address</a:t>
            </a:r>
          </a:p>
        </p:txBody>
      </p:sp>
      <p:sp>
        <p:nvSpPr>
          <p:cNvPr id="58" name="Arrow 59"/>
          <p:cNvSpPr/>
          <p:nvPr/>
        </p:nvSpPr>
        <p:spPr>
          <a:xfrm>
            <a:off x="7460000" y="2310000"/>
            <a:ext cx="1660000" cy="1"/>
          </a:xfrm>
          <a:prstGeom prst="line">
            <a:avLst/>
          </a:prstGeom>
          <a:noFill/>
          <a:ln w="28575">
            <a:solidFill>
              <a:srgbClr val="534AB7"/>
            </a:solidFill>
            <a:prstDash val="solid"/>
            <a:headEnd type="none"/>
            <a:tailEnd type="triangle"/>
          </a:ln>
        </p:spPr>
      </p:sp>
      <p:sp>
        <p:nvSpPr>
          <p:cNvPr id="60" name="Text 61"/>
          <p:cNvSpPr/>
          <p:nvPr/>
        </p:nvSpPr>
        <p:spPr>
          <a:xfrm>
            <a:off x="7460000" y="3020000"/>
            <a:ext cx="1650000" cy="380000"/>
          </a:xfrm>
          <a:prstGeom prst="rect">
            <a:avLst/>
          </a:prstGeom>
          <a:noFill/>
          <a:ln/>
        </p:spPr>
        <p:txBody>
          <a:bodyPr wrap="square" lIns="0" tIns="0" rIns="0" bIns="0" rtlCol="0" anchor="t"/>
          <a:lstStyle/>
          <a:p>
            <a:pPr indent="0" marL="0">
              <a:spcAft>
                <a:spcPts val="100"/>
              </a:spcAft>
              <a:buNone/>
            </a:pPr>
            <a:r>
              <a:rPr lang="en-US" sz="780" b="1" dirty="0">
                <a:solidFill>
                  <a:srgbClr val="085041"/>
                </a:solidFill>
                <a:latin typeface="Arial" pitchFamily="34" charset="0"/>
                <a:ea typeface="Arial" pitchFamily="34" charset="-122"/>
                <a:cs typeface="Arial" pitchFamily="34" charset="-120"/>
              </a:rPr>
              <a:t>PULL — the system asks</a:t>
            </a:r>
          </a:p>
          <a:p>
            <a:pPr indent="0" marL="0">
              <a:buNone/>
            </a:pPr>
            <a:r>
              <a:rPr lang="en-US" sz="720" dirty="0">
                <a:solidFill>
                  <a:srgbClr val="085041"/>
                </a:solidFill>
                <a:latin typeface="Arial" pitchFamily="34" charset="0"/>
                <a:ea typeface="Arial" pitchFamily="34" charset="-122"/>
                <a:cs typeface="Arial" pitchFamily="34" charset="-120"/>
              </a:rPr>
              <a:t>on its own schedule</a:t>
            </a:r>
          </a:p>
        </p:txBody>
      </p:sp>
      <p:sp>
        <p:nvSpPr>
          <p:cNvPr id="62" name="Arrow 63"/>
          <p:cNvSpPr/>
          <p:nvPr/>
        </p:nvSpPr>
        <p:spPr>
          <a:xfrm flipH="1">
            <a:off x="7460000" y="3430000"/>
            <a:ext cx="1660000" cy="1"/>
          </a:xfrm>
          <a:prstGeom prst="line">
            <a:avLst/>
          </a:prstGeom>
          <a:noFill/>
          <a:ln w="28575">
            <a:solidFill>
              <a:srgbClr val="0F6E56"/>
            </a:solidFill>
            <a:prstDash val="solid"/>
            <a:headEnd type="none"/>
            <a:tailEnd type="triangle"/>
          </a:ln>
        </p:spPr>
      </p:sp>
      <p:sp>
        <p:nvSpPr>
          <p:cNvPr id="64" name="Text 65"/>
          <p:cNvSpPr/>
          <p:nvPr/>
        </p:nvSpPr>
        <p:spPr>
          <a:xfrm>
            <a:off x="7460000" y="4140000"/>
            <a:ext cx="1650000" cy="380000"/>
          </a:xfrm>
          <a:prstGeom prst="rect">
            <a:avLst/>
          </a:prstGeom>
          <a:noFill/>
          <a:ln/>
        </p:spPr>
        <p:txBody>
          <a:bodyPr wrap="square" lIns="0" tIns="0" rIns="0" bIns="0" rtlCol="0" anchor="t"/>
          <a:lstStyle/>
          <a:p>
            <a:pPr indent="0" marL="0">
              <a:spcAft>
                <a:spcPts val="100"/>
              </a:spcAft>
              <a:buNone/>
            </a:pPr>
            <a:r>
              <a:rPr lang="en-US" sz="780" b="1" dirty="0">
                <a:solidFill>
                  <a:srgbClr val="1F3864"/>
                </a:solidFill>
                <a:latin typeface="Arial" pitchFamily="34" charset="0"/>
                <a:ea typeface="Arial" pitchFamily="34" charset="-122"/>
                <a:cs typeface="Arial" pitchFamily="34" charset="-120"/>
              </a:rPr>
              <a:t>LOOK UP — status any time</a:t>
            </a:r>
          </a:p>
          <a:p>
            <a:pPr indent="0" marL="0">
              <a:buNone/>
            </a:pPr>
            <a:r>
              <a:rPr lang="en-US" sz="720" dirty="0">
                <a:solidFill>
                  <a:srgbClr val="1F3864"/>
                </a:solidFill>
                <a:latin typeface="Arial" pitchFamily="34" charset="0"/>
                <a:ea typeface="Arial" pitchFamily="34" charset="-122"/>
                <a:cs typeface="Arial" pitchFamily="34" charset="-120"/>
              </a:rPr>
              <a:t>by tracking ID</a:t>
            </a:r>
          </a:p>
        </p:txBody>
      </p:sp>
      <p:sp>
        <p:nvSpPr>
          <p:cNvPr id="66" name="Arrow 67"/>
          <p:cNvSpPr/>
          <p:nvPr/>
        </p:nvSpPr>
        <p:spPr>
          <a:xfrm flipH="1">
            <a:off x="7460000" y="4550000"/>
            <a:ext cx="1660000" cy="1"/>
          </a:xfrm>
          <a:prstGeom prst="line">
            <a:avLst/>
          </a:prstGeom>
          <a:noFill/>
          <a:ln w="28575">
            <a:solidFill>
              <a:srgbClr val="1F3864"/>
            </a:solidFill>
            <a:prstDash val="dash"/>
            <a:headEnd type="none"/>
            <a:tailEnd type="triangle"/>
          </a:ln>
        </p:spPr>
      </p:sp>
      <p:sp>
        <p:nvSpPr>
          <p:cNvPr id="68" name="Shape 69"/>
          <p:cNvSpPr/>
          <p:nvPr/>
        </p:nvSpPr>
        <p:spPr>
          <a:xfrm>
            <a:off x="502920" y="5400000"/>
            <a:ext cx="11186160" cy="880000"/>
          </a:xfrm>
          <a:prstGeom prst="roundRect">
            <a:avLst>
              <a:gd name="adj" fmla="val 4000"/>
            </a:avLst>
          </a:prstGeom>
          <a:solidFill>
            <a:srgbClr val="F7F7F5"/>
          </a:solidFill>
          <a:ln w="9525">
            <a:solidFill>
              <a:srgbClr val="D9D9D9"/>
            </a:solidFill>
            <a:prstDash val="solid"/>
          </a:ln>
        </p:spPr>
      </p:sp>
      <p:sp>
        <p:nvSpPr>
          <p:cNvPr id="70" name="Text 71"/>
          <p:cNvSpPr/>
          <p:nvPr/>
        </p:nvSpPr>
        <p:spPr>
          <a:xfrm>
            <a:off x="702920" y="5500000"/>
            <a:ext cx="10800000" cy="34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Why pull for data:  </a:t>
            </a:r>
            <a:r>
              <a:rPr lang="en-US" sz="900" dirty="0">
                <a:solidFill>
                  <a:srgbClr val="444444"/>
                </a:solidFill>
                <a:latin typeface="Arial" pitchFamily="34" charset="0"/>
                <a:ea typeface="Arial" pitchFamily="34" charset="-122"/>
                <a:cs typeface="Arial" pitchFamily="34" charset="-120"/>
              </a:rPr>
              <a:t>pushing every feed into every system means a separate build for each pair. One shared address with a system parameter is a single build — each system decides how fresh its data must be, and adding a system means registering one more query rather than building a new interface.</a:t>
            </a:r>
          </a:p>
        </p:txBody>
      </p:sp>
      <p:sp>
        <p:nvSpPr>
          <p:cNvPr id="72" name="Text 73"/>
          <p:cNvSpPr/>
          <p:nvPr/>
        </p:nvSpPr>
        <p:spPr>
          <a:xfrm>
            <a:off x="702920" y="5880000"/>
            <a:ext cx="10800000" cy="32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Security:  </a:t>
            </a:r>
            <a:r>
              <a:rPr lang="en-US" sz="900" dirty="0">
                <a:solidFill>
                  <a:srgbClr val="444444"/>
                </a:solidFill>
                <a:latin typeface="Arial" pitchFamily="34" charset="0"/>
                <a:ea typeface="Arial" pitchFamily="34" charset="-122"/>
                <a:cs typeface="Arial" pitchFamily="34" charset="-120"/>
              </a:rPr>
              <a:t>system-to-system OAuth2 logins everywhere · each system has its own gateway account and usage limit · passwords and certificates only in CPI's secure store · message content never in alert emails.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ED76B4-4AD3-7461-8C12-C222424B778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02920" y="926261"/>
            <a:ext cx="3405238" cy="5143500"/>
          </a:xfrm>
          <a:prstGeom prst="rect">
            <a:avLst/>
          </a:prstGeom>
        </p:spPr>
      </p:pic>
      <p:sp>
        <p:nvSpPr>
          <p:cNvPr id="7" name="Text 7">
            <a:extLst>
              <a:ext uri="{FF2B5EF4-FFF2-40B4-BE49-F238E27FC236}">
                <a16:creationId xmlns:a16="http://schemas.microsoft.com/office/drawing/2014/main" id="{457EA4F4-ACCA-23FB-8D12-73F5DBB87BD8}"/>
              </a:ext>
            </a:extLst>
          </p:cNvPr>
          <p:cNvSpPr/>
          <p:nvPr/>
        </p:nvSpPr>
        <p:spPr>
          <a:xfrm>
            <a:off x="502920" y="182880"/>
            <a:ext cx="8503920" cy="502920"/>
          </a:xfrm>
          <a:prstGeom prst="rect">
            <a:avLst/>
          </a:prstGeom>
          <a:noFill/>
          <a:ln/>
        </p:spPr>
        <p:txBody>
          <a:bodyPr wrap="square" lIns="0" tIns="0" rIns="0" bIns="0" rtlCol="0" anchor="ctr"/>
          <a:lstStyle/>
          <a:p>
            <a:r>
              <a:rPr lang="en-US" sz="2300" b="1">
                <a:solidFill>
                  <a:srgbClr val="1F3864"/>
                </a:solidFill>
                <a:latin typeface="Arial"/>
                <a:ea typeface="Arial" pitchFamily="34" charset="-122"/>
                <a:cs typeface="Arial"/>
              </a:rPr>
              <a:t>S/4 - Outbound to the FSMs — sample Payload from S/4</a:t>
            </a:r>
          </a:p>
        </p:txBody>
      </p:sp>
      <p:graphicFrame>
        <p:nvGraphicFramePr>
          <p:cNvPr id="9" name="Table 8">
            <a:extLst>
              <a:ext uri="{FF2B5EF4-FFF2-40B4-BE49-F238E27FC236}">
                <a16:creationId xmlns:a16="http://schemas.microsoft.com/office/drawing/2014/main" id="{4970D061-A75B-9BE8-7202-4B643075A3A1}"/>
              </a:ext>
            </a:extLst>
          </p:cNvPr>
          <p:cNvGraphicFramePr>
            <a:graphicFrameLocks noGrp="1"/>
          </p:cNvGraphicFramePr>
          <p:nvPr>
            <p:extLst>
              <p:ext uri="{D42A27DB-BD31-4B8C-83A1-F6EECF244321}">
                <p14:modId xmlns:p14="http://schemas.microsoft.com/office/powerpoint/2010/main" val="723126067"/>
              </p:ext>
            </p:extLst>
          </p:nvPr>
        </p:nvGraphicFramePr>
        <p:xfrm>
          <a:off x="4124864" y="926261"/>
          <a:ext cx="3086819" cy="1828800"/>
        </p:xfrm>
        <a:graphic>
          <a:graphicData uri="http://schemas.openxmlformats.org/drawingml/2006/table">
            <a:tbl>
              <a:tblPr/>
              <a:tblGrid>
                <a:gridCol w="887055">
                  <a:extLst>
                    <a:ext uri="{9D8B030D-6E8A-4147-A177-3AD203B41FA5}">
                      <a16:colId xmlns:a16="http://schemas.microsoft.com/office/drawing/2014/main" val="1839124333"/>
                    </a:ext>
                  </a:extLst>
                </a:gridCol>
                <a:gridCol w="2199764">
                  <a:extLst>
                    <a:ext uri="{9D8B030D-6E8A-4147-A177-3AD203B41FA5}">
                      <a16:colId xmlns:a16="http://schemas.microsoft.com/office/drawing/2014/main" val="2776793090"/>
                    </a:ext>
                  </a:extLst>
                </a:gridCol>
              </a:tblGrid>
              <a:tr h="365760">
                <a:tc gridSpan="2">
                  <a:txBody>
                    <a:bodyPr/>
                    <a:lstStyle/>
                    <a:p>
                      <a:pPr marL="0" indent="0">
                        <a:buNone/>
                      </a:pPr>
                      <a:r>
                        <a:rPr lang="en-US" sz="1000" b="1">
                          <a:latin typeface="Arial" charset="0"/>
                          <a:ea typeface="Arial" charset="0"/>
                          <a:cs typeface="Arial" charset="0"/>
                        </a:rPr>
                        <a:t>Parameters - URL</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hMerge="1">
                  <a:txBody>
                    <a:bodyPr/>
                    <a:lstStyle/>
                    <a:p>
                      <a:pPr marL="0" indent="0">
                        <a:buNone/>
                      </a:pP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643234371"/>
                  </a:ext>
                </a:extLst>
              </a:tr>
              <a:tr h="365760">
                <a:tc>
                  <a:txBody>
                    <a:bodyPr/>
                    <a:lstStyle/>
                    <a:p>
                      <a:pPr marL="0" indent="0">
                        <a:buNone/>
                      </a:pPr>
                      <a:r>
                        <a:rPr lang="en-US" sz="1000" b="1" err="1">
                          <a:solidFill>
                            <a:srgbClr val="1F3864"/>
                          </a:solidFill>
                          <a:latin typeface="Arial" pitchFamily="34" charset="0"/>
                          <a:ea typeface="Arial" pitchFamily="34" charset="-122"/>
                          <a:cs typeface="Arial" pitchFamily="34" charset="-120"/>
                        </a:rPr>
                        <a:t>ContractID</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1000">
                          <a:latin typeface="Arial" charset="0"/>
                          <a:ea typeface="Arial" charset="0"/>
                          <a:cs typeface="Arial" charset="0"/>
                        </a:rPr>
                        <a:t>Text, 20 Chars</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4068211543"/>
                  </a:ext>
                </a:extLst>
              </a:tr>
              <a:tr h="365760">
                <a:tc gridSpan="2">
                  <a:txBody>
                    <a:bodyPr/>
                    <a:lstStyle/>
                    <a:p>
                      <a:pPr marL="0" indent="0">
                        <a:buNone/>
                      </a:pPr>
                      <a:r>
                        <a:rPr lang="en-US" sz="1000" b="1">
                          <a:latin typeface="Arial" charset="0"/>
                          <a:ea typeface="Arial" charset="0"/>
                          <a:cs typeface="Arial" charset="0"/>
                        </a:rPr>
                        <a:t>Filters - Query Parameters</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hMerge="1">
                  <a:txBody>
                    <a:bodyPr/>
                    <a:lstStyle/>
                    <a:p>
                      <a:pPr marL="0" indent="0">
                        <a:buNone/>
                      </a:pP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3172476265"/>
                  </a:ext>
                </a:extLst>
              </a:tr>
              <a:tr h="365760">
                <a:tc>
                  <a:txBody>
                    <a:bodyPr/>
                    <a:lstStyle/>
                    <a:p>
                      <a:pPr marL="0" indent="0">
                        <a:buNone/>
                      </a:pPr>
                      <a:r>
                        <a:rPr lang="en-US" sz="1000">
                          <a:latin typeface="Arial" charset="0"/>
                          <a:ea typeface="Arial" charset="0"/>
                          <a:cs typeface="Arial" charset="0"/>
                        </a:rPr>
                        <a:t>system · contract</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1000">
                          <a:solidFill>
                            <a:srgbClr val="444444"/>
                          </a:solidFill>
                          <a:latin typeface="Arial" pitchFamily="34" charset="0"/>
                          <a:ea typeface="Arial" pitchFamily="34" charset="-122"/>
                          <a:cs typeface="Arial" pitchFamily="34" charset="-120"/>
                        </a:rPr>
                        <a:t>which system and contract view — e.g. system=JAMS, contract=CCR-145.3052025-Tel</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2875857366"/>
                  </a:ext>
                </a:extLst>
              </a:tr>
              <a:tr h="365760">
                <a:tc>
                  <a:txBody>
                    <a:bodyPr/>
                    <a:lstStyle/>
                    <a:p>
                      <a:pPr marL="0" indent="0">
                        <a:buNone/>
                      </a:pPr>
                      <a:r>
                        <a:rPr lang="en-US" sz="1000">
                          <a:latin typeface="Arial" charset="0"/>
                          <a:ea typeface="Arial" charset="0"/>
                          <a:cs typeface="Arial" charset="0"/>
                        </a:rPr>
                        <a:t>$filter · $top</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1000">
                          <a:latin typeface="Arial" charset="0"/>
                          <a:ea typeface="Arial" charset="0"/>
                          <a:cs typeface="Arial" charset="0"/>
                        </a:rPr>
                        <a:t>OData filter and paging — e.g. YY1_clientContractId_SRH eq the contract · $top=10</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402343372"/>
                  </a:ext>
                </a:extLst>
              </a:tr>
            </a:tbl>
          </a:graphicData>
        </a:graphic>
      </p:graphicFrame>
      <p:graphicFrame>
        <p:nvGraphicFramePr>
          <p:cNvPr id="10" name="Table 9">
            <a:extLst>
              <a:ext uri="{FF2B5EF4-FFF2-40B4-BE49-F238E27FC236}">
                <a16:creationId xmlns:a16="http://schemas.microsoft.com/office/drawing/2014/main" id="{C88EF119-CE40-8494-22FF-8165BF118E49}"/>
              </a:ext>
            </a:extLst>
          </p:cNvPr>
          <p:cNvGraphicFramePr>
            <a:graphicFrameLocks noGrp="1"/>
          </p:cNvGraphicFramePr>
          <p:nvPr>
            <p:extLst>
              <p:ext uri="{D42A27DB-BD31-4B8C-83A1-F6EECF244321}">
                <p14:modId xmlns:p14="http://schemas.microsoft.com/office/powerpoint/2010/main" val="2187640711"/>
              </p:ext>
            </p:extLst>
          </p:nvPr>
        </p:nvGraphicFramePr>
        <p:xfrm>
          <a:off x="4124863" y="2883739"/>
          <a:ext cx="3086819" cy="3048000"/>
        </p:xfrm>
        <a:graphic>
          <a:graphicData uri="http://schemas.openxmlformats.org/drawingml/2006/table">
            <a:tbl>
              <a:tblPr/>
              <a:tblGrid>
                <a:gridCol w="887055">
                  <a:extLst>
                    <a:ext uri="{9D8B030D-6E8A-4147-A177-3AD203B41FA5}">
                      <a16:colId xmlns:a16="http://schemas.microsoft.com/office/drawing/2014/main" val="1839124333"/>
                    </a:ext>
                  </a:extLst>
                </a:gridCol>
                <a:gridCol w="2199764">
                  <a:extLst>
                    <a:ext uri="{9D8B030D-6E8A-4147-A177-3AD203B41FA5}">
                      <a16:colId xmlns:a16="http://schemas.microsoft.com/office/drawing/2014/main" val="2776793090"/>
                    </a:ext>
                  </a:extLst>
                </a:gridCol>
              </a:tblGrid>
              <a:tr h="365760">
                <a:tc gridSpan="2">
                  <a:txBody>
                    <a:bodyPr/>
                    <a:lstStyle/>
                    <a:p>
                      <a:pPr marL="0" indent="0">
                        <a:buNone/>
                      </a:pPr>
                      <a:r>
                        <a:rPr lang="en-US" sz="1000" b="1">
                          <a:latin typeface="Arial" charset="0"/>
                          <a:ea typeface="Arial" charset="0"/>
                          <a:cs typeface="Arial" charset="0"/>
                        </a:rPr>
                        <a:t>Base S/4HANA APIs</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hMerge="1">
                  <a:txBody>
                    <a:bodyPr/>
                    <a:lstStyle/>
                    <a:p>
                      <a:pPr marL="0" indent="0">
                        <a:buNone/>
                      </a:pP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643234371"/>
                  </a:ext>
                </a:extLst>
              </a:tr>
              <a:tr h="365760">
                <a:tc>
                  <a:txBody>
                    <a:bodyPr/>
                    <a:lstStyle/>
                    <a:p>
                      <a:pPr marL="0" indent="0">
                        <a:buNone/>
                      </a:pPr>
                      <a:r>
                        <a:rPr lang="en-US" sz="1000" b="1">
                          <a:solidFill>
                            <a:srgbClr val="1F3864"/>
                          </a:solidFill>
                          <a:latin typeface="Arial" pitchFamily="34" charset="0"/>
                          <a:ea typeface="Arial" pitchFamily="34" charset="-122"/>
                          <a:cs typeface="Arial" pitchFamily="34" charset="-120"/>
                        </a:rPr>
                        <a:t>Enterprise Project</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1000">
                          <a:latin typeface="Arial" charset="0"/>
                          <a:ea typeface="Arial" charset="0"/>
                          <a:cs typeface="Arial" charset="0"/>
                          <a:hlinkClick r:id="rId3"/>
                        </a:rPr>
                        <a:t>Enterprise Project</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4068211543"/>
                  </a:ext>
                </a:extLst>
              </a:tr>
              <a:tr h="365760">
                <a:tc>
                  <a:txBody>
                    <a:bodyPr/>
                    <a:lstStyle/>
                    <a:p>
                      <a:pPr marL="0" indent="0">
                        <a:buNone/>
                      </a:pPr>
                      <a:r>
                        <a:rPr lang="en-US" sz="1000" b="1">
                          <a:latin typeface="Arial" charset="0"/>
                          <a:ea typeface="Arial" charset="0"/>
                          <a:cs typeface="Arial" charset="0"/>
                        </a:rPr>
                        <a:t>Service Order</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850" dirty="0">
                          <a:solidFill>
                            <a:srgbClr val="085041"/>
                          </a:solidFill>
                          <a:latin typeface="Arial" pitchFamily="34" charset="0"/>
                        </a:rPr>
                        <a:t>/S4/serviceorders — the sample on the left</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3377019396"/>
                  </a:ext>
                </a:extLst>
              </a:tr>
              <a:tr h="365760">
                <a:tc>
                  <a:txBody>
                    <a:bodyPr/>
                    <a:lstStyle/>
                    <a:p>
                      <a:pPr marL="0" indent="0">
                        <a:buNone/>
                      </a:pPr>
                      <a:r>
                        <a:rPr lang="en-US" sz="1000" b="1">
                          <a:latin typeface="Arial" charset="0"/>
                          <a:ea typeface="Arial" charset="0"/>
                          <a:cs typeface="Arial" charset="0"/>
                        </a:rPr>
                        <a:t>Customer Invoice</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850" dirty="0">
                          <a:solidFill>
                            <a:srgbClr val="9C6A00"/>
                          </a:solidFill>
                          <a:latin typeface="Arial" pitchFamily="34" charset="0"/>
                        </a:rPr>
                        <a:t>path to be confirmed</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34276205"/>
                  </a:ext>
                </a:extLst>
              </a:tr>
              <a:tr h="365760">
                <a:tc>
                  <a:txBody>
                    <a:bodyPr/>
                    <a:lstStyle/>
                    <a:p>
                      <a:pPr marL="0" indent="0">
                        <a:buNone/>
                      </a:pPr>
                      <a:r>
                        <a:rPr lang="en-US" sz="1000" b="1">
                          <a:latin typeface="Arial" charset="0"/>
                          <a:ea typeface="Arial" charset="0"/>
                          <a:cs typeface="Arial" charset="0"/>
                        </a:rPr>
                        <a:t>Supplier Invoice/RCTI</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850" dirty="0">
                          <a:solidFill>
                            <a:srgbClr val="9C6A00"/>
                          </a:solidFill>
                          <a:latin typeface="Arial" pitchFamily="34" charset="0"/>
                        </a:rPr>
                        <a:t>path to be confirmed</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3071069061"/>
                  </a:ext>
                </a:extLst>
              </a:tr>
              <a:tr h="365760">
                <a:tc>
                  <a:txBody>
                    <a:bodyPr/>
                    <a:lstStyle/>
                    <a:p>
                      <a:pPr marL="0" indent="0">
                        <a:buNone/>
                      </a:pPr>
                      <a:r>
                        <a:rPr lang="en-US" sz="1000" b="1">
                          <a:latin typeface="Arial" charset="0"/>
                          <a:ea typeface="Arial" charset="0"/>
                          <a:cs typeface="Arial" charset="0"/>
                        </a:rPr>
                        <a:t>Project Time and Equipment Usage</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850" dirty="0">
                          <a:solidFill>
                            <a:srgbClr val="9C6A00"/>
                          </a:solidFill>
                          <a:latin typeface="Arial" pitchFamily="34" charset="0"/>
                        </a:rPr>
                        <a:t>path to be confirmed</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634178642"/>
                  </a:ext>
                </a:extLst>
              </a:tr>
              <a:tr h="365760">
                <a:tc>
                  <a:txBody>
                    <a:bodyPr/>
                    <a:lstStyle/>
                    <a:p>
                      <a:pPr marL="0" indent="0">
                        <a:buNone/>
                      </a:pPr>
                      <a:r>
                        <a:rPr lang="en-US" sz="1000" b="1">
                          <a:latin typeface="Arial" charset="0"/>
                          <a:ea typeface="Arial" charset="0"/>
                          <a:cs typeface="Arial" charset="0"/>
                        </a:rPr>
                        <a:t>Available Stock Query</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850" dirty="0">
                          <a:solidFill>
                            <a:srgbClr val="9C6A00"/>
                          </a:solidFill>
                          <a:latin typeface="Arial" pitchFamily="34" charset="0"/>
                        </a:rPr>
                        <a:t>path to be confirmed</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5348990"/>
                  </a:ext>
                </a:extLst>
              </a:tr>
            </a:tbl>
          </a:graphicData>
        </a:graphic>
      </p:graphicFrame>
      <p:graphicFrame>
        <p:nvGraphicFramePr>
          <p:cNvPr id="11" name="Table 10">
            <a:extLst>
              <a:ext uri="{FF2B5EF4-FFF2-40B4-BE49-F238E27FC236}">
                <a16:creationId xmlns:a16="http://schemas.microsoft.com/office/drawing/2014/main" id="{40DF121E-7A4F-52A6-04B1-84A97B787A49}"/>
              </a:ext>
            </a:extLst>
          </p:cNvPr>
          <p:cNvGraphicFramePr>
            <a:graphicFrameLocks noGrp="1"/>
          </p:cNvGraphicFramePr>
          <p:nvPr>
            <p:extLst>
              <p:ext uri="{D42A27DB-BD31-4B8C-83A1-F6EECF244321}">
                <p14:modId xmlns:p14="http://schemas.microsoft.com/office/powerpoint/2010/main" val="4173750093"/>
              </p:ext>
            </p:extLst>
          </p:nvPr>
        </p:nvGraphicFramePr>
        <p:xfrm>
          <a:off x="7463429" y="926261"/>
          <a:ext cx="4255291" cy="5005481"/>
        </p:xfrm>
        <a:graphic>
          <a:graphicData uri="http://schemas.openxmlformats.org/drawingml/2006/table">
            <a:tbl>
              <a:tblPr/>
              <a:tblGrid>
                <a:gridCol w="827131">
                  <a:extLst>
                    <a:ext uri="{9D8B030D-6E8A-4147-A177-3AD203B41FA5}">
                      <a16:colId xmlns:a16="http://schemas.microsoft.com/office/drawing/2014/main" val="4002279748"/>
                    </a:ext>
                  </a:extLst>
                </a:gridCol>
                <a:gridCol w="685632">
                  <a:extLst>
                    <a:ext uri="{9D8B030D-6E8A-4147-A177-3AD203B41FA5}">
                      <a16:colId xmlns:a16="http://schemas.microsoft.com/office/drawing/2014/main" val="3684286917"/>
                    </a:ext>
                  </a:extLst>
                </a:gridCol>
                <a:gridCol w="685632">
                  <a:extLst>
                    <a:ext uri="{9D8B030D-6E8A-4147-A177-3AD203B41FA5}">
                      <a16:colId xmlns:a16="http://schemas.microsoft.com/office/drawing/2014/main" val="2557651165"/>
                    </a:ext>
                  </a:extLst>
                </a:gridCol>
                <a:gridCol w="685632">
                  <a:extLst>
                    <a:ext uri="{9D8B030D-6E8A-4147-A177-3AD203B41FA5}">
                      <a16:colId xmlns:a16="http://schemas.microsoft.com/office/drawing/2014/main" val="1083147399"/>
                    </a:ext>
                  </a:extLst>
                </a:gridCol>
                <a:gridCol w="685632">
                  <a:extLst>
                    <a:ext uri="{9D8B030D-6E8A-4147-A177-3AD203B41FA5}">
                      <a16:colId xmlns:a16="http://schemas.microsoft.com/office/drawing/2014/main" val="320423342"/>
                    </a:ext>
                  </a:extLst>
                </a:gridCol>
                <a:gridCol w="685632">
                  <a:extLst>
                    <a:ext uri="{9D8B030D-6E8A-4147-A177-3AD203B41FA5}">
                      <a16:colId xmlns:a16="http://schemas.microsoft.com/office/drawing/2014/main" val="688895569"/>
                    </a:ext>
                  </a:extLst>
                </a:gridCol>
              </a:tblGrid>
              <a:tr h="469264">
                <a:tc gridSpan="6">
                  <a:txBody>
                    <a:bodyPr/>
                    <a:lstStyle/>
                    <a:p>
                      <a:pPr marL="0" indent="0">
                        <a:buNone/>
                      </a:pPr>
                      <a:r>
                        <a:rPr lang="en-US" sz="1000" b="1">
                          <a:latin typeface="Arial" charset="0"/>
                          <a:ea typeface="Arial" charset="0"/>
                          <a:cs typeface="Arial" charset="0"/>
                        </a:rPr>
                        <a:t>FSM Usage</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hMerge="1">
                  <a:txBody>
                    <a:bodyPr/>
                    <a:lstStyle/>
                    <a:p>
                      <a:pPr marL="0" indent="0">
                        <a:buNone/>
                      </a:pP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hMerge="1">
                  <a:txBody>
                    <a:bodyPr/>
                    <a:lstStyle/>
                    <a:p>
                      <a:pPr marL="0" indent="0">
                        <a:buNone/>
                      </a:pPr>
                      <a:endParaRPr lang="en-US" sz="1000" b="1">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hMerge="1">
                  <a:txBody>
                    <a:bodyPr/>
                    <a:lstStyle/>
                    <a:p>
                      <a:pPr marL="0" indent="0">
                        <a:buNone/>
                      </a:pPr>
                      <a:endParaRPr lang="en-US" sz="1000" b="1">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hMerge="1">
                  <a:txBody>
                    <a:bodyPr/>
                    <a:lstStyle/>
                    <a:p>
                      <a:pPr marL="0" indent="0">
                        <a:buNone/>
                      </a:pPr>
                      <a:endParaRPr lang="en-US" sz="1000" b="1">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hMerge="1">
                  <a:txBody>
                    <a:bodyPr/>
                    <a:lstStyle/>
                    <a:p>
                      <a:pPr marL="0" indent="0">
                        <a:buNone/>
                      </a:pPr>
                      <a:endParaRPr lang="en-US" sz="1000" b="1">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extLst>
                  <a:ext uri="{0D108BD9-81ED-4DB2-BD59-A6C34878D82A}">
                    <a16:rowId xmlns:a16="http://schemas.microsoft.com/office/drawing/2014/main" val="575043429"/>
                  </a:ext>
                </a:extLst>
              </a:tr>
              <a:tr h="703896">
                <a:tc>
                  <a:txBody>
                    <a:bodyPr/>
                    <a:lstStyle/>
                    <a:p>
                      <a:pPr marL="0" indent="0">
                        <a:buNone/>
                      </a:pP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1000">
                          <a:latin typeface="Arial" charset="0"/>
                          <a:ea typeface="Arial" charset="0"/>
                          <a:cs typeface="Arial" charset="0"/>
                        </a:rPr>
                        <a:t>JAMS</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000">
                          <a:latin typeface="Arial" charset="0"/>
                          <a:ea typeface="Arial" charset="0"/>
                          <a:cs typeface="Arial" charset="0"/>
                        </a:rPr>
                        <a:t>ODM</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000">
                          <a:latin typeface="Arial" charset="0"/>
                          <a:ea typeface="Arial" charset="0"/>
                          <a:cs typeface="Arial" charset="0"/>
                        </a:rPr>
                        <a:t>Wireless</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000">
                          <a:latin typeface="Arial" charset="0"/>
                          <a:ea typeface="Arial" charset="0"/>
                          <a:cs typeface="Arial" charset="0"/>
                        </a:rPr>
                        <a:t>ITSM</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000" err="1">
                          <a:latin typeface="Arial" charset="0"/>
                          <a:ea typeface="Arial" charset="0"/>
                          <a:cs typeface="Arial" charset="0"/>
                        </a:rPr>
                        <a:t>Defence</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2926746011"/>
                  </a:ext>
                </a:extLst>
              </a:tr>
              <a:tr h="508369">
                <a:tc>
                  <a:txBody>
                    <a:bodyPr/>
                    <a:lstStyle/>
                    <a:p>
                      <a:pPr marL="0" indent="0">
                        <a:buNone/>
                      </a:pPr>
                      <a:r>
                        <a:rPr lang="en-US" sz="1000" b="1">
                          <a:solidFill>
                            <a:srgbClr val="1F3864"/>
                          </a:solidFill>
                          <a:latin typeface="Arial" pitchFamily="34" charset="0"/>
                          <a:ea typeface="Arial" pitchFamily="34" charset="-122"/>
                          <a:cs typeface="Arial" pitchFamily="34" charset="-120"/>
                        </a:rPr>
                        <a:t>Enterprise Project</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850" b="1" dirty="0">
                          <a:solidFill>
                            <a:srgbClr val="085041"/>
                          </a:solidFill>
                          <a:latin typeface="Arial" pitchFamily="34" charset="0"/>
                        </a:rPr>
                        <a:t>Pull (not initially)</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783087400"/>
                  </a:ext>
                </a:extLst>
              </a:tr>
              <a:tr h="508369">
                <a:tc>
                  <a:txBody>
                    <a:bodyPr/>
                    <a:lstStyle/>
                    <a:p>
                      <a:pPr marL="0" indent="0">
                        <a:buNone/>
                      </a:pPr>
                      <a:r>
                        <a:rPr lang="en-US" sz="1000" b="1">
                          <a:latin typeface="Arial" charset="0"/>
                          <a:ea typeface="Arial" charset="0"/>
                          <a:cs typeface="Arial" charset="0"/>
                        </a:rPr>
                        <a:t>Service Order</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850" b="1" dirty="0">
                          <a:solidFill>
                            <a:srgbClr val="085041"/>
                          </a:solidFill>
                          <a:latin typeface="Arial" pitchFamily="34" charset="0"/>
                        </a:rPr>
                        <a:t>Pull (not initially)</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3742385345"/>
                  </a:ext>
                </a:extLst>
              </a:tr>
              <a:tr h="508369">
                <a:tc>
                  <a:txBody>
                    <a:bodyPr/>
                    <a:lstStyle/>
                    <a:p>
                      <a:pPr marL="0" indent="0">
                        <a:buNone/>
                      </a:pPr>
                      <a:r>
                        <a:rPr lang="en-US" sz="1000" b="1">
                          <a:latin typeface="Arial" charset="0"/>
                          <a:ea typeface="Arial" charset="0"/>
                          <a:cs typeface="Arial" charset="0"/>
                        </a:rPr>
                        <a:t>Customer Invoice</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850" b="1" dirty="0">
                          <a:solidFill>
                            <a:srgbClr val="085041"/>
                          </a:solidFill>
                          <a:latin typeface="Arial" pitchFamily="34" charset="0"/>
                        </a:rPr>
                        <a:t>Pull</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b="1" dirty="0">
                          <a:solidFill>
                            <a:srgbClr val="085041"/>
                          </a:solidFill>
                          <a:latin typeface="Arial" pitchFamily="34" charset="0"/>
                        </a:rPr>
                        <a:t>Pull</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b="1" dirty="0">
                          <a:solidFill>
                            <a:srgbClr val="085041"/>
                          </a:solidFill>
                          <a:latin typeface="Arial" pitchFamily="34" charset="0"/>
                        </a:rPr>
                        <a:t>Pull</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889142618"/>
                  </a:ext>
                </a:extLst>
              </a:tr>
              <a:tr h="703896">
                <a:tc>
                  <a:txBody>
                    <a:bodyPr/>
                    <a:lstStyle/>
                    <a:p>
                      <a:pPr marL="0" indent="0">
                        <a:buNone/>
                      </a:pPr>
                      <a:r>
                        <a:rPr lang="en-US" sz="1000" b="1">
                          <a:latin typeface="Arial" charset="0"/>
                          <a:ea typeface="Arial" charset="0"/>
                          <a:cs typeface="Arial" charset="0"/>
                        </a:rPr>
                        <a:t>Supplier Invoice/RCTI</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850" b="1" dirty="0">
                          <a:solidFill>
                            <a:srgbClr val="085041"/>
                          </a:solidFill>
                          <a:latin typeface="Arial" pitchFamily="34" charset="0"/>
                        </a:rPr>
                        <a:t>Pull — subbie RCTI payment status</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b="1" dirty="0">
                          <a:solidFill>
                            <a:srgbClr val="085041"/>
                          </a:solidFill>
                          <a:latin typeface="Arial" pitchFamily="34" charset="0"/>
                        </a:rPr>
                        <a:t>Pull</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b="1" dirty="0">
                          <a:solidFill>
                            <a:srgbClr val="085041"/>
                          </a:solidFill>
                          <a:latin typeface="Arial" pitchFamily="34" charset="0"/>
                        </a:rPr>
                        <a:t>Pull</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2663813796"/>
                  </a:ext>
                </a:extLst>
              </a:tr>
              <a:tr h="899422">
                <a:tc>
                  <a:txBody>
                    <a:bodyPr/>
                    <a:lstStyle/>
                    <a:p>
                      <a:pPr marL="0" indent="0">
                        <a:buNone/>
                      </a:pPr>
                      <a:r>
                        <a:rPr lang="en-US" sz="1000" b="1">
                          <a:latin typeface="Arial" charset="0"/>
                          <a:ea typeface="Arial" charset="0"/>
                          <a:cs typeface="Arial" charset="0"/>
                        </a:rPr>
                        <a:t>Project Time and Equipment Usage</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850" b="1" dirty="0">
                          <a:solidFill>
                            <a:srgbClr val="085041"/>
                          </a:solidFill>
                          <a:latin typeface="Arial" pitchFamily="34" charset="0"/>
                        </a:rPr>
                        <a:t>Pull — cost and quantity</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4116777879"/>
                  </a:ext>
                </a:extLst>
              </a:tr>
              <a:tr h="703896">
                <a:tc>
                  <a:txBody>
                    <a:bodyPr/>
                    <a:lstStyle/>
                    <a:p>
                      <a:pPr marL="0" indent="0">
                        <a:buNone/>
                      </a:pPr>
                      <a:r>
                        <a:rPr lang="en-US" sz="1000" b="1">
                          <a:latin typeface="Arial" charset="0"/>
                          <a:ea typeface="Arial" charset="0"/>
                          <a:cs typeface="Arial" charset="0"/>
                        </a:rPr>
                        <a:t>Available Stock Query</a:t>
                      </a: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marL="0" indent="0">
                        <a:buNone/>
                      </a:pPr>
                      <a:r>
                        <a:rPr lang="en-US" sz="850" b="1" dirty="0">
                          <a:solidFill>
                            <a:srgbClr val="085041"/>
                          </a:solidFill>
                          <a:latin typeface="Arial" pitchFamily="34" charset="0"/>
                        </a:rPr>
                        <a:t>Pull — stock list</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b="1" dirty="0">
                          <a:solidFill>
                            <a:srgbClr val="085041"/>
                          </a:solidFill>
                          <a:latin typeface="Arial" pitchFamily="34" charset="0"/>
                        </a:rPr>
                        <a:t>Pull</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b="1" dirty="0">
                          <a:solidFill>
                            <a:srgbClr val="085041"/>
                          </a:solidFill>
                          <a:latin typeface="Arial" pitchFamily="34" charset="0"/>
                        </a:rPr>
                        <a:t>Pull</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850" dirty="0">
                          <a:solidFill>
                            <a:srgbClr val="9C6A00"/>
                          </a:solidFill>
                          <a:latin typeface="Arial" pitchFamily="34" charset="0"/>
                        </a:rPr>
                        <a:t>TBC</a:t>
                      </a:r>
                      <a:endParaRPr lang="en-US" sz="1000">
                        <a:latin typeface="Arial" charset="0"/>
                        <a:ea typeface="Arial" charset="0"/>
                        <a:cs typeface="Arial" charset="0"/>
                      </a:endParaRPr>
                    </a:p>
                  </a:txBody>
                  <a:tcPr marL="45720" marR="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459721478"/>
                  </a:ext>
                </a:extLst>
              </a:tr>
            </a:tbl>
          </a:graphicData>
        </a:graphic>
      </p:graphicFrame>
    </p:spTree>
    <p:extLst>
      <p:ext uri="{BB962C8B-B14F-4D97-AF65-F5344CB8AC3E}">
        <p14:creationId xmlns:p14="http://schemas.microsoft.com/office/powerpoint/2010/main" val="1670674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3" name="Text 1"/>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endParaRPr lang="en-US" sz="1000" dirty="0"/>
          </a:p>
        </p:txBody>
      </p:sp>
      <p:sp>
        <p:nvSpPr>
          <p:cNvPr id="4" name="Text 2"/>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Recommended solution — the pattern in ten rules</a:t>
            </a:r>
            <a:endParaRPr lang="en-US" sz="2300" dirty="0"/>
          </a:p>
        </p:txBody>
      </p:sp>
      <p:sp>
        <p:nvSpPr>
          <p:cNvPr id="5" name="Shape 3"/>
          <p:cNvSpPr/>
          <p:nvPr/>
        </p:nvSpPr>
        <p:spPr>
          <a:xfrm>
            <a:off x="9916668" y="201168"/>
            <a:ext cx="1175004" cy="274320"/>
          </a:xfrm>
          <a:prstGeom prst="roundRect">
            <a:avLst>
              <a:gd name="adj" fmla="val 40000"/>
            </a:avLst>
          </a:prstGeom>
          <a:solidFill>
            <a:srgbClr val="E1F5EE"/>
          </a:solidFill>
          <a:ln w="12700">
            <a:solidFill>
              <a:srgbClr val="0F6E56"/>
            </a:solidFill>
            <a:prstDash val="solid"/>
          </a:ln>
        </p:spPr>
      </p:sp>
      <p:sp>
        <p:nvSpPr>
          <p:cNvPr id="6" name="Text 4"/>
          <p:cNvSpPr/>
          <p:nvPr/>
        </p:nvSpPr>
        <p:spPr>
          <a:xfrm>
            <a:off x="9916668" y="201168"/>
            <a:ext cx="1175004"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Solution</a:t>
            </a:r>
            <a:endParaRPr lang="en-US" sz="1000" dirty="0"/>
          </a:p>
        </p:txBody>
      </p:sp>
      <p:sp>
        <p:nvSpPr>
          <p:cNvPr id="7" name="Text 5"/>
          <p:cNvSpPr/>
          <p:nvPr/>
        </p:nvSpPr>
        <p:spPr>
          <a:xfrm>
            <a:off x="502920" y="676656"/>
            <a:ext cx="11155680" cy="292608"/>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One end-to-end pattern for all seven canonical models, expressed as ten rules. These fold into the six issued documents before the functional specifications close — nothing new is invented; the version stamps, step chains and duplicate protection already in the documents move from backup to primary.</a:t>
            </a:r>
            <a:endParaRPr lang="en-US" sz="1200" dirty="0"/>
          </a:p>
        </p:txBody>
      </p:sp>
      <p:sp>
        <p:nvSpPr>
          <p:cNvPr id="8" name="Text 6"/>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endParaRPr lang="en-US" sz="900" dirty="0"/>
          </a:p>
        </p:txBody>
      </p:sp>
      <p:sp>
        <p:nvSpPr>
          <p:cNvPr id="9" name="Text 7"/>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097280"/>
          <a:ext cx="11201400" cy="914400"/>
        </p:xfrm>
        <a:graphic>
          <a:graphicData uri="http://schemas.openxmlformats.org/drawingml/2006/table">
            <a:tbl>
              <a:tblPr/>
              <a:tblGrid>
                <a:gridCol w="640080"/>
                <a:gridCol w="10561320"/>
              </a:tblGrid>
              <a:tr h="365760">
                <a:tc>
                  <a:txBody>
                    <a:bodyPr/>
                    <a:lstStyle/>
                    <a:p>
                      <a:pPr indent="0" marL="0">
                        <a:buNone/>
                      </a:pPr>
                      <a:r>
                        <a:rPr lang="en-US" sz="1000" b="1" dirty="0">
                          <a:solidFill>
                            <a:srgbClr val="1F3864"/>
                          </a:solidFill>
                          <a:latin typeface="Arial" pitchFamily="34" charset="0"/>
                          <a:ea typeface="Arial" pitchFamily="34" charset="-122"/>
                          <a:cs typeface="Arial" pitchFamily="34" charset="-120"/>
                        </a:rPr>
                        <a:t>R1</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1000" dirty="0">
                          <a:solidFill>
                            <a:srgbClr val="444444"/>
                          </a:solidFill>
                          <a:latin typeface="Arial" pitchFamily="34" charset="0"/>
                          <a:ea typeface="Arial" pitchFamily="34" charset="-122"/>
                          <a:cs typeface="Arial" pitchFamily="34" charset="-120"/>
                        </a:rPr>
                        <a:t>Technical receipt. HTTP 202 is returned only after the message is stored in the queue, carrying the tracking ID (correlationId). It means received, not posted; an invalid message is rejected at once (HTTP 400) and never stored.</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000" b="1" dirty="0">
                          <a:solidFill>
                            <a:srgbClr val="1F3864"/>
                          </a:solidFill>
                          <a:latin typeface="Arial" pitchFamily="34" charset="0"/>
                          <a:ea typeface="Arial" pitchFamily="34" charset="-122"/>
                          <a:cs typeface="Arial" pitchFamily="34" charset="-120"/>
                        </a:rPr>
                        <a:t>R2</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1000" dirty="0">
                          <a:solidFill>
                            <a:srgbClr val="444444"/>
                          </a:solidFill>
                          <a:latin typeface="Arial" pitchFamily="34" charset="0"/>
                          <a:ea typeface="Arial" pitchFamily="34" charset="-122"/>
                          <a:cs typeface="Arial" pitchFamily="34" charset="-120"/>
                        </a:rPr>
                        <a:t>One response model for all models and all outcomes — SUCCEEDED / PARTIAL / FAILED with the correlationId and the SAP document numbers or the error detail. Replaces the one-off status messages each document invented; how each system receives it is agreed when that system is connected.</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000" b="1" dirty="0">
                          <a:solidFill>
                            <a:srgbClr val="1F3864"/>
                          </a:solidFill>
                          <a:latin typeface="Arial" pitchFamily="34" charset="0"/>
                          <a:ea typeface="Arial" pitchFamily="34" charset="-122"/>
                          <a:cs typeface="Arial" pitchFamily="34" charset="-120"/>
                        </a:rPr>
                        <a:t>R3</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1000" dirty="0">
                          <a:solidFill>
                            <a:srgbClr val="444444"/>
                          </a:solidFill>
                          <a:latin typeface="Arial" pitchFamily="34" charset="0"/>
                          <a:ea typeface="Arial" pitchFamily="34" charset="-122"/>
                          <a:cs typeface="Arial" pitchFamily="34" charset="-120"/>
                        </a:rPr>
                        <a:t>Fixed identifiers on every canonical: sourceMessageId, correlationId (the sole name — canonicalMessageId and messageId are dropped), businessKey and versionStamp. INT-FS-22 gains its missing correlation section; the leftover template field names are removed from 24 / 26 / 65 / 106.</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000" b="1" dirty="0">
                          <a:solidFill>
                            <a:srgbClr val="1F3864"/>
                          </a:solidFill>
                          <a:latin typeface="Arial" pitchFamily="34" charset="0"/>
                          <a:ea typeface="Arial" pitchFamily="34" charset="-122"/>
                          <a:cs typeface="Arial" pitchFamily="34" charset="-120"/>
                        </a:rPr>
                        <a:t>R4</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1000" dirty="0">
                          <a:solidFill>
                            <a:srgbClr val="444444"/>
                          </a:solidFill>
                          <a:latin typeface="Arial" pitchFamily="34" charset="0"/>
                          <a:ea typeface="Arial" pitchFamily="34" charset="-122"/>
                          <a:cs typeface="Arial" pitchFamily="34" charset="-120"/>
                        </a:rPr>
                        <a:t>Five error classes across three owners: CPI owns the technical retries (TRANSIENT / PARTIAL / POISON), the source system owns its data errors, operations own SAP-side conditions. This replaces the different error lists each document invented (Sequencing, Partial Success, Partial Chain); data errors go back as a corrected new message — support staff never replay them.</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000" b="1" dirty="0">
                          <a:solidFill>
                            <a:srgbClr val="1F3864"/>
                          </a:solidFill>
                          <a:latin typeface="Arial" pitchFamily="34" charset="0"/>
                          <a:ea typeface="Arial" pitchFamily="34" charset="-122"/>
                          <a:cs typeface="Arial" pitchFamily="34" charset="-120"/>
                        </a:rPr>
                        <a:t>R5</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1000" dirty="0">
                          <a:solidFill>
                            <a:srgbClr val="444444"/>
                          </a:solidFill>
                          <a:latin typeface="Arial" pitchFamily="34" charset="0"/>
                          <a:ea typeface="Arial" pitchFamily="34" charset="-122"/>
                          <a:cs typeface="Arial" pitchFamily="34" charset="-120"/>
                        </a:rPr>
                        <a:t>Replay is a documented support procedure, recorded on the ServiceNow ticket. Operators do not replay unfixed FSM-data messages — replaying an unfixed message only fails it again.</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000" b="1" dirty="0">
                          <a:solidFill>
                            <a:srgbClr val="1F3864"/>
                          </a:solidFill>
                          <a:latin typeface="Arial" pitchFamily="34" charset="0"/>
                          <a:ea typeface="Arial" pitchFamily="34" charset="-122"/>
                          <a:cs typeface="Arial" pitchFamily="34" charset="-120"/>
                        </a:rPr>
                        <a:t>R6</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1000" dirty="0">
                          <a:solidFill>
                            <a:srgbClr val="444444"/>
                          </a:solidFill>
                          <a:latin typeface="Arial" pitchFamily="34" charset="0"/>
                          <a:ea typeface="Arial" pitchFamily="34" charset="-122"/>
                          <a:cs typeface="Arial" pitchFamily="34" charset="-120"/>
                        </a:rPr>
                        <a:t>One JMS entry queue per canonical; all set-aside messages held in the CPI Data Store, not in per-error queues. The queue count is agreed with GBIS against the platform's queue limit, which the old four-queues-per-model design would exceed.</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000" b="1" dirty="0">
                          <a:solidFill>
                            <a:srgbClr val="1F3864"/>
                          </a:solidFill>
                          <a:latin typeface="Arial" pitchFamily="34" charset="0"/>
                          <a:ea typeface="Arial" pitchFamily="34" charset="-122"/>
                          <a:cs typeface="Arial" pitchFamily="34" charset="-120"/>
                        </a:rPr>
                        <a:t>R7</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1000" dirty="0">
                          <a:solidFill>
                            <a:srgbClr val="444444"/>
                          </a:solidFill>
                          <a:latin typeface="Arial" pitchFamily="34" charset="0"/>
                          <a:ea typeface="Arial" pitchFamily="34" charset="-122"/>
                          <a:cs typeface="Arial" pitchFamily="34" charset="-120"/>
                        </a:rPr>
                        <a:t>Standard duplicate protection: (sourceSystem, sourceMessageId) in the Data Store for 90 days; a repeat gets the saved result back. The record is committed with the queue step, and every SAP create is preceded by a lookup (read before create) — so a retry can never post twice.</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000" b="1" dirty="0">
                          <a:solidFill>
                            <a:srgbClr val="1F3864"/>
                          </a:solidFill>
                          <a:latin typeface="Arial" pitchFamily="34" charset="0"/>
                          <a:ea typeface="Arial" pitchFamily="34" charset="-122"/>
                          <a:cs typeface="Arial" pitchFamily="34" charset="-120"/>
                        </a:rPr>
                        <a:t>R8</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1000" dirty="0">
                          <a:solidFill>
                            <a:srgbClr val="444444"/>
                          </a:solidFill>
                          <a:latin typeface="Arial" pitchFamily="34" charset="0"/>
                          <a:ea typeface="Arial" pitchFamily="34" charset="-122"/>
                          <a:cs typeface="Arial" pitchFamily="34" charset="-120"/>
                        </a:rPr>
                        <a:t>Order enforced by checks, not by queues: version comparison drops out-of-date updates, too-early messages wait and retry, one writer per job at a time. This replaces the assumed 'queue keeps order per job' feature, which CPI queues do not have; single-reader queues only where needed.</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000" b="1" dirty="0">
                          <a:solidFill>
                            <a:srgbClr val="1F3864"/>
                          </a:solidFill>
                          <a:latin typeface="Arial" pitchFamily="34" charset="0"/>
                          <a:ea typeface="Arial" pitchFamily="34" charset="-122"/>
                          <a:cs typeface="Arial" pitchFamily="34" charset="-120"/>
                        </a:rPr>
                        <a:t>R9</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1000" dirty="0">
                          <a:solidFill>
                            <a:srgbClr val="444444"/>
                          </a:solidFill>
                          <a:latin typeface="Arial" pitchFamily="34" charset="0"/>
                          <a:ea typeface="Arial" pitchFamily="34" charset="-122"/>
                          <a:cs typeface="Arial" pitchFamily="34" charset="-120"/>
                        </a:rPr>
                        <a:t>The design paper is the single source of the pattern. Each model's document keeps only its own settings plus one line confirming it follows this paper; failures are tracked in ServiceNow; the unpublished models adopt the pattern from their first issue.</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000" b="1" dirty="0">
                          <a:solidFill>
                            <a:srgbClr val="1F3864"/>
                          </a:solidFill>
                          <a:latin typeface="Arial" pitchFamily="34" charset="0"/>
                          <a:ea typeface="Arial" pitchFamily="34" charset="-122"/>
                          <a:cs typeface="Arial" pitchFamily="34" charset="-120"/>
                        </a:rPr>
                        <a:t>R10</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1000" dirty="0">
                          <a:solidFill>
                            <a:srgbClr val="444444"/>
                          </a:solidFill>
                          <a:latin typeface="Arial" pitchFamily="34" charset="0"/>
                          <a:ea typeface="Arial" pitchFamily="34" charset="-122"/>
                          <a:cs typeface="Arial" pitchFamily="34" charset="-120"/>
                        </a:rPr>
                        <a:t>One notification standard: the error class decides who is emailed, the priority (P1–P4) and the business area group, with SAPIS-DEV / TEST / UAT / PROD no-reply senders; only production alerts support groups. Data errors email the business area but never raise a ticket; the FAILED answer stays the system channel.</a:t>
                      </a:r>
                      <a:endParaRPr lang="en-US" sz="1000" dirty="0">
                        <a:latin typeface="Arial" charset="0"/>
                        <a:ea typeface="Arial" charset="0"/>
                        <a:cs typeface="Arial" charset="0"/>
                      </a:endParaRPr>
                    </a:p>
                  </a:txBody>
                  <a:tcPr marL="45720" marR="45720" marT="45720" marB="45720"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11" name="Shape 8"/>
          <p:cNvSpPr/>
          <p:nvPr/>
        </p:nvSpPr>
        <p:spPr>
          <a:xfrm>
            <a:off x="502920" y="5623560"/>
            <a:ext cx="11201400" cy="749808"/>
          </a:xfrm>
          <a:prstGeom prst="roundRect">
            <a:avLst>
              <a:gd name="adj" fmla="val 7317"/>
            </a:avLst>
          </a:prstGeom>
          <a:solidFill>
            <a:srgbClr val="E1F5EE"/>
          </a:solidFill>
          <a:ln w="15875">
            <a:solidFill>
              <a:srgbClr val="0F6E56"/>
            </a:solidFill>
            <a:prstDash val="solid"/>
          </a:ln>
        </p:spPr>
      </p:sp>
      <p:sp>
        <p:nvSpPr>
          <p:cNvPr id="12" name="Text 9"/>
          <p:cNvSpPr/>
          <p:nvPr/>
        </p:nvSpPr>
        <p:spPr>
          <a:xfrm>
            <a:off x="731520" y="5687568"/>
            <a:ext cx="10744200" cy="621792"/>
          </a:xfrm>
          <a:prstGeom prst="rect">
            <a:avLst/>
          </a:prstGeom>
          <a:noFill/>
          <a:ln/>
        </p:spPr>
        <p:txBody>
          <a:bodyPr wrap="square" lIns="0" tIns="0" rIns="0" bIns="0" rtlCol="0" anchor="ctr"/>
          <a:lstStyle/>
          <a:p>
            <a:pPr indent="0" marL="0">
              <a:buNone/>
            </a:pPr>
            <a:r>
              <a:rPr lang="en-US" sz="1000" b="1" dirty="0">
                <a:solidFill>
                  <a:srgbClr val="085041"/>
                </a:solidFill>
                <a:latin typeface="Arial" pitchFamily="34" charset="0"/>
                <a:ea typeface="Arial" pitchFamily="34" charset="-122"/>
                <a:cs typeface="Arial" pitchFamily="34" charset="-120"/>
              </a:rPr>
              <a:t>What the six documents already get right — kept unchanged:  </a:t>
            </a:r>
            <a:pPr indent="0" marL="0">
              <a:buNone/>
            </a:pPr>
            <a:r>
              <a:rPr lang="en-US" sz="1000" dirty="0">
                <a:solidFill>
                  <a:srgbClr val="085041"/>
                </a:solidFill>
                <a:latin typeface="Arial" pitchFamily="34" charset="0"/>
                <a:ea typeface="Arial" pitchFamily="34" charset="-122"/>
                <a:cs typeface="Arial" pitchFamily="34" charset="-120"/>
              </a:rPr>
              <a:t>the duplicate protection, the saved-result replay, error classification on SAP's detail list, the INT-FS-21 pre-update check and read-back after create, and the INT-FS-26 step-by-step resume. The corrections focus on the two missing contracts (receipt and error response) and the two claims that would not build (message order and queue count).</a:t>
            </a:r>
            <a:endParaRPr lang="en-US" sz="1000" dirty="0"/>
          </a:p>
        </p:txBody>
      </p:sp>
      <p:sp>
        <p:nvSpPr>
          <p:cNvPr id="470" name="Text 470"/>
          <p:cNvSpPr/>
          <p:nvPr/>
        </p:nvSpPr>
        <p:spPr>
          <a:xfrm>
            <a:off x="502920" y="5270000"/>
            <a:ext cx="11201400" cy="300000"/>
          </a:xfrm>
          <a:prstGeom prst="rect">
            <a:avLst/>
          </a:prstGeom>
          <a:noFill/>
          <a:ln/>
        </p:spPr>
        <p:txBody>
          <a:bodyPr wrap="square" lIns="0" tIns="0" rIns="0" bIns="0" rtlCol="0" anchor="t"/>
          <a:lstStyle/>
          <a:p>
            <a:pPr indent="0" marL="0">
              <a:buNone/>
            </a:pPr>
            <a:r>
              <a:rPr lang="en-US" sz="850" b="1" dirty="0">
                <a:solidFill>
                  <a:srgbClr val="1F3864"/>
                </a:solidFill>
                <a:latin typeface="Arial" pitchFamily="34" charset="0"/>
                <a:ea typeface="Arial" pitchFamily="34" charset="-122"/>
                <a:cs typeface="Arial" pitchFamily="34" charset="-120"/>
              </a:rPr>
              <a:t>Every rule runs as code:  </a:t>
            </a:r>
            <a:r>
              <a:rPr lang="en-US" sz="850" dirty="0">
                <a:solidFill>
                  <a:srgbClr val="444444"/>
                </a:solidFill>
                <a:latin typeface="Arial" pitchFamily="34" charset="0"/>
                <a:ea typeface="Arial" pitchFamily="34" charset="-122"/>
                <a:cs typeface="Arial" pitchFamily="34" charset="-120"/>
              </a:rPr>
              <a:t>R1 / R7 under crash injection, R2 on the answers on slides 11 and 18, R4 / R5 in the failure router, R6 against the queue slide's registry, R8 in the ordering run, R10 in the notification standard — the ten rules are the same behaviour drawn on slides 11, 15 and the queue slide, stated as decisions.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3"/>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4" name="Text 5"/>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p>
        </p:txBody>
      </p:sp>
      <p:sp>
        <p:nvSpPr>
          <p:cNvPr id="6" name="Text 7"/>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Canonical Model - Failure handling — five classes, routed by five questions</a:t>
            </a:r>
          </a:p>
        </p:txBody>
      </p:sp>
      <p:sp>
        <p:nvSpPr>
          <p:cNvPr id="8" name="Shape 9"/>
          <p:cNvSpPr/>
          <p:nvPr/>
        </p:nvSpPr>
        <p:spPr>
          <a:xfrm>
            <a:off x="9591672" y="201168"/>
            <a:ext cx="1500000" cy="274320"/>
          </a:xfrm>
          <a:prstGeom prst="roundRect">
            <a:avLst>
              <a:gd name="adj" fmla="val 40000"/>
            </a:avLst>
          </a:prstGeom>
          <a:solidFill>
            <a:srgbClr val="E1F5EE"/>
          </a:solidFill>
          <a:ln w="12700">
            <a:solidFill>
              <a:srgbClr val="0F6E56"/>
            </a:solidFill>
            <a:prstDash val="solid"/>
          </a:ln>
        </p:spPr>
      </p:sp>
      <p:sp>
        <p:nvSpPr>
          <p:cNvPr id="10" name="Text 11"/>
          <p:cNvSpPr/>
          <p:nvPr/>
        </p:nvSpPr>
        <p:spPr>
          <a:xfrm>
            <a:off x="9591672" y="201168"/>
            <a:ext cx="1500000"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Solution</a:t>
            </a:r>
          </a:p>
        </p:txBody>
      </p:sp>
      <p:sp>
        <p:nvSpPr>
          <p:cNvPr id="12" name="Text 13"/>
          <p:cNvSpPr/>
          <p:nvPr/>
        </p:nvSpPr>
        <p:spPr>
          <a:xfrm>
            <a:off x="502920" y="676656"/>
            <a:ext cx="11201400" cy="340000"/>
          </a:xfrm>
          <a:prstGeom prst="rect">
            <a:avLst/>
          </a:prstGeom>
          <a:noFill/>
          <a:ln/>
        </p:spPr>
        <p:txBody>
          <a:bodyPr wrap="square" lIns="0" tIns="0" rIns="0" bIns="0" rtlCol="0" anchor="t"/>
          <a:lstStyle/>
          <a:p>
            <a:pPr indent="0" marL="0">
              <a:buNone/>
            </a:pPr>
            <a:r>
              <a:rPr lang="en-US" sz="1150" dirty="0">
                <a:solidFill>
                  <a:srgbClr val="595959"/>
                </a:solidFill>
                <a:latin typeface="Arial" pitchFamily="34" charset="0"/>
                <a:ea typeface="Arial" pitchFamily="34" charset="-122"/>
                <a:cs typeface="Arial" pitchFamily="34" charset="-120"/>
              </a:rPr>
              <a:t>Every failure is routed by the questions below, asked in order. Five classes, three owners: CPI keeps the technical retries, the source system fixes its own data, operations fix SAP-side setup. Each row is real test data, run and verified as code.</a:t>
            </a:r>
          </a:p>
        </p:txBody>
      </p:sp>
      <p:sp>
        <p:nvSpPr>
          <p:cNvPr id="14" name="Text 15"/>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p>
        </p:txBody>
      </p:sp>
      <p:sp>
        <p:nvSpPr>
          <p:cNvPr id="16" name="Text 17"/>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p>
        </p:txBody>
      </p:sp>
      <p:graphicFrame>
        <p:nvGraphicFramePr>
          <p:cNvPr id="18" name="Table 1"/>
          <p:cNvGraphicFramePr/>
          <p:nvPr/>
        </p:nvGraphicFramePr>
        <p:xfrm>
          <a:off x="502920" y="1150000"/>
          <a:ext cx="11201400" cy="3000000"/>
        </p:xfrm>
        <a:graphic>
          <a:graphicData uri="http://schemas.openxmlformats.org/drawingml/2006/table">
            <a:tbl>
              <a:tblPr/>
              <a:tblGrid>
                <a:gridCol w="2300000"/>
                <a:gridCol w="2500000"/>
                <a:gridCol w="2100000"/>
                <a:gridCol w="4301400"/>
              </a:tblGrid>
              <a:tr h="280000">
                <a:tc>
                  <a:txBody>
                    <a:bodyPr/>
                    <a:lstStyle/>
                    <a:p>
                      <a:pPr indent="0" marL="0">
                        <a:buNone/>
                      </a:pPr>
                      <a:r>
                        <a:rPr lang="en-US" sz="850" b="1" dirty="0">
                          <a:solidFill>
                            <a:srgbClr val="FFFFFF"/>
                          </a:solidFill>
                          <a:latin typeface="Arial" pitchFamily="34" charset="0"/>
                          <a:ea typeface="Arial" pitchFamily="34" charset="-122"/>
                          <a:cs typeface="Arial" pitchFamily="34" charset="-120"/>
                        </a:rPr>
                        <a:t>The failure (test data)</a:t>
                      </a:r>
                      <a:endParaRPr lang="en-US" sz="85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Question that catches it</a:t>
                      </a:r>
                      <a:endParaRPr lang="en-US" sz="85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Class — owner</a:t>
                      </a:r>
                      <a:endParaRPr lang="en-US" sz="85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What happens next</a:t>
                      </a:r>
                      <a:endParaRPr lang="en-US" sz="85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r>
              <a:tr h="430000">
                <a:tc>
                  <a:txBody>
                    <a:bodyPr/>
                    <a:lstStyle/>
                    <a:p>
                      <a:pPr indent="0" marL="0">
                        <a:buNone/>
                      </a:pPr>
                      <a:r>
                        <a:rPr lang="en-US" sz="800" dirty="0">
                          <a:solidFill>
                            <a:srgbClr val="24303A"/>
                          </a:solidFill>
                          <a:latin typeface="Arial" pitchFamily="34" charset="0"/>
                          <a:ea typeface="Arial" pitchFamily="34" charset="-122"/>
                          <a:cs typeface="Arial" pitchFamily="34" charset="-120"/>
                        </a:rPr>
                        <a:t>HTTP 503 — S/4 down or timing out</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EF2F8"/>
                    </a:solidFill>
                  </a:tcPr>
                </a:tc>
                <a:tc>
                  <a:txBody>
                    <a:bodyPr/>
                    <a:lstStyle/>
                    <a:p>
                      <a:pPr indent="0" marL="0">
                        <a:buNone/>
                      </a:pPr>
                      <a:r>
                        <a:rPr lang="en-US" sz="800" b="1" dirty="0">
                          <a:solidFill>
                            <a:srgbClr val="1F3864"/>
                          </a:solidFill>
                          <a:latin typeface="Arial" pitchFamily="34" charset="0"/>
                          <a:ea typeface="Arial" pitchFamily="34" charset="-122"/>
                          <a:cs typeface="Arial" pitchFamily="34" charset="-120"/>
                        </a:rPr>
                        <a:t>Would a retry fix it?</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EF2F8"/>
                    </a:solidFill>
                  </a:tcPr>
                </a:tc>
                <a:tc>
                  <a:txBody>
                    <a:bodyPr/>
                    <a:lstStyle/>
                    <a:p>
                      <a:pPr indent="0" marL="0">
                        <a:buNone/>
                      </a:pPr>
                      <a:r>
                        <a:rPr lang="en-US" sz="800" b="1" dirty="0">
                          <a:solidFill>
                            <a:srgbClr val="1F3864"/>
                          </a:solidFill>
                          <a:latin typeface="Arial" pitchFamily="34" charset="0"/>
                          <a:ea typeface="Arial" pitchFamily="34" charset="-122"/>
                          <a:cs typeface="Arial" pitchFamily="34" charset="-120"/>
                        </a:rPr>
                        <a:t>TRANSIENT — CPI</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EF2F8"/>
                    </a:solidFill>
                  </a:tcPr>
                </a:tc>
                <a:tc>
                  <a:txBody>
                    <a:bodyPr/>
                    <a:lstStyle/>
                    <a:p>
                      <a:pPr indent="0" marL="0">
                        <a:buNone/>
                      </a:pPr>
                      <a:r>
                        <a:rPr lang="en-US" sz="800" dirty="0">
                          <a:solidFill>
                            <a:srgbClr val="444444"/>
                          </a:solidFill>
                          <a:latin typeface="Arial" pitchFamily="34" charset="0"/>
                          <a:ea typeface="Arial" pitchFamily="34" charset="-122"/>
                          <a:cs typeface="Arial" pitchFamily="34" charset="-120"/>
                        </a:rPr>
                        <a:t>CPI retries alone with growing waits and answers SUCCEEDED after the delay. After five attempts: set aside + alert. The source never resends.</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0000">
                <a:tc>
                  <a:txBody>
                    <a:bodyPr/>
                    <a:lstStyle/>
                    <a:p>
                      <a:pPr indent="0" marL="0">
                        <a:buNone/>
                      </a:pPr>
                      <a:r>
                        <a:rPr lang="en-US" sz="800" dirty="0">
                          <a:solidFill>
                            <a:srgbClr val="24303A"/>
                          </a:solidFill>
                          <a:latin typeface="Arial" pitchFamily="34" charset="0"/>
                          <a:ea typeface="Arial" pitchFamily="34" charset="-122"/>
                          <a:cs typeface="Arial" pitchFamily="34" charset="-120"/>
                        </a:rPr>
                        <a:t>Sales order posted, invoice step failed (INT-FS-65 chain)</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EF2F8"/>
                    </a:solidFill>
                  </a:tcPr>
                </a:tc>
                <a:tc>
                  <a:txBody>
                    <a:bodyPr/>
                    <a:lstStyle/>
                    <a:p>
                      <a:pPr indent="0" marL="0">
                        <a:buNone/>
                      </a:pPr>
                      <a:r>
                        <a:rPr lang="en-US" sz="800" b="1" dirty="0">
                          <a:solidFill>
                            <a:srgbClr val="1F3864"/>
                          </a:solidFill>
                          <a:latin typeface="Arial" pitchFamily="34" charset="0"/>
                          <a:ea typeface="Arial" pitchFamily="34" charset="-122"/>
                          <a:cs typeface="Arial" pitchFamily="34" charset="-120"/>
                        </a:rPr>
                        <a:t>Did part of the chain complete?</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EF2F8"/>
                    </a:solidFill>
                  </a:tcPr>
                </a:tc>
                <a:tc>
                  <a:txBody>
                    <a:bodyPr/>
                    <a:lstStyle/>
                    <a:p>
                      <a:pPr indent="0" marL="0">
                        <a:buNone/>
                      </a:pPr>
                      <a:r>
                        <a:rPr lang="en-US" sz="800" b="1" dirty="0">
                          <a:solidFill>
                            <a:srgbClr val="1F3864"/>
                          </a:solidFill>
                          <a:latin typeface="Arial" pitchFamily="34" charset="0"/>
                          <a:ea typeface="Arial" pitchFamily="34" charset="-122"/>
                          <a:cs typeface="Arial" pitchFamily="34" charset="-120"/>
                        </a:rPr>
                        <a:t>PARTIAL — CPI</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EF2F8"/>
                    </a:solidFill>
                  </a:tcPr>
                </a:tc>
                <a:tc>
                  <a:txBody>
                    <a:bodyPr/>
                    <a:lstStyle/>
                    <a:p>
                      <a:pPr indent="0" marL="0">
                        <a:buNone/>
                      </a:pPr>
                      <a:r>
                        <a:rPr lang="en-US" sz="800" dirty="0">
                          <a:solidFill>
                            <a:srgbClr val="444444"/>
                          </a:solidFill>
                          <a:latin typeface="Arial" pitchFamily="34" charset="0"/>
                          <a:ea typeface="Arial" pitchFamily="34" charset="-122"/>
                          <a:cs typeface="Arial" pitchFamily="34" charset="-120"/>
                        </a:rPr>
                        <a:t>Answers PARTIAL with sapSalesOrder; replay resumes at the invoice step and the finished chain answers again under the same correlationId.</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0000">
                <a:tc>
                  <a:txBody>
                    <a:bodyPr/>
                    <a:lstStyle/>
                    <a:p>
                      <a:pPr indent="0" marL="0">
                        <a:buNone/>
                      </a:pPr>
                      <a:r>
                        <a:rPr lang="en-US" sz="800" dirty="0">
                          <a:solidFill>
                            <a:srgbClr val="24303A"/>
                          </a:solidFill>
                          <a:latin typeface="Arial" pitchFamily="34" charset="0"/>
                          <a:ea typeface="Arial" pitchFamily="34" charset="-122"/>
                          <a:cs typeface="Arial" pitchFamily="34" charset="-120"/>
                        </a:rPr>
                        <a:t>"Cost center 3050 not found" — responsibleCostCenter, a pass-through field</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AF0"/>
                    </a:solidFill>
                  </a:tcPr>
                </a:tc>
                <a:tc>
                  <a:txBody>
                    <a:bodyPr/>
                    <a:lstStyle/>
                    <a:p>
                      <a:pPr indent="0" marL="0">
                        <a:buNone/>
                      </a:pPr>
                      <a:r>
                        <a:rPr lang="en-US" sz="800" b="1" dirty="0">
                          <a:solidFill>
                            <a:srgbClr val="72243E"/>
                          </a:solidFill>
                          <a:latin typeface="Arial" pitchFamily="34" charset="0"/>
                          <a:ea typeface="Arial" pitchFamily="34" charset="-122"/>
                          <a:cs typeface="Arial" pitchFamily="34" charset="-120"/>
                        </a:rPr>
                        <a:t>Can the source fix it by changing its data?</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AF0"/>
                    </a:solidFill>
                  </a:tcPr>
                </a:tc>
                <a:tc>
                  <a:txBody>
                    <a:bodyPr/>
                    <a:lstStyle/>
                    <a:p>
                      <a:pPr indent="0" marL="0">
                        <a:buNone/>
                      </a:pPr>
                      <a:r>
                        <a:rPr lang="en-US" sz="800" b="1" dirty="0">
                          <a:solidFill>
                            <a:srgbClr val="72243E"/>
                          </a:solidFill>
                          <a:latin typeface="Arial" pitchFamily="34" charset="0"/>
                          <a:ea typeface="Arial" pitchFamily="34" charset="-122"/>
                          <a:cs typeface="Arial" pitchFamily="34" charset="-120"/>
                        </a:rPr>
                        <a:t>BUSINESS/DATA — source system</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AF0"/>
                    </a:solidFill>
                  </a:tcPr>
                </a:tc>
                <a:tc>
                  <a:txBody>
                    <a:bodyPr/>
                    <a:lstStyle/>
                    <a:p>
                      <a:pPr indent="0" marL="0">
                        <a:buNone/>
                      </a:pPr>
                      <a:r>
                        <a:rPr lang="en-US" sz="800" dirty="0">
                          <a:solidFill>
                            <a:srgbClr val="444444"/>
                          </a:solidFill>
                          <a:latin typeface="Arial" pitchFamily="34" charset="0"/>
                          <a:ea typeface="Arial" pitchFamily="34" charset="-122"/>
                          <a:cs typeface="Arial" pitchFamily="34" charset="-120"/>
                        </a:rPr>
                        <a:t>FAILED answer with the field-level error; the business corrects at source and resends with a NEW sourceMessageId. Email to the area list, cc technical — never a ticket, never replayed unfixed.</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0000">
                <a:tc>
                  <a:txBody>
                    <a:bodyPr/>
                    <a:lstStyle/>
                    <a:p>
                      <a:pPr indent="0" marL="0">
                        <a:buNone/>
                      </a:pPr>
                      <a:r>
                        <a:rPr lang="en-US" sz="800" dirty="0">
                          <a:solidFill>
                            <a:srgbClr val="24303A"/>
                          </a:solidFill>
                          <a:latin typeface="Arial" pitchFamily="34" charset="0"/>
                          <a:ea typeface="Arial" pitchFamily="34" charset="-122"/>
                          <a:cs typeface="Arial" pitchFamily="34" charset="-120"/>
                        </a:rPr>
                        <a:t>"Customer not set up for billing" — soldToParty, a CPI lookup</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DF3E7"/>
                    </a:solidFill>
                  </a:tcPr>
                </a:tc>
                <a:tc>
                  <a:txBody>
                    <a:bodyPr/>
                    <a:lstStyle/>
                    <a:p>
                      <a:pPr indent="0" marL="0">
                        <a:buNone/>
                      </a:pPr>
                      <a:r>
                        <a:rPr lang="en-US" sz="800" b="1" dirty="0">
                          <a:solidFill>
                            <a:srgbClr val="8A4B08"/>
                          </a:solidFill>
                          <a:latin typeface="Arial" pitchFamily="34" charset="0"/>
                          <a:ea typeface="Arial" pitchFamily="34" charset="-122"/>
                          <a:cs typeface="Arial" pitchFamily="34" charset="-120"/>
                        </a:rPr>
                        <a:t>Is it SAP setup, not the record?</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DF3E7"/>
                    </a:solidFill>
                  </a:tcPr>
                </a:tc>
                <a:tc>
                  <a:txBody>
                    <a:bodyPr/>
                    <a:lstStyle/>
                    <a:p>
                      <a:pPr indent="0" marL="0">
                        <a:buNone/>
                      </a:pPr>
                      <a:r>
                        <a:rPr lang="en-US" sz="800" b="1" dirty="0">
                          <a:solidFill>
                            <a:srgbClr val="8A4B08"/>
                          </a:solidFill>
                          <a:latin typeface="Arial" pitchFamily="34" charset="0"/>
                          <a:ea typeface="Arial" pitchFamily="34" charset="-122"/>
                          <a:cs typeface="Arial" pitchFamily="34" charset="-120"/>
                        </a:rPr>
                        <a:t>SAP-SIDE — operations</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DF3E7"/>
                    </a:solidFill>
                  </a:tcPr>
                </a:tc>
                <a:tc>
                  <a:txBody>
                    <a:bodyPr/>
                    <a:lstStyle/>
                    <a:p>
                      <a:pPr indent="0" marL="0">
                        <a:buNone/>
                      </a:pPr>
                      <a:r>
                        <a:rPr lang="en-US" sz="800" dirty="0">
                          <a:solidFill>
                            <a:srgbClr val="444444"/>
                          </a:solidFill>
                          <a:latin typeface="Arial" pitchFamily="34" charset="0"/>
                          <a:ea typeface="Arial" pitchFamily="34" charset="-122"/>
                          <a:cs typeface="Arial" pitchFamily="34" charset="-120"/>
                        </a:rPr>
                        <a:t>Set aside in the Data Store; fixed with the SAP functional team and replayed as a documented procedure on the ServiceNow ticket (P1–P4 by impact). The source waits; its answer follows the replay.</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0000">
                <a:tc>
                  <a:txBody>
                    <a:bodyPr/>
                    <a:lstStyle/>
                    <a:p>
                      <a:pPr indent="0" marL="0">
                        <a:buNone/>
                      </a:pPr>
                      <a:r>
                        <a:rPr lang="en-US" sz="800" dirty="0">
                          <a:solidFill>
                            <a:srgbClr val="24303A"/>
                          </a:solidFill>
                          <a:latin typeface="Arial" pitchFamily="34" charset="0"/>
                          <a:ea typeface="Arial" pitchFamily="34" charset="-122"/>
                          <a:cs typeface="Arial" pitchFamily="34" charset="-120"/>
                        </a:rPr>
                        <a:t>&lt;html&gt;gateway timeout… — unreadable</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indent="0" marL="0">
                        <a:buNone/>
                      </a:pPr>
                      <a:r>
                        <a:rPr lang="en-US" sz="800" b="1" dirty="0">
                          <a:solidFill>
                            <a:srgbClr val="5B6570"/>
                          </a:solidFill>
                          <a:latin typeface="Arial" pitchFamily="34" charset="0"/>
                          <a:ea typeface="Arial" pitchFamily="34" charset="-122"/>
                          <a:cs typeface="Arial" pitchFamily="34" charset="-120"/>
                        </a:rPr>
                        <a:t>Fits nothing above?</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indent="0" marL="0">
                        <a:buNone/>
                      </a:pPr>
                      <a:r>
                        <a:rPr lang="en-US" sz="800" b="1" dirty="0">
                          <a:solidFill>
                            <a:srgbClr val="5B6570"/>
                          </a:solidFill>
                          <a:latin typeface="Arial" pitchFamily="34" charset="0"/>
                          <a:ea typeface="Arial" pitchFamily="34" charset="-122"/>
                          <a:cs typeface="Arial" pitchFamily="34" charset="-120"/>
                        </a:rPr>
                        <a:t>POISON — operations</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indent="0" marL="0">
                        <a:buNone/>
                      </a:pPr>
                      <a:r>
                        <a:rPr lang="en-US" sz="800" dirty="0">
                          <a:solidFill>
                            <a:srgbClr val="444444"/>
                          </a:solidFill>
                          <a:latin typeface="Arial" pitchFamily="34" charset="0"/>
                          <a:ea typeface="Arial" pitchFamily="34" charset="-122"/>
                          <a:cs typeface="Arial" pitchFamily="34" charset="-120"/>
                        </a:rPr>
                        <a:t>Set aside for manual investigation by operations.</a:t>
                      </a:r>
                      <a:endParaRPr lang="en-US" sz="800" dirty="0">
                        <a:latin typeface="Arial" charset="0"/>
                        <a:ea typeface="Arial" charset="0"/>
                        <a:cs typeface="Arial" charset="0"/>
                      </a:endParaRPr>
                    </a:p>
                  </a:txBody>
                  <a:tcPr marL="45720" marR="45720" marT="36576" marB="36576"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19" name="Shape 20"/>
          <p:cNvSpPr/>
          <p:nvPr/>
        </p:nvSpPr>
        <p:spPr>
          <a:xfrm>
            <a:off x="502920" y="5150000"/>
            <a:ext cx="11186160" cy="1150000"/>
          </a:xfrm>
          <a:prstGeom prst="roundRect">
            <a:avLst>
              <a:gd name="adj" fmla="val 3000"/>
            </a:avLst>
          </a:prstGeom>
          <a:solidFill>
            <a:srgbClr val="F7F7F5"/>
          </a:solidFill>
          <a:ln w="9525">
            <a:solidFill>
              <a:srgbClr val="D9D9D9"/>
            </a:solidFill>
            <a:prstDash val="solid"/>
          </a:ln>
        </p:spPr>
      </p:sp>
      <p:sp>
        <p:nvSpPr>
          <p:cNvPr id="21" name="Text 22"/>
          <p:cNvSpPr/>
          <p:nvPr/>
        </p:nvSpPr>
        <p:spPr>
          <a:xfrm>
            <a:off x="702920" y="5250000"/>
            <a:ext cx="10800000" cy="48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Where set-asides live:  </a:t>
            </a:r>
            <a:r>
              <a:rPr lang="en-US" sz="900" dirty="0">
                <a:solidFill>
                  <a:srgbClr val="444444"/>
                </a:solidFill>
                <a:latin typeface="Arial" pitchFamily="34" charset="0"/>
                <a:ea typeface="Arial" pitchFamily="34" charset="-122"/>
                <a:cs typeface="Arial" pitchFamily="34" charset="-120"/>
              </a:rPr>
              <a:t>the CPI Data Store — each entry holds the original message, the converted message and the SAP reply under its tracking ID. Not extra queues: four queues per model across seven models is 28 queues against the platform allowance — nine do the same job.</a:t>
            </a:r>
          </a:p>
        </p:txBody>
      </p:sp>
      <p:sp>
        <p:nvSpPr>
          <p:cNvPr id="23" name="Text 24"/>
          <p:cNvSpPr/>
          <p:nvPr/>
        </p:nvSpPr>
        <p:spPr>
          <a:xfrm>
            <a:off x="702920" y="5760000"/>
            <a:ext cx="10800000" cy="48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One email per set-aside:  </a:t>
            </a:r>
            <a:r>
              <a:rPr lang="en-US" sz="900" dirty="0">
                <a:solidFill>
                  <a:srgbClr val="444444"/>
                </a:solidFill>
                <a:latin typeface="Arial" pitchFamily="34" charset="0"/>
                <a:ea typeface="Arial" pitchFamily="34" charset="-122"/>
                <a:cs typeface="Arial" pitchFamily="34" charset="-120"/>
              </a:rPr>
              <a:t>the class decides the list — technical to platform support, SAP-side to the area operations group; data errors are emailed to the business-area list but never ticketed. Senders SAPIS-DEV / TEST / UAT / PROD (no-reply); only production notifies support. Priority P1–P4 by class and flow criticality — billing near period end ranks highest.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3"/>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4" name="Text 5"/>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p>
        </p:txBody>
      </p:sp>
      <p:sp>
        <p:nvSpPr>
          <p:cNvPr id="6" name="Text 7"/>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Canonical - Message order — three checks instead of ordered queues</a:t>
            </a:r>
          </a:p>
        </p:txBody>
      </p:sp>
      <p:sp>
        <p:nvSpPr>
          <p:cNvPr id="8" name="Shape 9"/>
          <p:cNvSpPr/>
          <p:nvPr/>
        </p:nvSpPr>
        <p:spPr>
          <a:xfrm>
            <a:off x="9591672" y="201168"/>
            <a:ext cx="1500000" cy="274320"/>
          </a:xfrm>
          <a:prstGeom prst="roundRect">
            <a:avLst>
              <a:gd name="adj" fmla="val 40000"/>
            </a:avLst>
          </a:prstGeom>
          <a:solidFill>
            <a:srgbClr val="E1F5EE"/>
          </a:solidFill>
          <a:ln w="12700">
            <a:solidFill>
              <a:srgbClr val="0F6E56"/>
            </a:solidFill>
            <a:prstDash val="solid"/>
          </a:ln>
        </p:spPr>
      </p:sp>
      <p:sp>
        <p:nvSpPr>
          <p:cNvPr id="10" name="Text 11"/>
          <p:cNvSpPr/>
          <p:nvPr/>
        </p:nvSpPr>
        <p:spPr>
          <a:xfrm>
            <a:off x="9591672" y="201168"/>
            <a:ext cx="1500000"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Solution</a:t>
            </a:r>
          </a:p>
        </p:txBody>
      </p:sp>
      <p:sp>
        <p:nvSpPr>
          <p:cNvPr id="12" name="Text 13"/>
          <p:cNvSpPr/>
          <p:nvPr/>
        </p:nvSpPr>
        <p:spPr>
          <a:xfrm>
            <a:off x="502920" y="676656"/>
            <a:ext cx="11201400" cy="340000"/>
          </a:xfrm>
          <a:prstGeom prst="rect">
            <a:avLst/>
          </a:prstGeom>
          <a:noFill/>
          <a:ln/>
        </p:spPr>
        <p:txBody>
          <a:bodyPr wrap="square" lIns="0" tIns="0" rIns="0" bIns="0" rtlCol="0" anchor="t"/>
          <a:lstStyle/>
          <a:p>
            <a:pPr indent="0" marL="0">
              <a:buNone/>
            </a:pPr>
            <a:r>
              <a:rPr lang="en-US" sz="1150" dirty="0">
                <a:solidFill>
                  <a:srgbClr val="595959"/>
                </a:solidFill>
                <a:latin typeface="Arial" pitchFamily="34" charset="0"/>
                <a:ea typeface="Arial" pitchFamily="34" charset="-122"/>
                <a:cs typeface="Arial" pitchFamily="34" charset="-120"/>
              </a:rPr>
              <a:t>CPI queues cannot keep per-job order and 28 queues of error lanes will not manage — so order is enforced by three checks inside the flow. Below: four messages for one job arrive in the wrong order, and each one is still applied correctly.</a:t>
            </a:r>
          </a:p>
        </p:txBody>
      </p:sp>
      <p:sp>
        <p:nvSpPr>
          <p:cNvPr id="14" name="Text 15"/>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p>
        </p:txBody>
      </p:sp>
      <p:sp>
        <p:nvSpPr>
          <p:cNvPr id="16" name="Text 17"/>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p>
        </p:txBody>
      </p:sp>
      <p:sp>
        <p:nvSpPr>
          <p:cNvPr id="18" name="Shape 19"/>
          <p:cNvSpPr/>
          <p:nvPr/>
        </p:nvSpPr>
        <p:spPr>
          <a:xfrm>
            <a:off x="502920" y="1090000"/>
            <a:ext cx="11186160" cy="560000"/>
          </a:xfrm>
          <a:prstGeom prst="roundRect">
            <a:avLst>
              <a:gd name="adj" fmla="val 5000"/>
            </a:avLst>
          </a:prstGeom>
          <a:solidFill>
            <a:srgbClr val="FBEAF0"/>
          </a:solidFill>
          <a:ln w="12700">
            <a:solidFill>
              <a:srgbClr val="993556"/>
            </a:solidFill>
            <a:prstDash val="solid"/>
          </a:ln>
        </p:spPr>
      </p:sp>
      <p:sp>
        <p:nvSpPr>
          <p:cNvPr id="20" name="Text 21"/>
          <p:cNvSpPr/>
          <p:nvPr/>
        </p:nvSpPr>
        <p:spPr>
          <a:xfrm>
            <a:off x="662920" y="1150000"/>
            <a:ext cx="10870000" cy="460000"/>
          </a:xfrm>
          <a:prstGeom prst="rect">
            <a:avLst/>
          </a:prstGeom>
          <a:noFill/>
          <a:ln/>
        </p:spPr>
        <p:txBody>
          <a:bodyPr wrap="square" lIns="0" tIns="0" rIns="0" bIns="0" rtlCol="0" anchor="t"/>
          <a:lstStyle/>
          <a:p>
            <a:pPr indent="0" marL="0">
              <a:buNone/>
            </a:pPr>
            <a:r>
              <a:rPr lang="en-US" sz="900" b="1" dirty="0">
                <a:solidFill>
                  <a:srgbClr val="72243E"/>
                </a:solidFill>
                <a:latin typeface="Arial" pitchFamily="34" charset="0"/>
                <a:ea typeface="Arial" pitchFamily="34" charset="-122"/>
                <a:cs typeface="Arial" pitchFamily="34" charset="-120"/>
              </a:rPr>
              <a:t>Ruled out — from the issued documents:  </a:t>
            </a:r>
            <a:r>
              <a:rPr lang="en-US" sz="900" dirty="0">
                <a:solidFill>
                  <a:srgbClr val="72243E"/>
                </a:solidFill>
                <a:latin typeface="Arial" pitchFamily="34" charset="0"/>
                <a:ea typeface="Arial" pitchFamily="34" charset="-122"/>
                <a:cs typeface="Arial" pitchFamily="34" charset="-120"/>
              </a:rPr>
              <a:t>'queue partitioning keyed on the Job number' (no such CPI feature — only Advanced Event Mesh has it)  ·  single-reader queues (one stuck message blocks the whole queue)  ·  four queues per model = 28 queues against the platform allowance. None of the three is achievable on the platform.</a:t>
            </a:r>
          </a:p>
        </p:txBody>
      </p:sp>
      <p:sp>
        <p:nvSpPr>
          <p:cNvPr id="22" name="Shape 23"/>
          <p:cNvSpPr/>
          <p:nvPr/>
        </p:nvSpPr>
        <p:spPr>
          <a:xfrm>
            <a:off x="502920" y="1760000"/>
            <a:ext cx="11186160" cy="3140000"/>
          </a:xfrm>
          <a:prstGeom prst="roundRect">
            <a:avLst>
              <a:gd name="adj" fmla="val 2000"/>
            </a:avLst>
          </a:prstGeom>
          <a:solidFill>
            <a:srgbClr val="F7F7F5"/>
          </a:solidFill>
          <a:ln w="9525">
            <a:solidFill>
              <a:srgbClr val="D9D9D9"/>
            </a:solidFill>
            <a:prstDash val="solid"/>
          </a:ln>
        </p:spPr>
      </p:sp>
      <p:sp>
        <p:nvSpPr>
          <p:cNvPr id="24" name="Text 25"/>
          <p:cNvSpPr/>
          <p:nvPr/>
        </p:nvSpPr>
        <p:spPr>
          <a:xfrm>
            <a:off x="662920" y="1840000"/>
            <a:ext cx="10870000" cy="240000"/>
          </a:xfrm>
          <a:prstGeom prst="rect">
            <a:avLst/>
          </a:prstGeom>
          <a:noFill/>
          <a:ln/>
        </p:spPr>
        <p:txBody>
          <a:bodyPr wrap="square" lIns="0" tIns="0" rIns="0" bIns="0" rtlCol="0" anchor="t"/>
          <a:lstStyle/>
          <a:p>
            <a:pPr indent="0" marL="0">
              <a:buNone/>
            </a:pPr>
            <a:r>
              <a:rPr lang="en-US" sz="1000" b="1" dirty="0">
                <a:solidFill>
                  <a:srgbClr val="1F3864"/>
                </a:solidFill>
                <a:latin typeface="Arial" pitchFamily="34" charset="0"/>
                <a:ea typeface="Arial" pitchFamily="34" charset="-122"/>
                <a:cs typeface="Arial" pitchFamily="34" charset="-120"/>
              </a:rPr>
              <a:t>TEST TRAFFIC — four messages for clientJobNumber JOB-104772, in the wrong order  </a:t>
            </a:r>
            <a:r>
              <a:rPr lang="en-US" sz="900" i="1" dirty="0">
                <a:solidFill>
                  <a:srgbClr val="8A8A8A"/>
                </a:solidFill>
                <a:latin typeface="Arial" pitchFamily="34" charset="0"/>
                <a:ea typeface="Arial" pitchFamily="34" charset="-122"/>
                <a:cs typeface="Arial" pitchFamily="34" charset="-120"/>
              </a:rPr>
              <a:t>(run and verified as code)</a:t>
            </a:r>
          </a:p>
        </p:txBody>
      </p:sp>
      <p:sp>
        <p:nvSpPr>
          <p:cNvPr id="26" name="Text 27"/>
          <p:cNvSpPr/>
          <p:nvPr/>
        </p:nvSpPr>
        <p:spPr>
          <a:xfrm>
            <a:off x="680000" y="2140000"/>
            <a:ext cx="2450000" cy="220000"/>
          </a:xfrm>
          <a:prstGeom prst="rect">
            <a:avLst/>
          </a:prstGeom>
          <a:noFill/>
          <a:ln/>
        </p:spPr>
        <p:txBody>
          <a:bodyPr wrap="square" lIns="0" tIns="0" rIns="0" bIns="0" rtlCol="0" anchor="t"/>
          <a:lstStyle/>
          <a:p>
            <a:pPr indent="0" marL="0">
              <a:buNone/>
            </a:pPr>
            <a:r>
              <a:rPr lang="en-US" sz="950" b="1" dirty="0">
                <a:solidFill>
                  <a:srgbClr val="1F3864"/>
                </a:solidFill>
                <a:latin typeface="Arial" pitchFamily="34" charset="0"/>
                <a:ea typeface="Arial" pitchFamily="34" charset="-122"/>
                <a:cs typeface="Arial" pitchFamily="34" charset="-120"/>
              </a:rPr>
              <a:t>Arrives in this order</a:t>
            </a:r>
          </a:p>
        </p:txBody>
      </p:sp>
      <p:sp>
        <p:nvSpPr>
          <p:cNvPr id="28" name="Shape 29"/>
          <p:cNvSpPr/>
          <p:nvPr/>
        </p:nvSpPr>
        <p:spPr>
          <a:xfrm>
            <a:off x="680000" y="2400000"/>
            <a:ext cx="2450000" cy="540000"/>
          </a:xfrm>
          <a:prstGeom prst="roundRect">
            <a:avLst>
              <a:gd name="adj" fmla="val 8000"/>
            </a:avLst>
          </a:prstGeom>
          <a:solidFill>
            <a:srgbClr val="FFFFFF"/>
          </a:solidFill>
          <a:ln w="12700">
            <a:solidFill>
              <a:srgbClr val="1F3864"/>
            </a:solidFill>
            <a:prstDash val="solid"/>
          </a:ln>
        </p:spPr>
      </p:sp>
      <p:sp>
        <p:nvSpPr>
          <p:cNvPr id="30" name="Text 31"/>
          <p:cNvSpPr/>
          <p:nvPr/>
        </p:nvSpPr>
        <p:spPr>
          <a:xfrm>
            <a:off x="790000" y="2470000"/>
            <a:ext cx="2230000" cy="220000"/>
          </a:xfrm>
          <a:prstGeom prst="rect">
            <a:avLst/>
          </a:prstGeom>
          <a:noFill/>
          <a:ln/>
        </p:spPr>
        <p:txBody>
          <a:bodyPr wrap="square" lIns="0" tIns="0" rIns="0" bIns="0" rtlCol="0" anchor="t"/>
          <a:lstStyle/>
          <a:p>
            <a:pPr indent="0" marL="0">
              <a:buNone/>
            </a:pPr>
            <a:r>
              <a:rPr lang="en-US" sz="850" b="1" dirty="0">
                <a:solidFill>
                  <a:srgbClr val="1F3864"/>
                </a:solidFill>
                <a:latin typeface="Arial" pitchFamily="34" charset="0"/>
                <a:ea typeface="Arial" pitchFamily="34" charset="-122"/>
                <a:cs typeface="Arial" pitchFamily="34" charset="-120"/>
              </a:rPr>
              <a:t>1 · UPDATE, version 2</a:t>
            </a:r>
          </a:p>
        </p:txBody>
      </p:sp>
      <p:sp>
        <p:nvSpPr>
          <p:cNvPr id="32" name="Text 33"/>
          <p:cNvSpPr/>
          <p:nvPr/>
        </p:nvSpPr>
        <p:spPr>
          <a:xfrm>
            <a:off x="790000" y="2690000"/>
            <a:ext cx="2230000" cy="220000"/>
          </a:xfrm>
          <a:prstGeom prst="rect">
            <a:avLst/>
          </a:prstGeom>
          <a:noFill/>
          <a:ln/>
        </p:spPr>
        <p:txBody>
          <a:bodyPr wrap="square" lIns="0" tIns="0" rIns="0" bIns="0" rtlCol="0" anchor="t"/>
          <a:lstStyle/>
          <a:p>
            <a:pPr indent="0" marL="0">
              <a:buNone/>
            </a:pPr>
            <a:r>
              <a:rPr lang="en-US" sz="750" dirty="0">
                <a:solidFill>
                  <a:srgbClr val="444444"/>
                </a:solidFill>
                <a:latin typeface="Arial" pitchFamily="34" charset="0"/>
                <a:ea typeface="Arial" pitchFamily="34" charset="-122"/>
                <a:cs typeface="Arial" pitchFamily="34" charset="-120"/>
              </a:rPr>
              <a:t>JAMS-9001 — before the job exists</a:t>
            </a:r>
          </a:p>
        </p:txBody>
      </p:sp>
      <p:sp>
        <p:nvSpPr>
          <p:cNvPr id="34" name="Shape 35"/>
          <p:cNvSpPr/>
          <p:nvPr/>
        </p:nvSpPr>
        <p:spPr>
          <a:xfrm>
            <a:off x="680000" y="3000000"/>
            <a:ext cx="2450000" cy="540000"/>
          </a:xfrm>
          <a:prstGeom prst="roundRect">
            <a:avLst>
              <a:gd name="adj" fmla="val 8000"/>
            </a:avLst>
          </a:prstGeom>
          <a:solidFill>
            <a:srgbClr val="FFFFFF"/>
          </a:solidFill>
          <a:ln w="12700">
            <a:solidFill>
              <a:srgbClr val="1F3864"/>
            </a:solidFill>
            <a:prstDash val="solid"/>
          </a:ln>
        </p:spPr>
      </p:sp>
      <p:sp>
        <p:nvSpPr>
          <p:cNvPr id="36" name="Text 37"/>
          <p:cNvSpPr/>
          <p:nvPr/>
        </p:nvSpPr>
        <p:spPr>
          <a:xfrm>
            <a:off x="790000" y="3070000"/>
            <a:ext cx="2230000" cy="220000"/>
          </a:xfrm>
          <a:prstGeom prst="rect">
            <a:avLst/>
          </a:prstGeom>
          <a:noFill/>
          <a:ln/>
        </p:spPr>
        <p:txBody>
          <a:bodyPr wrap="square" lIns="0" tIns="0" rIns="0" bIns="0" rtlCol="0" anchor="t"/>
          <a:lstStyle/>
          <a:p>
            <a:pPr indent="0" marL="0">
              <a:buNone/>
            </a:pPr>
            <a:r>
              <a:rPr lang="en-US" sz="850" b="1" dirty="0">
                <a:solidFill>
                  <a:srgbClr val="1F3864"/>
                </a:solidFill>
                <a:latin typeface="Arial" pitchFamily="34" charset="0"/>
                <a:ea typeface="Arial" pitchFamily="34" charset="-122"/>
                <a:cs typeface="Arial" pitchFamily="34" charset="-120"/>
              </a:rPr>
              <a:t>2 · CREATE, version 1</a:t>
            </a:r>
          </a:p>
        </p:txBody>
      </p:sp>
      <p:sp>
        <p:nvSpPr>
          <p:cNvPr id="38" name="Text 39"/>
          <p:cNvSpPr/>
          <p:nvPr/>
        </p:nvSpPr>
        <p:spPr>
          <a:xfrm>
            <a:off x="790000" y="3290000"/>
            <a:ext cx="2230000" cy="220000"/>
          </a:xfrm>
          <a:prstGeom prst="rect">
            <a:avLst/>
          </a:prstGeom>
          <a:noFill/>
          <a:ln/>
        </p:spPr>
        <p:txBody>
          <a:bodyPr wrap="square" lIns="0" tIns="0" rIns="0" bIns="0" rtlCol="0" anchor="t"/>
          <a:lstStyle/>
          <a:p>
            <a:pPr indent="0" marL="0">
              <a:buNone/>
            </a:pPr>
            <a:r>
              <a:rPr lang="en-US" sz="750" dirty="0">
                <a:solidFill>
                  <a:srgbClr val="444444"/>
                </a:solidFill>
                <a:latin typeface="Arial" pitchFamily="34" charset="0"/>
                <a:ea typeface="Arial" pitchFamily="34" charset="-122"/>
                <a:cs typeface="Arial" pitchFamily="34" charset="-120"/>
              </a:rPr>
              <a:t>JAMS-9000 — the create, late</a:t>
            </a:r>
          </a:p>
        </p:txBody>
      </p:sp>
      <p:sp>
        <p:nvSpPr>
          <p:cNvPr id="40" name="Shape 41"/>
          <p:cNvSpPr/>
          <p:nvPr/>
        </p:nvSpPr>
        <p:spPr>
          <a:xfrm>
            <a:off x="680000" y="3600000"/>
            <a:ext cx="2450000" cy="540000"/>
          </a:xfrm>
          <a:prstGeom prst="roundRect">
            <a:avLst>
              <a:gd name="adj" fmla="val 8000"/>
            </a:avLst>
          </a:prstGeom>
          <a:solidFill>
            <a:srgbClr val="FFFFFF"/>
          </a:solidFill>
          <a:ln w="12700">
            <a:solidFill>
              <a:srgbClr val="1F3864"/>
            </a:solidFill>
            <a:prstDash val="solid"/>
          </a:ln>
        </p:spPr>
      </p:sp>
      <p:sp>
        <p:nvSpPr>
          <p:cNvPr id="42" name="Text 43"/>
          <p:cNvSpPr/>
          <p:nvPr/>
        </p:nvSpPr>
        <p:spPr>
          <a:xfrm>
            <a:off x="790000" y="3670000"/>
            <a:ext cx="2230000" cy="220000"/>
          </a:xfrm>
          <a:prstGeom prst="rect">
            <a:avLst/>
          </a:prstGeom>
          <a:noFill/>
          <a:ln/>
        </p:spPr>
        <p:txBody>
          <a:bodyPr wrap="square" lIns="0" tIns="0" rIns="0" bIns="0" rtlCol="0" anchor="t"/>
          <a:lstStyle/>
          <a:p>
            <a:pPr indent="0" marL="0">
              <a:buNone/>
            </a:pPr>
            <a:r>
              <a:rPr lang="en-US" sz="850" b="1" dirty="0">
                <a:solidFill>
                  <a:srgbClr val="1F3864"/>
                </a:solidFill>
                <a:latin typeface="Arial" pitchFamily="34" charset="0"/>
                <a:ea typeface="Arial" pitchFamily="34" charset="-122"/>
                <a:cs typeface="Arial" pitchFamily="34" charset="-120"/>
              </a:rPr>
              <a:t>3 · UPDATE, version 1</a:t>
            </a:r>
          </a:p>
        </p:txBody>
      </p:sp>
      <p:sp>
        <p:nvSpPr>
          <p:cNvPr id="44" name="Text 45"/>
          <p:cNvSpPr/>
          <p:nvPr/>
        </p:nvSpPr>
        <p:spPr>
          <a:xfrm>
            <a:off x="790000" y="3890000"/>
            <a:ext cx="2230000" cy="220000"/>
          </a:xfrm>
          <a:prstGeom prst="rect">
            <a:avLst/>
          </a:prstGeom>
          <a:noFill/>
          <a:ln/>
        </p:spPr>
        <p:txBody>
          <a:bodyPr wrap="square" lIns="0" tIns="0" rIns="0" bIns="0" rtlCol="0" anchor="t"/>
          <a:lstStyle/>
          <a:p>
            <a:pPr indent="0" marL="0">
              <a:buNone/>
            </a:pPr>
            <a:r>
              <a:rPr lang="en-US" sz="750" dirty="0">
                <a:solidFill>
                  <a:srgbClr val="444444"/>
                </a:solidFill>
                <a:latin typeface="Arial" pitchFamily="34" charset="0"/>
                <a:ea typeface="Arial" pitchFamily="34" charset="-122"/>
                <a:cs typeface="Arial" pitchFamily="34" charset="-120"/>
              </a:rPr>
              <a:t>JAMS-8999 — an old copy, very late</a:t>
            </a:r>
          </a:p>
        </p:txBody>
      </p:sp>
      <p:sp>
        <p:nvSpPr>
          <p:cNvPr id="46" name="Shape 47"/>
          <p:cNvSpPr/>
          <p:nvPr/>
        </p:nvSpPr>
        <p:spPr>
          <a:xfrm>
            <a:off x="680000" y="4200000"/>
            <a:ext cx="2450000" cy="540000"/>
          </a:xfrm>
          <a:prstGeom prst="roundRect">
            <a:avLst>
              <a:gd name="adj" fmla="val 8000"/>
            </a:avLst>
          </a:prstGeom>
          <a:solidFill>
            <a:srgbClr val="FFFFFF"/>
          </a:solidFill>
          <a:ln w="12700">
            <a:solidFill>
              <a:srgbClr val="1F3864"/>
            </a:solidFill>
            <a:prstDash val="solid"/>
          </a:ln>
        </p:spPr>
      </p:sp>
      <p:sp>
        <p:nvSpPr>
          <p:cNvPr id="48" name="Text 49"/>
          <p:cNvSpPr/>
          <p:nvPr/>
        </p:nvSpPr>
        <p:spPr>
          <a:xfrm>
            <a:off x="790000" y="4270000"/>
            <a:ext cx="2230000" cy="220000"/>
          </a:xfrm>
          <a:prstGeom prst="rect">
            <a:avLst/>
          </a:prstGeom>
          <a:noFill/>
          <a:ln/>
        </p:spPr>
        <p:txBody>
          <a:bodyPr wrap="square" lIns="0" tIns="0" rIns="0" bIns="0" rtlCol="0" anchor="t"/>
          <a:lstStyle/>
          <a:p>
            <a:pPr indent="0" marL="0">
              <a:buNone/>
            </a:pPr>
            <a:r>
              <a:rPr lang="en-US" sz="850" b="1" dirty="0">
                <a:solidFill>
                  <a:srgbClr val="1F3864"/>
                </a:solidFill>
                <a:latin typeface="Arial" pitchFamily="34" charset="0"/>
                <a:ea typeface="Arial" pitchFamily="34" charset="-122"/>
                <a:cs typeface="Arial" pitchFamily="34" charset="-120"/>
              </a:rPr>
              <a:t>4 · UPDATE, version 2</a:t>
            </a:r>
          </a:p>
        </p:txBody>
      </p:sp>
      <p:sp>
        <p:nvSpPr>
          <p:cNvPr id="50" name="Text 51"/>
          <p:cNvSpPr/>
          <p:nvPr/>
        </p:nvSpPr>
        <p:spPr>
          <a:xfrm>
            <a:off x="790000" y="4490000"/>
            <a:ext cx="2230000" cy="220000"/>
          </a:xfrm>
          <a:prstGeom prst="rect">
            <a:avLst/>
          </a:prstGeom>
          <a:noFill/>
          <a:ln/>
        </p:spPr>
        <p:txBody>
          <a:bodyPr wrap="square" lIns="0" tIns="0" rIns="0" bIns="0" rtlCol="0" anchor="t"/>
          <a:lstStyle/>
          <a:p>
            <a:pPr indent="0" marL="0">
              <a:buNone/>
            </a:pPr>
            <a:r>
              <a:rPr lang="en-US" sz="750" dirty="0">
                <a:solidFill>
                  <a:srgbClr val="444444"/>
                </a:solidFill>
                <a:latin typeface="Arial" pitchFamily="34" charset="0"/>
                <a:ea typeface="Arial" pitchFamily="34" charset="-122"/>
                <a:cs typeface="Arial" pitchFamily="34" charset="-120"/>
              </a:rPr>
              <a:t>duplicate of JAMS-9001</a:t>
            </a:r>
          </a:p>
        </p:txBody>
      </p:sp>
      <p:sp>
        <p:nvSpPr>
          <p:cNvPr id="52" name="Text 53"/>
          <p:cNvSpPr/>
          <p:nvPr/>
        </p:nvSpPr>
        <p:spPr>
          <a:xfrm>
            <a:off x="3500000" y="2140000"/>
            <a:ext cx="2620000" cy="220000"/>
          </a:xfrm>
          <a:prstGeom prst="rect">
            <a:avLst/>
          </a:prstGeom>
          <a:noFill/>
          <a:ln/>
        </p:spPr>
        <p:txBody>
          <a:bodyPr wrap="square" lIns="0" tIns="0" rIns="0" bIns="0" rtlCol="0" anchor="t"/>
          <a:lstStyle/>
          <a:p>
            <a:pPr indent="0" marL="0">
              <a:buNone/>
            </a:pPr>
            <a:r>
              <a:rPr lang="en-US" sz="950" b="1" dirty="0">
                <a:solidFill>
                  <a:srgbClr val="085041"/>
                </a:solidFill>
                <a:latin typeface="Arial" pitchFamily="34" charset="0"/>
                <a:ea typeface="Arial" pitchFamily="34" charset="-122"/>
                <a:cs typeface="Arial" pitchFamily="34" charset="-120"/>
              </a:rPr>
              <a:t>The three checks</a:t>
            </a:r>
          </a:p>
        </p:txBody>
      </p:sp>
      <p:sp>
        <p:nvSpPr>
          <p:cNvPr id="54" name="Shape 55"/>
          <p:cNvSpPr/>
          <p:nvPr/>
        </p:nvSpPr>
        <p:spPr>
          <a:xfrm>
            <a:off x="3500000" y="2400000"/>
            <a:ext cx="2620000" cy="700000"/>
          </a:xfrm>
          <a:prstGeom prst="roundRect">
            <a:avLst>
              <a:gd name="adj" fmla="val 6000"/>
            </a:avLst>
          </a:prstGeom>
          <a:solidFill>
            <a:srgbClr val="E1F5EE"/>
          </a:solidFill>
          <a:ln w="12700">
            <a:solidFill>
              <a:srgbClr val="0F6E56"/>
            </a:solidFill>
            <a:prstDash val="solid"/>
          </a:ln>
        </p:spPr>
      </p:sp>
      <p:sp>
        <p:nvSpPr>
          <p:cNvPr id="56" name="Text 57"/>
          <p:cNvSpPr/>
          <p:nvPr/>
        </p:nvSpPr>
        <p:spPr>
          <a:xfrm>
            <a:off x="3620000" y="2480000"/>
            <a:ext cx="2380000" cy="220000"/>
          </a:xfrm>
          <a:prstGeom prst="rect">
            <a:avLst/>
          </a:prstGeom>
          <a:noFill/>
          <a:ln/>
        </p:spPr>
        <p:txBody>
          <a:bodyPr wrap="square" lIns="0" tIns="0" rIns="0" bIns="0" rtlCol="0" anchor="t"/>
          <a:lstStyle/>
          <a:p>
            <a:pPr indent="0" marL="0">
              <a:buNone/>
            </a:pPr>
            <a:r>
              <a:rPr lang="en-US" sz="850" b="1" dirty="0">
                <a:solidFill>
                  <a:srgbClr val="085041"/>
                </a:solidFill>
                <a:latin typeface="Arial" pitchFamily="34" charset="0"/>
                <a:ea typeface="Arial" pitchFamily="34" charset="-122"/>
                <a:cs typeface="Arial" pitchFamily="34" charset="-120"/>
              </a:rPr>
              <a:t>Too early? wait</a:t>
            </a:r>
          </a:p>
        </p:txBody>
      </p:sp>
      <p:sp>
        <p:nvSpPr>
          <p:cNvPr id="58" name="Text 59"/>
          <p:cNvSpPr/>
          <p:nvPr/>
        </p:nvSpPr>
        <p:spPr>
          <a:xfrm>
            <a:off x="3620000" y="2700000"/>
            <a:ext cx="2380000" cy="380000"/>
          </a:xfrm>
          <a:prstGeom prst="rect">
            <a:avLst/>
          </a:prstGeom>
          <a:noFill/>
          <a:ln/>
        </p:spPr>
        <p:txBody>
          <a:bodyPr wrap="square" lIns="0" tIns="0" rIns="0" bIns="0" rtlCol="0" anchor="t"/>
          <a:lstStyle/>
          <a:p>
            <a:pPr indent="0" marL="0">
              <a:buNone/>
            </a:pPr>
            <a:r>
              <a:rPr lang="en-US" sz="750" dirty="0">
                <a:solidFill>
                  <a:srgbClr val="444444"/>
                </a:solidFill>
                <a:latin typeface="Arial" pitchFamily="34" charset="0"/>
                <a:ea typeface="Arial" pitchFamily="34" charset="-122"/>
                <a:cs typeface="Arial" pitchFamily="34" charset="-120"/>
              </a:rPr>
              <a:t>the job does not exist yet — retry with growing waits; after five, set aside and alerted as TRANSIENT</a:t>
            </a:r>
          </a:p>
        </p:txBody>
      </p:sp>
      <p:sp>
        <p:nvSpPr>
          <p:cNvPr id="60" name="Shape 61"/>
          <p:cNvSpPr/>
          <p:nvPr/>
        </p:nvSpPr>
        <p:spPr>
          <a:xfrm>
            <a:off x="3500000" y="3160000"/>
            <a:ext cx="2620000" cy="700000"/>
          </a:xfrm>
          <a:prstGeom prst="roundRect">
            <a:avLst>
              <a:gd name="adj" fmla="val 6000"/>
            </a:avLst>
          </a:prstGeom>
          <a:solidFill>
            <a:srgbClr val="E1F5EE"/>
          </a:solidFill>
          <a:ln w="12700">
            <a:solidFill>
              <a:srgbClr val="0F6E56"/>
            </a:solidFill>
            <a:prstDash val="solid"/>
          </a:ln>
        </p:spPr>
      </p:sp>
      <p:sp>
        <p:nvSpPr>
          <p:cNvPr id="62" name="Text 63"/>
          <p:cNvSpPr/>
          <p:nvPr/>
        </p:nvSpPr>
        <p:spPr>
          <a:xfrm>
            <a:off x="3620000" y="3240000"/>
            <a:ext cx="2380000" cy="220000"/>
          </a:xfrm>
          <a:prstGeom prst="rect">
            <a:avLst/>
          </a:prstGeom>
          <a:noFill/>
          <a:ln/>
        </p:spPr>
        <p:txBody>
          <a:bodyPr wrap="square" lIns="0" tIns="0" rIns="0" bIns="0" rtlCol="0" anchor="t"/>
          <a:lstStyle/>
          <a:p>
            <a:pPr indent="0" marL="0">
              <a:buNone/>
            </a:pPr>
            <a:r>
              <a:rPr lang="en-US" sz="850" b="1" dirty="0">
                <a:solidFill>
                  <a:srgbClr val="085041"/>
                </a:solidFill>
                <a:latin typeface="Arial" pitchFamily="34" charset="0"/>
                <a:ea typeface="Arial" pitchFamily="34" charset="-122"/>
                <a:cs typeface="Arial" pitchFamily="34" charset="-120"/>
              </a:rPr>
              <a:t>Out of date? drop</a:t>
            </a:r>
          </a:p>
        </p:txBody>
      </p:sp>
      <p:sp>
        <p:nvSpPr>
          <p:cNvPr id="64" name="Text 65"/>
          <p:cNvSpPr/>
          <p:nvPr/>
        </p:nvSpPr>
        <p:spPr>
          <a:xfrm>
            <a:off x="3620000" y="3460000"/>
            <a:ext cx="2380000" cy="380000"/>
          </a:xfrm>
          <a:prstGeom prst="rect">
            <a:avLst/>
          </a:prstGeom>
          <a:noFill/>
          <a:ln/>
        </p:spPr>
        <p:txBody>
          <a:bodyPr wrap="square" lIns="0" tIns="0" rIns="0" bIns="0" rtlCol="0" anchor="t"/>
          <a:lstStyle/>
          <a:p>
            <a:pPr indent="0" marL="0">
              <a:buNone/>
            </a:pPr>
            <a:r>
              <a:rPr lang="en-US" sz="750" dirty="0">
                <a:solidFill>
                  <a:srgbClr val="444444"/>
                </a:solidFill>
                <a:latin typeface="Arial" pitchFamily="34" charset="0"/>
                <a:ea typeface="Arial" pitchFamily="34" charset="-122"/>
                <a:cs typeface="Arial" pitchFamily="34" charset="-120"/>
              </a:rPr>
              <a:t>the versionStamp is older than the last one applied — answered SUCCEEDED with a superseded flag</a:t>
            </a:r>
          </a:p>
        </p:txBody>
      </p:sp>
      <p:sp>
        <p:nvSpPr>
          <p:cNvPr id="66" name="Shape 67"/>
          <p:cNvSpPr/>
          <p:nvPr/>
        </p:nvSpPr>
        <p:spPr>
          <a:xfrm>
            <a:off x="3500000" y="3920000"/>
            <a:ext cx="2620000" cy="700000"/>
          </a:xfrm>
          <a:prstGeom prst="roundRect">
            <a:avLst>
              <a:gd name="adj" fmla="val 6000"/>
            </a:avLst>
          </a:prstGeom>
          <a:solidFill>
            <a:srgbClr val="E1F5EE"/>
          </a:solidFill>
          <a:ln w="12700">
            <a:solidFill>
              <a:srgbClr val="0F6E56"/>
            </a:solidFill>
            <a:prstDash val="solid"/>
          </a:ln>
        </p:spPr>
      </p:sp>
      <p:sp>
        <p:nvSpPr>
          <p:cNvPr id="68" name="Text 69"/>
          <p:cNvSpPr/>
          <p:nvPr/>
        </p:nvSpPr>
        <p:spPr>
          <a:xfrm>
            <a:off x="3620000" y="4000000"/>
            <a:ext cx="2380000" cy="220000"/>
          </a:xfrm>
          <a:prstGeom prst="rect">
            <a:avLst/>
          </a:prstGeom>
          <a:noFill/>
          <a:ln/>
        </p:spPr>
        <p:txBody>
          <a:bodyPr wrap="square" lIns="0" tIns="0" rIns="0" bIns="0" rtlCol="0" anchor="t"/>
          <a:lstStyle/>
          <a:p>
            <a:pPr indent="0" marL="0">
              <a:buNone/>
            </a:pPr>
            <a:r>
              <a:rPr lang="en-US" sz="850" b="1" dirty="0">
                <a:solidFill>
                  <a:srgbClr val="085041"/>
                </a:solidFill>
                <a:latin typeface="Arial" pitchFamily="34" charset="0"/>
                <a:ea typeface="Arial" pitchFamily="34" charset="-122"/>
                <a:cs typeface="Arial" pitchFamily="34" charset="-120"/>
              </a:rPr>
              <a:t>Same job? one writer</a:t>
            </a:r>
          </a:p>
        </p:txBody>
      </p:sp>
      <p:sp>
        <p:nvSpPr>
          <p:cNvPr id="70" name="Text 71"/>
          <p:cNvSpPr/>
          <p:nvPr/>
        </p:nvSpPr>
        <p:spPr>
          <a:xfrm>
            <a:off x="3620000" y="4220000"/>
            <a:ext cx="2380000" cy="380000"/>
          </a:xfrm>
          <a:prstGeom prst="rect">
            <a:avLst/>
          </a:prstGeom>
          <a:noFill/>
          <a:ln/>
        </p:spPr>
        <p:txBody>
          <a:bodyPr wrap="square" lIns="0" tIns="0" rIns="0" bIns="0" rtlCol="0" anchor="t"/>
          <a:lstStyle/>
          <a:p>
            <a:pPr indent="0" marL="0">
              <a:buNone/>
            </a:pPr>
            <a:r>
              <a:rPr lang="en-US" sz="750" dirty="0">
                <a:solidFill>
                  <a:srgbClr val="444444"/>
                </a:solidFill>
                <a:latin typeface="Arial" pitchFamily="34" charset="0"/>
                <a:ea typeface="Arial" pitchFamily="34" charset="-122"/>
                <a:cs typeface="Arial" pitchFamily="34" charset="-120"/>
              </a:rPr>
              <a:t>Data Store lease per clientJobNumber (the businessKey); other jobs run in parallel</a:t>
            </a:r>
          </a:p>
        </p:txBody>
      </p:sp>
      <p:sp>
        <p:nvSpPr>
          <p:cNvPr id="72" name="Text 73"/>
          <p:cNvSpPr/>
          <p:nvPr/>
        </p:nvSpPr>
        <p:spPr>
          <a:xfrm>
            <a:off x="3500000" y="4690000"/>
            <a:ext cx="2620000" cy="180000"/>
          </a:xfrm>
          <a:prstGeom prst="rect">
            <a:avLst/>
          </a:prstGeom>
          <a:noFill/>
          <a:ln/>
        </p:spPr>
        <p:txBody>
          <a:bodyPr wrap="square" lIns="0" tIns="0" rIns="0" bIns="0" rtlCol="0" anchor="t"/>
          <a:lstStyle/>
          <a:p>
            <a:pPr indent="0" marL="0">
              <a:buNone/>
            </a:pPr>
            <a:r>
              <a:rPr lang="en-US" sz="750" i="1" dirty="0">
                <a:solidFill>
                  <a:srgbClr val="8A8A8A"/>
                </a:solidFill>
                <a:latin typeface="Arial" pitchFamily="34" charset="0"/>
                <a:ea typeface="Arial" pitchFamily="34" charset="-122"/>
                <a:cs typeface="Arial" pitchFamily="34" charset="-120"/>
              </a:rPr>
              <a:t>(a duplicate gets the saved answer — slide 11)</a:t>
            </a:r>
          </a:p>
        </p:txBody>
      </p:sp>
      <p:sp>
        <p:nvSpPr>
          <p:cNvPr id="74" name="Arrow 75"/>
          <p:cNvSpPr/>
          <p:nvPr/>
        </p:nvSpPr>
        <p:spPr>
          <a:xfrm>
            <a:off x="3170000" y="3550000"/>
            <a:ext cx="290000" cy="1"/>
          </a:xfrm>
          <a:prstGeom prst="line">
            <a:avLst/>
          </a:prstGeom>
          <a:noFill/>
          <a:ln w="28575">
            <a:solidFill>
              <a:srgbClr val="1F3864"/>
            </a:solidFill>
            <a:prstDash val="solid"/>
            <a:headEnd type="none"/>
            <a:tailEnd type="triangle"/>
          </a:ln>
        </p:spPr>
      </p:sp>
      <p:sp>
        <p:nvSpPr>
          <p:cNvPr id="76" name="Arrow 77"/>
          <p:cNvSpPr/>
          <p:nvPr/>
        </p:nvSpPr>
        <p:spPr>
          <a:xfrm>
            <a:off x="6160000" y="3550000"/>
            <a:ext cx="260000" cy="1"/>
          </a:xfrm>
          <a:prstGeom prst="line">
            <a:avLst/>
          </a:prstGeom>
          <a:noFill/>
          <a:ln w="28575">
            <a:solidFill>
              <a:srgbClr val="0F6E56"/>
            </a:solidFill>
            <a:prstDash val="solid"/>
            <a:headEnd type="none"/>
            <a:tailEnd type="triangle"/>
          </a:ln>
        </p:spPr>
      </p:sp>
      <p:sp>
        <p:nvSpPr>
          <p:cNvPr id="78" name="Text 79"/>
          <p:cNvSpPr/>
          <p:nvPr/>
        </p:nvSpPr>
        <p:spPr>
          <a:xfrm>
            <a:off x="6460000" y="2140000"/>
            <a:ext cx="4980000" cy="220000"/>
          </a:xfrm>
          <a:prstGeom prst="rect">
            <a:avLst/>
          </a:prstGeom>
          <a:noFill/>
          <a:ln/>
        </p:spPr>
        <p:txBody>
          <a:bodyPr wrap="square" lIns="0" tIns="0" rIns="0" bIns="0" rtlCol="0" anchor="t"/>
          <a:lstStyle/>
          <a:p>
            <a:pPr indent="0" marL="0">
              <a:buNone/>
            </a:pPr>
            <a:r>
              <a:rPr lang="en-US" sz="950" b="1" dirty="0">
                <a:solidFill>
                  <a:srgbClr val="1F3864"/>
                </a:solidFill>
                <a:latin typeface="Arial" pitchFamily="34" charset="0"/>
                <a:ea typeface="Arial" pitchFamily="34" charset="-122"/>
                <a:cs typeface="Arial" pitchFamily="34" charset="-120"/>
              </a:rPr>
              <a:t>What actually happens</a:t>
            </a:r>
          </a:p>
        </p:txBody>
      </p:sp>
      <p:sp>
        <p:nvSpPr>
          <p:cNvPr id="80" name="Shape 81"/>
          <p:cNvSpPr/>
          <p:nvPr/>
        </p:nvSpPr>
        <p:spPr>
          <a:xfrm>
            <a:off x="6460000" y="2400000"/>
            <a:ext cx="4980000" cy="700000"/>
          </a:xfrm>
          <a:prstGeom prst="roundRect">
            <a:avLst>
              <a:gd name="adj" fmla="val 6000"/>
            </a:avLst>
          </a:prstGeom>
          <a:solidFill>
            <a:srgbClr val="E1F5EE"/>
          </a:solidFill>
          <a:ln w="15875">
            <a:solidFill>
              <a:srgbClr val="0F6E56"/>
            </a:solidFill>
            <a:prstDash val="solid"/>
          </a:ln>
        </p:spPr>
      </p:sp>
      <p:sp>
        <p:nvSpPr>
          <p:cNvPr id="82" name="Text 83"/>
          <p:cNvSpPr/>
          <p:nvPr/>
        </p:nvSpPr>
        <p:spPr>
          <a:xfrm>
            <a:off x="6600000" y="2480000"/>
            <a:ext cx="4700000" cy="240000"/>
          </a:xfrm>
          <a:prstGeom prst="rect">
            <a:avLst/>
          </a:prstGeom>
          <a:noFill/>
          <a:ln/>
        </p:spPr>
        <p:txBody>
          <a:bodyPr wrap="square" lIns="0" tIns="0" rIns="0" bIns="0" rtlCol="0" anchor="t"/>
          <a:lstStyle/>
          <a:p>
            <a:pPr indent="0" marL="0">
              <a:buNone/>
            </a:pPr>
            <a:r>
              <a:rPr lang="en-US" sz="950" b="1" dirty="0">
                <a:solidFill>
                  <a:srgbClr val="085041"/>
                </a:solidFill>
                <a:latin typeface="Arial" pitchFamily="34" charset="0"/>
                <a:ea typeface="Arial" pitchFamily="34" charset="-122"/>
                <a:cs typeface="Arial" pitchFamily="34" charset="-120"/>
              </a:rPr>
              <a:t>S/4 receives:  CREATE v1  →  UPDATE v2</a:t>
            </a:r>
          </a:p>
        </p:txBody>
      </p:sp>
      <p:sp>
        <p:nvSpPr>
          <p:cNvPr id="84" name="Text 85"/>
          <p:cNvSpPr/>
          <p:nvPr/>
        </p:nvSpPr>
        <p:spPr>
          <a:xfrm>
            <a:off x="6600000" y="2740000"/>
            <a:ext cx="4700000" cy="30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two posts, in the right order, nothing posted twice — with no ordered queue involved</a:t>
            </a:r>
          </a:p>
        </p:txBody>
      </p:sp>
      <p:sp>
        <p:nvSpPr>
          <p:cNvPr id="86" name="Shape 87"/>
          <p:cNvSpPr/>
          <p:nvPr/>
        </p:nvSpPr>
        <p:spPr>
          <a:xfrm>
            <a:off x="6460000" y="3200000"/>
            <a:ext cx="4980000" cy="1620000"/>
          </a:xfrm>
          <a:prstGeom prst="roundRect">
            <a:avLst>
              <a:gd name="adj" fmla="val 4000"/>
            </a:avLst>
          </a:prstGeom>
          <a:solidFill>
            <a:srgbClr val="FFFFFF"/>
          </a:solidFill>
          <a:ln w="12700">
            <a:solidFill>
              <a:srgbClr val="1F3864"/>
            </a:solidFill>
            <a:prstDash val="solid"/>
          </a:ln>
        </p:spPr>
      </p:sp>
      <p:sp>
        <p:nvSpPr>
          <p:cNvPr id="88" name="Text 89"/>
          <p:cNvSpPr/>
          <p:nvPr/>
        </p:nvSpPr>
        <p:spPr>
          <a:xfrm>
            <a:off x="6600000" y="3280000"/>
            <a:ext cx="4700000" cy="24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Every message answered</a:t>
            </a:r>
          </a:p>
        </p:txBody>
      </p:sp>
      <p:sp>
        <p:nvSpPr>
          <p:cNvPr id="90" name="Text 91"/>
          <p:cNvSpPr/>
          <p:nvPr/>
        </p:nvSpPr>
        <p:spPr>
          <a:xfrm>
            <a:off x="6600000" y="3560000"/>
            <a:ext cx="4700000" cy="280000"/>
          </a:xfrm>
          <a:prstGeom prst="rect">
            <a:avLst/>
          </a:prstGeom>
          <a:noFill/>
          <a:ln/>
        </p:spPr>
        <p:txBody>
          <a:bodyPr wrap="square" lIns="0" tIns="0" rIns="0" bIns="0" rtlCol="0" anchor="t"/>
          <a:lstStyle/>
          <a:p>
            <a:pPr indent="0" marL="0">
              <a:buNone/>
            </a:pPr>
            <a:r>
              <a:rPr lang="en-US" sz="800" b="1" dirty="0">
                <a:solidFill>
                  <a:srgbClr val="1F3864"/>
                </a:solidFill>
                <a:latin typeface="Arial" pitchFamily="34" charset="0"/>
                <a:ea typeface="Arial" pitchFamily="34" charset="-122"/>
                <a:cs typeface="Arial" pitchFamily="34" charset="-120"/>
              </a:rPr>
              <a:t>1 · UPDATE v2   </a:t>
            </a:r>
            <a:r>
              <a:rPr lang="en-US" sz="800" dirty="0">
                <a:solidFill>
                  <a:srgbClr val="444444"/>
                </a:solidFill>
                <a:latin typeface="Arial" pitchFamily="34" charset="0"/>
                <a:ea typeface="Arial" pitchFamily="34" charset="-122"/>
                <a:cs typeface="Arial" pitchFamily="34" charset="-120"/>
              </a:rPr>
              <a:t>waited for the create, then SUCCEEDED</a:t>
            </a:r>
          </a:p>
        </p:txBody>
      </p:sp>
      <p:sp>
        <p:nvSpPr>
          <p:cNvPr id="92" name="Text 93"/>
          <p:cNvSpPr/>
          <p:nvPr/>
        </p:nvSpPr>
        <p:spPr>
          <a:xfrm>
            <a:off x="6600000" y="3860000"/>
            <a:ext cx="4700000" cy="280000"/>
          </a:xfrm>
          <a:prstGeom prst="rect">
            <a:avLst/>
          </a:prstGeom>
          <a:noFill/>
          <a:ln/>
        </p:spPr>
        <p:txBody>
          <a:bodyPr wrap="square" lIns="0" tIns="0" rIns="0" bIns="0" rtlCol="0" anchor="t"/>
          <a:lstStyle/>
          <a:p>
            <a:pPr indent="0" marL="0">
              <a:buNone/>
            </a:pPr>
            <a:r>
              <a:rPr lang="en-US" sz="800" b="1" dirty="0">
                <a:solidFill>
                  <a:srgbClr val="1F3864"/>
                </a:solidFill>
                <a:latin typeface="Arial" pitchFamily="34" charset="0"/>
                <a:ea typeface="Arial" pitchFamily="34" charset="-122"/>
                <a:cs typeface="Arial" pitchFamily="34" charset="-120"/>
              </a:rPr>
              <a:t>2 · CREATE v1   </a:t>
            </a:r>
            <a:r>
              <a:rPr lang="en-US" sz="800" dirty="0">
                <a:solidFill>
                  <a:srgbClr val="444444"/>
                </a:solidFill>
                <a:latin typeface="Arial" pitchFamily="34" charset="0"/>
                <a:ea typeface="Arial" pitchFamily="34" charset="-122"/>
                <a:cs typeface="Arial" pitchFamily="34" charset="-120"/>
              </a:rPr>
              <a:t>SUCCEEDED</a:t>
            </a:r>
          </a:p>
        </p:txBody>
      </p:sp>
      <p:sp>
        <p:nvSpPr>
          <p:cNvPr id="94" name="Text 95"/>
          <p:cNvSpPr/>
          <p:nvPr/>
        </p:nvSpPr>
        <p:spPr>
          <a:xfrm>
            <a:off x="6600000" y="4160000"/>
            <a:ext cx="4700000" cy="280000"/>
          </a:xfrm>
          <a:prstGeom prst="rect">
            <a:avLst/>
          </a:prstGeom>
          <a:noFill/>
          <a:ln/>
        </p:spPr>
        <p:txBody>
          <a:bodyPr wrap="square" lIns="0" tIns="0" rIns="0" bIns="0" rtlCol="0" anchor="t"/>
          <a:lstStyle/>
          <a:p>
            <a:pPr indent="0" marL="0">
              <a:buNone/>
            </a:pPr>
            <a:r>
              <a:rPr lang="en-US" sz="800" b="1" dirty="0">
                <a:solidFill>
                  <a:srgbClr val="1F3864"/>
                </a:solidFill>
                <a:latin typeface="Arial" pitchFamily="34" charset="0"/>
                <a:ea typeface="Arial" pitchFamily="34" charset="-122"/>
                <a:cs typeface="Arial" pitchFamily="34" charset="-120"/>
              </a:rPr>
              <a:t>3 · UPDATE v1 (old)   </a:t>
            </a:r>
            <a:r>
              <a:rPr lang="en-US" sz="800" dirty="0">
                <a:solidFill>
                  <a:srgbClr val="444444"/>
                </a:solidFill>
                <a:latin typeface="Arial" pitchFamily="34" charset="0"/>
                <a:ea typeface="Arial" pitchFamily="34" charset="-122"/>
                <a:cs typeface="Arial" pitchFamily="34" charset="-120"/>
              </a:rPr>
              <a:t>SUCCEEDED + superseded flag — nothing to fix</a:t>
            </a:r>
          </a:p>
        </p:txBody>
      </p:sp>
      <p:sp>
        <p:nvSpPr>
          <p:cNvPr id="96" name="Text 97"/>
          <p:cNvSpPr/>
          <p:nvPr/>
        </p:nvSpPr>
        <p:spPr>
          <a:xfrm>
            <a:off x="6600000" y="4460000"/>
            <a:ext cx="4700000" cy="280000"/>
          </a:xfrm>
          <a:prstGeom prst="rect">
            <a:avLst/>
          </a:prstGeom>
          <a:noFill/>
          <a:ln/>
        </p:spPr>
        <p:txBody>
          <a:bodyPr wrap="square" lIns="0" tIns="0" rIns="0" bIns="0" rtlCol="0" anchor="t"/>
          <a:lstStyle/>
          <a:p>
            <a:pPr indent="0" marL="0">
              <a:buNone/>
            </a:pPr>
            <a:r>
              <a:rPr lang="en-US" sz="800" b="1" dirty="0">
                <a:solidFill>
                  <a:srgbClr val="1F3864"/>
                </a:solidFill>
                <a:latin typeface="Arial" pitchFamily="34" charset="0"/>
                <a:ea typeface="Arial" pitchFamily="34" charset="-122"/>
                <a:cs typeface="Arial" pitchFamily="34" charset="-120"/>
              </a:rPr>
              <a:t>4 · duplicate   </a:t>
            </a:r>
            <a:r>
              <a:rPr lang="en-US" sz="800" dirty="0">
                <a:solidFill>
                  <a:srgbClr val="444444"/>
                </a:solidFill>
                <a:latin typeface="Arial" pitchFamily="34" charset="0"/>
                <a:ea typeface="Arial" pitchFamily="34" charset="-122"/>
                <a:cs typeface="Arial" pitchFamily="34" charset="-120"/>
              </a:rPr>
              <a:t>the saved answer returned — no post</a:t>
            </a:r>
          </a:p>
        </p:txBody>
      </p:sp>
      <p:sp>
        <p:nvSpPr>
          <p:cNvPr id="98" name="Text 99"/>
          <p:cNvSpPr/>
          <p:nvPr/>
        </p:nvSpPr>
        <p:spPr>
          <a:xfrm>
            <a:off x="502920" y="5030000"/>
            <a:ext cx="11186160" cy="300000"/>
          </a:xfrm>
          <a:prstGeom prst="rect">
            <a:avLst/>
          </a:prstGeom>
          <a:noFill/>
          <a:ln/>
        </p:spPr>
        <p:txBody>
          <a:bodyPr wrap="square" lIns="0" tIns="0" rIns="0" bIns="0" rtlCol="0" anchor="t"/>
          <a:lstStyle/>
          <a:p>
            <a:pPr indent="0" marL="0">
              <a:buNone/>
            </a:pPr>
            <a:r>
              <a:rPr lang="en-US" sz="950" b="1" dirty="0">
                <a:solidFill>
                  <a:srgbClr val="1F3864"/>
                </a:solidFill>
                <a:latin typeface="Arial" pitchFamily="34" charset="0"/>
                <a:ea typeface="Arial" pitchFamily="34" charset="-122"/>
                <a:cs typeface="Arial" pitchFamily="34" charset="-120"/>
              </a:rPr>
              <a:t>Queue count:  </a:t>
            </a:r>
            <a:r>
              <a:rPr lang="en-US" sz="950" dirty="0">
                <a:solidFill>
                  <a:srgbClr val="444444"/>
                </a:solidFill>
                <a:latin typeface="Arial" pitchFamily="34" charset="0"/>
                <a:ea typeface="Arial" pitchFamily="34" charset="-122"/>
                <a:cs typeface="Arial" pitchFamily="34" charset="-120"/>
              </a:rPr>
              <a:t>one JMS entry queue per canonical (seven) plus a small shared set — the response queue and the wait-retry queue. All set-aside messages go to the Data Store; the count is agreed with GBIS against the platform limit.</a:t>
            </a:r>
          </a:p>
        </p:txBody>
      </p:sp>
      <p:sp>
        <p:nvSpPr>
          <p:cNvPr id="100" name="Text 101"/>
          <p:cNvSpPr/>
          <p:nvPr/>
        </p:nvSpPr>
        <p:spPr>
          <a:xfrm>
            <a:off x="502920" y="5560000"/>
            <a:ext cx="11186160" cy="700000"/>
          </a:xfrm>
          <a:prstGeom prst="rect">
            <a:avLst/>
          </a:prstGeom>
          <a:noFill/>
          <a:ln/>
        </p:spPr>
        <p:txBody>
          <a:bodyPr wrap="square" lIns="0" tIns="0" rIns="0" bIns="0" rtlCol="0" anchor="t"/>
          <a:lstStyle/>
          <a:p>
            <a:pPr indent="0" marL="0">
              <a:buNone/>
            </a:pPr>
            <a:r>
              <a:rPr lang="en-US" sz="950" b="1" dirty="0">
                <a:solidFill>
                  <a:srgbClr val="1F3864"/>
                </a:solidFill>
                <a:latin typeface="Arial" pitchFamily="34" charset="0"/>
                <a:ea typeface="Arial" pitchFamily="34" charset="-122"/>
                <a:cs typeface="Arial" pitchFamily="34" charset="-120"/>
              </a:rPr>
              <a:t>Why fix it now:  </a:t>
            </a:r>
            <a:r>
              <a:rPr lang="en-US" sz="950" dirty="0">
                <a:solidFill>
                  <a:srgbClr val="444444"/>
                </a:solidFill>
                <a:latin typeface="Arial" pitchFamily="34" charset="0"/>
                <a:ea typeface="Arial" pitchFamily="34" charset="-122"/>
                <a:cs typeface="Arial" pitchFamily="34" charset="-120"/>
              </a:rPr>
              <a:t>the change is to how the flows are built, not to any field mapping. INT-FS-21 and 22 come first and every other canonical copies them — built the wrong way once, the rework multiplies by fourteen. Nothing new is invented: the version stamps and step chains already in the documents do the ordering.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3"/>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4" name="Text 5"/>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p>
        </p:txBody>
      </p:sp>
      <p:sp>
        <p:nvSpPr>
          <p:cNvPr id="6" name="Text 7"/>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CPI JMS - Queue architecture — 9 queues at full build</a:t>
            </a:r>
          </a:p>
        </p:txBody>
      </p:sp>
      <p:sp>
        <p:nvSpPr>
          <p:cNvPr id="8" name="Shape 9"/>
          <p:cNvSpPr/>
          <p:nvPr/>
        </p:nvSpPr>
        <p:spPr>
          <a:xfrm>
            <a:off x="9591672" y="201168"/>
            <a:ext cx="1500000" cy="274320"/>
          </a:xfrm>
          <a:prstGeom prst="roundRect">
            <a:avLst>
              <a:gd name="adj" fmla="val 40000"/>
            </a:avLst>
          </a:prstGeom>
          <a:solidFill>
            <a:srgbClr val="E1F5EE"/>
          </a:solidFill>
          <a:ln w="12700">
            <a:solidFill>
              <a:srgbClr val="0F6E56"/>
            </a:solidFill>
            <a:prstDash val="solid"/>
          </a:ln>
        </p:spPr>
      </p:sp>
      <p:sp>
        <p:nvSpPr>
          <p:cNvPr id="10" name="Text 11"/>
          <p:cNvSpPr/>
          <p:nvPr/>
        </p:nvSpPr>
        <p:spPr>
          <a:xfrm>
            <a:off x="9591672" y="201168"/>
            <a:ext cx="1500000"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Solution</a:t>
            </a:r>
          </a:p>
        </p:txBody>
      </p:sp>
      <p:sp>
        <p:nvSpPr>
          <p:cNvPr id="12" name="Text 13"/>
          <p:cNvSpPr/>
          <p:nvPr/>
        </p:nvSpPr>
        <p:spPr>
          <a:xfrm>
            <a:off x="502920" y="676656"/>
            <a:ext cx="11201400" cy="340000"/>
          </a:xfrm>
          <a:prstGeom prst="rect">
            <a:avLst/>
          </a:prstGeom>
          <a:noFill/>
          <a:ln/>
        </p:spPr>
        <p:txBody>
          <a:bodyPr wrap="square" lIns="0" tIns="0" rIns="0" bIns="0" rtlCol="0" anchor="t"/>
          <a:lstStyle/>
          <a:p>
            <a:pPr indent="0" marL="0">
              <a:buNone/>
            </a:pPr>
            <a:r>
              <a:rPr lang="en-US" sz="1150" dirty="0">
                <a:solidFill>
                  <a:srgbClr val="595959"/>
                </a:solidFill>
                <a:latin typeface="Arial" pitchFamily="34" charset="0"/>
                <a:ea typeface="Arial" pitchFamily="34" charset="-122"/>
                <a:cs typeface="Arial" pitchFamily="34" charset="-120"/>
              </a:rPr>
              <a:t>Nine queues cover the full build: one entry queue per model so a stuck model cannot starve another, two shared queues, and the Data Store for everything that is not transport. The isolation claim is run as code — result on the right.</a:t>
            </a:r>
          </a:p>
        </p:txBody>
      </p:sp>
      <p:sp>
        <p:nvSpPr>
          <p:cNvPr id="14" name="Text 15"/>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p>
        </p:txBody>
      </p:sp>
      <p:sp>
        <p:nvSpPr>
          <p:cNvPr id="16" name="Text 17"/>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p>
        </p:txBody>
      </p:sp>
      <p:sp>
        <p:nvSpPr>
          <p:cNvPr id="18" name="Text 19"/>
          <p:cNvSpPr/>
          <p:nvPr/>
        </p:nvSpPr>
        <p:spPr>
          <a:xfrm>
            <a:off x="502920" y="1150000"/>
            <a:ext cx="5470000" cy="240000"/>
          </a:xfrm>
          <a:prstGeom prst="rect">
            <a:avLst/>
          </a:prstGeom>
          <a:noFill/>
          <a:ln/>
        </p:spPr>
        <p:txBody>
          <a:bodyPr wrap="square" lIns="0" tIns="0" rIns="0" bIns="0" rtlCol="0" anchor="t"/>
          <a:lstStyle/>
          <a:p>
            <a:pPr indent="0" marL="0">
              <a:buNone/>
            </a:pPr>
            <a:r>
              <a:rPr lang="en-US" sz="1050" b="1" dirty="0">
                <a:solidFill>
                  <a:srgbClr val="1F3864"/>
                </a:solidFill>
                <a:latin typeface="Arial" pitchFamily="34" charset="0"/>
                <a:ea typeface="Arial" pitchFamily="34" charset="-122"/>
                <a:cs typeface="Arial" pitchFamily="34" charset="-120"/>
              </a:rPr>
              <a:t>THE QUEUE SET</a:t>
            </a:r>
          </a:p>
        </p:txBody>
      </p:sp>
      <p:sp>
        <p:nvSpPr>
          <p:cNvPr id="20" name="Shape 21"/>
          <p:cNvSpPr/>
          <p:nvPr/>
        </p:nvSpPr>
        <p:spPr>
          <a:xfrm>
            <a:off x="502920" y="1420000"/>
            <a:ext cx="5470000" cy="1250000"/>
          </a:xfrm>
          <a:prstGeom prst="roundRect">
            <a:avLst>
              <a:gd name="adj" fmla="val 4000"/>
            </a:avLst>
          </a:prstGeom>
          <a:solidFill>
            <a:srgbClr val="EEF2F8"/>
          </a:solidFill>
          <a:ln w="15875">
            <a:solidFill>
              <a:srgbClr val="1F3864"/>
            </a:solidFill>
            <a:prstDash val="solid"/>
          </a:ln>
        </p:spPr>
      </p:sp>
      <p:sp>
        <p:nvSpPr>
          <p:cNvPr id="22" name="Text 23"/>
          <p:cNvSpPr/>
          <p:nvPr/>
        </p:nvSpPr>
        <p:spPr>
          <a:xfrm>
            <a:off x="642920" y="1500000"/>
            <a:ext cx="5190000" cy="260000"/>
          </a:xfrm>
          <a:prstGeom prst="rect">
            <a:avLst/>
          </a:prstGeom>
          <a:noFill/>
          <a:ln/>
        </p:spPr>
        <p:txBody>
          <a:bodyPr wrap="square" lIns="0" tIns="0" rIns="0" bIns="0" rtlCol="0" anchor="t"/>
          <a:lstStyle/>
          <a:p>
            <a:pPr indent="0" marL="0">
              <a:buNone/>
            </a:pPr>
            <a:r>
              <a:rPr lang="en-US" sz="950" b="1" dirty="0">
                <a:solidFill>
                  <a:srgbClr val="1F3864"/>
                </a:solidFill>
                <a:latin typeface="Arial" pitchFamily="34" charset="0"/>
                <a:ea typeface="Arial" pitchFamily="34" charset="-122"/>
                <a:cs typeface="Arial" pitchFamily="34" charset="-120"/>
              </a:rPr>
              <a:t>Entry queues — CANONICAL_&lt;MODEL&gt;_IN, one per model</a:t>
            </a:r>
          </a:p>
        </p:txBody>
      </p:sp>
      <p:sp>
        <p:nvSpPr>
          <p:cNvPr id="24" name="Text 25"/>
          <p:cNvSpPr/>
          <p:nvPr/>
        </p:nvSpPr>
        <p:spPr>
          <a:xfrm>
            <a:off x="642920" y="1770000"/>
            <a:ext cx="5190000" cy="840000"/>
          </a:xfrm>
          <a:prstGeom prst="rect">
            <a:avLst/>
          </a:prstGeom>
          <a:noFill/>
          <a:ln/>
        </p:spPr>
        <p:txBody>
          <a:bodyPr wrap="square" lIns="0" tIns="0" rIns="0" bIns="0" rtlCol="0" anchor="t"/>
          <a:lstStyle/>
          <a:p>
            <a:pPr indent="0" marL="0">
              <a:spcAft>
                <a:spcPts val="200"/>
              </a:spcAft>
              <a:buNone/>
            </a:pPr>
            <a:r>
              <a:rPr lang="en-US" sz="820" dirty="0">
                <a:solidFill>
                  <a:srgbClr val="444444"/>
                </a:solidFill>
                <a:latin typeface="Arial" pitchFamily="34" charset="0"/>
                <a:ea typeface="Arial" pitchFamily="34" charset="-122"/>
                <a:cs typeface="Arial" pitchFamily="34" charset="-120"/>
              </a:rPr>
              <a:t>The six issued: CANONICAL_WBS_IN (INT-FS-22) · CANONICAL_SERVICEORDER_IN (INT-FS-21) · CANONICAL_BILLING_SO_IN (INT-FS-26) · CANONICAL_BILLING_PROJ_IN (INT-FS-65) · CANONICAL_STOCK_PROJ_IN (INT-FS-106) · CANONICAL_STOCK_SVC_IN (INT-FS-24) — plus CANONICAL_PROC_SVC_IN at first issue: seven at full build.</a:t>
            </a:r>
          </a:p>
          <a:p>
            <a:pPr indent="0" marL="0">
              <a:buNone/>
            </a:pPr>
            <a:r>
              <a:rPr lang="en-US" sz="820" dirty="0">
                <a:solidFill>
                  <a:srgbClr val="444444"/>
                </a:solidFill>
                <a:latin typeface="Arial" pitchFamily="34" charset="0"/>
                <a:ea typeface="Arial" pitchFamily="34" charset="-122"/>
                <a:cs typeface="Arial" pitchFamily="34" charset="-120"/>
              </a:rPr>
              <a:t>Per queue: parallel readers · retries with growing waits · five attempts, then set aside to the Data Store.</a:t>
            </a:r>
          </a:p>
        </p:txBody>
      </p:sp>
      <p:sp>
        <p:nvSpPr>
          <p:cNvPr id="26" name="Shape 27"/>
          <p:cNvSpPr/>
          <p:nvPr/>
        </p:nvSpPr>
        <p:spPr>
          <a:xfrm>
            <a:off x="502920" y="2790000"/>
            <a:ext cx="5470000" cy="1000000"/>
          </a:xfrm>
          <a:prstGeom prst="roundRect">
            <a:avLst>
              <a:gd name="adj" fmla="val 4000"/>
            </a:avLst>
          </a:prstGeom>
          <a:solidFill>
            <a:srgbClr val="EEEDFE"/>
          </a:solidFill>
          <a:ln w="15875">
            <a:solidFill>
              <a:srgbClr val="534AB7"/>
            </a:solidFill>
            <a:prstDash val="solid"/>
          </a:ln>
        </p:spPr>
      </p:sp>
      <p:sp>
        <p:nvSpPr>
          <p:cNvPr id="28" name="Text 29"/>
          <p:cNvSpPr/>
          <p:nvPr/>
        </p:nvSpPr>
        <p:spPr>
          <a:xfrm>
            <a:off x="642920" y="2870000"/>
            <a:ext cx="5190000" cy="260000"/>
          </a:xfrm>
          <a:prstGeom prst="rect">
            <a:avLst/>
          </a:prstGeom>
          <a:noFill/>
          <a:ln/>
        </p:spPr>
        <p:txBody>
          <a:bodyPr wrap="square" lIns="0" tIns="0" rIns="0" bIns="0" rtlCol="0" anchor="t"/>
          <a:lstStyle/>
          <a:p>
            <a:pPr indent="0" marL="0">
              <a:buNone/>
            </a:pPr>
            <a:r>
              <a:rPr lang="en-US" sz="950" b="1" dirty="0">
                <a:solidFill>
                  <a:srgbClr val="3B3491"/>
                </a:solidFill>
                <a:latin typeface="Arial" pitchFamily="34" charset="0"/>
                <a:ea typeface="Arial" pitchFamily="34" charset="-122"/>
                <a:cs typeface="Arial" pitchFamily="34" charset="-120"/>
              </a:rPr>
              <a:t>2 shared queues</a:t>
            </a:r>
          </a:p>
        </p:txBody>
      </p:sp>
      <p:sp>
        <p:nvSpPr>
          <p:cNvPr id="30" name="Text 31"/>
          <p:cNvSpPr/>
          <p:nvPr/>
        </p:nvSpPr>
        <p:spPr>
          <a:xfrm>
            <a:off x="642920" y="3140000"/>
            <a:ext cx="5190000" cy="600000"/>
          </a:xfrm>
          <a:prstGeom prst="rect">
            <a:avLst/>
          </a:prstGeom>
          <a:noFill/>
          <a:ln/>
        </p:spPr>
        <p:txBody>
          <a:bodyPr wrap="square" lIns="0" tIns="0" rIns="0" bIns="0" rtlCol="0" anchor="t"/>
          <a:lstStyle/>
          <a:p>
            <a:pPr indent="0" marL="0">
              <a:spcAft>
                <a:spcPts val="200"/>
              </a:spcAft>
              <a:buNone/>
            </a:pPr>
            <a:r>
              <a:rPr lang="en-US" sz="820" dirty="0">
                <a:solidFill>
                  <a:srgbClr val="444444"/>
                </a:solidFill>
                <a:latin typeface="Arial" pitchFamily="34" charset="0"/>
                <a:ea typeface="Arial" pitchFamily="34" charset="-122"/>
                <a:cs typeface="Arial" pitchFamily="34" charset="-120"/>
              </a:rPr>
              <a:t>CANONICAL_SHARED_RESPONSE — answers out, retried on their own, never re-posting.</a:t>
            </a:r>
          </a:p>
          <a:p>
            <a:pPr indent="0" marL="0">
              <a:buNone/>
            </a:pPr>
            <a:r>
              <a:rPr lang="en-US" sz="820" dirty="0">
                <a:solidFill>
                  <a:srgbClr val="444444"/>
                </a:solidFill>
                <a:latin typeface="Arial" pitchFamily="34" charset="0"/>
                <a:ea typeface="Arial" pitchFamily="34" charset="-122"/>
                <a:cs typeface="Arial" pitchFamily="34" charset="-120"/>
              </a:rPr>
              <a:t>CANONICAL_SHARED_WAITRETRY — too-early messages wait here briefly, then try again.</a:t>
            </a:r>
          </a:p>
        </p:txBody>
      </p:sp>
      <p:sp>
        <p:nvSpPr>
          <p:cNvPr id="32" name="Shape 33"/>
          <p:cNvSpPr/>
          <p:nvPr/>
        </p:nvSpPr>
        <p:spPr>
          <a:xfrm>
            <a:off x="502920" y="3910000"/>
            <a:ext cx="5470000" cy="1000000"/>
          </a:xfrm>
          <a:prstGeom prst="roundRect">
            <a:avLst>
              <a:gd name="adj" fmla="val 4000"/>
            </a:avLst>
          </a:prstGeom>
          <a:solidFill>
            <a:srgbClr val="F4F5F7"/>
          </a:solidFill>
          <a:ln w="12700">
            <a:solidFill>
              <a:srgbClr val="5B6570"/>
            </a:solidFill>
            <a:prstDash val="solid"/>
          </a:ln>
        </p:spPr>
      </p:sp>
      <p:sp>
        <p:nvSpPr>
          <p:cNvPr id="34" name="Text 35"/>
          <p:cNvSpPr/>
          <p:nvPr/>
        </p:nvSpPr>
        <p:spPr>
          <a:xfrm>
            <a:off x="642920" y="3990000"/>
            <a:ext cx="5190000" cy="260000"/>
          </a:xfrm>
          <a:prstGeom prst="rect">
            <a:avLst/>
          </a:prstGeom>
          <a:noFill/>
          <a:ln/>
        </p:spPr>
        <p:txBody>
          <a:bodyPr wrap="square" lIns="0" tIns="0" rIns="0" bIns="0" rtlCol="0" anchor="t"/>
          <a:lstStyle/>
          <a:p>
            <a:pPr indent="0" marL="0">
              <a:buNone/>
            </a:pPr>
            <a:r>
              <a:rPr lang="en-US" sz="950" b="1" dirty="0">
                <a:solidFill>
                  <a:srgbClr val="5B6570"/>
                </a:solidFill>
                <a:latin typeface="Arial" pitchFamily="34" charset="0"/>
                <a:ea typeface="Arial" pitchFamily="34" charset="-122"/>
                <a:cs typeface="Arial" pitchFamily="34" charset="-120"/>
              </a:rPr>
              <a:t>NOT queues — the Data Store</a:t>
            </a:r>
          </a:p>
        </p:txBody>
      </p:sp>
      <p:sp>
        <p:nvSpPr>
          <p:cNvPr id="36" name="Text 37"/>
          <p:cNvSpPr/>
          <p:nvPr/>
        </p:nvSpPr>
        <p:spPr>
          <a:xfrm>
            <a:off x="642920" y="4260000"/>
            <a:ext cx="5190000" cy="600000"/>
          </a:xfrm>
          <a:prstGeom prst="rect">
            <a:avLst/>
          </a:prstGeom>
          <a:noFill/>
          <a:ln/>
        </p:spPr>
        <p:txBody>
          <a:bodyPr wrap="square" lIns="0" tIns="0" rIns="0" bIns="0" rtlCol="0" anchor="t"/>
          <a:lstStyle/>
          <a:p>
            <a:pPr indent="0" marL="0">
              <a:spcAft>
                <a:spcPts val="200"/>
              </a:spcAft>
              <a:buNone/>
            </a:pPr>
            <a:r>
              <a:rPr lang="en-US" sz="820" dirty="0">
                <a:solidFill>
                  <a:srgbClr val="444444"/>
                </a:solidFill>
                <a:latin typeface="Arial" pitchFamily="34" charset="0"/>
                <a:ea typeface="Arial" pitchFamily="34" charset="-122"/>
                <a:cs typeface="Arial" pitchFamily="34" charset="-120"/>
              </a:rPr>
              <a:t>dedup keys · cross-references · job leases · set-aside messages · the answer tracker.</a:t>
            </a:r>
          </a:p>
          <a:p>
            <a:pPr indent="0" marL="0">
              <a:buNone/>
            </a:pPr>
            <a:r>
              <a:rPr lang="en-US" sz="820" dirty="0">
                <a:solidFill>
                  <a:srgbClr val="444444"/>
                </a:solidFill>
                <a:latin typeface="Arial" pitchFamily="34" charset="0"/>
                <a:ea typeface="Arial" pitchFamily="34" charset="-122"/>
                <a:cs typeface="Arial" pitchFamily="34" charset="-120"/>
              </a:rPr>
              <a:t>Five stores — zero queues consumed. The old design used 45 extra queues for these functions.</a:t>
            </a:r>
          </a:p>
        </p:txBody>
      </p:sp>
      <p:sp>
        <p:nvSpPr>
          <p:cNvPr id="38" name="Text 39"/>
          <p:cNvSpPr/>
          <p:nvPr/>
        </p:nvSpPr>
        <p:spPr>
          <a:xfrm>
            <a:off x="6251400" y="1150000"/>
            <a:ext cx="5437680" cy="240000"/>
          </a:xfrm>
          <a:prstGeom prst="rect">
            <a:avLst/>
          </a:prstGeom>
          <a:noFill/>
          <a:ln/>
        </p:spPr>
        <p:txBody>
          <a:bodyPr wrap="square" lIns="0" tIns="0" rIns="0" bIns="0" rtlCol="0" anchor="t"/>
          <a:lstStyle/>
          <a:p>
            <a:pPr indent="0" marL="0">
              <a:buNone/>
            </a:pPr>
            <a:r>
              <a:rPr lang="en-US" sz="1050" b="1" dirty="0">
                <a:solidFill>
                  <a:srgbClr val="085041"/>
                </a:solidFill>
                <a:latin typeface="Arial" pitchFamily="34" charset="0"/>
                <a:ea typeface="Arial" pitchFamily="34" charset="-122"/>
                <a:cs typeface="Arial" pitchFamily="34" charset="-120"/>
              </a:rPr>
              <a:t>WHY PER-MODEL — run as code</a:t>
            </a:r>
          </a:p>
        </p:txBody>
      </p:sp>
      <p:sp>
        <p:nvSpPr>
          <p:cNvPr id="40" name="Shape 41"/>
          <p:cNvSpPr/>
          <p:nvPr/>
        </p:nvSpPr>
        <p:spPr>
          <a:xfrm>
            <a:off x="6251400" y="1420000"/>
            <a:ext cx="5437680" cy="1250000"/>
          </a:xfrm>
          <a:prstGeom prst="roundRect">
            <a:avLst>
              <a:gd name="adj" fmla="val 4000"/>
            </a:avLst>
          </a:prstGeom>
          <a:solidFill>
            <a:srgbClr val="E1F5EE"/>
          </a:solidFill>
          <a:ln w="15875">
            <a:solidFill>
              <a:srgbClr val="0F6E56"/>
            </a:solidFill>
            <a:prstDash val="solid"/>
          </a:ln>
        </p:spPr>
      </p:sp>
      <p:sp>
        <p:nvSpPr>
          <p:cNvPr id="42" name="Text 43"/>
          <p:cNvSpPr/>
          <p:nvPr/>
        </p:nvSpPr>
        <p:spPr>
          <a:xfrm>
            <a:off x="6391400" y="1510000"/>
            <a:ext cx="5157680" cy="1100000"/>
          </a:xfrm>
          <a:prstGeom prst="rect">
            <a:avLst/>
          </a:prstGeom>
          <a:noFill/>
          <a:ln/>
        </p:spPr>
        <p:txBody>
          <a:bodyPr wrap="square" lIns="0" tIns="0" rIns="0" bIns="0" rtlCol="0" anchor="t"/>
          <a:lstStyle/>
          <a:p>
            <a:pPr indent="0" marL="0">
              <a:spcAft>
                <a:spcPts val="300"/>
              </a:spcAft>
              <a:buNone/>
            </a:pPr>
            <a:r>
              <a:rPr lang="en-US" sz="850" dirty="0">
                <a:solidFill>
                  <a:srgbClr val="444444"/>
                </a:solidFill>
                <a:latin typeface="Arial" pitchFamily="34" charset="0"/>
                <a:ea typeface="Arial" pitchFamily="34" charset="-122"/>
                <a:cs typeface="Arial" pitchFamily="34" charset="-120"/>
              </a:rPr>
              <a:t>1,000 billing messages stuck and retrying in ONE shared queue: </a:t>
            </a:r>
            <a:r>
              <a:rPr lang="en-US" sz="850" b="1" dirty="0">
                <a:solidFill>
                  <a:srgbClr val="993556"/>
                </a:solidFill>
                <a:latin typeface="Arial" pitchFamily="34" charset="0"/>
                <a:ea typeface="Arial" pitchFamily="34" charset="-122"/>
                <a:cs typeface="Arial" pitchFamily="34" charset="-120"/>
              </a:rPr>
              <a:t>a project message waited behind 1,000 dequeue attempts.</a:t>
            </a:r>
          </a:p>
          <a:p>
            <a:pPr indent="0" marL="0">
              <a:spcAft>
                <a:spcPts val="300"/>
              </a:spcAft>
              <a:buNone/>
            </a:pPr>
            <a:r>
              <a:rPr lang="en-US" sz="850" dirty="0">
                <a:solidFill>
                  <a:srgbClr val="444444"/>
                </a:solidFill>
                <a:latin typeface="Arial" pitchFamily="34" charset="0"/>
                <a:ea typeface="Arial" pitchFamily="34" charset="-122"/>
                <a:cs typeface="Arial" pitchFamily="34" charset="-120"/>
              </a:rPr>
              <a:t>With its own queue: </a:t>
            </a:r>
            <a:r>
              <a:rPr lang="en-US" sz="850" b="1" dirty="0">
                <a:solidFill>
                  <a:srgbClr val="085041"/>
                </a:solidFill>
                <a:latin typeface="Arial" pitchFamily="34" charset="0"/>
                <a:ea typeface="Arial" pitchFamily="34" charset="-122"/>
                <a:cs typeface="Arial" pitchFamily="34" charset="-120"/>
              </a:rPr>
              <a:t>processed on dequeue #1.</a:t>
            </a:r>
          </a:p>
          <a:p>
            <a:pPr indent="0" marL="0">
              <a:buNone/>
            </a:pPr>
            <a:r>
              <a:rPr lang="en-US" sz="850" b="1" dirty="0">
                <a:solidFill>
                  <a:srgbClr val="085041"/>
                </a:solidFill>
                <a:latin typeface="Arial" pitchFamily="34" charset="0"/>
                <a:ea typeface="Arial" pitchFamily="34" charset="-122"/>
                <a:cs typeface="Arial" pitchFamily="34" charset="-120"/>
              </a:rPr>
              <a:t>This isolation is why each model has its own entry queue rather than one shared queue.</a:t>
            </a:r>
          </a:p>
        </p:txBody>
      </p:sp>
      <p:sp>
        <p:nvSpPr>
          <p:cNvPr id="44" name="Text 45"/>
          <p:cNvSpPr/>
          <p:nvPr/>
        </p:nvSpPr>
        <p:spPr>
          <a:xfrm>
            <a:off x="6251400" y="2830000"/>
            <a:ext cx="5437680" cy="240000"/>
          </a:xfrm>
          <a:prstGeom prst="rect">
            <a:avLst/>
          </a:prstGeom>
          <a:noFill/>
          <a:ln/>
        </p:spPr>
        <p:txBody>
          <a:bodyPr wrap="square" lIns="0" tIns="0" rIns="0" bIns="0" rtlCol="0" anchor="t"/>
          <a:lstStyle/>
          <a:p>
            <a:pPr indent="0" marL="0">
              <a:buNone/>
            </a:pPr>
            <a:r>
              <a:rPr lang="en-US" sz="1050" b="1" dirty="0">
                <a:solidFill>
                  <a:srgbClr val="72243E"/>
                </a:solidFill>
                <a:latin typeface="Arial" pitchFamily="34" charset="0"/>
                <a:ea typeface="Arial" pitchFamily="34" charset="-122"/>
                <a:cs typeface="Arial" pitchFamily="34" charset="-120"/>
              </a:rPr>
              <a:t>DELIBERATELY NOT ADDED</a:t>
            </a:r>
          </a:p>
        </p:txBody>
      </p:sp>
      <p:sp>
        <p:nvSpPr>
          <p:cNvPr id="46" name="Shape 47"/>
          <p:cNvSpPr/>
          <p:nvPr/>
        </p:nvSpPr>
        <p:spPr>
          <a:xfrm>
            <a:off x="6251400" y="3100000"/>
            <a:ext cx="5437680" cy="1810000"/>
          </a:xfrm>
          <a:prstGeom prst="roundRect">
            <a:avLst>
              <a:gd name="adj" fmla="val 4000"/>
            </a:avLst>
          </a:prstGeom>
          <a:solidFill>
            <a:srgbClr val="FBEAF0"/>
          </a:solidFill>
          <a:ln w="15875">
            <a:solidFill>
              <a:srgbClr val="993556"/>
            </a:solidFill>
            <a:prstDash val="solid"/>
          </a:ln>
        </p:spPr>
      </p:sp>
      <p:sp>
        <p:nvSpPr>
          <p:cNvPr id="48" name="Text 49"/>
          <p:cNvSpPr/>
          <p:nvPr/>
        </p:nvSpPr>
        <p:spPr>
          <a:xfrm>
            <a:off x="6391400" y="3190000"/>
            <a:ext cx="5157680" cy="1650000"/>
          </a:xfrm>
          <a:prstGeom prst="rect">
            <a:avLst/>
          </a:prstGeom>
          <a:noFill/>
          <a:ln/>
        </p:spPr>
        <p:txBody>
          <a:bodyPr wrap="square" lIns="0" tIns="0" rIns="0" bIns="0" rtlCol="0" anchor="t"/>
          <a:lstStyle/>
          <a:p>
            <a:pPr indent="0" marL="0">
              <a:spcAft>
                <a:spcPts val="300"/>
              </a:spcAft>
              <a:buNone/>
            </a:pPr>
            <a:r>
              <a:rPr lang="en-US" sz="850" b="1" dirty="0">
                <a:solidFill>
                  <a:srgbClr val="72243E"/>
                </a:solidFill>
                <a:latin typeface="Arial" pitchFamily="34" charset="0"/>
                <a:ea typeface="Arial" pitchFamily="34" charset="-122"/>
                <a:cs typeface="Arial" pitchFamily="34" charset="-120"/>
              </a:rPr>
              <a:t>No per-FSM queues.  </a:t>
            </a:r>
            <a:r>
              <a:rPr lang="en-US" sz="850" dirty="0">
                <a:solidFill>
                  <a:srgbClr val="444444"/>
                </a:solidFill>
                <a:latin typeface="Arial" pitchFamily="34" charset="0"/>
                <a:ea typeface="Arial" pitchFamily="34" charset="-122"/>
                <a:cs typeface="Arial" pitchFamily="34" charset="-120"/>
              </a:rPr>
              <a:t>Answers are routed by sourceSystem at delivery — four FSMs share one response queue.</a:t>
            </a:r>
          </a:p>
          <a:p>
            <a:pPr indent="0" marL="0">
              <a:spcAft>
                <a:spcPts val="300"/>
              </a:spcAft>
              <a:buNone/>
            </a:pPr>
            <a:r>
              <a:rPr lang="en-US" sz="850" b="1" dirty="0">
                <a:solidFill>
                  <a:srgbClr val="72243E"/>
                </a:solidFill>
                <a:latin typeface="Arial" pitchFamily="34" charset="0"/>
                <a:ea typeface="Arial" pitchFamily="34" charset="-122"/>
                <a:cs typeface="Arial" pitchFamily="34" charset="-120"/>
              </a:rPr>
              <a:t>No per-error queues.  </a:t>
            </a:r>
            <a:r>
              <a:rPr lang="en-US" sz="850" dirty="0">
                <a:solidFill>
                  <a:srgbClr val="444444"/>
                </a:solidFill>
                <a:latin typeface="Arial" pitchFamily="34" charset="0"/>
                <a:ea typeface="Arial" pitchFamily="34" charset="-122"/>
                <a:cs typeface="Arial" pitchFamily="34" charset="-120"/>
              </a:rPr>
              <a:t>The error class is a tag on the Data Store entry, not a transport lane.</a:t>
            </a:r>
          </a:p>
          <a:p>
            <a:pPr indent="0" marL="0">
              <a:spcAft>
                <a:spcPts val="300"/>
              </a:spcAft>
              <a:buNone/>
            </a:pPr>
            <a:r>
              <a:rPr lang="en-US" sz="850" b="1" dirty="0">
                <a:solidFill>
                  <a:srgbClr val="72243E"/>
                </a:solidFill>
                <a:latin typeface="Arial" pitchFamily="34" charset="0"/>
                <a:ea typeface="Arial" pitchFamily="34" charset="-122"/>
                <a:cs typeface="Arial" pitchFamily="34" charset="-120"/>
              </a:rPr>
              <a:t>No priority queues.  </a:t>
            </a:r>
            <a:r>
              <a:rPr lang="en-US" sz="850" dirty="0">
                <a:solidFill>
                  <a:srgbClr val="444444"/>
                </a:solidFill>
                <a:latin typeface="Arial" pitchFamily="34" charset="0"/>
                <a:ea typeface="Arial" pitchFamily="34" charset="-122"/>
                <a:cs typeface="Arial" pitchFamily="34" charset="-120"/>
              </a:rPr>
              <a:t>Priority is a notification concept (P1–P4); queues stay simple FIFO.</a:t>
            </a:r>
          </a:p>
          <a:p>
            <a:pPr indent="0" marL="0">
              <a:buNone/>
            </a:pPr>
            <a:r>
              <a:rPr lang="en-US" sz="850" b="1" dirty="0">
                <a:solidFill>
                  <a:srgbClr val="72243E"/>
                </a:solidFill>
                <a:latin typeface="Arial" pitchFamily="34" charset="0"/>
                <a:ea typeface="Arial" pitchFamily="34" charset="-122"/>
                <a:cs typeface="Arial" pitchFamily="34" charset="-120"/>
              </a:rPr>
              <a:t>No ordered queues.  </a:t>
            </a:r>
            <a:r>
              <a:rPr lang="en-US" sz="850" dirty="0">
                <a:solidFill>
                  <a:srgbClr val="444444"/>
                </a:solidFill>
                <a:latin typeface="Arial" pitchFamily="34" charset="0"/>
                <a:ea typeface="Arial" pitchFamily="34" charset="-122"/>
                <a:cs typeface="Arial" pitchFamily="34" charset="-120"/>
              </a:rPr>
              <a:t>Order is enforced by the three checks — the previous slide.</a:t>
            </a:r>
          </a:p>
        </p:txBody>
      </p:sp>
      <p:sp>
        <p:nvSpPr>
          <p:cNvPr id="50" name="Shape 51"/>
          <p:cNvSpPr/>
          <p:nvPr/>
        </p:nvSpPr>
        <p:spPr>
          <a:xfrm>
            <a:off x="502920" y="5150000"/>
            <a:ext cx="11186160" cy="900000"/>
          </a:xfrm>
          <a:prstGeom prst="roundRect">
            <a:avLst>
              <a:gd name="adj" fmla="val 4000"/>
            </a:avLst>
          </a:prstGeom>
          <a:solidFill>
            <a:srgbClr val="F7F7F5"/>
          </a:solidFill>
          <a:ln w="9525">
            <a:solidFill>
              <a:srgbClr val="D9D9D9"/>
            </a:solidFill>
            <a:prstDash val="solid"/>
          </a:ln>
        </p:spPr>
      </p:sp>
      <p:sp>
        <p:nvSpPr>
          <p:cNvPr id="52" name="Text 53"/>
          <p:cNvSpPr/>
          <p:nvPr/>
        </p:nvSpPr>
        <p:spPr>
          <a:xfrm>
            <a:off x="702920" y="5250000"/>
            <a:ext cx="10800000" cy="34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Naming convention — one rule:  </a:t>
            </a:r>
            <a:r>
              <a:rPr lang="en-US" sz="900" dirty="0">
                <a:solidFill>
                  <a:srgbClr val="444444"/>
                </a:solidFill>
                <a:latin typeface="Arial" pitchFamily="34" charset="0"/>
                <a:ea typeface="Arial" pitchFamily="34" charset="-122"/>
                <a:cs typeface="Arial" pitchFamily="34" charset="-120"/>
              </a:rPr>
              <a:t>CANONICAL_&lt;MODEL&gt;_IN and CANONICAL_SHARED_&lt;ROLE&gt;. The seven models: SERVICEORDER = CanonicalServiceOrder (ETF-889) · WBS = CanonicalWBSProject (ETF-893) · BILLING_SO = CanonicalBillingServiceOrder (ETF-876) · BILLING_PROJ = CanonicalBillingSalesOrder (ETF-872) · STOCK_PROJ = CanonicalStockConsumptionProjects (ETF-865) · STOCK_SVC = CanonicalStockConsumption (ETF-905) · PROC_SVC = CanonicalProcurement (ETF-901) — never a project codename.</a:t>
            </a:r>
          </a:p>
        </p:txBody>
      </p:sp>
      <p:sp>
        <p:nvSpPr>
          <p:cNvPr id="54" name="Text 55"/>
          <p:cNvSpPr/>
          <p:nvPr/>
        </p:nvSpPr>
        <p:spPr>
          <a:xfrm>
            <a:off x="702920" y="5630000"/>
            <a:ext cx="10800000" cy="34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Governance:  </a:t>
            </a:r>
            <a:r>
              <a:rPr lang="en-US" sz="900" dirty="0">
                <a:solidFill>
                  <a:srgbClr val="444444"/>
                </a:solidFill>
                <a:latin typeface="Arial" pitchFamily="34" charset="0"/>
                <a:ea typeface="Arial" pitchFamily="34" charset="-122"/>
                <a:cs typeface="Arial" pitchFamily="34" charset="-120"/>
              </a:rPr>
              <a:t>agree the names with GBIS once, against the platform limit — eight today (six issued models + two shared), nine at full build. The remaining model names are agreed at first issue: one review line each, not a design change.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3"/>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5" name="Text 4"/>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p>
        </p:txBody>
      </p:sp>
      <p:sp>
        <p:nvSpPr>
          <p:cNvPr id="7" name="Text 6"/>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Worked example — a Project Create from JAMS, end to end</a:t>
            </a:r>
          </a:p>
        </p:txBody>
      </p:sp>
      <p:sp>
        <p:nvSpPr>
          <p:cNvPr id="8" name="Shape 9"/>
          <p:cNvSpPr/>
          <p:nvPr/>
        </p:nvSpPr>
        <p:spPr>
          <a:xfrm>
            <a:off x="9591672" y="201168"/>
            <a:ext cx="1500000" cy="274320"/>
          </a:xfrm>
          <a:prstGeom prst="roundRect">
            <a:avLst>
              <a:gd name="adj" fmla="val 40000"/>
            </a:avLst>
          </a:prstGeom>
          <a:solidFill>
            <a:srgbClr val="E1F5EE"/>
          </a:solidFill>
          <a:ln w="12700">
            <a:solidFill>
              <a:srgbClr val="0F6E56"/>
            </a:solidFill>
            <a:prstDash val="solid"/>
          </a:ln>
        </p:spPr>
      </p:sp>
      <p:sp>
        <p:nvSpPr>
          <p:cNvPr id="11" name="Text 10"/>
          <p:cNvSpPr/>
          <p:nvPr/>
        </p:nvSpPr>
        <p:spPr>
          <a:xfrm>
            <a:off x="9591672" y="201168"/>
            <a:ext cx="1500000"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Example</a:t>
            </a:r>
          </a:p>
        </p:txBody>
      </p:sp>
      <p:sp>
        <p:nvSpPr>
          <p:cNvPr id="13" name="Text 12"/>
          <p:cNvSpPr/>
          <p:nvPr/>
        </p:nvSpPr>
        <p:spPr>
          <a:xfrm>
            <a:off x="502920" y="676656"/>
            <a:ext cx="11201400" cy="320000"/>
          </a:xfrm>
          <a:prstGeom prst="rect">
            <a:avLst/>
          </a:prstGeom>
          <a:noFill/>
          <a:ln/>
        </p:spPr>
        <p:txBody>
          <a:bodyPr wrap="square" lIns="0" tIns="0" rIns="0" bIns="0" rtlCol="0" anchor="t"/>
          <a:lstStyle/>
          <a:p>
            <a:pPr indent="0" marL="0">
              <a:buNone/>
            </a:pPr>
            <a:r>
              <a:rPr lang="en-US" sz="1150" dirty="0">
                <a:solidFill>
                  <a:srgbClr val="595959"/>
                </a:solidFill>
                <a:latin typeface="Arial" pitchFamily="34" charset="0"/>
                <a:ea typeface="Arial" pitchFamily="34" charset="-122"/>
                <a:cs typeface="Arial" pitchFamily="34" charset="-120"/>
              </a:rPr>
              <a:t>One message followed the whole way, with the exact request and the exact answers. The numbered steps are slide 11's path; the FAILED answer below is the FSM DATA row from slide 15's failure table. The same tracking ID ties every step.</a:t>
            </a:r>
          </a:p>
        </p:txBody>
      </p:sp>
      <p:sp>
        <p:nvSpPr>
          <p:cNvPr id="14" name="Shape 15"/>
          <p:cNvSpPr/>
          <p:nvPr/>
        </p:nvSpPr>
        <p:spPr>
          <a:xfrm>
            <a:off x="502920" y="1140000"/>
            <a:ext cx="1680000" cy="620000"/>
          </a:xfrm>
          <a:prstGeom prst="roundRect">
            <a:avLst>
              <a:gd name="adj" fmla="val 8000"/>
            </a:avLst>
          </a:prstGeom>
          <a:solidFill>
            <a:srgbClr val="EEF2F8"/>
          </a:solidFill>
          <a:ln w="15875">
            <a:solidFill>
              <a:srgbClr val="1F3864"/>
            </a:solidFill>
            <a:prstDash val="solid"/>
          </a:ln>
        </p:spPr>
      </p:sp>
      <p:sp>
        <p:nvSpPr>
          <p:cNvPr id="17" name="Text 16"/>
          <p:cNvSpPr/>
          <p:nvPr/>
        </p:nvSpPr>
        <p:spPr>
          <a:xfrm>
            <a:off x="602920" y="1260000"/>
            <a:ext cx="1480000" cy="240000"/>
          </a:xfrm>
          <a:prstGeom prst="rect">
            <a:avLst/>
          </a:prstGeom>
          <a:noFill/>
          <a:ln/>
        </p:spPr>
        <p:txBody>
          <a:bodyPr wrap="square" lIns="0" tIns="0" rIns="0" bIns="0" rtlCol="0" anchor="t"/>
          <a:lstStyle/>
          <a:p>
            <a:pPr indent="0" marL="0">
              <a:buNone/>
            </a:pPr>
            <a:r>
              <a:rPr lang="en-US" sz="1100" b="1" dirty="0">
                <a:solidFill>
                  <a:srgbClr val="1F3864"/>
                </a:solidFill>
                <a:latin typeface="Arial" pitchFamily="34" charset="0"/>
                <a:ea typeface="Arial" pitchFamily="34" charset="-122"/>
                <a:cs typeface="Arial" pitchFamily="34" charset="-120"/>
              </a:rPr>
              <a:t>Source FSM</a:t>
            </a:r>
          </a:p>
        </p:txBody>
      </p:sp>
      <p:sp>
        <p:nvSpPr>
          <p:cNvPr id="19" name="Text 18"/>
          <p:cNvSpPr/>
          <p:nvPr/>
        </p:nvSpPr>
        <p:spPr>
          <a:xfrm>
            <a:off x="602920" y="1500000"/>
            <a:ext cx="1480000" cy="200000"/>
          </a:xfrm>
          <a:prstGeom prst="rect">
            <a:avLst/>
          </a:prstGeom>
          <a:noFill/>
          <a:ln/>
        </p:spPr>
        <p:txBody>
          <a:bodyPr wrap="square" lIns="0" tIns="0" rIns="0" bIns="0" rtlCol="0" anchor="t"/>
          <a:lstStyle/>
          <a:p>
            <a:pPr indent="0" marL="0">
              <a:buNone/>
            </a:pPr>
            <a:r>
              <a:rPr lang="en-US" sz="850" dirty="0">
                <a:solidFill>
                  <a:srgbClr val="1F3864"/>
                </a:solidFill>
                <a:latin typeface="Arial" pitchFamily="34" charset="0"/>
                <a:ea typeface="Arial" pitchFamily="34" charset="-122"/>
                <a:cs typeface="Arial" pitchFamily="34" charset="-120"/>
              </a:rPr>
              <a:t>JAMS — its own job format</a:t>
            </a:r>
          </a:p>
        </p:txBody>
      </p:sp>
      <p:sp>
        <p:nvSpPr>
          <p:cNvPr id="20" name="Shape 21"/>
          <p:cNvSpPr/>
          <p:nvPr/>
        </p:nvSpPr>
        <p:spPr>
          <a:xfrm>
            <a:off x="432920" y="1070000"/>
            <a:ext cx="230000" cy="230000"/>
          </a:xfrm>
          <a:prstGeom prst="ellipse">
            <a:avLst/>
          </a:prstGeom>
          <a:solidFill>
            <a:srgbClr val="1F3864"/>
          </a:solidFill>
          <a:ln/>
        </p:spPr>
      </p:sp>
      <p:sp>
        <p:nvSpPr>
          <p:cNvPr id="23" name="Text 22"/>
          <p:cNvSpPr/>
          <p:nvPr/>
        </p:nvSpPr>
        <p:spPr>
          <a:xfrm>
            <a:off x="432920" y="1070000"/>
            <a:ext cx="230000" cy="2300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p>
        </p:txBody>
      </p:sp>
      <p:sp>
        <p:nvSpPr>
          <p:cNvPr id="24" name="Shape 25"/>
          <p:cNvSpPr/>
          <p:nvPr/>
        </p:nvSpPr>
        <p:spPr>
          <a:xfrm>
            <a:off x="4222920" y="1140000"/>
            <a:ext cx="1680000" cy="620000"/>
          </a:xfrm>
          <a:prstGeom prst="roundRect">
            <a:avLst>
              <a:gd name="adj" fmla="val 8000"/>
            </a:avLst>
          </a:prstGeom>
          <a:solidFill>
            <a:srgbClr val="EEEDFE"/>
          </a:solidFill>
          <a:ln w="15875">
            <a:solidFill>
              <a:srgbClr val="534AB7"/>
            </a:solidFill>
            <a:prstDash val="solid"/>
          </a:ln>
        </p:spPr>
      </p:sp>
      <p:sp>
        <p:nvSpPr>
          <p:cNvPr id="27" name="Text 26"/>
          <p:cNvSpPr/>
          <p:nvPr/>
        </p:nvSpPr>
        <p:spPr>
          <a:xfrm>
            <a:off x="4322920" y="1260000"/>
            <a:ext cx="1480000" cy="240000"/>
          </a:xfrm>
          <a:prstGeom prst="rect">
            <a:avLst/>
          </a:prstGeom>
          <a:noFill/>
          <a:ln/>
        </p:spPr>
        <p:txBody>
          <a:bodyPr wrap="square" lIns="0" tIns="0" rIns="0" bIns="0" rtlCol="0" anchor="t"/>
          <a:lstStyle/>
          <a:p>
            <a:pPr indent="0" marL="0">
              <a:buNone/>
            </a:pPr>
            <a:r>
              <a:rPr lang="en-US" sz="1100" b="1" dirty="0">
                <a:solidFill>
                  <a:srgbClr val="3B3491"/>
                </a:solidFill>
                <a:latin typeface="Arial" pitchFamily="34" charset="0"/>
                <a:ea typeface="Arial" pitchFamily="34" charset="-122"/>
                <a:cs typeface="Arial" pitchFamily="34" charset="-120"/>
              </a:rPr>
              <a:t>Validate &amp; tag</a:t>
            </a:r>
          </a:p>
        </p:txBody>
      </p:sp>
      <p:sp>
        <p:nvSpPr>
          <p:cNvPr id="29" name="Text 28"/>
          <p:cNvSpPr/>
          <p:nvPr/>
        </p:nvSpPr>
        <p:spPr>
          <a:xfrm>
            <a:off x="4322920" y="1500000"/>
            <a:ext cx="1480000" cy="200000"/>
          </a:xfrm>
          <a:prstGeom prst="rect">
            <a:avLst/>
          </a:prstGeom>
          <a:noFill/>
          <a:ln/>
        </p:spPr>
        <p:txBody>
          <a:bodyPr wrap="square" lIns="0" tIns="0" rIns="0" bIns="0" rtlCol="0" anchor="t"/>
          <a:lstStyle/>
          <a:p>
            <a:pPr indent="0" marL="0">
              <a:buNone/>
            </a:pPr>
            <a:r>
              <a:rPr lang="en-US" sz="850" dirty="0">
                <a:solidFill>
                  <a:srgbClr val="3B3491"/>
                </a:solidFill>
                <a:latin typeface="Arial" pitchFamily="34" charset="0"/>
                <a:ea typeface="Arial" pitchFamily="34" charset="-122"/>
                <a:cs typeface="Arial" pitchFamily="34" charset="-120"/>
              </a:rPr>
              <a:t>CPI</a:t>
            </a:r>
          </a:p>
        </p:txBody>
      </p:sp>
      <p:sp>
        <p:nvSpPr>
          <p:cNvPr id="30" name="Shape 31"/>
          <p:cNvSpPr/>
          <p:nvPr/>
        </p:nvSpPr>
        <p:spPr>
          <a:xfrm>
            <a:off x="4152920" y="1070000"/>
            <a:ext cx="230000" cy="230000"/>
          </a:xfrm>
          <a:prstGeom prst="ellipse">
            <a:avLst/>
          </a:prstGeom>
          <a:solidFill>
            <a:srgbClr val="1F3864"/>
          </a:solidFill>
          <a:ln/>
        </p:spPr>
      </p:sp>
      <p:sp>
        <p:nvSpPr>
          <p:cNvPr id="33" name="Text 32"/>
          <p:cNvSpPr/>
          <p:nvPr/>
        </p:nvSpPr>
        <p:spPr>
          <a:xfrm>
            <a:off x="4152920" y="1070000"/>
            <a:ext cx="230000" cy="2300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p>
        </p:txBody>
      </p:sp>
      <p:sp>
        <p:nvSpPr>
          <p:cNvPr id="34" name="Shape 35"/>
          <p:cNvSpPr/>
          <p:nvPr/>
        </p:nvSpPr>
        <p:spPr>
          <a:xfrm>
            <a:off x="6082920" y="1140000"/>
            <a:ext cx="1680000" cy="620000"/>
          </a:xfrm>
          <a:prstGeom prst="roundRect">
            <a:avLst>
              <a:gd name="adj" fmla="val 8000"/>
            </a:avLst>
          </a:prstGeom>
          <a:solidFill>
            <a:srgbClr val="EEEDFE"/>
          </a:solidFill>
          <a:ln w="15875">
            <a:solidFill>
              <a:srgbClr val="534AB7"/>
            </a:solidFill>
            <a:prstDash val="solid"/>
          </a:ln>
        </p:spPr>
      </p:sp>
      <p:sp>
        <p:nvSpPr>
          <p:cNvPr id="37" name="Text 36"/>
          <p:cNvSpPr/>
          <p:nvPr/>
        </p:nvSpPr>
        <p:spPr>
          <a:xfrm>
            <a:off x="6182920" y="1260000"/>
            <a:ext cx="1480000" cy="240000"/>
          </a:xfrm>
          <a:prstGeom prst="rect">
            <a:avLst/>
          </a:prstGeom>
          <a:noFill/>
          <a:ln/>
        </p:spPr>
        <p:txBody>
          <a:bodyPr wrap="square" lIns="0" tIns="0" rIns="0" bIns="0" rtlCol="0" anchor="t"/>
          <a:lstStyle/>
          <a:p>
            <a:pPr indent="0" marL="0">
              <a:buNone/>
            </a:pPr>
            <a:r>
              <a:rPr lang="en-US" sz="1100" b="1" dirty="0">
                <a:solidFill>
                  <a:srgbClr val="3B3491"/>
                </a:solidFill>
                <a:latin typeface="Arial" pitchFamily="34" charset="0"/>
                <a:ea typeface="Arial" pitchFamily="34" charset="-122"/>
                <a:cs typeface="Arial" pitchFamily="34" charset="-120"/>
              </a:rPr>
              <a:t>Canonical JMS queue</a:t>
            </a:r>
          </a:p>
        </p:txBody>
      </p:sp>
      <p:sp>
        <p:nvSpPr>
          <p:cNvPr id="39" name="Text 38"/>
          <p:cNvSpPr/>
          <p:nvPr/>
        </p:nvSpPr>
        <p:spPr>
          <a:xfrm>
            <a:off x="6182920" y="1500000"/>
            <a:ext cx="1480000" cy="200000"/>
          </a:xfrm>
          <a:prstGeom prst="rect">
            <a:avLst/>
          </a:prstGeom>
          <a:noFill/>
          <a:ln/>
        </p:spPr>
        <p:txBody>
          <a:bodyPr wrap="square" lIns="0" tIns="0" rIns="0" bIns="0" rtlCol="0" anchor="t"/>
          <a:lstStyle/>
          <a:p>
            <a:pPr indent="0" marL="0">
              <a:buNone/>
            </a:pPr>
            <a:r>
              <a:rPr lang="en-US" sz="850" dirty="0">
                <a:solidFill>
                  <a:srgbClr val="3B3491"/>
                </a:solidFill>
                <a:latin typeface="Arial" pitchFamily="34" charset="0"/>
                <a:ea typeface="Arial" pitchFamily="34" charset="-122"/>
                <a:cs typeface="Arial" pitchFamily="34" charset="-120"/>
              </a:rPr>
              <a:t>recovery point</a:t>
            </a:r>
          </a:p>
        </p:txBody>
      </p:sp>
      <p:sp>
        <p:nvSpPr>
          <p:cNvPr id="40" name="Shape 41"/>
          <p:cNvSpPr/>
          <p:nvPr/>
        </p:nvSpPr>
        <p:spPr>
          <a:xfrm>
            <a:off x="6012920" y="1070000"/>
            <a:ext cx="230000" cy="230000"/>
          </a:xfrm>
          <a:prstGeom prst="ellipse">
            <a:avLst/>
          </a:prstGeom>
          <a:solidFill>
            <a:srgbClr val="1F3864"/>
          </a:solidFill>
          <a:ln/>
        </p:spPr>
      </p:sp>
      <p:sp>
        <p:nvSpPr>
          <p:cNvPr id="43" name="Text 42"/>
          <p:cNvSpPr/>
          <p:nvPr/>
        </p:nvSpPr>
        <p:spPr>
          <a:xfrm>
            <a:off x="6012920" y="1070000"/>
            <a:ext cx="230000" cy="2300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p>
        </p:txBody>
      </p:sp>
      <p:sp>
        <p:nvSpPr>
          <p:cNvPr id="44" name="Shape 45"/>
          <p:cNvSpPr/>
          <p:nvPr/>
        </p:nvSpPr>
        <p:spPr>
          <a:xfrm>
            <a:off x="7942920" y="1140000"/>
            <a:ext cx="1680000" cy="620000"/>
          </a:xfrm>
          <a:prstGeom prst="roundRect">
            <a:avLst>
              <a:gd name="adj" fmla="val 8000"/>
            </a:avLst>
          </a:prstGeom>
          <a:solidFill>
            <a:srgbClr val="EEEDFE"/>
          </a:solidFill>
          <a:ln w="15875">
            <a:solidFill>
              <a:srgbClr val="534AB7"/>
            </a:solidFill>
            <a:prstDash val="solid"/>
          </a:ln>
        </p:spPr>
      </p:sp>
      <p:sp>
        <p:nvSpPr>
          <p:cNvPr id="47" name="Text 46"/>
          <p:cNvSpPr/>
          <p:nvPr/>
        </p:nvSpPr>
        <p:spPr>
          <a:xfrm>
            <a:off x="8042920" y="1260000"/>
            <a:ext cx="1480000" cy="240000"/>
          </a:xfrm>
          <a:prstGeom prst="rect">
            <a:avLst/>
          </a:prstGeom>
          <a:noFill/>
          <a:ln/>
        </p:spPr>
        <p:txBody>
          <a:bodyPr wrap="square" lIns="0" tIns="0" rIns="0" bIns="0" rtlCol="0" anchor="t"/>
          <a:lstStyle/>
          <a:p>
            <a:pPr indent="0" marL="0">
              <a:buNone/>
            </a:pPr>
            <a:r>
              <a:rPr lang="en-US" sz="1100" b="1" dirty="0">
                <a:solidFill>
                  <a:srgbClr val="3B3491"/>
                </a:solidFill>
                <a:latin typeface="Arial" pitchFamily="34" charset="0"/>
                <a:ea typeface="Arial" pitchFamily="34" charset="-122"/>
                <a:cs typeface="Arial" pitchFamily="34" charset="-120"/>
              </a:rPr>
              <a:t>Process &amp; post</a:t>
            </a:r>
          </a:p>
        </p:txBody>
      </p:sp>
      <p:sp>
        <p:nvSpPr>
          <p:cNvPr id="49" name="Text 48"/>
          <p:cNvSpPr/>
          <p:nvPr/>
        </p:nvSpPr>
        <p:spPr>
          <a:xfrm>
            <a:off x="8042920" y="1500000"/>
            <a:ext cx="1480000" cy="200000"/>
          </a:xfrm>
          <a:prstGeom prst="rect">
            <a:avLst/>
          </a:prstGeom>
          <a:noFill/>
          <a:ln/>
        </p:spPr>
        <p:txBody>
          <a:bodyPr wrap="square" lIns="0" tIns="0" rIns="0" bIns="0" rtlCol="0" anchor="t"/>
          <a:lstStyle/>
          <a:p>
            <a:pPr indent="0" marL="0">
              <a:buNone/>
            </a:pPr>
            <a:r>
              <a:rPr lang="en-US" sz="850" dirty="0">
                <a:solidFill>
                  <a:srgbClr val="3B3491"/>
                </a:solidFill>
                <a:latin typeface="Arial" pitchFamily="34" charset="0"/>
                <a:ea typeface="Arial" pitchFamily="34" charset="-122"/>
                <a:cs typeface="Arial" pitchFamily="34" charset="-120"/>
              </a:rPr>
              <a:t>CPI</a:t>
            </a:r>
          </a:p>
        </p:txBody>
      </p:sp>
      <p:sp>
        <p:nvSpPr>
          <p:cNvPr id="50" name="Shape 51"/>
          <p:cNvSpPr/>
          <p:nvPr/>
        </p:nvSpPr>
        <p:spPr>
          <a:xfrm>
            <a:off x="7872920" y="1070000"/>
            <a:ext cx="230000" cy="230000"/>
          </a:xfrm>
          <a:prstGeom prst="ellipse">
            <a:avLst/>
          </a:prstGeom>
          <a:solidFill>
            <a:srgbClr val="1F3864"/>
          </a:solidFill>
          <a:ln/>
        </p:spPr>
      </p:sp>
      <p:sp>
        <p:nvSpPr>
          <p:cNvPr id="53" name="Text 52"/>
          <p:cNvSpPr/>
          <p:nvPr/>
        </p:nvSpPr>
        <p:spPr>
          <a:xfrm>
            <a:off x="7872920" y="1070000"/>
            <a:ext cx="230000" cy="2300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p>
        </p:txBody>
      </p:sp>
      <p:sp>
        <p:nvSpPr>
          <p:cNvPr id="54" name="Shape 55"/>
          <p:cNvSpPr/>
          <p:nvPr/>
        </p:nvSpPr>
        <p:spPr>
          <a:xfrm>
            <a:off x="9802920" y="1140000"/>
            <a:ext cx="1680000" cy="620000"/>
          </a:xfrm>
          <a:prstGeom prst="roundRect">
            <a:avLst>
              <a:gd name="adj" fmla="val 8000"/>
            </a:avLst>
          </a:prstGeom>
          <a:solidFill>
            <a:srgbClr val="E1F5EE"/>
          </a:solidFill>
          <a:ln w="15875">
            <a:solidFill>
              <a:srgbClr val="0F6E56"/>
            </a:solidFill>
            <a:prstDash val="solid"/>
          </a:ln>
        </p:spPr>
      </p:sp>
      <p:sp>
        <p:nvSpPr>
          <p:cNvPr id="57" name="Text 56"/>
          <p:cNvSpPr/>
          <p:nvPr/>
        </p:nvSpPr>
        <p:spPr>
          <a:xfrm>
            <a:off x="9902920" y="1260000"/>
            <a:ext cx="1480000" cy="240000"/>
          </a:xfrm>
          <a:prstGeom prst="rect">
            <a:avLst/>
          </a:prstGeom>
          <a:noFill/>
          <a:ln/>
        </p:spPr>
        <p:txBody>
          <a:bodyPr wrap="square" lIns="0" tIns="0" rIns="0" bIns="0" rtlCol="0" anchor="t"/>
          <a:lstStyle/>
          <a:p>
            <a:pPr indent="0" marL="0">
              <a:buNone/>
            </a:pPr>
            <a:r>
              <a:rPr lang="en-US" sz="1100" b="1" dirty="0">
                <a:solidFill>
                  <a:srgbClr val="085041"/>
                </a:solidFill>
                <a:latin typeface="Arial" pitchFamily="34" charset="0"/>
                <a:ea typeface="Arial" pitchFamily="34" charset="-122"/>
                <a:cs typeface="Arial" pitchFamily="34" charset="-120"/>
              </a:rPr>
              <a:t>S/4HANA Cloud</a:t>
            </a:r>
          </a:p>
        </p:txBody>
      </p:sp>
      <p:sp>
        <p:nvSpPr>
          <p:cNvPr id="59" name="Text 58"/>
          <p:cNvSpPr/>
          <p:nvPr/>
        </p:nvSpPr>
        <p:spPr>
          <a:xfrm>
            <a:off x="9902920" y="1500000"/>
            <a:ext cx="1480000" cy="200000"/>
          </a:xfrm>
          <a:prstGeom prst="rect">
            <a:avLst/>
          </a:prstGeom>
          <a:noFill/>
          <a:ln/>
        </p:spPr>
        <p:txBody>
          <a:bodyPr wrap="square" lIns="0" tIns="0" rIns="0" bIns="0" rtlCol="0" anchor="t"/>
          <a:lstStyle/>
          <a:p>
            <a:pPr indent="0" marL="0">
              <a:buNone/>
            </a:pPr>
            <a:r>
              <a:rPr lang="en-US" sz="850" dirty="0">
                <a:solidFill>
                  <a:srgbClr val="085041"/>
                </a:solidFill>
                <a:latin typeface="Arial" pitchFamily="34" charset="0"/>
                <a:ea typeface="Arial" pitchFamily="34" charset="-122"/>
                <a:cs typeface="Arial" pitchFamily="34" charset="-120"/>
              </a:rPr>
              <a:t>released API</a:t>
            </a:r>
          </a:p>
        </p:txBody>
      </p:sp>
      <p:sp>
        <p:nvSpPr>
          <p:cNvPr id="60" name="Shape 61"/>
          <p:cNvSpPr/>
          <p:nvPr/>
        </p:nvSpPr>
        <p:spPr>
          <a:xfrm>
            <a:off x="9732920" y="1070000"/>
            <a:ext cx="230000" cy="230000"/>
          </a:xfrm>
          <a:prstGeom prst="ellipse">
            <a:avLst/>
          </a:prstGeom>
          <a:solidFill>
            <a:srgbClr val="1F3864"/>
          </a:solidFill>
          <a:ln/>
        </p:spPr>
      </p:sp>
      <p:sp>
        <p:nvSpPr>
          <p:cNvPr id="63" name="Text 62"/>
          <p:cNvSpPr/>
          <p:nvPr/>
        </p:nvSpPr>
        <p:spPr>
          <a:xfrm>
            <a:off x="9732920" y="1070000"/>
            <a:ext cx="230000" cy="2300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p>
        </p:txBody>
      </p:sp>
      <p:sp>
        <p:nvSpPr>
          <p:cNvPr id="64" name="Arrow 65"/>
          <p:cNvSpPr/>
          <p:nvPr/>
        </p:nvSpPr>
        <p:spPr>
          <a:xfrm>
            <a:off x="4072920" y="1450000"/>
            <a:ext cx="120000" cy="1"/>
          </a:xfrm>
          <a:prstGeom prst="line">
            <a:avLst/>
          </a:prstGeom>
          <a:noFill/>
          <a:ln w="28575">
            <a:solidFill>
              <a:srgbClr val="1F3864"/>
            </a:solidFill>
            <a:prstDash val="solid"/>
            <a:headEnd type="none"/>
            <a:tailEnd type="triangle"/>
          </a:ln>
        </p:spPr>
      </p:sp>
      <p:sp>
        <p:nvSpPr>
          <p:cNvPr id="67" name="Text 66"/>
          <p:cNvSpPr/>
          <p:nvPr/>
        </p:nvSpPr>
        <p:spPr>
          <a:xfrm>
            <a:off x="4052920" y="990000"/>
            <a:ext cx="160000" cy="150000"/>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map</a:t>
            </a:r>
          </a:p>
        </p:txBody>
      </p:sp>
      <p:sp>
        <p:nvSpPr>
          <p:cNvPr id="68" name="Arrow 69"/>
          <p:cNvSpPr/>
          <p:nvPr/>
        </p:nvSpPr>
        <p:spPr>
          <a:xfrm>
            <a:off x="5932920" y="1450000"/>
            <a:ext cx="120000" cy="1"/>
          </a:xfrm>
          <a:prstGeom prst="line">
            <a:avLst/>
          </a:prstGeom>
          <a:noFill/>
          <a:ln w="28575">
            <a:solidFill>
              <a:srgbClr val="1F3864"/>
            </a:solidFill>
            <a:prstDash val="solid"/>
            <a:headEnd type="none"/>
            <a:tailEnd type="triangle"/>
          </a:ln>
        </p:spPr>
      </p:sp>
      <p:sp>
        <p:nvSpPr>
          <p:cNvPr id="71" name="Text 70"/>
          <p:cNvSpPr/>
          <p:nvPr/>
        </p:nvSpPr>
        <p:spPr>
          <a:xfrm>
            <a:off x="5912920" y="990000"/>
            <a:ext cx="160000" cy="150000"/>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store</a:t>
            </a:r>
          </a:p>
        </p:txBody>
      </p:sp>
      <p:sp>
        <p:nvSpPr>
          <p:cNvPr id="72" name="Arrow 73"/>
          <p:cNvSpPr/>
          <p:nvPr/>
        </p:nvSpPr>
        <p:spPr>
          <a:xfrm>
            <a:off x="7792920" y="1450000"/>
            <a:ext cx="120000" cy="1"/>
          </a:xfrm>
          <a:prstGeom prst="line">
            <a:avLst/>
          </a:prstGeom>
          <a:noFill/>
          <a:ln w="28575">
            <a:solidFill>
              <a:srgbClr val="1F3864"/>
            </a:solidFill>
            <a:prstDash val="solid"/>
            <a:headEnd type="none"/>
            <a:tailEnd type="triangle"/>
          </a:ln>
        </p:spPr>
      </p:sp>
      <p:sp>
        <p:nvSpPr>
          <p:cNvPr id="75" name="Text 74"/>
          <p:cNvSpPr/>
          <p:nvPr/>
        </p:nvSpPr>
        <p:spPr>
          <a:xfrm>
            <a:off x="7772920" y="990000"/>
            <a:ext cx="160000" cy="150000"/>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read</a:t>
            </a:r>
          </a:p>
        </p:txBody>
      </p:sp>
      <p:sp>
        <p:nvSpPr>
          <p:cNvPr id="76" name="Arrow 77"/>
          <p:cNvSpPr/>
          <p:nvPr/>
        </p:nvSpPr>
        <p:spPr>
          <a:xfrm>
            <a:off x="9652920" y="1450000"/>
            <a:ext cx="120000" cy="1"/>
          </a:xfrm>
          <a:prstGeom prst="line">
            <a:avLst/>
          </a:prstGeom>
          <a:noFill/>
          <a:ln w="28575">
            <a:solidFill>
              <a:srgbClr val="1F3864"/>
            </a:solidFill>
            <a:prstDash val="solid"/>
            <a:headEnd type="none"/>
            <a:tailEnd type="triangle"/>
          </a:ln>
        </p:spPr>
      </p:sp>
      <p:sp>
        <p:nvSpPr>
          <p:cNvPr id="79" name="Text 78"/>
          <p:cNvSpPr/>
          <p:nvPr/>
        </p:nvSpPr>
        <p:spPr>
          <a:xfrm>
            <a:off x="9632920" y="990000"/>
            <a:ext cx="160000" cy="150000"/>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post</a:t>
            </a:r>
          </a:p>
        </p:txBody>
      </p:sp>
      <p:sp>
        <p:nvSpPr>
          <p:cNvPr id="81" name="Text 80"/>
          <p:cNvSpPr/>
          <p:nvPr/>
        </p:nvSpPr>
        <p:spPr>
          <a:xfrm>
            <a:off x="502920" y="1850000"/>
            <a:ext cx="5470000" cy="240000"/>
          </a:xfrm>
          <a:prstGeom prst="rect">
            <a:avLst/>
          </a:prstGeom>
          <a:noFill/>
          <a:ln/>
        </p:spPr>
        <p:txBody>
          <a:bodyPr wrap="square" lIns="0" tIns="0" rIns="0" bIns="0" rtlCol="0" anchor="t"/>
          <a:lstStyle/>
          <a:p>
            <a:pPr indent="0" marL="0">
              <a:buNone/>
            </a:pPr>
            <a:r>
              <a:rPr lang="en-US" sz="1050" b="1" dirty="0">
                <a:solidFill>
                  <a:srgbClr val="1F3864"/>
                </a:solidFill>
                <a:latin typeface="Arial" pitchFamily="34" charset="0"/>
                <a:ea typeface="Arial" pitchFamily="34" charset="-122"/>
                <a:cs typeface="Arial" pitchFamily="34" charset="-120"/>
              </a:rPr>
              <a:t>REQUEST PATH — JAMS → CPI</a:t>
            </a:r>
          </a:p>
        </p:txBody>
      </p:sp>
      <p:sp>
        <p:nvSpPr>
          <p:cNvPr id="83" name="Text 82"/>
          <p:cNvSpPr/>
          <p:nvPr/>
        </p:nvSpPr>
        <p:spPr>
          <a:xfrm>
            <a:off x="502920" y="2110000"/>
            <a:ext cx="5470000" cy="220000"/>
          </a:xfrm>
          <a:prstGeom prst="rect">
            <a:avLst/>
          </a:prstGeom>
          <a:noFill/>
          <a:ln/>
        </p:spPr>
        <p:txBody>
          <a:bodyPr wrap="square" lIns="0" tIns="0" rIns="0" bIns="0" rtlCol="0" anchor="t"/>
          <a:lstStyle/>
          <a:p>
            <a:pPr indent="0" marL="0">
              <a:buNone/>
            </a:pPr>
            <a:r>
              <a:rPr lang="en-US" sz="950" b="1" dirty="0">
                <a:solidFill>
                  <a:srgbClr val="3B3491"/>
                </a:solidFill>
                <a:latin typeface="Arial" pitchFamily="34" charset="0"/>
                <a:ea typeface="Arial" pitchFamily="34" charset="-122"/>
                <a:cs typeface="Arial" pitchFamily="34" charset="-120"/>
              </a:rPr>
              <a:t>The request — built by the 1st leg from the JAMS job</a:t>
            </a:r>
          </a:p>
        </p:txBody>
      </p:sp>
      <p:sp>
        <p:nvSpPr>
          <p:cNvPr id="84" name="Code 85"/>
          <p:cNvSpPr/>
          <p:nvPr/>
        </p:nvSpPr>
        <p:spPr>
          <a:xfrm>
            <a:off x="502920" y="2340000"/>
            <a:ext cx="5470000" cy="1740000"/>
          </a:xfrm>
          <a:prstGeom prst="roundRect">
            <a:avLst>
              <a:gd name="adj" fmla="val 4000"/>
            </a:avLst>
          </a:prstGeom>
          <a:solidFill>
            <a:srgbClr val="F4F5F7"/>
          </a:solidFill>
          <a:ln w="9525">
            <a:solidFill>
              <a:srgbClr val="D9D9D9"/>
            </a:solidFill>
          </a:ln>
        </p:spPr>
        <p:txBody>
          <a:bodyPr wrap="square" lIns="82296" tIns="54864" rIns="82296" bIns="54864" rtlCol="0" anchor="t"/>
          <a:lstStyle/>
          <a:p>
            <a:pPr indent="0" marL="0">
              <a:buNone/>
            </a:pPr>
            <a:r>
              <a:rPr lang="en-US" sz="850" dirty="0">
                <a:solidFill>
                  <a:srgbClr val="5B6570"/>
                </a:solidFill>
                <a:latin typeface="Courier New" pitchFamily="34" charset="0"/>
                <a:ea typeface="Courier New" pitchFamily="34" charset="-122"/>
                <a:cs typeface="Courier New" pitchFamily="34" charset="-120"/>
              </a:rPr>
              <a:t>POST /canonical/project/v1   HTTP/1.1</a:t>
            </a:r>
          </a:p>
          <a:p>
            <a:pPr indent="0" marL="0">
              <a:buNone/>
            </a:pPr>
            <a:r>
              <a:rPr lang="en-US" sz="850" dirty="0">
                <a:solidFill>
                  <a:srgbClr val="24303A"/>
                </a:solidFill>
                <a:latin typeface="Courier New" pitchFamily="34" charset="0"/>
                <a:ea typeface="Courier New" pitchFamily="34" charset="-122"/>
                <a:cs typeface="Courier New" pitchFamily="34" charset="-120"/>
              </a:rPr>
              <a:t>{ "header": {</a:t>
            </a:r>
          </a:p>
          <a:p>
            <a:pPr indent="0" marL="0">
              <a:buNone/>
            </a:pPr>
            <a:r>
              <a:rPr lang="en-US" sz="850" dirty="0">
                <a:solidFill>
                  <a:srgbClr val="24303A"/>
                </a:solidFill>
                <a:latin typeface="Courier New" pitchFamily="34" charset="0"/>
                <a:ea typeface="Courier New" pitchFamily="34" charset="-122"/>
                <a:cs typeface="Courier New" pitchFamily="34" charset="-120"/>
              </a:rPr>
              <a:t>    "sourceSystem":    "JAMS",</a:t>
            </a:r>
          </a:p>
          <a:p>
            <a:pPr indent="0" marL="0">
              <a:buNone/>
            </a:pPr>
            <a:r>
              <a:rPr lang="en-US" sz="850" dirty="0">
                <a:solidFill>
                  <a:srgbClr val="24303A"/>
                </a:solidFill>
                <a:latin typeface="Courier New" pitchFamily="34" charset="0"/>
                <a:ea typeface="Courier New" pitchFamily="34" charset="-122"/>
                <a:cs typeface="Courier New" pitchFamily="34" charset="-120"/>
              </a:rPr>
              <a:t>    "sourceMessageId": "JAMS-8842213",</a:t>
            </a:r>
          </a:p>
          <a:p>
            <a:pPr indent="0" marL="0">
              <a:buNone/>
            </a:pPr>
            <a:r>
              <a:rPr lang="en-US" sz="850" dirty="0">
                <a:solidFill>
                  <a:srgbClr val="24303A"/>
                </a:solidFill>
                <a:latin typeface="Courier New" pitchFamily="34" charset="0"/>
                <a:ea typeface="Courier New" pitchFamily="34" charset="-122"/>
                <a:cs typeface="Courier New" pitchFamily="34" charset="-120"/>
              </a:rPr>
              <a:t>    "clientJobNumber": "JOB-104772",</a:t>
            </a:r>
          </a:p>
          <a:p>
            <a:pPr indent="0" marL="0">
              <a:buNone/>
            </a:pPr>
            <a:r>
              <a:rPr lang="en-US" sz="850" dirty="0">
                <a:solidFill>
                  <a:srgbClr val="24303A"/>
                </a:solidFill>
                <a:latin typeface="Courier New" pitchFamily="34" charset="0"/>
                <a:ea typeface="Courier New" pitchFamily="34" charset="-122"/>
                <a:cs typeface="Courier New" pitchFamily="34" charset="-120"/>
              </a:rPr>
              <a:t>    "versionStamp":    "2026-07-09T02:14:33Z",</a:t>
            </a:r>
          </a:p>
          <a:p>
            <a:pPr indent="0" marL="0">
              <a:buNone/>
            </a:pPr>
            <a:r>
              <a:rPr lang="en-US" sz="850" dirty="0">
                <a:solidFill>
                  <a:srgbClr val="24303A"/>
                </a:solidFill>
                <a:latin typeface="Courier New" pitchFamily="34" charset="0"/>
                <a:ea typeface="Courier New" pitchFamily="34" charset="-122"/>
                <a:cs typeface="Courier New" pitchFamily="34" charset="-120"/>
              </a:rPr>
              <a:t>    "projectDescription": "Node 214 Civil Works",</a:t>
            </a:r>
          </a:p>
          <a:p>
            <a:pPr indent="0" marL="0">
              <a:buNone/>
            </a:pPr>
            <a:r>
              <a:rPr lang="en-US" sz="850" dirty="0">
                <a:solidFill>
                  <a:srgbClr val="24303A"/>
                </a:solidFill>
                <a:latin typeface="Courier New" pitchFamily="34" charset="0"/>
                <a:ea typeface="Courier New" pitchFamily="34" charset="-122"/>
                <a:cs typeface="Courier New" pitchFamily="34" charset="-120"/>
              </a:rPr>
              <a:t>    "responsibleCostCenter": "3050",</a:t>
            </a:r>
          </a:p>
          <a:p>
            <a:pPr indent="0" marL="0">
              <a:buNone/>
            </a:pPr>
            <a:r>
              <a:rPr lang="en-US" sz="850" dirty="0">
                <a:solidFill>
                  <a:srgbClr val="24303A"/>
                </a:solidFill>
                <a:latin typeface="Courier New" pitchFamily="34" charset="0"/>
                <a:ea typeface="Courier New" pitchFamily="34" charset="-122"/>
                <a:cs typeface="Courier New" pitchFamily="34" charset="-120"/>
              </a:rPr>
              <a:t>    "plannedStart": "2026-07-14", "plannedEnd": "2026-09-30" },</a:t>
            </a:r>
          </a:p>
          <a:p>
            <a:pPr indent="0" marL="0">
              <a:buNone/>
            </a:pPr>
            <a:r>
              <a:rPr lang="en-US" sz="850" dirty="0">
                <a:solidFill>
                  <a:srgbClr val="24303A"/>
                </a:solidFill>
                <a:latin typeface="Courier New" pitchFamily="34" charset="0"/>
                <a:ea typeface="Courier New" pitchFamily="34" charset="-122"/>
                <a:cs typeface="Courier New" pitchFamily="34" charset="-120"/>
              </a:rPr>
              <a:t>  "items": [ { "projectElementDescription": "Civil works",</a:t>
            </a:r>
          </a:p>
          <a:p>
            <a:pPr indent="0" marL="0">
              <a:buNone/>
            </a:pPr>
            <a:r>
              <a:rPr lang="en-US" sz="850" dirty="0">
                <a:solidFill>
                  <a:srgbClr val="24303A"/>
                </a:solidFill>
                <a:latin typeface="Courier New" pitchFamily="34" charset="0"/>
                <a:ea typeface="Courier New" pitchFamily="34" charset="-122"/>
                <a:cs typeface="Courier New" pitchFamily="34" charset="-120"/>
              </a:rPr>
              <a:t>               "isBillingElement": true } ]</a:t>
            </a:r>
          </a:p>
          <a:p>
            <a:pPr indent="0" marL="0">
              <a:buNone/>
            </a:pPr>
            <a:r>
              <a:rPr lang="en-US" sz="850" dirty="0">
                <a:solidFill>
                  <a:srgbClr val="24303A"/>
                </a:solidFill>
                <a:latin typeface="Courier New" pitchFamily="34" charset="0"/>
                <a:ea typeface="Courier New" pitchFamily="34" charset="-122"/>
                <a:cs typeface="Courier New" pitchFamily="34" charset="-120"/>
              </a:rPr>
              <a:t>}</a:t>
            </a:r>
          </a:p>
        </p:txBody>
      </p:sp>
      <p:sp>
        <p:nvSpPr>
          <p:cNvPr id="87" name="Text 86"/>
          <p:cNvSpPr/>
          <p:nvPr/>
        </p:nvSpPr>
        <p:spPr>
          <a:xfrm>
            <a:off x="502920" y="4160000"/>
            <a:ext cx="5470000" cy="230000"/>
          </a:xfrm>
          <a:prstGeom prst="rect">
            <a:avLst/>
          </a:prstGeom>
          <a:noFill/>
          <a:ln/>
        </p:spPr>
        <p:txBody>
          <a:bodyPr wrap="square" lIns="0" tIns="0" rIns="0" bIns="0" rtlCol="0" anchor="t"/>
          <a:lstStyle/>
          <a:p>
            <a:pPr indent="0" marL="0">
              <a:buNone/>
            </a:pPr>
            <a:r>
              <a:rPr lang="en-US" sz="1050" b="1" dirty="0">
                <a:solidFill>
                  <a:srgbClr val="1F3864"/>
                </a:solidFill>
                <a:latin typeface="Arial" pitchFamily="34" charset="0"/>
                <a:ea typeface="Arial" pitchFamily="34" charset="-122"/>
                <a:cs typeface="Arial" pitchFamily="34" charset="-120"/>
              </a:rPr>
              <a:t>VALIDATION AT THE DOOR — six gates, in order</a:t>
            </a:r>
          </a:p>
        </p:txBody>
      </p:sp>
      <p:sp>
        <p:nvSpPr>
          <p:cNvPr id="89" name="Text 88"/>
          <p:cNvSpPr/>
          <p:nvPr/>
        </p:nvSpPr>
        <p:spPr>
          <a:xfrm>
            <a:off x="502920" y="4410000"/>
            <a:ext cx="5470000" cy="2000000"/>
          </a:xfrm>
          <a:prstGeom prst="rect">
            <a:avLst/>
          </a:prstGeom>
          <a:noFill/>
          <a:ln/>
        </p:spPr>
        <p:txBody>
          <a:bodyPr wrap="square" lIns="0" tIns="0" rIns="0" bIns="0" rtlCol="0" anchor="t"/>
          <a:lstStyle/>
          <a:p>
            <a:pPr indent="0" marL="0">
              <a:spcAft>
                <a:spcPts val="300"/>
              </a:spcAft>
              <a:buNone/>
            </a:pPr>
            <a:r>
              <a:rPr lang="en-US" sz="900" b="1" dirty="0">
                <a:solidFill>
                  <a:srgbClr val="72243E"/>
                </a:solidFill>
                <a:latin typeface="Arial" pitchFamily="34" charset="0"/>
                <a:ea typeface="Arial" pitchFamily="34" charset="-122"/>
                <a:cs typeface="Arial" pitchFamily="34" charset="-120"/>
              </a:rPr>
              <a:t>1  Structure</a:t>
            </a:r>
            <a:r>
              <a:rPr lang="en-US" sz="900" dirty="0">
                <a:solidFill>
                  <a:srgbClr val="444444"/>
                </a:solidFill>
                <a:latin typeface="Arial" pitchFamily="34" charset="0"/>
                <a:ea typeface="Arial" pitchFamily="34" charset="-122"/>
                <a:cs typeface="Arial" pitchFamily="34" charset="-120"/>
              </a:rPr>
              <a:t>  schema well-formed; parseable canonical</a:t>
            </a:r>
          </a:p>
          <a:p>
            <a:pPr indent="0" marL="0">
              <a:spcAft>
                <a:spcPts val="300"/>
              </a:spcAft>
              <a:buNone/>
            </a:pPr>
            <a:r>
              <a:rPr lang="en-US" sz="900" b="1" dirty="0">
                <a:solidFill>
                  <a:srgbClr val="72243E"/>
                </a:solidFill>
                <a:latin typeface="Arial" pitchFamily="34" charset="0"/>
                <a:ea typeface="Arial" pitchFamily="34" charset="-122"/>
                <a:cs typeface="Arial" pitchFamily="34" charset="-120"/>
              </a:rPr>
              <a:t>2  Code lists</a:t>
            </a:r>
            <a:r>
              <a:rPr lang="en-US" sz="900" dirty="0">
                <a:solidFill>
                  <a:srgbClr val="444444"/>
                </a:solidFill>
                <a:latin typeface="Arial" pitchFamily="34" charset="0"/>
                <a:ea typeface="Arial" pitchFamily="34" charset="-122"/>
                <a:cs typeface="Arial" pitchFamily="34" charset="-120"/>
              </a:rPr>
              <a:t>  sourceSystem must be JAMS / ServiceNow / SiteTracker; units and contract codes checked</a:t>
            </a:r>
          </a:p>
          <a:p>
            <a:pPr indent="0" marL="0">
              <a:spcAft>
                <a:spcPts val="300"/>
              </a:spcAft>
              <a:buNone/>
            </a:pPr>
            <a:r>
              <a:rPr lang="en-US" sz="900" b="1" dirty="0">
                <a:solidFill>
                  <a:srgbClr val="72243E"/>
                </a:solidFill>
                <a:latin typeface="Arial" pitchFamily="34" charset="0"/>
                <a:ea typeface="Arial" pitchFamily="34" charset="-122"/>
                <a:cs typeface="Arial" pitchFamily="34" charset="-120"/>
              </a:rPr>
              <a:t>3  Mandatory</a:t>
            </a:r>
            <a:r>
              <a:rPr lang="en-US" sz="900" dirty="0">
                <a:solidFill>
                  <a:srgbClr val="444444"/>
                </a:solidFill>
                <a:latin typeface="Arial" pitchFamily="34" charset="0"/>
                <a:ea typeface="Arial" pitchFamily="34" charset="-122"/>
                <a:cs typeface="Arial" pitchFamily="34" charset="-120"/>
              </a:rPr>
              <a:t>  sourceSystem, sourceMessageId, clientJobNumber (the businessKey), versionStamp present</a:t>
            </a:r>
          </a:p>
          <a:p>
            <a:pPr indent="0" marL="0">
              <a:spcAft>
                <a:spcPts val="500"/>
              </a:spcAft>
              <a:buNone/>
            </a:pPr>
            <a:r>
              <a:rPr lang="en-US" sz="900" b="1" dirty="0">
                <a:solidFill>
                  <a:srgbClr val="993556"/>
                </a:solidFill>
                <a:latin typeface="Arial" pitchFamily="34" charset="0"/>
                <a:ea typeface="Arial" pitchFamily="34" charset="-122"/>
                <a:cs typeface="Arial" pitchFamily="34" charset="-120"/>
              </a:rPr>
              <a:t>↳  any of 1–3 fail = HTTP 400, never queued. FSM fixes the data and resends.</a:t>
            </a:r>
          </a:p>
          <a:p>
            <a:pPr indent="0" marL="0">
              <a:spcAft>
                <a:spcPts val="300"/>
              </a:spcAft>
              <a:buNone/>
            </a:pPr>
            <a:r>
              <a:rPr lang="en-US" sz="900" b="1" dirty="0">
                <a:solidFill>
                  <a:srgbClr val="085041"/>
                </a:solidFill>
                <a:latin typeface="Arial" pitchFamily="34" charset="0"/>
                <a:ea typeface="Arial" pitchFamily="34" charset="-122"/>
                <a:cs typeface="Arial" pitchFamily="34" charset="-120"/>
              </a:rPr>
              <a:t>4  Assign &amp; duplicate</a:t>
            </a:r>
            <a:r>
              <a:rPr lang="en-US" sz="900" dirty="0">
                <a:solidFill>
                  <a:srgbClr val="444444"/>
                </a:solidFill>
                <a:latin typeface="Arial" pitchFamily="34" charset="0"/>
                <a:ea typeface="Arial" pitchFamily="34" charset="-122"/>
                <a:cs typeface="Arial" pitchFamily="34" charset="-120"/>
              </a:rPr>
              <a:t>  tracking ID assigned; a repeat gets the original tracking ID and the saved answer — or the same receipt while the first copy is still running</a:t>
            </a:r>
          </a:p>
          <a:p>
            <a:pPr indent="0" marL="0">
              <a:spcAft>
                <a:spcPts val="300"/>
              </a:spcAft>
              <a:buNone/>
            </a:pPr>
            <a:r>
              <a:rPr lang="en-US" sz="900" b="1" dirty="0">
                <a:solidFill>
                  <a:srgbClr val="085041"/>
                </a:solidFill>
                <a:latin typeface="Arial" pitchFamily="34" charset="0"/>
                <a:ea typeface="Arial" pitchFamily="34" charset="-122"/>
                <a:cs typeface="Arial" pitchFamily="34" charset="-120"/>
              </a:rPr>
              <a:t>5  Store &amp; reply</a:t>
            </a:r>
            <a:r>
              <a:rPr lang="en-US" sz="900" dirty="0">
                <a:solidFill>
                  <a:srgbClr val="444444"/>
                </a:solidFill>
                <a:latin typeface="Arial" pitchFamily="34" charset="0"/>
                <a:ea typeface="Arial" pitchFamily="34" charset="-122"/>
                <a:cs typeface="Arial" pitchFamily="34" charset="-120"/>
              </a:rPr>
              <a:t>  message stored in the entry queue, then HTTP 202 returned; 202 means received, not yet posted</a:t>
            </a:r>
          </a:p>
          <a:p>
            <a:pPr indent="0" marL="0">
              <a:spcAft>
                <a:spcPts val="300"/>
              </a:spcAft>
              <a:buNone/>
            </a:pPr>
            <a:r>
              <a:rPr lang="en-US" sz="900" b="1" dirty="0">
                <a:solidFill>
                  <a:srgbClr val="085041"/>
                </a:solidFill>
                <a:latin typeface="Arial" pitchFamily="34" charset="0"/>
                <a:ea typeface="Arial" pitchFamily="34" charset="-122"/>
                <a:cs typeface="Arial" pitchFamily="34" charset="-120"/>
              </a:rPr>
              <a:t>6  Version &amp; order</a:t>
            </a:r>
            <a:r>
              <a:rPr lang="en-US" sz="900" dirty="0">
                <a:solidFill>
                  <a:srgbClr val="444444"/>
                </a:solidFill>
                <a:latin typeface="Arial" pitchFamily="34" charset="0"/>
                <a:ea typeface="Arial" pitchFamily="34" charset="-122"/>
                <a:cs typeface="Arial" pitchFamily="34" charset="-120"/>
              </a:rPr>
              <a:t>  after the receipt, in the background: an older version is dropped; a message arriving before its parent waits and retries — never failed</a:t>
            </a:r>
          </a:p>
        </p:txBody>
      </p:sp>
      <p:sp>
        <p:nvSpPr>
          <p:cNvPr id="91" name="Text 90"/>
          <p:cNvSpPr/>
          <p:nvPr/>
        </p:nvSpPr>
        <p:spPr>
          <a:xfrm>
            <a:off x="6251400" y="1850000"/>
            <a:ext cx="5452920" cy="240000"/>
          </a:xfrm>
          <a:prstGeom prst="rect">
            <a:avLst/>
          </a:prstGeom>
          <a:noFill/>
          <a:ln/>
        </p:spPr>
        <p:txBody>
          <a:bodyPr wrap="square" lIns="0" tIns="0" rIns="0" bIns="0" rtlCol="0" anchor="t"/>
          <a:lstStyle/>
          <a:p>
            <a:pPr indent="0" marL="0">
              <a:buNone/>
            </a:pPr>
            <a:r>
              <a:rPr lang="en-US" sz="1050" b="1" dirty="0">
                <a:solidFill>
                  <a:srgbClr val="1F3864"/>
                </a:solidFill>
                <a:latin typeface="Arial" pitchFamily="34" charset="0"/>
                <a:ea typeface="Arial" pitchFamily="34" charset="-122"/>
                <a:cs typeface="Arial" pitchFamily="34" charset="-120"/>
              </a:rPr>
              <a:t>RESPONSE PATH — CPI → JAMS</a:t>
            </a:r>
          </a:p>
        </p:txBody>
      </p:sp>
      <p:sp>
        <p:nvSpPr>
          <p:cNvPr id="93" name="Text 92"/>
          <p:cNvSpPr/>
          <p:nvPr/>
        </p:nvSpPr>
        <p:spPr>
          <a:xfrm>
            <a:off x="6251400" y="2110000"/>
            <a:ext cx="5452920" cy="220000"/>
          </a:xfrm>
          <a:prstGeom prst="rect">
            <a:avLst/>
          </a:prstGeom>
          <a:noFill/>
          <a:ln/>
        </p:spPr>
        <p:txBody>
          <a:bodyPr wrap="square" lIns="0" tIns="0" rIns="0" bIns="0" rtlCol="0" anchor="t"/>
          <a:lstStyle/>
          <a:p>
            <a:pPr indent="0" marL="0">
              <a:buNone/>
            </a:pPr>
            <a:r>
              <a:rPr lang="en-US" sz="950" b="1" dirty="0">
                <a:solidFill>
                  <a:srgbClr val="3B3491"/>
                </a:solidFill>
                <a:latin typeface="Arial" pitchFamily="34" charset="0"/>
                <a:ea typeface="Arial" pitchFamily="34" charset="-122"/>
                <a:cs typeface="Arial" pitchFamily="34" charset="-120"/>
              </a:rPr>
              <a:t>1 · HTTP 202 — the receipt (received, not yet posted)</a:t>
            </a:r>
          </a:p>
        </p:txBody>
      </p:sp>
      <p:sp>
        <p:nvSpPr>
          <p:cNvPr id="94" name="Code 95"/>
          <p:cNvSpPr/>
          <p:nvPr/>
        </p:nvSpPr>
        <p:spPr>
          <a:xfrm>
            <a:off x="6251400" y="2340000"/>
            <a:ext cx="5452920" cy="760000"/>
          </a:xfrm>
          <a:prstGeom prst="roundRect">
            <a:avLst>
              <a:gd name="adj" fmla="val 4000"/>
            </a:avLst>
          </a:prstGeom>
          <a:solidFill>
            <a:srgbClr val="F4F5F7"/>
          </a:solidFill>
          <a:ln w="9525">
            <a:solidFill>
              <a:srgbClr val="D9D9D9"/>
            </a:solidFill>
          </a:ln>
        </p:spPr>
        <p:txBody>
          <a:bodyPr wrap="square" lIns="82296" tIns="54864" rIns="82296" bIns="54864" rtlCol="0" anchor="t"/>
          <a:lstStyle/>
          <a:p>
            <a:pPr indent="0" marL="0">
              <a:buNone/>
            </a:pPr>
            <a:r>
              <a:rPr lang="en-US" sz="850" dirty="0">
                <a:solidFill>
                  <a:srgbClr val="5B6570"/>
                </a:solidFill>
                <a:latin typeface="Courier New" pitchFamily="34" charset="0"/>
                <a:ea typeface="Courier New" pitchFamily="34" charset="-122"/>
                <a:cs typeface="Courier New" pitchFamily="34" charset="-120"/>
              </a:rPr>
              <a:t>HTTP/1.1 202 Accepted</a:t>
            </a:r>
          </a:p>
          <a:p>
            <a:pPr indent="0" marL="0">
              <a:buNone/>
            </a:pPr>
            <a:r>
              <a:rPr lang="en-US" sz="850" dirty="0">
                <a:solidFill>
                  <a:srgbClr val="24303A"/>
                </a:solidFill>
                <a:latin typeface="Courier New" pitchFamily="34" charset="0"/>
                <a:ea typeface="Courier New" pitchFamily="34" charset="-122"/>
                <a:cs typeface="Courier New" pitchFamily="34" charset="-120"/>
              </a:rPr>
              <a:t>{</a:t>
            </a:r>
          </a:p>
          <a:p>
            <a:pPr indent="0" marL="0">
              <a:buNone/>
            </a:pPr>
            <a:r>
              <a:rPr lang="en-US" sz="850" dirty="0">
                <a:solidFill>
                  <a:srgbClr val="24303A"/>
                </a:solidFill>
                <a:latin typeface="Courier New" pitchFamily="34" charset="0"/>
                <a:ea typeface="Courier New" pitchFamily="34" charset="-122"/>
                <a:cs typeface="Courier New" pitchFamily="34" charset="-120"/>
              </a:rPr>
              <a:t>  "status":        "RECEIVED",</a:t>
            </a:r>
          </a:p>
          <a:p>
            <a:pPr indent="0" marL="0">
              <a:buNone/>
            </a:pPr>
            <a:r>
              <a:rPr lang="en-US" sz="850" dirty="0">
                <a:solidFill>
                  <a:srgbClr val="24303A"/>
                </a:solidFill>
                <a:latin typeface="Courier New" pitchFamily="34" charset="0"/>
                <a:ea typeface="Courier New" pitchFamily="34" charset="-122"/>
                <a:cs typeface="Courier New" pitchFamily="34" charset="-120"/>
              </a:rPr>
              <a:t>  "correlationId": "a1f4c9e2-7b03-4e51-9c2a-6f0d9e4b1188"</a:t>
            </a:r>
          </a:p>
          <a:p>
            <a:pPr indent="0" marL="0">
              <a:buNone/>
            </a:pPr>
            <a:r>
              <a:rPr lang="en-US" sz="850" dirty="0">
                <a:solidFill>
                  <a:srgbClr val="24303A"/>
                </a:solidFill>
                <a:latin typeface="Courier New" pitchFamily="34" charset="0"/>
                <a:ea typeface="Courier New" pitchFamily="34" charset="-122"/>
                <a:cs typeface="Courier New" pitchFamily="34" charset="-120"/>
              </a:rPr>
              <a:t>}</a:t>
            </a:r>
          </a:p>
        </p:txBody>
      </p:sp>
      <p:sp>
        <p:nvSpPr>
          <p:cNvPr id="97" name="Text 96"/>
          <p:cNvSpPr/>
          <p:nvPr/>
        </p:nvSpPr>
        <p:spPr>
          <a:xfrm>
            <a:off x="6251400" y="3180000"/>
            <a:ext cx="5452920" cy="220000"/>
          </a:xfrm>
          <a:prstGeom prst="rect">
            <a:avLst/>
          </a:prstGeom>
          <a:noFill/>
          <a:ln/>
        </p:spPr>
        <p:txBody>
          <a:bodyPr wrap="square" lIns="0" tIns="0" rIns="0" bIns="0" rtlCol="0" anchor="t"/>
          <a:lstStyle/>
          <a:p>
            <a:pPr indent="0" marL="0">
              <a:buNone/>
            </a:pPr>
            <a:r>
              <a:rPr lang="en-US" sz="950" b="1" dirty="0">
                <a:solidFill>
                  <a:srgbClr val="085041"/>
                </a:solidFill>
                <a:latin typeface="Arial" pitchFamily="34" charset="0"/>
                <a:ea typeface="Arial" pitchFamily="34" charset="-122"/>
                <a:cs typeface="Arial" pitchFamily="34" charset="-120"/>
              </a:rPr>
              <a:t>2 · Final answer — SUCCEEDED — status + correlationId only (JAMS sign-off)</a:t>
            </a:r>
          </a:p>
        </p:txBody>
      </p:sp>
      <p:sp>
        <p:nvSpPr>
          <p:cNvPr id="98" name="Code 99"/>
          <p:cNvSpPr/>
          <p:nvPr/>
        </p:nvSpPr>
        <p:spPr>
          <a:xfrm>
            <a:off x="6251400" y="3400000"/>
            <a:ext cx="5452920" cy="1180000"/>
          </a:xfrm>
          <a:prstGeom prst="roundRect">
            <a:avLst>
              <a:gd name="adj" fmla="val 4000"/>
            </a:avLst>
          </a:prstGeom>
          <a:solidFill>
            <a:srgbClr val="EEFAF6"/>
          </a:solidFill>
          <a:ln w="9525">
            <a:solidFill>
              <a:srgbClr val="9AD5C2"/>
            </a:solidFill>
          </a:ln>
        </p:spPr>
        <p:txBody>
          <a:bodyPr wrap="square" lIns="82296" tIns="54864" rIns="82296" bIns="54864" rtlCol="0" anchor="t"/>
          <a:lstStyle/>
          <a:p>
            <a:pPr indent="0" marL="0">
              <a:buNone/>
            </a:pPr>
            <a:r>
              <a:rPr lang="en-US" sz="850" dirty="0">
                <a:solidFill>
                  <a:srgbClr val="24303A"/>
                </a:solidFill>
                <a:latin typeface="Courier New" pitchFamily="34" charset="0"/>
                <a:ea typeface="Courier New" pitchFamily="34" charset="-122"/>
                <a:cs typeface="Courier New" pitchFamily="34" charset="-120"/>
              </a:rPr>
              <a:t>{</a:t>
            </a:r>
          </a:p>
          <a:p>
            <a:pPr indent="0" marL="0">
              <a:buNone/>
            </a:pPr>
            <a:r>
              <a:rPr lang="en-US" sz="850" dirty="0">
                <a:solidFill>
                  <a:srgbClr val="24303A"/>
                </a:solidFill>
                <a:latin typeface="Courier New" pitchFamily="34" charset="0"/>
                <a:ea typeface="Courier New" pitchFamily="34" charset="-122"/>
                <a:cs typeface="Courier New" pitchFamily="34" charset="-120"/>
              </a:rPr>
              <a:t>  "status":        "SUCCEEDED",</a:t>
            </a:r>
          </a:p>
          <a:p>
            <a:pPr indent="0" marL="0">
              <a:buNone/>
            </a:pPr>
            <a:r>
              <a:rPr lang="en-US" sz="850" dirty="0">
                <a:solidFill>
                  <a:srgbClr val="24303A"/>
                </a:solidFill>
                <a:latin typeface="Courier New" pitchFamily="34" charset="0"/>
                <a:ea typeface="Courier New" pitchFamily="34" charset="-122"/>
                <a:cs typeface="Courier New" pitchFamily="34" charset="-120"/>
              </a:rPr>
              <a:t>  "correlationId": "a1f4c9e2-…",</a:t>
            </a:r>
          </a:p>
          <a:p>
            <a:pPr indent="0" marL="0">
              <a:buNone/>
            </a:pPr>
            <a:r>
              <a:rPr lang="en-US" sz="850" dirty="0">
                <a:solidFill>
                  <a:srgbClr val="24303A"/>
                </a:solidFill>
                <a:latin typeface="Courier New" pitchFamily="34" charset="0"/>
                <a:ea typeface="Courier New" pitchFamily="34" charset="-122"/>
                <a:cs typeface="Courier New" pitchFamily="34" charset="-120"/>
              </a:rPr>
              <a:t>  "clientJobNumber": "JOB-104772"</a:t>
            </a:r>
          </a:p>
          <a:p>
            <a:pPr indent="0" marL="0">
              <a:buNone/>
            </a:pPr>
            <a:r>
              <a:rPr lang="en-US" sz="850" dirty="0">
                <a:solidFill>
                  <a:srgbClr val="24303A"/>
                </a:solidFill>
                <a:latin typeface="Courier New" pitchFamily="34" charset="0"/>
                <a:ea typeface="Courier New" pitchFamily="34" charset="-122"/>
                <a:cs typeface="Courier New" pitchFamily="34" charset="-120"/>
              </a:rPr>
              <a:t>}</a:t>
            </a:r>
          </a:p>
          <a:p>
            <a:pPr indent="0" marL="0">
              <a:buNone/>
            </a:pPr>
            <a:r>
              <a:rPr lang="en-US" sz="850" dirty="0">
                <a:solidFill>
                  <a:srgbClr val="24303A"/>
                </a:solidFill>
                <a:latin typeface="Courier New" pitchFamily="34" charset="0"/>
                <a:ea typeface="Courier New" pitchFamily="34" charset="-122"/>
                <a:cs typeface="Courier New" pitchFamily="34" charset="-120"/>
              </a:rPr>
              <a:t>document details — via the pull, not the callback:</a:t>
            </a:r>
          </a:p>
          <a:p>
            <a:pPr indent="0" marL="0">
              <a:buNone/>
            </a:pPr>
            <a:r>
              <a:rPr lang="en-US" sz="850" dirty="0">
                <a:solidFill>
                  <a:srgbClr val="24303A"/>
                </a:solidFill>
                <a:latin typeface="Courier New" pitchFamily="34" charset="0"/>
                <a:ea typeface="Courier New" pitchFamily="34" charset="-122"/>
                <a:cs typeface="Courier New" pitchFamily="34" charset="-120"/>
              </a:rPr>
              <a:t>GET /refdata/v1/enterpriseprojects?system=JAMS&amp;contract=CT-009…</a:t>
            </a:r>
          </a:p>
          <a:p>
            <a:pPr indent="0" marL="0">
              <a:buNone/>
            </a:pPr>
            <a:r>
              <a:rPr lang="en-US" sz="850" dirty="0">
                <a:solidFill>
                  <a:srgbClr val="24303A"/>
                </a:solidFill>
                <a:latin typeface="Courier New" pitchFamily="34" charset="0"/>
                <a:ea typeface="Courier New" pitchFamily="34" charset="-122"/>
                <a:cs typeface="Courier New" pitchFamily="34" charset="-120"/>
              </a:rPr>
              <a:t>→ sapProject P-000451 · sapWbsElement JOB-104772 · Released</a:t>
            </a:r>
          </a:p>
        </p:txBody>
      </p:sp>
      <p:sp>
        <p:nvSpPr>
          <p:cNvPr id="101" name="Text 100"/>
          <p:cNvSpPr/>
          <p:nvPr/>
        </p:nvSpPr>
        <p:spPr>
          <a:xfrm>
            <a:off x="6251400" y="4600000"/>
            <a:ext cx="5452920" cy="220000"/>
          </a:xfrm>
          <a:prstGeom prst="rect">
            <a:avLst/>
          </a:prstGeom>
          <a:noFill/>
          <a:ln/>
        </p:spPr>
        <p:txBody>
          <a:bodyPr wrap="square" lIns="0" tIns="0" rIns="0" bIns="0" rtlCol="0" anchor="t"/>
          <a:lstStyle/>
          <a:p>
            <a:pPr indent="0" marL="0">
              <a:buNone/>
            </a:pPr>
            <a:r>
              <a:rPr lang="en-US" sz="950" b="1" dirty="0">
                <a:solidFill>
                  <a:srgbClr val="72243E"/>
                </a:solidFill>
                <a:latin typeface="Arial" pitchFamily="34" charset="0"/>
                <a:ea typeface="Arial" pitchFamily="34" charset="-122"/>
                <a:cs typeface="Arial" pitchFamily="34" charset="-120"/>
              </a:rPr>
              <a:t>3 · Final answer — FAILED (data error — the source system fixes it)</a:t>
            </a:r>
          </a:p>
        </p:txBody>
      </p:sp>
      <p:sp>
        <p:nvSpPr>
          <p:cNvPr id="102" name="Code 103"/>
          <p:cNvSpPr/>
          <p:nvPr/>
        </p:nvSpPr>
        <p:spPr>
          <a:xfrm>
            <a:off x="6251400" y="4820000"/>
            <a:ext cx="5452920" cy="1180000"/>
          </a:xfrm>
          <a:prstGeom prst="roundRect">
            <a:avLst>
              <a:gd name="adj" fmla="val 4000"/>
            </a:avLst>
          </a:prstGeom>
          <a:solidFill>
            <a:srgbClr val="FBEEF3"/>
          </a:solidFill>
          <a:ln w="9525">
            <a:solidFill>
              <a:srgbClr val="E3B7C6"/>
            </a:solidFill>
          </a:ln>
        </p:spPr>
        <p:txBody>
          <a:bodyPr wrap="square" lIns="82296" tIns="54864" rIns="82296" bIns="54864" rtlCol="0" anchor="t"/>
          <a:lstStyle/>
          <a:p>
            <a:pPr indent="0" marL="0">
              <a:buNone/>
            </a:pPr>
            <a:r>
              <a:rPr lang="en-US" sz="850" dirty="0">
                <a:solidFill>
                  <a:srgbClr val="24303A"/>
                </a:solidFill>
                <a:latin typeface="Courier New" pitchFamily="34" charset="0"/>
                <a:ea typeface="Courier New" pitchFamily="34" charset="-122"/>
                <a:cs typeface="Courier New" pitchFamily="34" charset="-120"/>
              </a:rPr>
              <a:t>{</a:t>
            </a:r>
          </a:p>
          <a:p>
            <a:pPr indent="0" marL="0">
              <a:buNone/>
            </a:pPr>
            <a:r>
              <a:rPr lang="en-US" sz="850" dirty="0">
                <a:solidFill>
                  <a:srgbClr val="24303A"/>
                </a:solidFill>
                <a:latin typeface="Courier New" pitchFamily="34" charset="0"/>
                <a:ea typeface="Courier New" pitchFamily="34" charset="-122"/>
                <a:cs typeface="Courier New" pitchFamily="34" charset="-120"/>
              </a:rPr>
              <a:t>  "status":        "FAILED",</a:t>
            </a:r>
          </a:p>
          <a:p>
            <a:pPr indent="0" marL="0">
              <a:buNone/>
            </a:pPr>
            <a:r>
              <a:rPr lang="en-US" sz="850" dirty="0">
                <a:solidFill>
                  <a:srgbClr val="24303A"/>
                </a:solidFill>
                <a:latin typeface="Courier New" pitchFamily="34" charset="0"/>
                <a:ea typeface="Courier New" pitchFamily="34" charset="-122"/>
                <a:cs typeface="Courier New" pitchFamily="34" charset="-120"/>
              </a:rPr>
              <a:t>  "correlationId": "a1f4c9e2-…",</a:t>
            </a:r>
          </a:p>
          <a:p>
            <a:pPr indent="0" marL="0">
              <a:buNone/>
            </a:pPr>
            <a:r>
              <a:rPr lang="en-US" sz="850" dirty="0">
                <a:solidFill>
                  <a:srgbClr val="24303A"/>
                </a:solidFill>
                <a:latin typeface="Courier New" pitchFamily="34" charset="0"/>
                <a:ea typeface="Courier New" pitchFamily="34" charset="-122"/>
                <a:cs typeface="Courier New" pitchFamily="34" charset="-120"/>
              </a:rPr>
              <a:t>  "errorClass":    "BUSINESS",</a:t>
            </a:r>
          </a:p>
          <a:p>
            <a:pPr indent="0" marL="0">
              <a:buNone/>
            </a:pPr>
            <a:r>
              <a:rPr lang="en-US" sz="850" dirty="0">
                <a:solidFill>
                  <a:srgbClr val="24303A"/>
                </a:solidFill>
                <a:latin typeface="Courier New" pitchFamily="34" charset="0"/>
                <a:ea typeface="Courier New" pitchFamily="34" charset="-122"/>
                <a:cs typeface="Courier New" pitchFamily="34" charset="-120"/>
              </a:rPr>
              <a:t>  "errors": [ { "field":   "responsibleCostCenter",</a:t>
            </a:r>
          </a:p>
          <a:p>
            <a:pPr indent="0" marL="0">
              <a:buNone/>
            </a:pPr>
            <a:r>
              <a:rPr lang="en-US" sz="850" dirty="0">
                <a:solidFill>
                  <a:srgbClr val="24303A"/>
                </a:solidFill>
                <a:latin typeface="Courier New" pitchFamily="34" charset="0"/>
                <a:ea typeface="Courier New" pitchFamily="34" charset="-122"/>
                <a:cs typeface="Courier New" pitchFamily="34" charset="-120"/>
              </a:rPr>
              <a:t>                "code":    "CC_NOT_FOUND",</a:t>
            </a:r>
          </a:p>
          <a:p>
            <a:pPr indent="0" marL="0">
              <a:buNone/>
            </a:pPr>
            <a:r>
              <a:rPr lang="en-US" sz="850" dirty="0">
                <a:solidFill>
                  <a:srgbClr val="24303A"/>
                </a:solidFill>
                <a:latin typeface="Courier New" pitchFamily="34" charset="0"/>
                <a:ea typeface="Courier New" pitchFamily="34" charset="-122"/>
                <a:cs typeface="Courier New" pitchFamily="34" charset="-120"/>
              </a:rPr>
              <a:t>                "message": "Cost center 3050 not found" } ]</a:t>
            </a:r>
          </a:p>
          <a:p>
            <a:pPr indent="0" marL="0">
              <a:buNone/>
            </a:pPr>
            <a:r>
              <a:rPr lang="en-US" sz="850" dirty="0">
                <a:solidFill>
                  <a:srgbClr val="24303A"/>
                </a:solidFill>
                <a:latin typeface="Courier New" pitchFamily="34" charset="0"/>
                <a:ea typeface="Courier New" pitchFamily="34" charset="-122"/>
                <a:cs typeface="Courier New" pitchFamily="34" charset="-120"/>
              </a:rPr>
              <a:t>}</a:t>
            </a:r>
          </a:p>
        </p:txBody>
      </p:sp>
      <p:sp>
        <p:nvSpPr>
          <p:cNvPr id="105" name="Text 104"/>
          <p:cNvSpPr/>
          <p:nvPr/>
        </p:nvSpPr>
        <p:spPr>
          <a:xfrm>
            <a:off x="6251400" y="6040000"/>
            <a:ext cx="5452920" cy="260000"/>
          </a:xfrm>
          <a:prstGeom prst="rect">
            <a:avLst/>
          </a:prstGeom>
          <a:noFill/>
          <a:ln/>
        </p:spPr>
        <p:txBody>
          <a:bodyPr wrap="square" lIns="0" tIns="0" rIns="0" bIns="0" rtlCol="0" anchor="t"/>
          <a:lstStyle/>
          <a:p>
            <a:pPr indent="0" marL="0">
              <a:buNone/>
            </a:pPr>
            <a:r>
              <a:rPr lang="en-US" sz="870" i="1" dirty="0">
                <a:solidFill>
                  <a:srgbClr val="72243E"/>
                </a:solidFill>
                <a:latin typeface="Arial" pitchFamily="34" charset="0"/>
                <a:ea typeface="Arial" pitchFamily="34" charset="-122"/>
                <a:cs typeface="Arial" pitchFamily="34" charset="-120"/>
              </a:rPr>
              <a:t>The source system owns the fix: correct the data and resend with a NEW sourceMessageId — never resend the same rejected message.</a:t>
            </a:r>
          </a:p>
        </p:txBody>
      </p:sp>
      <p:sp>
        <p:nvSpPr>
          <p:cNvPr id="107" name="Text 106"/>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p>
        </p:txBody>
      </p:sp>
      <p:sp>
        <p:nvSpPr>
          <p:cNvPr id="109" name="Text 108"/>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p>
        </p:txBody>
      </p:sp>
      <p:sp>
        <p:nvSpPr>
          <p:cNvPr id="480" name="Shape 480"/>
          <p:cNvSpPr/>
          <p:nvPr/>
        </p:nvSpPr>
        <p:spPr>
          <a:xfrm>
            <a:off x="2362920" y="1140000"/>
            <a:ext cx="1680000" cy="620000"/>
          </a:xfrm>
          <a:prstGeom prst="roundRect">
            <a:avLst>
              <a:gd name="adj" fmla="val 8000"/>
            </a:avLst>
          </a:prstGeom>
          <a:solidFill>
            <a:srgbClr val="EEEDFE"/>
          </a:solidFill>
          <a:ln w="15875">
            <a:solidFill>
              <a:srgbClr val="534AB7"/>
            </a:solidFill>
            <a:prstDash val="solid"/>
          </a:ln>
        </p:spPr>
      </p:sp>
      <p:sp>
        <p:nvSpPr>
          <p:cNvPr id="483" name="Text 483"/>
          <p:cNvSpPr/>
          <p:nvPr/>
        </p:nvSpPr>
        <p:spPr>
          <a:xfrm>
            <a:off x="2462920" y="1230000"/>
            <a:ext cx="1480000" cy="220000"/>
          </a:xfrm>
          <a:prstGeom prst="rect">
            <a:avLst/>
          </a:prstGeom>
          <a:noFill/>
          <a:ln/>
        </p:spPr>
        <p:txBody>
          <a:bodyPr wrap="square" lIns="0" tIns="0" rIns="0" bIns="0" rtlCol="0" anchor="t"/>
          <a:lstStyle/>
          <a:p>
            <a:pPr indent="0" marL="0">
              <a:buNone/>
            </a:pPr>
            <a:r>
              <a:rPr lang="en-US" sz="1000" b="1" dirty="0">
                <a:solidFill>
                  <a:srgbClr val="3B3491"/>
                </a:solidFill>
                <a:latin typeface="Arial" pitchFamily="34" charset="0"/>
                <a:ea typeface="Arial" pitchFamily="34" charset="-122"/>
                <a:cs typeface="Arial" pitchFamily="34" charset="-120"/>
              </a:rPr>
              <a:t>1st leg — map</a:t>
            </a:r>
          </a:p>
        </p:txBody>
      </p:sp>
      <p:sp>
        <p:nvSpPr>
          <p:cNvPr id="484" name="Text 484"/>
          <p:cNvSpPr/>
          <p:nvPr/>
        </p:nvSpPr>
        <p:spPr>
          <a:xfrm>
            <a:off x="2462920" y="1440000"/>
            <a:ext cx="1480000" cy="30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jobID → fsmJobNumber · ClientRefNo → clientJobNumber</a:t>
            </a:r>
          </a:p>
        </p:txBody>
      </p:sp>
      <p:sp>
        <p:nvSpPr>
          <p:cNvPr id="481" name="Shape 481"/>
          <p:cNvSpPr/>
          <p:nvPr/>
        </p:nvSpPr>
        <p:spPr>
          <a:xfrm>
            <a:off x="2292920" y="1070000"/>
            <a:ext cx="230000" cy="230000"/>
          </a:xfrm>
          <a:prstGeom prst="ellipse">
            <a:avLst/>
          </a:prstGeom>
          <a:solidFill>
            <a:srgbClr val="1F3864"/>
          </a:solidFill>
          <a:ln/>
        </p:spPr>
      </p:sp>
      <p:sp>
        <p:nvSpPr>
          <p:cNvPr id="485" name="Text 485"/>
          <p:cNvSpPr/>
          <p:nvPr/>
        </p:nvSpPr>
        <p:spPr>
          <a:xfrm>
            <a:off x="2292920" y="1070000"/>
            <a:ext cx="230000" cy="2300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p>
        </p:txBody>
      </p:sp>
      <p:sp>
        <p:nvSpPr>
          <p:cNvPr id="482" name="Arrow 482"/>
          <p:cNvSpPr/>
          <p:nvPr/>
        </p:nvSpPr>
        <p:spPr>
          <a:xfrm>
            <a:off x="2212920" y="1450000"/>
            <a:ext cx="120000" cy="1"/>
          </a:xfrm>
          <a:prstGeom prst="line">
            <a:avLst/>
          </a:prstGeom>
          <a:noFill/>
          <a:ln w="28575">
            <a:solidFill>
              <a:srgbClr val="1F3864"/>
            </a:solidFill>
            <a:prstDash val="solid"/>
            <a:headEnd type="none"/>
            <a:tailEnd type="triangle"/>
          </a:ln>
        </p:spPr>
      </p:sp>
      <p:sp>
        <p:nvSpPr>
          <p:cNvPr id="486" name="Text 486"/>
          <p:cNvSpPr/>
          <p:nvPr/>
        </p:nvSpPr>
        <p:spPr>
          <a:xfrm>
            <a:off x="2192920" y="990000"/>
            <a:ext cx="160000" cy="150000"/>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POST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3"/>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4" name="Text 5"/>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p>
        </p:txBody>
      </p:sp>
      <p:sp>
        <p:nvSpPr>
          <p:cNvPr id="6" name="Text 7"/>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High volume — 5,000 van-stock lines in one request</a:t>
            </a:r>
          </a:p>
        </p:txBody>
      </p:sp>
      <p:sp>
        <p:nvSpPr>
          <p:cNvPr id="8" name="Shape 9"/>
          <p:cNvSpPr/>
          <p:nvPr/>
        </p:nvSpPr>
        <p:spPr>
          <a:xfrm>
            <a:off x="9591672" y="201168"/>
            <a:ext cx="1500000" cy="274320"/>
          </a:xfrm>
          <a:prstGeom prst="roundRect">
            <a:avLst>
              <a:gd name="adj" fmla="val 40000"/>
            </a:avLst>
          </a:prstGeom>
          <a:solidFill>
            <a:srgbClr val="E1F5EE"/>
          </a:solidFill>
          <a:ln w="12700">
            <a:solidFill>
              <a:srgbClr val="0F6E56"/>
            </a:solidFill>
            <a:prstDash val="solid"/>
          </a:ln>
        </p:spPr>
      </p:sp>
      <p:sp>
        <p:nvSpPr>
          <p:cNvPr id="10" name="Text 11"/>
          <p:cNvSpPr/>
          <p:nvPr/>
        </p:nvSpPr>
        <p:spPr>
          <a:xfrm>
            <a:off x="9591672" y="201168"/>
            <a:ext cx="1500000"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Example</a:t>
            </a:r>
          </a:p>
        </p:txBody>
      </p:sp>
      <p:sp>
        <p:nvSpPr>
          <p:cNvPr id="12" name="Text 13"/>
          <p:cNvSpPr/>
          <p:nvPr/>
        </p:nvSpPr>
        <p:spPr>
          <a:xfrm>
            <a:off x="502920" y="676656"/>
            <a:ext cx="11201400" cy="340000"/>
          </a:xfrm>
          <a:prstGeom prst="rect">
            <a:avLst/>
          </a:prstGeom>
          <a:noFill/>
          <a:ln/>
        </p:spPr>
        <p:txBody>
          <a:bodyPr wrap="square" lIns="0" tIns="0" rIns="0" bIns="0" rtlCol="0" anchor="t"/>
          <a:lstStyle/>
          <a:p>
            <a:pPr indent="0" marL="0">
              <a:buNone/>
            </a:pPr>
            <a:r>
              <a:rPr lang="en-US" sz="1150" dirty="0">
                <a:solidFill>
                  <a:srgbClr val="595959"/>
                </a:solidFill>
                <a:latin typeface="Arial" pitchFamily="34" charset="0"/>
                <a:ea typeface="Arial" pitchFamily="34" charset="-122"/>
                <a:cs typeface="Arial" pitchFamily="34" charset="-120"/>
              </a:rPr>
              <a:t>The real case from INT-FS-106: JAMS posts its end-of-day van stock — 5,000 lines in one batch. The JAMS 1st leg maps them, the door validates and splits (the documents' splitter rule above 1,000 records) — then slide 11's pipeline unchanged; one receipt, progress any time, one aggregated answer instead of 5,000 callbacks.</a:t>
            </a:r>
          </a:p>
        </p:txBody>
      </p:sp>
      <p:sp>
        <p:nvSpPr>
          <p:cNvPr id="14" name="Text 15"/>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p>
        </p:txBody>
      </p:sp>
      <p:sp>
        <p:nvSpPr>
          <p:cNvPr id="16" name="Text 17"/>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p>
        </p:txBody>
      </p:sp>
      <p:sp>
        <p:nvSpPr>
          <p:cNvPr id="18" name="Shape 19"/>
          <p:cNvSpPr/>
          <p:nvPr/>
        </p:nvSpPr>
        <p:spPr>
          <a:xfrm>
            <a:off x="502920" y="1150000"/>
            <a:ext cx="1680000" cy="620000"/>
          </a:xfrm>
          <a:prstGeom prst="roundRect">
            <a:avLst>
              <a:gd name="adj" fmla="val 8000"/>
            </a:avLst>
          </a:prstGeom>
          <a:solidFill>
            <a:srgbClr val="EEF2F8"/>
          </a:solidFill>
          <a:ln w="15875">
            <a:solidFill>
              <a:srgbClr val="1F3864"/>
            </a:solidFill>
            <a:prstDash val="solid"/>
          </a:ln>
        </p:spPr>
      </p:sp>
      <p:sp>
        <p:nvSpPr>
          <p:cNvPr id="20" name="Text 21"/>
          <p:cNvSpPr/>
          <p:nvPr/>
        </p:nvSpPr>
        <p:spPr>
          <a:xfrm>
            <a:off x="602920" y="1260000"/>
            <a:ext cx="1480000" cy="240000"/>
          </a:xfrm>
          <a:prstGeom prst="rect">
            <a:avLst/>
          </a:prstGeom>
          <a:noFill/>
          <a:ln/>
        </p:spPr>
        <p:txBody>
          <a:bodyPr wrap="square" lIns="0" tIns="0" rIns="0" bIns="0" rtlCol="0" anchor="t"/>
          <a:lstStyle/>
          <a:p>
            <a:pPr indent="0" marL="0">
              <a:buNone/>
            </a:pPr>
            <a:r>
              <a:rPr lang="en-US" sz="1050" b="1" dirty="0">
                <a:solidFill>
                  <a:srgbClr val="1F3864"/>
                </a:solidFill>
                <a:latin typeface="Arial" pitchFamily="34" charset="0"/>
                <a:ea typeface="Arial" pitchFamily="34" charset="-122"/>
                <a:cs typeface="Arial" pitchFamily="34" charset="-120"/>
              </a:rPr>
              <a:t>One POST</a:t>
            </a:r>
          </a:p>
        </p:txBody>
      </p:sp>
      <p:sp>
        <p:nvSpPr>
          <p:cNvPr id="22" name="Text 23"/>
          <p:cNvSpPr/>
          <p:nvPr/>
        </p:nvSpPr>
        <p:spPr>
          <a:xfrm>
            <a:off x="602920" y="1510000"/>
            <a:ext cx="1480000" cy="220000"/>
          </a:xfrm>
          <a:prstGeom prst="rect">
            <a:avLst/>
          </a:prstGeom>
          <a:noFill/>
          <a:ln/>
        </p:spPr>
        <p:txBody>
          <a:bodyPr wrap="square" lIns="0" tIns="0" rIns="0" bIns="0" rtlCol="0" anchor="t"/>
          <a:lstStyle/>
          <a:p>
            <a:pPr indent="0" marL="0">
              <a:buNone/>
            </a:pPr>
            <a:r>
              <a:rPr lang="en-US" sz="800" dirty="0">
                <a:solidFill>
                  <a:srgbClr val="1F3864"/>
                </a:solidFill>
                <a:latin typeface="Arial" pitchFamily="34" charset="0"/>
                <a:ea typeface="Arial" pitchFamily="34" charset="-122"/>
                <a:cs typeface="Arial" pitchFamily="34" charset="-120"/>
              </a:rPr>
              <a:t>JAMS format: stockNo / qty / jobID</a:t>
            </a:r>
          </a:p>
        </p:txBody>
      </p:sp>
      <p:sp>
        <p:nvSpPr>
          <p:cNvPr id="24" name="Arrow 25"/>
          <p:cNvSpPr/>
          <p:nvPr/>
        </p:nvSpPr>
        <p:spPr>
          <a:xfrm>
            <a:off x="4072920" y="1460000"/>
            <a:ext cx="120000" cy="1"/>
          </a:xfrm>
          <a:prstGeom prst="line">
            <a:avLst/>
          </a:prstGeom>
          <a:noFill/>
          <a:ln w="25400">
            <a:solidFill>
              <a:srgbClr val="1F3864"/>
            </a:solidFill>
            <a:prstDash val="solid"/>
            <a:headEnd type="none"/>
            <a:tailEnd type="triangle"/>
          </a:ln>
        </p:spPr>
      </p:sp>
      <p:sp>
        <p:nvSpPr>
          <p:cNvPr id="26" name="Shape 27"/>
          <p:cNvSpPr/>
          <p:nvPr/>
        </p:nvSpPr>
        <p:spPr>
          <a:xfrm>
            <a:off x="4222920" y="1150000"/>
            <a:ext cx="1680000" cy="620000"/>
          </a:xfrm>
          <a:prstGeom prst="roundRect">
            <a:avLst>
              <a:gd name="adj" fmla="val 8000"/>
            </a:avLst>
          </a:prstGeom>
          <a:solidFill>
            <a:srgbClr val="EEEDFE"/>
          </a:solidFill>
          <a:ln w="15875">
            <a:solidFill>
              <a:srgbClr val="534AB7"/>
            </a:solidFill>
            <a:prstDash val="solid"/>
          </a:ln>
        </p:spPr>
      </p:sp>
      <p:sp>
        <p:nvSpPr>
          <p:cNvPr id="28" name="Text 29"/>
          <p:cNvSpPr/>
          <p:nvPr/>
        </p:nvSpPr>
        <p:spPr>
          <a:xfrm>
            <a:off x="4322920" y="1260000"/>
            <a:ext cx="1480000" cy="240000"/>
          </a:xfrm>
          <a:prstGeom prst="rect">
            <a:avLst/>
          </a:prstGeom>
          <a:noFill/>
          <a:ln/>
        </p:spPr>
        <p:txBody>
          <a:bodyPr wrap="square" lIns="0" tIns="0" rIns="0" bIns="0" rtlCol="0" anchor="t"/>
          <a:lstStyle/>
          <a:p>
            <a:pPr indent="0" marL="0">
              <a:buNone/>
            </a:pPr>
            <a:r>
              <a:rPr lang="en-US" sz="1050" b="1" dirty="0">
                <a:solidFill>
                  <a:srgbClr val="3B3491"/>
                </a:solidFill>
                <a:latin typeface="Arial" pitchFamily="34" charset="0"/>
                <a:ea typeface="Arial" pitchFamily="34" charset="-122"/>
                <a:cs typeface="Arial" pitchFamily="34" charset="-120"/>
              </a:rPr>
              <a:t>Door: validate + split</a:t>
            </a:r>
          </a:p>
        </p:txBody>
      </p:sp>
      <p:sp>
        <p:nvSpPr>
          <p:cNvPr id="30" name="Text 31"/>
          <p:cNvSpPr/>
          <p:nvPr/>
        </p:nvSpPr>
        <p:spPr>
          <a:xfrm>
            <a:off x="4322920" y="1510000"/>
            <a:ext cx="1480000" cy="220000"/>
          </a:xfrm>
          <a:prstGeom prst="rect">
            <a:avLst/>
          </a:prstGeom>
          <a:noFill/>
          <a:ln/>
        </p:spPr>
        <p:txBody>
          <a:bodyPr wrap="square" lIns="0" tIns="0" rIns="0" bIns="0" rtlCol="0" anchor="t"/>
          <a:lstStyle/>
          <a:p>
            <a:pPr indent="0" marL="0">
              <a:buNone/>
            </a:pPr>
            <a:r>
              <a:rPr lang="en-US" sz="800" dirty="0">
                <a:solidFill>
                  <a:srgbClr val="3B3491"/>
                </a:solidFill>
                <a:latin typeface="Arial" pitchFamily="34" charset="0"/>
                <a:ea typeface="Arial" pitchFamily="34" charset="-122"/>
                <a:cs typeface="Arial" pitchFamily="34" charset="-120"/>
              </a:rPr>
              <a:t>5 invalid rejected here</a:t>
            </a:r>
          </a:p>
        </p:txBody>
      </p:sp>
      <p:sp>
        <p:nvSpPr>
          <p:cNvPr id="32" name="Arrow 33"/>
          <p:cNvSpPr/>
          <p:nvPr/>
        </p:nvSpPr>
        <p:spPr>
          <a:xfrm>
            <a:off x="5932920" y="1460000"/>
            <a:ext cx="120000" cy="1"/>
          </a:xfrm>
          <a:prstGeom prst="line">
            <a:avLst/>
          </a:prstGeom>
          <a:noFill/>
          <a:ln w="25400">
            <a:solidFill>
              <a:srgbClr val="1F3864"/>
            </a:solidFill>
            <a:prstDash val="solid"/>
            <a:headEnd type="none"/>
            <a:tailEnd type="triangle"/>
          </a:ln>
        </p:spPr>
      </p:sp>
      <p:sp>
        <p:nvSpPr>
          <p:cNvPr id="34" name="Shape 35"/>
          <p:cNvSpPr/>
          <p:nvPr/>
        </p:nvSpPr>
        <p:spPr>
          <a:xfrm>
            <a:off x="6082920" y="1150000"/>
            <a:ext cx="1680000" cy="620000"/>
          </a:xfrm>
          <a:prstGeom prst="roundRect">
            <a:avLst>
              <a:gd name="adj" fmla="val 8000"/>
            </a:avLst>
          </a:prstGeom>
          <a:solidFill>
            <a:srgbClr val="EEEDFE"/>
          </a:solidFill>
          <a:ln w="15875">
            <a:solidFill>
              <a:srgbClr val="534AB7"/>
            </a:solidFill>
            <a:prstDash val="solid"/>
          </a:ln>
        </p:spPr>
      </p:sp>
      <p:sp>
        <p:nvSpPr>
          <p:cNvPr id="36" name="Text 37"/>
          <p:cNvSpPr/>
          <p:nvPr/>
        </p:nvSpPr>
        <p:spPr>
          <a:xfrm>
            <a:off x="6182920" y="1260000"/>
            <a:ext cx="1480000" cy="240000"/>
          </a:xfrm>
          <a:prstGeom prst="rect">
            <a:avLst/>
          </a:prstGeom>
          <a:noFill/>
          <a:ln/>
        </p:spPr>
        <p:txBody>
          <a:bodyPr wrap="square" lIns="0" tIns="0" rIns="0" bIns="0" rtlCol="0" anchor="t"/>
          <a:lstStyle/>
          <a:p>
            <a:pPr indent="0" marL="0">
              <a:buNone/>
            </a:pPr>
            <a:r>
              <a:rPr lang="en-US" sz="1050" b="1" dirty="0">
                <a:solidFill>
                  <a:srgbClr val="3B3491"/>
                </a:solidFill>
                <a:latin typeface="Arial" pitchFamily="34" charset="0"/>
                <a:ea typeface="Arial" pitchFamily="34" charset="-122"/>
                <a:cs typeface="Arial" pitchFamily="34" charset="-120"/>
              </a:rPr>
              <a:t>Same JMS queue</a:t>
            </a:r>
          </a:p>
        </p:txBody>
      </p:sp>
      <p:sp>
        <p:nvSpPr>
          <p:cNvPr id="38" name="Text 39"/>
          <p:cNvSpPr/>
          <p:nvPr/>
        </p:nvSpPr>
        <p:spPr>
          <a:xfrm>
            <a:off x="6182920" y="1510000"/>
            <a:ext cx="1480000" cy="220000"/>
          </a:xfrm>
          <a:prstGeom prst="rect">
            <a:avLst/>
          </a:prstGeom>
          <a:noFill/>
          <a:ln/>
        </p:spPr>
        <p:txBody>
          <a:bodyPr wrap="square" lIns="0" tIns="0" rIns="0" bIns="0" rtlCol="0" anchor="t"/>
          <a:lstStyle/>
          <a:p>
            <a:pPr indent="0" marL="0">
              <a:buNone/>
            </a:pPr>
            <a:r>
              <a:rPr lang="en-US" sz="800" dirty="0">
                <a:solidFill>
                  <a:srgbClr val="3B3491"/>
                </a:solidFill>
                <a:latin typeface="Arial" pitchFamily="34" charset="0"/>
                <a:ea typeface="Arial" pitchFamily="34" charset="-122"/>
                <a:cs typeface="Arial" pitchFamily="34" charset="-120"/>
              </a:rPr>
              <a:t>4,985 msgs → CANONICAL_STOCK_PROJ_IN</a:t>
            </a:r>
          </a:p>
        </p:txBody>
      </p:sp>
      <p:sp>
        <p:nvSpPr>
          <p:cNvPr id="40" name="Arrow 41"/>
          <p:cNvSpPr/>
          <p:nvPr/>
        </p:nvSpPr>
        <p:spPr>
          <a:xfrm>
            <a:off x="7792920" y="1460000"/>
            <a:ext cx="120000" cy="1"/>
          </a:xfrm>
          <a:prstGeom prst="line">
            <a:avLst/>
          </a:prstGeom>
          <a:noFill/>
          <a:ln w="25400">
            <a:solidFill>
              <a:srgbClr val="1F3864"/>
            </a:solidFill>
            <a:prstDash val="solid"/>
            <a:headEnd type="none"/>
            <a:tailEnd type="triangle"/>
          </a:ln>
        </p:spPr>
      </p:sp>
      <p:sp>
        <p:nvSpPr>
          <p:cNvPr id="42" name="Shape 43"/>
          <p:cNvSpPr/>
          <p:nvPr/>
        </p:nvSpPr>
        <p:spPr>
          <a:xfrm>
            <a:off x="7942920" y="1150000"/>
            <a:ext cx="1680000" cy="620000"/>
          </a:xfrm>
          <a:prstGeom prst="roundRect">
            <a:avLst>
              <a:gd name="adj" fmla="val 8000"/>
            </a:avLst>
          </a:prstGeom>
          <a:solidFill>
            <a:srgbClr val="EEEDFE"/>
          </a:solidFill>
          <a:ln w="15875">
            <a:solidFill>
              <a:srgbClr val="534AB7"/>
            </a:solidFill>
            <a:prstDash val="solid"/>
          </a:ln>
        </p:spPr>
      </p:sp>
      <p:sp>
        <p:nvSpPr>
          <p:cNvPr id="44" name="Text 45"/>
          <p:cNvSpPr/>
          <p:nvPr/>
        </p:nvSpPr>
        <p:spPr>
          <a:xfrm>
            <a:off x="8042920" y="1260000"/>
            <a:ext cx="1480000" cy="240000"/>
          </a:xfrm>
          <a:prstGeom prst="rect">
            <a:avLst/>
          </a:prstGeom>
          <a:noFill/>
          <a:ln/>
        </p:spPr>
        <p:txBody>
          <a:bodyPr wrap="square" lIns="0" tIns="0" rIns="0" bIns="0" rtlCol="0" anchor="t"/>
          <a:lstStyle/>
          <a:p>
            <a:pPr indent="0" marL="0">
              <a:buNone/>
            </a:pPr>
            <a:r>
              <a:rPr lang="en-US" sz="1050" b="1" dirty="0">
                <a:solidFill>
                  <a:srgbClr val="3B3491"/>
                </a:solidFill>
                <a:latin typeface="Arial" pitchFamily="34" charset="0"/>
                <a:ea typeface="Arial" pitchFamily="34" charset="-122"/>
                <a:cs typeface="Arial" pitchFamily="34" charset="-120"/>
              </a:rPr>
              <a:t>Parallel workers</a:t>
            </a:r>
          </a:p>
        </p:txBody>
      </p:sp>
      <p:sp>
        <p:nvSpPr>
          <p:cNvPr id="46" name="Text 47"/>
          <p:cNvSpPr/>
          <p:nvPr/>
        </p:nvSpPr>
        <p:spPr>
          <a:xfrm>
            <a:off x="8042920" y="1510000"/>
            <a:ext cx="1480000" cy="220000"/>
          </a:xfrm>
          <a:prstGeom prst="rect">
            <a:avLst/>
          </a:prstGeom>
          <a:noFill/>
          <a:ln/>
        </p:spPr>
        <p:txBody>
          <a:bodyPr wrap="square" lIns="0" tIns="0" rIns="0" bIns="0" rtlCol="0" anchor="t"/>
          <a:lstStyle/>
          <a:p>
            <a:pPr indent="0" marL="0">
              <a:buNone/>
            </a:pPr>
            <a:r>
              <a:rPr lang="en-US" sz="800" dirty="0">
                <a:solidFill>
                  <a:srgbClr val="3B3491"/>
                </a:solidFill>
                <a:latin typeface="Arial" pitchFamily="34" charset="0"/>
                <a:ea typeface="Arial" pitchFamily="34" charset="-122"/>
                <a:cs typeface="Arial" pitchFamily="34" charset="-120"/>
              </a:rPr>
              <a:t>same checks · same locks</a:t>
            </a:r>
          </a:p>
        </p:txBody>
      </p:sp>
      <p:sp>
        <p:nvSpPr>
          <p:cNvPr id="48" name="Arrow 49"/>
          <p:cNvSpPr/>
          <p:nvPr/>
        </p:nvSpPr>
        <p:spPr>
          <a:xfrm>
            <a:off x="9652920" y="1460000"/>
            <a:ext cx="120000" cy="1"/>
          </a:xfrm>
          <a:prstGeom prst="line">
            <a:avLst/>
          </a:prstGeom>
          <a:noFill/>
          <a:ln w="25400">
            <a:solidFill>
              <a:srgbClr val="1F3864"/>
            </a:solidFill>
            <a:prstDash val="solid"/>
            <a:headEnd type="none"/>
            <a:tailEnd type="triangle"/>
          </a:ln>
        </p:spPr>
      </p:sp>
      <p:sp>
        <p:nvSpPr>
          <p:cNvPr id="50" name="Shape 51"/>
          <p:cNvSpPr/>
          <p:nvPr/>
        </p:nvSpPr>
        <p:spPr>
          <a:xfrm>
            <a:off x="9802920" y="1150000"/>
            <a:ext cx="1680000" cy="620000"/>
          </a:xfrm>
          <a:prstGeom prst="roundRect">
            <a:avLst>
              <a:gd name="adj" fmla="val 8000"/>
            </a:avLst>
          </a:prstGeom>
          <a:solidFill>
            <a:srgbClr val="E1F5EE"/>
          </a:solidFill>
          <a:ln w="15875">
            <a:solidFill>
              <a:srgbClr val="0F6E56"/>
            </a:solidFill>
            <a:prstDash val="solid"/>
          </a:ln>
        </p:spPr>
      </p:sp>
      <p:sp>
        <p:nvSpPr>
          <p:cNvPr id="52" name="Text 53"/>
          <p:cNvSpPr/>
          <p:nvPr/>
        </p:nvSpPr>
        <p:spPr>
          <a:xfrm>
            <a:off x="9902920" y="1260000"/>
            <a:ext cx="1480000" cy="240000"/>
          </a:xfrm>
          <a:prstGeom prst="rect">
            <a:avLst/>
          </a:prstGeom>
          <a:noFill/>
          <a:ln/>
        </p:spPr>
        <p:txBody>
          <a:bodyPr wrap="square" lIns="0" tIns="0" rIns="0" bIns="0" rtlCol="0" anchor="t"/>
          <a:lstStyle/>
          <a:p>
            <a:pPr indent="0" marL="0">
              <a:buNone/>
            </a:pPr>
            <a:r>
              <a:rPr lang="en-US" sz="1050" b="1" dirty="0">
                <a:solidFill>
                  <a:srgbClr val="085041"/>
                </a:solidFill>
                <a:latin typeface="Arial" pitchFamily="34" charset="0"/>
                <a:ea typeface="Arial" pitchFamily="34" charset="-122"/>
                <a:cs typeface="Arial" pitchFamily="34" charset="-120"/>
              </a:rPr>
              <a:t>S/4HANA Cloud</a:t>
            </a:r>
          </a:p>
        </p:txBody>
      </p:sp>
      <p:sp>
        <p:nvSpPr>
          <p:cNvPr id="54" name="Text 55"/>
          <p:cNvSpPr/>
          <p:nvPr/>
        </p:nvSpPr>
        <p:spPr>
          <a:xfrm>
            <a:off x="9902920" y="1510000"/>
            <a:ext cx="1480000" cy="220000"/>
          </a:xfrm>
          <a:prstGeom prst="rect">
            <a:avLst/>
          </a:prstGeom>
          <a:noFill/>
          <a:ln/>
        </p:spPr>
        <p:txBody>
          <a:bodyPr wrap="square" lIns="0" tIns="0" rIns="0" bIns="0" rtlCol="0" anchor="t"/>
          <a:lstStyle/>
          <a:p>
            <a:pPr indent="0" marL="0">
              <a:buNone/>
            </a:pPr>
            <a:r>
              <a:rPr lang="en-US" sz="800" dirty="0">
                <a:solidFill>
                  <a:srgbClr val="085041"/>
                </a:solidFill>
                <a:latin typeface="Arial" pitchFamily="34" charset="0"/>
                <a:ea typeface="Arial" pitchFamily="34" charset="-122"/>
                <a:cs typeface="Arial" pitchFamily="34" charset="-120"/>
              </a:rPr>
              <a:t>4,970 goods issues (221) — none twice</a:t>
            </a:r>
          </a:p>
        </p:txBody>
      </p:sp>
      <p:sp>
        <p:nvSpPr>
          <p:cNvPr id="56" name="Text 57"/>
          <p:cNvSpPr/>
          <p:nvPr/>
        </p:nvSpPr>
        <p:spPr>
          <a:xfrm>
            <a:off x="502920" y="1950000"/>
            <a:ext cx="5470000" cy="230000"/>
          </a:xfrm>
          <a:prstGeom prst="rect">
            <a:avLst/>
          </a:prstGeom>
          <a:noFill/>
          <a:ln/>
        </p:spPr>
        <p:txBody>
          <a:bodyPr wrap="square" lIns="0" tIns="0" rIns="0" bIns="0" rtlCol="0" anchor="t"/>
          <a:lstStyle/>
          <a:p>
            <a:pPr indent="0" marL="0">
              <a:buNone/>
            </a:pPr>
            <a:r>
              <a:rPr lang="en-US" sz="1000" b="1" dirty="0">
                <a:solidFill>
                  <a:srgbClr val="1F3864"/>
                </a:solidFill>
                <a:latin typeface="Arial" pitchFamily="34" charset="0"/>
                <a:ea typeface="Arial" pitchFamily="34" charset="-122"/>
                <a:cs typeface="Arial" pitchFamily="34" charset="-120"/>
              </a:rPr>
              <a:t>THE RECEIPT — one for the whole batch</a:t>
            </a:r>
          </a:p>
        </p:txBody>
      </p:sp>
      <p:sp>
        <p:nvSpPr>
          <p:cNvPr id="58" name="Code 59"/>
          <p:cNvSpPr/>
          <p:nvPr/>
        </p:nvSpPr>
        <p:spPr>
          <a:xfrm>
            <a:off x="502920" y="2190000"/>
            <a:ext cx="5470000" cy="900000"/>
          </a:xfrm>
          <a:prstGeom prst="roundRect">
            <a:avLst>
              <a:gd name="adj" fmla="val 4000"/>
            </a:avLst>
          </a:prstGeom>
          <a:solidFill>
            <a:srgbClr val="F4F5F7"/>
          </a:solidFill>
          <a:ln w="9525">
            <a:solidFill>
              <a:srgbClr val="D9D9D9"/>
            </a:solidFill>
          </a:ln>
        </p:spPr>
        <p:txBody>
          <a:bodyPr wrap="square" lIns="82296" tIns="54864" rIns="82296" bIns="54864" rtlCol="0" anchor="t"/>
          <a:lstStyle/>
          <a:p>
            <a:pPr indent="0" marL="0">
              <a:buNone/>
            </a:pPr>
            <a:r>
              <a:rPr lang="en-US" sz="850" dirty="0">
                <a:solidFill>
                  <a:srgbClr val="5B6570"/>
                </a:solidFill>
                <a:latin typeface="Courier New" pitchFamily="34" charset="0"/>
                <a:ea typeface="Courier New" pitchFamily="34" charset="-122"/>
                <a:cs typeface="Courier New" pitchFamily="34" charset="-120"/>
              </a:rPr>
              <a:t>HTTP/1.1 202 Accepted   (10 ms in the test run)</a:t>
            </a:r>
          </a:p>
          <a:p>
            <a:pPr indent="0" marL="0">
              <a:buNone/>
            </a:pPr>
            <a:r>
              <a:rPr lang="en-US" sz="850" dirty="0">
                <a:solidFill>
                  <a:srgbClr val="24303A"/>
                </a:solidFill>
                <a:latin typeface="Courier New" pitchFamily="34" charset="0"/>
                <a:ea typeface="Courier New" pitchFamily="34" charset="-122"/>
                <a:cs typeface="Courier New" pitchFamily="34" charset="-120"/>
              </a:rPr>
              <a:t>{ "status": "RECEIVED",  "accepted": 4985,</a:t>
            </a:r>
          </a:p>
          <a:p>
            <a:pPr indent="0" marL="0">
              <a:buNone/>
            </a:pPr>
            <a:r>
              <a:rPr lang="en-US" sz="850" dirty="0">
                <a:solidFill>
                  <a:srgbClr val="24303A"/>
                </a:solidFill>
                <a:latin typeface="Courier New" pitchFamily="34" charset="0"/>
                <a:ea typeface="Courier New" pitchFamily="34" charset="-122"/>
                <a:cs typeface="Courier New" pitchFamily="34" charset="-120"/>
              </a:rPr>
              <a:t>  "sourceMessageId": "JAMS-EOD-20260709",</a:t>
            </a:r>
          </a:p>
          <a:p>
            <a:pPr indent="0" marL="0">
              <a:buNone/>
            </a:pPr>
            <a:r>
              <a:rPr lang="en-US" sz="850" dirty="0">
                <a:solidFill>
                  <a:srgbClr val="24303A"/>
                </a:solidFill>
                <a:latin typeface="Courier New" pitchFamily="34" charset="0"/>
                <a:ea typeface="Courier New" pitchFamily="34" charset="-122"/>
                <a:cs typeface="Courier New" pitchFamily="34" charset="-120"/>
              </a:rPr>
              <a:t>  "correlationId":   "b7e2c4d1-…",</a:t>
            </a:r>
          </a:p>
          <a:p>
            <a:pPr indent="0" marL="0">
              <a:buNone/>
            </a:pPr>
            <a:r>
              <a:rPr lang="en-US" sz="850" dirty="0">
                <a:solidFill>
                  <a:srgbClr val="993556"/>
                </a:solidFill>
                <a:latin typeface="Courier New" pitchFamily="34" charset="0"/>
                <a:ea typeface="Courier New" pitchFamily="34" charset="-122"/>
                <a:cs typeface="Courier New" pitchFamily="34" charset="-120"/>
              </a:rPr>
              <a:t>  "rejected": [ "L4996","L4997","L4998", … ] }</a:t>
            </a:r>
          </a:p>
        </p:txBody>
      </p:sp>
      <p:sp>
        <p:nvSpPr>
          <p:cNvPr id="60" name="Text 61"/>
          <p:cNvSpPr/>
          <p:nvPr/>
        </p:nvSpPr>
        <p:spPr>
          <a:xfrm>
            <a:off x="502920" y="3230000"/>
            <a:ext cx="5470000" cy="230000"/>
          </a:xfrm>
          <a:prstGeom prst="rect">
            <a:avLst/>
          </a:prstGeom>
          <a:noFill/>
          <a:ln/>
        </p:spPr>
        <p:txBody>
          <a:bodyPr wrap="square" lIns="0" tIns="0" rIns="0" bIns="0" rtlCol="0" anchor="t"/>
          <a:lstStyle/>
          <a:p>
            <a:pPr indent="0" marL="0">
              <a:buNone/>
            </a:pPr>
            <a:r>
              <a:rPr lang="en-US" sz="1000" b="1" dirty="0">
                <a:solidFill>
                  <a:srgbClr val="1F3864"/>
                </a:solidFill>
                <a:latin typeface="Arial" pitchFamily="34" charset="0"/>
                <a:ea typeface="Arial" pitchFamily="34" charset="-122"/>
                <a:cs typeface="Arial" pitchFamily="34" charset="-120"/>
              </a:rPr>
              <a:t>PROGRESS — any time, by correlationId (pull)</a:t>
            </a:r>
          </a:p>
        </p:txBody>
      </p:sp>
      <p:sp>
        <p:nvSpPr>
          <p:cNvPr id="62" name="Code 63"/>
          <p:cNvSpPr/>
          <p:nvPr/>
        </p:nvSpPr>
        <p:spPr>
          <a:xfrm>
            <a:off x="502920" y="3470000"/>
            <a:ext cx="5470000" cy="760000"/>
          </a:xfrm>
          <a:prstGeom prst="roundRect">
            <a:avLst>
              <a:gd name="adj" fmla="val 4000"/>
            </a:avLst>
          </a:prstGeom>
          <a:solidFill>
            <a:srgbClr val="F4F5F7"/>
          </a:solidFill>
          <a:ln w="9525">
            <a:solidFill>
              <a:srgbClr val="D9D9D9"/>
            </a:solidFill>
          </a:ln>
        </p:spPr>
        <p:txBody>
          <a:bodyPr wrap="square" lIns="82296" tIns="54864" rIns="82296" bIns="54864" rtlCol="0" anchor="t"/>
          <a:lstStyle/>
          <a:p>
            <a:pPr indent="0" marL="0">
              <a:buNone/>
            </a:pPr>
            <a:r>
              <a:rPr lang="en-US" sz="850" dirty="0">
                <a:solidFill>
                  <a:srgbClr val="5B6570"/>
                </a:solidFill>
                <a:latin typeface="Courier New" pitchFamily="34" charset="0"/>
                <a:ea typeface="Courier New" pitchFamily="34" charset="-122"/>
                <a:cs typeface="Courier New" pitchFamily="34" charset="-120"/>
              </a:rPr>
              <a:t>GET /status/v1?correlationId=b7e2c4d1-…</a:t>
            </a:r>
          </a:p>
          <a:p>
            <a:pPr indent="0" marL="0">
              <a:buNone/>
            </a:pPr>
            <a:r>
              <a:rPr lang="en-US" sz="850" dirty="0">
                <a:solidFill>
                  <a:srgbClr val="24303A"/>
                </a:solidFill>
                <a:latin typeface="Courier New" pitchFamily="34" charset="0"/>
                <a:ea typeface="Courier New" pitchFamily="34" charset="-122"/>
                <a:cs typeface="Courier New" pitchFamily="34" charset="-120"/>
              </a:rPr>
              <a:t>{ "queued": 1200, "succeeded": 3765,</a:t>
            </a:r>
          </a:p>
          <a:p>
            <a:pPr indent="0" marL="0">
              <a:buNone/>
            </a:pPr>
            <a:r>
              <a:rPr lang="en-US" sz="850" dirty="0">
                <a:solidFill>
                  <a:srgbClr val="24303A"/>
                </a:solidFill>
                <a:latin typeface="Courier New" pitchFamily="34" charset="0"/>
                <a:ea typeface="Courier New" pitchFamily="34" charset="-122"/>
                <a:cs typeface="Courier New" pitchFamily="34" charset="-120"/>
              </a:rPr>
              <a:t>  "failed": 12,   "duplicates": 8 }</a:t>
            </a:r>
          </a:p>
        </p:txBody>
      </p:sp>
      <p:sp>
        <p:nvSpPr>
          <p:cNvPr id="64" name="Text 65"/>
          <p:cNvSpPr/>
          <p:nvPr/>
        </p:nvSpPr>
        <p:spPr>
          <a:xfrm>
            <a:off x="6251400" y="1950000"/>
            <a:ext cx="5437680" cy="230000"/>
          </a:xfrm>
          <a:prstGeom prst="rect">
            <a:avLst/>
          </a:prstGeom>
          <a:noFill/>
          <a:ln/>
        </p:spPr>
        <p:txBody>
          <a:bodyPr wrap="square" lIns="0" tIns="0" rIns="0" bIns="0" rtlCol="0" anchor="t"/>
          <a:lstStyle/>
          <a:p>
            <a:pPr indent="0" marL="0">
              <a:buNone/>
            </a:pPr>
            <a:r>
              <a:rPr lang="en-US" sz="1000" b="1" dirty="0">
                <a:solidFill>
                  <a:srgbClr val="085041"/>
                </a:solidFill>
                <a:latin typeface="Arial" pitchFamily="34" charset="0"/>
                <a:ea typeface="Arial" pitchFamily="34" charset="-122"/>
                <a:cs typeface="Arial" pitchFamily="34" charset="-120"/>
              </a:rPr>
              <a:t>ONE FINAL ANSWER — instead of 5,000 callbacks</a:t>
            </a:r>
          </a:p>
        </p:txBody>
      </p:sp>
      <p:sp>
        <p:nvSpPr>
          <p:cNvPr id="66" name="Code 67"/>
          <p:cNvSpPr/>
          <p:nvPr/>
        </p:nvSpPr>
        <p:spPr>
          <a:xfrm>
            <a:off x="6251400" y="2190000"/>
            <a:ext cx="5437680" cy="1660000"/>
          </a:xfrm>
          <a:prstGeom prst="roundRect">
            <a:avLst>
              <a:gd name="adj" fmla="val 4000"/>
            </a:avLst>
          </a:prstGeom>
          <a:solidFill>
            <a:srgbClr val="F4F5F7"/>
          </a:solidFill>
          <a:ln w="9525">
            <a:solidFill>
              <a:srgbClr val="D9D9D9"/>
            </a:solidFill>
          </a:ln>
        </p:spPr>
        <p:txBody>
          <a:bodyPr wrap="square" lIns="82296" tIns="54864" rIns="82296" bIns="54864" rtlCol="0" anchor="t"/>
          <a:lstStyle/>
          <a:p>
            <a:pPr indent="0" marL="0">
              <a:buNone/>
            </a:pPr>
            <a:r>
              <a:rPr lang="en-US" sz="850" dirty="0">
                <a:solidFill>
                  <a:srgbClr val="24303A"/>
                </a:solidFill>
                <a:latin typeface="Courier New" pitchFamily="34" charset="0"/>
                <a:ea typeface="Courier New" pitchFamily="34" charset="-122"/>
                <a:cs typeface="Courier New" pitchFamily="34" charset="-120"/>
              </a:rPr>
              <a:t>{ "status":    "PARTIAL",</a:t>
            </a:r>
          </a:p>
          <a:p>
            <a:pPr indent="0" marL="0">
              <a:buNone/>
            </a:pPr>
            <a:r>
              <a:rPr lang="en-US" sz="850" dirty="0">
                <a:solidFill>
                  <a:srgbClr val="24303A"/>
                </a:solidFill>
                <a:latin typeface="Courier New" pitchFamily="34" charset="0"/>
                <a:ea typeface="Courier New" pitchFamily="34" charset="-122"/>
                <a:cs typeface="Courier New" pitchFamily="34" charset="-120"/>
              </a:rPr>
              <a:t>  "correlationId": "b7e2c4d1-…",</a:t>
            </a:r>
          </a:p>
          <a:p>
            <a:pPr indent="0" marL="0">
              <a:buNone/>
            </a:pPr>
            <a:r>
              <a:rPr lang="en-US" sz="850" dirty="0">
                <a:solidFill>
                  <a:srgbClr val="24303A"/>
                </a:solidFill>
                <a:latin typeface="Courier New" pitchFamily="34" charset="0"/>
                <a:ea typeface="Courier New" pitchFamily="34" charset="-122"/>
                <a:cs typeface="Courier New" pitchFamily="34" charset="-120"/>
              </a:rPr>
              <a:t>  "total":     5000,</a:t>
            </a:r>
          </a:p>
          <a:p>
            <a:pPr indent="0" marL="0">
              <a:buNone/>
            </a:pPr>
            <a:r>
              <a:rPr lang="en-US" sz="850" b="1" dirty="0">
                <a:solidFill>
                  <a:srgbClr val="085041"/>
                </a:solidFill>
                <a:latin typeface="Courier New" pitchFamily="34" charset="0"/>
                <a:ea typeface="Courier New" pitchFamily="34" charset="-122"/>
                <a:cs typeface="Courier New" pitchFamily="34" charset="-120"/>
              </a:rPr>
              <a:t>  "succeeded": 4970,</a:t>
            </a:r>
          </a:p>
          <a:p>
            <a:pPr indent="0" marL="0">
              <a:buNone/>
            </a:pPr>
            <a:r>
              <a:rPr lang="en-US" sz="850" b="1" dirty="0">
                <a:solidFill>
                  <a:srgbClr val="993556"/>
                </a:solidFill>
                <a:latin typeface="Courier New" pitchFamily="34" charset="0"/>
                <a:ea typeface="Courier New" pitchFamily="34" charset="-122"/>
                <a:cs typeface="Courier New" pitchFamily="34" charset="-120"/>
              </a:rPr>
              <a:t>  "failed":    15,</a:t>
            </a:r>
          </a:p>
          <a:p>
            <a:pPr indent="0" marL="0">
              <a:buNone/>
            </a:pPr>
            <a:r>
              <a:rPr lang="en-US" sz="850" dirty="0">
                <a:solidFill>
                  <a:srgbClr val="24303A"/>
                </a:solidFill>
                <a:latin typeface="Courier New" pitchFamily="34" charset="0"/>
                <a:ea typeface="Courier New" pitchFamily="34" charset="-122"/>
                <a:cs typeface="Courier New" pitchFamily="34" charset="-120"/>
              </a:rPr>
              <a:t>  "duplicates": 10,  "rejectedAtDoor": 5,</a:t>
            </a:r>
          </a:p>
          <a:p>
            <a:pPr indent="0" marL="0">
              <a:buNone/>
            </a:pPr>
            <a:r>
              <a:rPr lang="en-US" sz="850" dirty="0">
                <a:solidFill>
                  <a:srgbClr val="24303A"/>
                </a:solidFill>
                <a:latin typeface="Courier New" pitchFamily="34" charset="0"/>
                <a:ea typeface="Courier New" pitchFamily="34" charset="-122"/>
                <a:cs typeface="Courier New" pitchFamily="34" charset="-120"/>
              </a:rPr>
              <a:t>  "errors": [ { "item": "L0417",</a:t>
            </a:r>
          </a:p>
          <a:p>
            <a:pPr indent="0" marL="0">
              <a:buNone/>
            </a:pPr>
            <a:r>
              <a:rPr lang="en-US" sz="850" dirty="0">
                <a:solidFill>
                  <a:srgbClr val="24303A"/>
                </a:solidFill>
                <a:latin typeface="Courier New" pitchFamily="34" charset="0"/>
                <a:ea typeface="Courier New" pitchFamily="34" charset="-122"/>
                <a:cs typeface="Courier New" pitchFamily="34" charset="-120"/>
              </a:rPr>
              <a:t>      "field": "stockLine.product",</a:t>
            </a:r>
          </a:p>
          <a:p>
            <a:pPr indent="0" marL="0">
              <a:buNone/>
            </a:pPr>
            <a:r>
              <a:rPr lang="en-US" sz="850" dirty="0">
                <a:solidFill>
                  <a:srgbClr val="24303A"/>
                </a:solidFill>
                <a:latin typeface="Courier New" pitchFamily="34" charset="0"/>
                <a:ea typeface="Courier New" pitchFamily="34" charset="-122"/>
                <a:cs typeface="Courier New" pitchFamily="34" charset="-120"/>
              </a:rPr>
              <a:t>      "code":  "M7-021 deficit of stock" }, "…" ] }</a:t>
            </a:r>
          </a:p>
        </p:txBody>
      </p:sp>
      <p:sp>
        <p:nvSpPr>
          <p:cNvPr id="68" name="Text 69"/>
          <p:cNvSpPr/>
          <p:nvPr/>
        </p:nvSpPr>
        <p:spPr>
          <a:xfrm>
            <a:off x="6251400" y="3950000"/>
            <a:ext cx="5437680" cy="300000"/>
          </a:xfrm>
          <a:prstGeom prst="rect">
            <a:avLst/>
          </a:prstGeom>
          <a:noFill/>
          <a:ln/>
        </p:spPr>
        <p:txBody>
          <a:bodyPr wrap="square" lIns="0" tIns="0" rIns="0" bIns="0" rtlCol="0" anchor="t"/>
          <a:lstStyle/>
          <a:p>
            <a:pPr indent="0" marL="0">
              <a:buNone/>
            </a:pPr>
            <a:r>
              <a:rPr lang="en-US" sz="850" i="1" dirty="0">
                <a:solidFill>
                  <a:srgbClr val="595959"/>
                </a:solidFill>
                <a:latin typeface="Arial" pitchFamily="34" charset="0"/>
                <a:ea typeface="Arial" pitchFamily="34" charset="-122"/>
                <a:cs typeface="Arial" pitchFamily="34" charset="-120"/>
              </a:rPr>
              <a:t>Per-item answers still exist in the tracker — an FSM that wants item detail pulls it when needed.</a:t>
            </a:r>
          </a:p>
        </p:txBody>
      </p:sp>
      <p:sp>
        <p:nvSpPr>
          <p:cNvPr id="70" name="Shape 71"/>
          <p:cNvSpPr/>
          <p:nvPr/>
        </p:nvSpPr>
        <p:spPr>
          <a:xfrm>
            <a:off x="502920" y="4480000"/>
            <a:ext cx="11186160" cy="560000"/>
          </a:xfrm>
          <a:prstGeom prst="roundRect">
            <a:avLst>
              <a:gd name="adj" fmla="val 5000"/>
            </a:avLst>
          </a:prstGeom>
          <a:solidFill>
            <a:srgbClr val="E1F5EE"/>
          </a:solidFill>
          <a:ln w="12700">
            <a:solidFill>
              <a:srgbClr val="0F6E56"/>
            </a:solidFill>
            <a:prstDash val="solid"/>
          </a:ln>
        </p:spPr>
      </p:sp>
      <p:sp>
        <p:nvSpPr>
          <p:cNvPr id="72" name="Text 73"/>
          <p:cNvSpPr/>
          <p:nvPr/>
        </p:nvSpPr>
        <p:spPr>
          <a:xfrm>
            <a:off x="702920" y="4560000"/>
            <a:ext cx="10800000" cy="420000"/>
          </a:xfrm>
          <a:prstGeom prst="rect">
            <a:avLst/>
          </a:prstGeom>
          <a:noFill/>
          <a:ln/>
        </p:spPr>
        <p:txBody>
          <a:bodyPr wrap="square" lIns="0" tIns="0" rIns="0" bIns="0" rtlCol="0" anchor="t"/>
          <a:lstStyle/>
          <a:p>
            <a:pPr indent="0" marL="0">
              <a:buNone/>
            </a:pPr>
            <a:r>
              <a:rPr lang="en-US" sz="900" b="1" dirty="0">
                <a:solidFill>
                  <a:srgbClr val="085041"/>
                </a:solidFill>
                <a:latin typeface="Arial" pitchFamily="34" charset="0"/>
                <a:ea typeface="Arial" pitchFamily="34" charset="-122"/>
                <a:cs typeface="Arial" pitchFamily="34" charset="-120"/>
              </a:rPr>
              <a:t>Run as code:  </a:t>
            </a:r>
            <a:r>
              <a:rPr lang="en-US" sz="900" dirty="0">
                <a:solidFill>
                  <a:srgbClr val="444444"/>
                </a:solidFill>
                <a:latin typeface="Arial" pitchFamily="34" charset="0"/>
                <a:ea typeface="Arial" pitchFamily="34" charset="-122"/>
                <a:cs typeface="Arial" pitchFamily="34" charset="-120"/>
              </a:rPr>
              <a:t>5,000 stock lines (5 invalid, 10 duplicates, 15 stock-deficit rejections, 100 shuffled same-job pairs) on 8 parallel workers — receipt in 10 ms, all items final in 0.15 s, create-before-update held on every pair, nothing posted twice.</a:t>
            </a:r>
          </a:p>
        </p:txBody>
      </p:sp>
      <p:sp>
        <p:nvSpPr>
          <p:cNvPr id="74" name="Shape 75"/>
          <p:cNvSpPr/>
          <p:nvPr/>
        </p:nvSpPr>
        <p:spPr>
          <a:xfrm>
            <a:off x="502920" y="5170000"/>
            <a:ext cx="11186160" cy="900000"/>
          </a:xfrm>
          <a:prstGeom prst="roundRect">
            <a:avLst>
              <a:gd name="adj" fmla="val 4000"/>
            </a:avLst>
          </a:prstGeom>
          <a:solidFill>
            <a:srgbClr val="F7F7F5"/>
          </a:solidFill>
          <a:ln w="9525">
            <a:solidFill>
              <a:srgbClr val="D9D9D9"/>
            </a:solidFill>
            <a:prstDash val="solid"/>
          </a:ln>
        </p:spPr>
      </p:sp>
      <p:sp>
        <p:nvSpPr>
          <p:cNvPr id="76" name="Text 77"/>
          <p:cNvSpPr/>
          <p:nvPr/>
        </p:nvSpPr>
        <p:spPr>
          <a:xfrm>
            <a:off x="702920" y="5260000"/>
            <a:ext cx="10800000" cy="36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New parts — two:  </a:t>
            </a:r>
            <a:r>
              <a:rPr lang="en-US" sz="900" dirty="0">
                <a:solidFill>
                  <a:srgbClr val="444444"/>
                </a:solidFill>
                <a:latin typeface="Arial" pitchFamily="34" charset="0"/>
                <a:ea typeface="Arial" pitchFamily="34" charset="-122"/>
                <a:cs typeface="Arial" pitchFamily="34" charset="-120"/>
              </a:rPr>
              <a:t>a splitter at the door (batch → ordinary messages — the E6 splitter rule the documents already set for anything above 1,000 records) and an aggregator in the answer flow (final states → one batch answer). Everything between them is the unchanged single-message pipeline.</a:t>
            </a:r>
          </a:p>
        </p:txBody>
      </p:sp>
      <p:sp>
        <p:nvSpPr>
          <p:cNvPr id="78" name="Text 79"/>
          <p:cNvSpPr/>
          <p:nvPr/>
        </p:nvSpPr>
        <p:spPr>
          <a:xfrm>
            <a:off x="702920" y="5650000"/>
            <a:ext cx="10800000" cy="36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Why it scales:  </a:t>
            </a:r>
            <a:r>
              <a:rPr lang="en-US" sz="900" dirty="0">
                <a:solidFill>
                  <a:srgbClr val="444444"/>
                </a:solidFill>
                <a:latin typeface="Arial" pitchFamily="34" charset="0"/>
                <a:ea typeface="Arial" pitchFamily="34" charset="-122"/>
                <a:cs typeface="Arial" pitchFamily="34" charset="-120"/>
              </a:rPr>
              <a:t>items post in parallel — only items for the same job take turns (the per-job lock). Duplicate and version checks work per item exactly as for single messages, so a resent batch can never double-post.</a:t>
            </a:r>
          </a:p>
        </p:txBody>
      </p:sp>
      <p:sp>
        <p:nvSpPr>
          <p:cNvPr id="400" name="Text 400"/>
          <p:cNvSpPr/>
          <p:nvPr/>
        </p:nvSpPr>
        <p:spPr>
          <a:xfrm>
            <a:off x="502920" y="4180000"/>
            <a:ext cx="11186160" cy="270000"/>
          </a:xfrm>
          <a:prstGeom prst="rect">
            <a:avLst/>
          </a:prstGeom>
          <a:noFill/>
          <a:ln/>
        </p:spPr>
        <p:txBody>
          <a:bodyPr wrap="square" lIns="0" tIns="0" rIns="0" bIns="0" rtlCol="0" anchor="t"/>
          <a:lstStyle/>
          <a:p>
            <a:pPr indent="0" marL="0">
              <a:buNone/>
            </a:pPr>
            <a:r>
              <a:rPr lang="en-US" sz="800" b="1" dirty="0">
                <a:solidFill>
                  <a:srgbClr val="1F3864"/>
                </a:solidFill>
                <a:latin typeface="Arial" pitchFamily="34" charset="0"/>
                <a:ea typeface="Arial" pitchFamily="34" charset="-122"/>
                <a:cs typeface="Arial" pitchFamily="34" charset="-120"/>
              </a:rPr>
              <a:t>Mapped already (INT-24a):  </a:t>
            </a:r>
            <a:r>
              <a:rPr lang="en-US" sz="800" dirty="0">
                <a:solidFill>
                  <a:srgbClr val="444444"/>
                </a:solidFill>
                <a:latin typeface="Arial" pitchFamily="34" charset="0"/>
                <a:ea typeface="Arial" pitchFamily="34" charset="-122"/>
                <a:cs typeface="Arial" pitchFamily="34" charset="-120"/>
              </a:rPr>
              <a:t>every line field (stockLine.product / quantity / plant / vanID / serialno / batchno) and the per-job header.  </a:t>
            </a:r>
            <a:r>
              <a:rPr lang="en-US" sz="800" b="1" dirty="0">
                <a:solidFill>
                  <a:srgbClr val="993556"/>
                </a:solidFill>
                <a:latin typeface="Arial" pitchFamily="34" charset="0"/>
                <a:ea typeface="Arial" pitchFamily="34" charset="-122"/>
                <a:cs typeface="Arial" pitchFamily="34" charset="-120"/>
              </a:rPr>
              <a:t>Still to add to the schema:  </a:t>
            </a:r>
            <a:r>
              <a:rPr lang="en-US" sz="800" dirty="0">
                <a:solidFill>
                  <a:srgbClr val="444444"/>
                </a:solidFill>
                <a:latin typeface="Arial" pitchFamily="34" charset="0"/>
                <a:ea typeface="Arial" pitchFamily="34" charset="-122"/>
                <a:cs typeface="Arial" pitchFamily="34" charset="-120"/>
              </a:rPr>
              <a:t>the envelope (reuses sourceMessageId + correlationId — no new ID), accepted / rejected on the receipt, the aggregated answer. Note: stockLine.batchno is SAP batch-managed material — nothing to do with the request envelope.</a:t>
            </a:r>
          </a:p>
        </p:txBody>
      </p:sp>
      <p:sp>
        <p:nvSpPr>
          <p:cNvPr id="490" name="Shape 490"/>
          <p:cNvSpPr/>
          <p:nvPr/>
        </p:nvSpPr>
        <p:spPr>
          <a:xfrm>
            <a:off x="2362920" y="1150000"/>
            <a:ext cx="1680000" cy="620000"/>
          </a:xfrm>
          <a:prstGeom prst="roundRect">
            <a:avLst>
              <a:gd name="adj" fmla="val 8000"/>
            </a:avLst>
          </a:prstGeom>
          <a:solidFill>
            <a:srgbClr val="EEEDFE"/>
          </a:solidFill>
          <a:ln w="15875">
            <a:solidFill>
              <a:srgbClr val="534AB7"/>
            </a:solidFill>
            <a:prstDash val="solid"/>
          </a:ln>
        </p:spPr>
      </p:sp>
      <p:sp>
        <p:nvSpPr>
          <p:cNvPr id="491" name="Text 491"/>
          <p:cNvSpPr/>
          <p:nvPr/>
        </p:nvSpPr>
        <p:spPr>
          <a:xfrm>
            <a:off x="2462920" y="1240000"/>
            <a:ext cx="1480000" cy="240000"/>
          </a:xfrm>
          <a:prstGeom prst="rect">
            <a:avLst/>
          </a:prstGeom>
          <a:noFill/>
          <a:ln/>
        </p:spPr>
        <p:txBody>
          <a:bodyPr wrap="square" lIns="0" tIns="0" rIns="0" bIns="0" rtlCol="0" anchor="t"/>
          <a:lstStyle/>
          <a:p>
            <a:pPr indent="0" marL="0">
              <a:buNone/>
            </a:pPr>
            <a:r>
              <a:rPr lang="en-US" sz="1050" b="1" dirty="0">
                <a:solidFill>
                  <a:srgbClr val="3B3491"/>
                </a:solidFill>
                <a:latin typeface="Arial" pitchFamily="34" charset="0"/>
                <a:ea typeface="Arial" pitchFamily="34" charset="-122"/>
                <a:cs typeface="Arial" pitchFamily="34" charset="-120"/>
              </a:rPr>
              <a:t>1st leg — map</a:t>
            </a:r>
          </a:p>
        </p:txBody>
      </p:sp>
      <p:sp>
        <p:nvSpPr>
          <p:cNvPr id="492" name="Text 492"/>
          <p:cNvSpPr/>
          <p:nvPr/>
        </p:nvSpPr>
        <p:spPr>
          <a:xfrm>
            <a:off x="2462920" y="1460000"/>
            <a:ext cx="1480000" cy="29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stockNo → stockLine.product · qty → quantity</a:t>
            </a:r>
          </a:p>
        </p:txBody>
      </p:sp>
      <p:sp>
        <p:nvSpPr>
          <p:cNvPr id="493" name="Arrow 493"/>
          <p:cNvSpPr/>
          <p:nvPr/>
        </p:nvSpPr>
        <p:spPr>
          <a:xfrm>
            <a:off x="2212920" y="1460000"/>
            <a:ext cx="120000" cy="1"/>
          </a:xfrm>
          <a:prstGeom prst="line">
            <a:avLst/>
          </a:prstGeom>
          <a:noFill/>
          <a:ln w="25400">
            <a:solidFill>
              <a:srgbClr val="1F3864"/>
            </a:solidFill>
            <a:prstDash val="solid"/>
            <a:headEnd type="none"/>
            <a:tailEnd type="triangle"/>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3"/>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4" name="Text 5"/>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p>
        </p:txBody>
      </p:sp>
      <p:sp>
        <p:nvSpPr>
          <p:cNvPr id="6" name="Text 7"/>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When it fails — three classes, three handling paths</a:t>
            </a:r>
          </a:p>
        </p:txBody>
      </p:sp>
      <p:sp>
        <p:nvSpPr>
          <p:cNvPr id="8" name="Shape 9"/>
          <p:cNvSpPr/>
          <p:nvPr/>
        </p:nvSpPr>
        <p:spPr>
          <a:xfrm>
            <a:off x="9591672" y="201168"/>
            <a:ext cx="1500000" cy="274320"/>
          </a:xfrm>
          <a:prstGeom prst="roundRect">
            <a:avLst>
              <a:gd name="adj" fmla="val 40000"/>
            </a:avLst>
          </a:prstGeom>
          <a:solidFill>
            <a:srgbClr val="E1F5EE"/>
          </a:solidFill>
          <a:ln w="12700">
            <a:solidFill>
              <a:srgbClr val="0F6E56"/>
            </a:solidFill>
            <a:prstDash val="solid"/>
          </a:ln>
        </p:spPr>
      </p:sp>
      <p:sp>
        <p:nvSpPr>
          <p:cNvPr id="10" name="Text 11"/>
          <p:cNvSpPr/>
          <p:nvPr/>
        </p:nvSpPr>
        <p:spPr>
          <a:xfrm>
            <a:off x="9591672" y="201168"/>
            <a:ext cx="1500000"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Operations</a:t>
            </a:r>
          </a:p>
        </p:txBody>
      </p:sp>
      <p:sp>
        <p:nvSpPr>
          <p:cNvPr id="12" name="Text 13"/>
          <p:cNvSpPr/>
          <p:nvPr/>
        </p:nvSpPr>
        <p:spPr>
          <a:xfrm>
            <a:off x="502920" y="676656"/>
            <a:ext cx="11201400" cy="320000"/>
          </a:xfrm>
          <a:prstGeom prst="rect">
            <a:avLst/>
          </a:prstGeom>
          <a:noFill/>
          <a:ln/>
        </p:spPr>
        <p:txBody>
          <a:bodyPr wrap="square" lIns="0" tIns="0" rIns="0" bIns="0" rtlCol="0" anchor="t"/>
          <a:lstStyle/>
          <a:p>
            <a:pPr indent="0" marL="0">
              <a:buNone/>
            </a:pPr>
            <a:r>
              <a:rPr lang="en-US" sz="1150" dirty="0">
                <a:solidFill>
                  <a:srgbClr val="595959"/>
                </a:solidFill>
                <a:latin typeface="Arial" pitchFamily="34" charset="0"/>
                <a:ea typeface="Arial" pitchFamily="34" charset="-122"/>
                <a:cs typeface="Arial" pitchFamily="34" charset="-120"/>
              </a:rPr>
              <a:t>The class assigned at the moment of failure decides everything that follows: whether the source system must act, who is emailed, and whether a ServiceNow ticket is raised. From the Incident Management, Exception Handling and Error Notification Framework v0.1.</a:t>
            </a:r>
          </a:p>
        </p:txBody>
      </p:sp>
      <p:sp>
        <p:nvSpPr>
          <p:cNvPr id="14" name="Text 15"/>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p>
        </p:txBody>
      </p:sp>
      <p:sp>
        <p:nvSpPr>
          <p:cNvPr id="16" name="Text 17"/>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p>
        </p:txBody>
      </p:sp>
      <p:sp>
        <p:nvSpPr>
          <p:cNvPr id="18" name="Shape 19"/>
          <p:cNvSpPr/>
          <p:nvPr/>
        </p:nvSpPr>
        <p:spPr>
          <a:xfrm>
            <a:off x="502920" y="1120000"/>
            <a:ext cx="11186160" cy="1500000"/>
          </a:xfrm>
          <a:prstGeom prst="roundRect">
            <a:avLst>
              <a:gd name="adj" fmla="val 3000"/>
            </a:avLst>
          </a:prstGeom>
          <a:solidFill>
            <a:srgbClr val="EEF2F8"/>
          </a:solidFill>
          <a:ln w="15875">
            <a:solidFill>
              <a:srgbClr val="1F3864"/>
            </a:solidFill>
            <a:prstDash val="solid"/>
          </a:ln>
        </p:spPr>
      </p:sp>
      <p:sp>
        <p:nvSpPr>
          <p:cNvPr id="20" name="Text 21"/>
          <p:cNvSpPr/>
          <p:nvPr/>
        </p:nvSpPr>
        <p:spPr>
          <a:xfrm>
            <a:off x="702920" y="1240000"/>
            <a:ext cx="2300000" cy="300000"/>
          </a:xfrm>
          <a:prstGeom prst="rect">
            <a:avLst/>
          </a:prstGeom>
          <a:noFill/>
          <a:ln/>
        </p:spPr>
        <p:txBody>
          <a:bodyPr wrap="square" lIns="0" tIns="0" rIns="0" bIns="0" rtlCol="0" anchor="t"/>
          <a:lstStyle/>
          <a:p>
            <a:pPr indent="0" marL="0">
              <a:buNone/>
            </a:pPr>
            <a:r>
              <a:rPr lang="en-US" sz="1100" b="1" dirty="0">
                <a:solidFill>
                  <a:srgbClr val="1F3864"/>
                </a:solidFill>
                <a:latin typeface="Arial" pitchFamily="34" charset="0"/>
                <a:ea typeface="Arial" pitchFamily="34" charset="-122"/>
                <a:cs typeface="Arial" pitchFamily="34" charset="-120"/>
              </a:rPr>
              <a:t>TECHNICAL — T1–T6</a:t>
            </a:r>
          </a:p>
        </p:txBody>
      </p:sp>
      <p:sp>
        <p:nvSpPr>
          <p:cNvPr id="22" name="Text 23"/>
          <p:cNvSpPr/>
          <p:nvPr/>
        </p:nvSpPr>
        <p:spPr>
          <a:xfrm>
            <a:off x="702920" y="1520000"/>
            <a:ext cx="2300000" cy="500000"/>
          </a:xfrm>
          <a:prstGeom prst="rect">
            <a:avLst/>
          </a:prstGeom>
          <a:noFill/>
          <a:ln/>
        </p:spPr>
        <p:txBody>
          <a:bodyPr wrap="square" lIns="0" tIns="0" rIns="0" bIns="0" rtlCol="0" anchor="t"/>
          <a:lstStyle/>
          <a:p>
            <a:pPr indent="0" marL="0">
              <a:buNone/>
            </a:pPr>
            <a:r>
              <a:rPr lang="en-US" sz="850" dirty="0">
                <a:solidFill>
                  <a:srgbClr val="1F3864"/>
                </a:solidFill>
                <a:latin typeface="Arial" pitchFamily="34" charset="0"/>
                <a:ea typeface="Arial" pitchFamily="34" charset="-122"/>
                <a:cs typeface="Arial" pitchFamily="34" charset="-120"/>
              </a:rPr>
              <a:t>GBIS Technical Operations · ServiceNow automatic</a:t>
            </a:r>
          </a:p>
        </p:txBody>
      </p:sp>
      <p:sp>
        <p:nvSpPr>
          <p:cNvPr id="24" name="Text 25"/>
          <p:cNvSpPr/>
          <p:nvPr/>
        </p:nvSpPr>
        <p:spPr>
          <a:xfrm>
            <a:off x="702920" y="2000000"/>
            <a:ext cx="2300000" cy="450000"/>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e.g. HTTP 503 from S/4 (T4), expired certificate (T2), queue full (T6)</a:t>
            </a:r>
          </a:p>
        </p:txBody>
      </p:sp>
      <p:sp>
        <p:nvSpPr>
          <p:cNvPr id="26" name="Shape 27"/>
          <p:cNvSpPr/>
          <p:nvPr/>
        </p:nvSpPr>
        <p:spPr>
          <a:xfrm>
            <a:off x="3220920" y="1270000"/>
            <a:ext cx="1900000" cy="760000"/>
          </a:xfrm>
          <a:prstGeom prst="roundRect">
            <a:avLst>
              <a:gd name="adj" fmla="val 6000"/>
            </a:avLst>
          </a:prstGeom>
          <a:solidFill>
            <a:srgbClr val="FFFFFF"/>
          </a:solidFill>
          <a:ln w="12700">
            <a:solidFill>
              <a:srgbClr val="1F3864"/>
            </a:solidFill>
            <a:prstDash val="solid"/>
          </a:ln>
        </p:spPr>
      </p:sp>
      <p:sp>
        <p:nvSpPr>
          <p:cNvPr id="28" name="Text 29"/>
          <p:cNvSpPr/>
          <p:nvPr/>
        </p:nvSpPr>
        <p:spPr>
          <a:xfrm>
            <a:off x="3330920" y="1360000"/>
            <a:ext cx="1680000" cy="30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Message safe in JMS</a:t>
            </a:r>
          </a:p>
        </p:txBody>
      </p:sp>
      <p:sp>
        <p:nvSpPr>
          <p:cNvPr id="30" name="Text 31"/>
          <p:cNvSpPr/>
          <p:nvPr/>
        </p:nvSpPr>
        <p:spPr>
          <a:xfrm>
            <a:off x="3330920" y="1650000"/>
            <a:ext cx="1680000" cy="32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stored before the 202 receipt</a:t>
            </a:r>
          </a:p>
        </p:txBody>
      </p:sp>
      <p:sp>
        <p:nvSpPr>
          <p:cNvPr id="32" name="Arrow 33"/>
          <p:cNvSpPr/>
          <p:nvPr/>
        </p:nvSpPr>
        <p:spPr>
          <a:xfrm>
            <a:off x="5135920" y="1650000"/>
            <a:ext cx="130000" cy="1"/>
          </a:xfrm>
          <a:prstGeom prst="line">
            <a:avLst/>
          </a:prstGeom>
          <a:noFill/>
          <a:ln w="25400">
            <a:solidFill>
              <a:srgbClr val="1F3864"/>
            </a:solidFill>
            <a:prstDash val="solid"/>
            <a:headEnd type="none"/>
            <a:tailEnd type="triangle"/>
          </a:ln>
        </p:spPr>
      </p:sp>
      <p:sp>
        <p:nvSpPr>
          <p:cNvPr id="34" name="Shape 35"/>
          <p:cNvSpPr/>
          <p:nvPr/>
        </p:nvSpPr>
        <p:spPr>
          <a:xfrm>
            <a:off x="5280920" y="1270000"/>
            <a:ext cx="1900000" cy="760000"/>
          </a:xfrm>
          <a:prstGeom prst="roundRect">
            <a:avLst>
              <a:gd name="adj" fmla="val 6000"/>
            </a:avLst>
          </a:prstGeom>
          <a:solidFill>
            <a:srgbClr val="FFFFFF"/>
          </a:solidFill>
          <a:ln w="12700">
            <a:solidFill>
              <a:srgbClr val="1F3864"/>
            </a:solidFill>
            <a:prstDash val="solid"/>
          </a:ln>
        </p:spPr>
      </p:sp>
      <p:sp>
        <p:nvSpPr>
          <p:cNvPr id="36" name="Text 37"/>
          <p:cNvSpPr/>
          <p:nvPr/>
        </p:nvSpPr>
        <p:spPr>
          <a:xfrm>
            <a:off x="5390920" y="1360000"/>
            <a:ext cx="1680000" cy="30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CPI retries alone</a:t>
            </a:r>
          </a:p>
        </p:txBody>
      </p:sp>
      <p:sp>
        <p:nvSpPr>
          <p:cNvPr id="38" name="Text 39"/>
          <p:cNvSpPr/>
          <p:nvPr/>
        </p:nvSpPr>
        <p:spPr>
          <a:xfrm>
            <a:off x="5390920" y="1650000"/>
            <a:ext cx="1680000" cy="32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growing wait times until it returns</a:t>
            </a:r>
          </a:p>
        </p:txBody>
      </p:sp>
      <p:sp>
        <p:nvSpPr>
          <p:cNvPr id="40" name="Arrow 41"/>
          <p:cNvSpPr/>
          <p:nvPr/>
        </p:nvSpPr>
        <p:spPr>
          <a:xfrm>
            <a:off x="7195920" y="1650000"/>
            <a:ext cx="130000" cy="1"/>
          </a:xfrm>
          <a:prstGeom prst="line">
            <a:avLst/>
          </a:prstGeom>
          <a:noFill/>
          <a:ln w="25400">
            <a:solidFill>
              <a:srgbClr val="1F3864"/>
            </a:solidFill>
            <a:prstDash val="solid"/>
            <a:headEnd type="none"/>
            <a:tailEnd type="triangle"/>
          </a:ln>
        </p:spPr>
      </p:sp>
      <p:sp>
        <p:nvSpPr>
          <p:cNvPr id="42" name="Shape 43"/>
          <p:cNvSpPr/>
          <p:nvPr/>
        </p:nvSpPr>
        <p:spPr>
          <a:xfrm>
            <a:off x="7340920" y="1270000"/>
            <a:ext cx="1900000" cy="760000"/>
          </a:xfrm>
          <a:prstGeom prst="roundRect">
            <a:avLst>
              <a:gd name="adj" fmla="val 6000"/>
            </a:avLst>
          </a:prstGeom>
          <a:solidFill>
            <a:srgbClr val="FFFFFF"/>
          </a:solidFill>
          <a:ln w="12700">
            <a:solidFill>
              <a:srgbClr val="1F3864"/>
            </a:solidFill>
            <a:prstDash val="solid"/>
          </a:ln>
        </p:spPr>
      </p:sp>
      <p:sp>
        <p:nvSpPr>
          <p:cNvPr id="44" name="Text 45"/>
          <p:cNvSpPr/>
          <p:nvPr/>
        </p:nvSpPr>
        <p:spPr>
          <a:xfrm>
            <a:off x="7450920" y="1360000"/>
            <a:ext cx="1680000" cy="30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Posts on a later retry</a:t>
            </a:r>
          </a:p>
        </p:txBody>
      </p:sp>
      <p:sp>
        <p:nvSpPr>
          <p:cNvPr id="46" name="Text 47"/>
          <p:cNvSpPr/>
          <p:nvPr/>
        </p:nvSpPr>
        <p:spPr>
          <a:xfrm>
            <a:off x="7450920" y="1650000"/>
            <a:ext cx="1680000" cy="32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SUCCEEDED answer, after the delay</a:t>
            </a:r>
          </a:p>
        </p:txBody>
      </p:sp>
      <p:sp>
        <p:nvSpPr>
          <p:cNvPr id="48" name="Arrow 49"/>
          <p:cNvSpPr/>
          <p:nvPr/>
        </p:nvSpPr>
        <p:spPr>
          <a:xfrm>
            <a:off x="9255920" y="1650000"/>
            <a:ext cx="130000" cy="1"/>
          </a:xfrm>
          <a:prstGeom prst="line">
            <a:avLst/>
          </a:prstGeom>
          <a:noFill/>
          <a:ln w="25400">
            <a:solidFill>
              <a:srgbClr val="1F3864"/>
            </a:solidFill>
            <a:prstDash val="solid"/>
            <a:headEnd type="none"/>
            <a:tailEnd type="triangle"/>
          </a:ln>
        </p:spPr>
      </p:sp>
      <p:sp>
        <p:nvSpPr>
          <p:cNvPr id="50" name="Shape 51"/>
          <p:cNvSpPr/>
          <p:nvPr/>
        </p:nvSpPr>
        <p:spPr>
          <a:xfrm>
            <a:off x="9400920" y="1270000"/>
            <a:ext cx="1900000" cy="760000"/>
          </a:xfrm>
          <a:prstGeom prst="roundRect">
            <a:avLst>
              <a:gd name="adj" fmla="val 6000"/>
            </a:avLst>
          </a:prstGeom>
          <a:solidFill>
            <a:srgbClr val="FFFFFF"/>
          </a:solidFill>
          <a:ln w="12700">
            <a:solidFill>
              <a:srgbClr val="1F3864"/>
            </a:solidFill>
            <a:prstDash val="solid"/>
          </a:ln>
        </p:spPr>
      </p:sp>
      <p:sp>
        <p:nvSpPr>
          <p:cNvPr id="52" name="Text 53"/>
          <p:cNvSpPr/>
          <p:nvPr/>
        </p:nvSpPr>
        <p:spPr>
          <a:xfrm>
            <a:off x="9510920" y="1360000"/>
            <a:ext cx="1680000" cy="30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Only if retries run out</a:t>
            </a:r>
          </a:p>
        </p:txBody>
      </p:sp>
      <p:sp>
        <p:nvSpPr>
          <p:cNvPr id="54" name="Text 55"/>
          <p:cNvSpPr/>
          <p:nvPr/>
        </p:nvSpPr>
        <p:spPr>
          <a:xfrm>
            <a:off x="9510920" y="1650000"/>
            <a:ext cx="1680000" cy="32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email + auto ServiceNow ticket (PROD)</a:t>
            </a:r>
          </a:p>
        </p:txBody>
      </p:sp>
      <p:sp>
        <p:nvSpPr>
          <p:cNvPr id="56" name="Text 57"/>
          <p:cNvSpPr/>
          <p:nvPr/>
        </p:nvSpPr>
        <p:spPr>
          <a:xfrm>
            <a:off x="3220920" y="2130000"/>
            <a:ext cx="8280000" cy="420000"/>
          </a:xfrm>
          <a:prstGeom prst="rect">
            <a:avLst/>
          </a:prstGeom>
          <a:noFill/>
          <a:ln/>
        </p:spPr>
        <p:txBody>
          <a:bodyPr wrap="square" lIns="0" tIns="0" rIns="0" bIns="0" rtlCol="0" anchor="t"/>
          <a:lstStyle/>
          <a:p>
            <a:pPr indent="0" marL="0">
              <a:buNone/>
            </a:pPr>
            <a:r>
              <a:rPr lang="en-US" sz="850" dirty="0">
                <a:solidFill>
                  <a:srgbClr val="444444"/>
                </a:solidFill>
                <a:latin typeface="Arial" pitchFamily="34" charset="0"/>
                <a:ea typeface="Arial" pitchFamily="34" charset="-122"/>
                <a:cs typeface="Arial" pitchFamily="34" charset="-120"/>
              </a:rPr>
              <a:t>The source system sees nothing but a slightly later final answer — it never resends. The alert fires only when all retries are used up, not on every attempt.</a:t>
            </a:r>
          </a:p>
        </p:txBody>
      </p:sp>
      <p:sp>
        <p:nvSpPr>
          <p:cNvPr id="58" name="Shape 59"/>
          <p:cNvSpPr/>
          <p:nvPr/>
        </p:nvSpPr>
        <p:spPr>
          <a:xfrm>
            <a:off x="502920" y="2800000"/>
            <a:ext cx="11186160" cy="1500000"/>
          </a:xfrm>
          <a:prstGeom prst="roundRect">
            <a:avLst>
              <a:gd name="adj" fmla="val 3000"/>
            </a:avLst>
          </a:prstGeom>
          <a:solidFill>
            <a:srgbClr val="FBEAF0"/>
          </a:solidFill>
          <a:ln w="15875">
            <a:solidFill>
              <a:srgbClr val="993556"/>
            </a:solidFill>
            <a:prstDash val="solid"/>
          </a:ln>
        </p:spPr>
      </p:sp>
      <p:sp>
        <p:nvSpPr>
          <p:cNvPr id="60" name="Text 61"/>
          <p:cNvSpPr/>
          <p:nvPr/>
        </p:nvSpPr>
        <p:spPr>
          <a:xfrm>
            <a:off x="702920" y="2920000"/>
            <a:ext cx="2300000" cy="300000"/>
          </a:xfrm>
          <a:prstGeom prst="rect">
            <a:avLst/>
          </a:prstGeom>
          <a:noFill/>
          <a:ln/>
        </p:spPr>
        <p:txBody>
          <a:bodyPr wrap="square" lIns="0" tIns="0" rIns="0" bIns="0" rtlCol="0" anchor="t"/>
          <a:lstStyle/>
          <a:p>
            <a:pPr indent="0" marL="0">
              <a:buNone/>
            </a:pPr>
            <a:r>
              <a:rPr lang="en-US" sz="1100" b="1" dirty="0">
                <a:solidFill>
                  <a:srgbClr val="72243E"/>
                </a:solidFill>
                <a:latin typeface="Arial" pitchFamily="34" charset="0"/>
                <a:ea typeface="Arial" pitchFamily="34" charset="-122"/>
                <a:cs typeface="Arial" pitchFamily="34" charset="-120"/>
              </a:rPr>
              <a:t>BUSINESS / DATA — B1–B4</a:t>
            </a:r>
          </a:p>
        </p:txBody>
      </p:sp>
      <p:sp>
        <p:nvSpPr>
          <p:cNvPr id="62" name="Text 63"/>
          <p:cNvSpPr/>
          <p:nvPr/>
        </p:nvSpPr>
        <p:spPr>
          <a:xfrm>
            <a:off x="702920" y="3200000"/>
            <a:ext cx="2300000" cy="500000"/>
          </a:xfrm>
          <a:prstGeom prst="rect">
            <a:avLst/>
          </a:prstGeom>
          <a:noFill/>
          <a:ln/>
        </p:spPr>
        <p:txBody>
          <a:bodyPr wrap="square" lIns="0" tIns="0" rIns="0" bIns="0" rtlCol="0" anchor="t"/>
          <a:lstStyle/>
          <a:p>
            <a:pPr indent="0" marL="0">
              <a:buNone/>
            </a:pPr>
            <a:r>
              <a:rPr lang="en-US" sz="850" dirty="0">
                <a:solidFill>
                  <a:srgbClr val="72243E"/>
                </a:solidFill>
                <a:latin typeface="Arial" pitchFamily="34" charset="0"/>
                <a:ea typeface="Arial" pitchFamily="34" charset="-122"/>
                <a:cs typeface="Arial" pitchFamily="34" charset="-120"/>
              </a:rPr>
              <a:t>Business area owns · corrected at source · no ticket by default</a:t>
            </a:r>
          </a:p>
        </p:txBody>
      </p:sp>
      <p:sp>
        <p:nvSpPr>
          <p:cNvPr id="64" name="Text 65"/>
          <p:cNvSpPr/>
          <p:nvPr/>
        </p:nvSpPr>
        <p:spPr>
          <a:xfrm>
            <a:off x="702920" y="3680000"/>
            <a:ext cx="2300000" cy="450000"/>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e.g. "Cost center 3050 not found" (B1), WBS closed for posting (B3), duplicate ID (B4)</a:t>
            </a:r>
          </a:p>
        </p:txBody>
      </p:sp>
      <p:sp>
        <p:nvSpPr>
          <p:cNvPr id="66" name="Shape 67"/>
          <p:cNvSpPr/>
          <p:nvPr/>
        </p:nvSpPr>
        <p:spPr>
          <a:xfrm>
            <a:off x="3220920" y="2950000"/>
            <a:ext cx="1900000" cy="760000"/>
          </a:xfrm>
          <a:prstGeom prst="roundRect">
            <a:avLst>
              <a:gd name="adj" fmla="val 6000"/>
            </a:avLst>
          </a:prstGeom>
          <a:solidFill>
            <a:srgbClr val="FFFFFF"/>
          </a:solidFill>
          <a:ln w="12700">
            <a:solidFill>
              <a:srgbClr val="993556"/>
            </a:solidFill>
            <a:prstDash val="solid"/>
          </a:ln>
        </p:spPr>
      </p:sp>
      <p:sp>
        <p:nvSpPr>
          <p:cNvPr id="68" name="Text 69"/>
          <p:cNvSpPr/>
          <p:nvPr/>
        </p:nvSpPr>
        <p:spPr>
          <a:xfrm>
            <a:off x="3330920" y="3040000"/>
            <a:ext cx="1680000" cy="300000"/>
          </a:xfrm>
          <a:prstGeom prst="rect">
            <a:avLst/>
          </a:prstGeom>
          <a:noFill/>
          <a:ln/>
        </p:spPr>
        <p:txBody>
          <a:bodyPr wrap="square" lIns="0" tIns="0" rIns="0" bIns="0" rtlCol="0" anchor="t"/>
          <a:lstStyle/>
          <a:p>
            <a:pPr indent="0" marL="0">
              <a:buNone/>
            </a:pPr>
            <a:r>
              <a:rPr lang="en-US" sz="900" b="1" dirty="0">
                <a:solidFill>
                  <a:srgbClr val="72243E"/>
                </a:solidFill>
                <a:latin typeface="Arial" pitchFamily="34" charset="0"/>
                <a:ea typeface="Arial" pitchFamily="34" charset="-122"/>
                <a:cs typeface="Arial" pitchFamily="34" charset="-120"/>
              </a:rPr>
              <a:t>S/4 rejects the post</a:t>
            </a:r>
          </a:p>
        </p:txBody>
      </p:sp>
      <p:sp>
        <p:nvSpPr>
          <p:cNvPr id="70" name="Text 71"/>
          <p:cNvSpPr/>
          <p:nvPr/>
        </p:nvSpPr>
        <p:spPr>
          <a:xfrm>
            <a:off x="3330920" y="3330000"/>
            <a:ext cx="1680000" cy="32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rejection (HTTP 4xx) with SAP's message</a:t>
            </a:r>
          </a:p>
        </p:txBody>
      </p:sp>
      <p:sp>
        <p:nvSpPr>
          <p:cNvPr id="72" name="Arrow 73"/>
          <p:cNvSpPr/>
          <p:nvPr/>
        </p:nvSpPr>
        <p:spPr>
          <a:xfrm>
            <a:off x="5135920" y="3330000"/>
            <a:ext cx="130000" cy="1"/>
          </a:xfrm>
          <a:prstGeom prst="line">
            <a:avLst/>
          </a:prstGeom>
          <a:noFill/>
          <a:ln w="25400">
            <a:solidFill>
              <a:srgbClr val="993556"/>
            </a:solidFill>
            <a:prstDash val="solid"/>
            <a:headEnd type="none"/>
            <a:tailEnd type="triangle"/>
          </a:ln>
        </p:spPr>
      </p:sp>
      <p:sp>
        <p:nvSpPr>
          <p:cNvPr id="74" name="Shape 75"/>
          <p:cNvSpPr/>
          <p:nvPr/>
        </p:nvSpPr>
        <p:spPr>
          <a:xfrm>
            <a:off x="5280920" y="2950000"/>
            <a:ext cx="1900000" cy="760000"/>
          </a:xfrm>
          <a:prstGeom prst="roundRect">
            <a:avLst>
              <a:gd name="adj" fmla="val 6000"/>
            </a:avLst>
          </a:prstGeom>
          <a:solidFill>
            <a:srgbClr val="FFFFFF"/>
          </a:solidFill>
          <a:ln w="12700">
            <a:solidFill>
              <a:srgbClr val="993556"/>
            </a:solidFill>
            <a:prstDash val="solid"/>
          </a:ln>
        </p:spPr>
      </p:sp>
      <p:sp>
        <p:nvSpPr>
          <p:cNvPr id="76" name="Text 77"/>
          <p:cNvSpPr/>
          <p:nvPr/>
        </p:nvSpPr>
        <p:spPr>
          <a:xfrm>
            <a:off x="5390920" y="3040000"/>
            <a:ext cx="1680000" cy="300000"/>
          </a:xfrm>
          <a:prstGeom prst="rect">
            <a:avLst/>
          </a:prstGeom>
          <a:noFill/>
          <a:ln/>
        </p:spPr>
        <p:txBody>
          <a:bodyPr wrap="square" lIns="0" tIns="0" rIns="0" bIns="0" rtlCol="0" anchor="t"/>
          <a:lstStyle/>
          <a:p>
            <a:pPr indent="0" marL="0">
              <a:buNone/>
            </a:pPr>
            <a:r>
              <a:rPr lang="en-US" sz="900" b="1" dirty="0">
                <a:solidFill>
                  <a:srgbClr val="72243E"/>
                </a:solidFill>
                <a:latin typeface="Arial" pitchFamily="34" charset="0"/>
                <a:ea typeface="Arial" pitchFamily="34" charset="-122"/>
                <a:cs typeface="Arial" pitchFamily="34" charset="-120"/>
              </a:rPr>
              <a:t>Classified B1–B4</a:t>
            </a:r>
          </a:p>
        </p:txBody>
      </p:sp>
      <p:sp>
        <p:nvSpPr>
          <p:cNvPr id="78" name="Text 79"/>
          <p:cNvSpPr/>
          <p:nvPr/>
        </p:nvSpPr>
        <p:spPr>
          <a:xfrm>
            <a:off x="5390920" y="3330000"/>
            <a:ext cx="1680000" cy="32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the record is wrong, not the system</a:t>
            </a:r>
          </a:p>
        </p:txBody>
      </p:sp>
      <p:sp>
        <p:nvSpPr>
          <p:cNvPr id="80" name="Arrow 81"/>
          <p:cNvSpPr/>
          <p:nvPr/>
        </p:nvSpPr>
        <p:spPr>
          <a:xfrm>
            <a:off x="7195920" y="3330000"/>
            <a:ext cx="130000" cy="1"/>
          </a:xfrm>
          <a:prstGeom prst="line">
            <a:avLst/>
          </a:prstGeom>
          <a:noFill/>
          <a:ln w="25400">
            <a:solidFill>
              <a:srgbClr val="993556"/>
            </a:solidFill>
            <a:prstDash val="solid"/>
            <a:headEnd type="none"/>
            <a:tailEnd type="triangle"/>
          </a:ln>
        </p:spPr>
      </p:sp>
      <p:sp>
        <p:nvSpPr>
          <p:cNvPr id="82" name="Shape 83"/>
          <p:cNvSpPr/>
          <p:nvPr/>
        </p:nvSpPr>
        <p:spPr>
          <a:xfrm>
            <a:off x="7340920" y="2950000"/>
            <a:ext cx="1900000" cy="760000"/>
          </a:xfrm>
          <a:prstGeom prst="roundRect">
            <a:avLst>
              <a:gd name="adj" fmla="val 6000"/>
            </a:avLst>
          </a:prstGeom>
          <a:solidFill>
            <a:srgbClr val="FFFFFF"/>
          </a:solidFill>
          <a:ln w="12700">
            <a:solidFill>
              <a:srgbClr val="993556"/>
            </a:solidFill>
            <a:prstDash val="solid"/>
          </a:ln>
        </p:spPr>
      </p:sp>
      <p:sp>
        <p:nvSpPr>
          <p:cNvPr id="84" name="Text 85"/>
          <p:cNvSpPr/>
          <p:nvPr/>
        </p:nvSpPr>
        <p:spPr>
          <a:xfrm>
            <a:off x="7450920" y="3040000"/>
            <a:ext cx="1680000" cy="300000"/>
          </a:xfrm>
          <a:prstGeom prst="rect">
            <a:avLst/>
          </a:prstGeom>
          <a:noFill/>
          <a:ln/>
        </p:spPr>
        <p:txBody>
          <a:bodyPr wrap="square" lIns="0" tIns="0" rIns="0" bIns="0" rtlCol="0" anchor="t"/>
          <a:lstStyle/>
          <a:p>
            <a:pPr indent="0" marL="0">
              <a:buNone/>
            </a:pPr>
            <a:r>
              <a:rPr lang="en-US" sz="900" b="1" dirty="0">
                <a:solidFill>
                  <a:srgbClr val="72243E"/>
                </a:solidFill>
                <a:latin typeface="Arial" pitchFamily="34" charset="0"/>
                <a:ea typeface="Arial" pitchFamily="34" charset="-122"/>
                <a:cs typeface="Arial" pitchFamily="34" charset="-120"/>
              </a:rPr>
              <a:t>FAILED answer to FSM</a:t>
            </a:r>
          </a:p>
        </p:txBody>
      </p:sp>
      <p:sp>
        <p:nvSpPr>
          <p:cNvPr id="86" name="Text 87"/>
          <p:cNvSpPr/>
          <p:nvPr/>
        </p:nvSpPr>
        <p:spPr>
          <a:xfrm>
            <a:off x="7450920" y="3330000"/>
            <a:ext cx="1680000" cy="32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SAP message text + correlationId</a:t>
            </a:r>
          </a:p>
        </p:txBody>
      </p:sp>
      <p:sp>
        <p:nvSpPr>
          <p:cNvPr id="88" name="Arrow 89"/>
          <p:cNvSpPr/>
          <p:nvPr/>
        </p:nvSpPr>
        <p:spPr>
          <a:xfrm>
            <a:off x="9255920" y="3330000"/>
            <a:ext cx="130000" cy="1"/>
          </a:xfrm>
          <a:prstGeom prst="line">
            <a:avLst/>
          </a:prstGeom>
          <a:noFill/>
          <a:ln w="25400">
            <a:solidFill>
              <a:srgbClr val="993556"/>
            </a:solidFill>
            <a:prstDash val="solid"/>
            <a:headEnd type="none"/>
            <a:tailEnd type="triangle"/>
          </a:ln>
        </p:spPr>
      </p:sp>
      <p:sp>
        <p:nvSpPr>
          <p:cNvPr id="90" name="Shape 91"/>
          <p:cNvSpPr/>
          <p:nvPr/>
        </p:nvSpPr>
        <p:spPr>
          <a:xfrm>
            <a:off x="9400920" y="2950000"/>
            <a:ext cx="1900000" cy="760000"/>
          </a:xfrm>
          <a:prstGeom prst="roundRect">
            <a:avLst>
              <a:gd name="adj" fmla="val 6000"/>
            </a:avLst>
          </a:prstGeom>
          <a:solidFill>
            <a:srgbClr val="FFFFFF"/>
          </a:solidFill>
          <a:ln w="12700">
            <a:solidFill>
              <a:srgbClr val="993556"/>
            </a:solidFill>
            <a:prstDash val="solid"/>
          </a:ln>
        </p:spPr>
      </p:sp>
      <p:sp>
        <p:nvSpPr>
          <p:cNvPr id="92" name="Text 93"/>
          <p:cNvSpPr/>
          <p:nvPr/>
        </p:nvSpPr>
        <p:spPr>
          <a:xfrm>
            <a:off x="9510920" y="3040000"/>
            <a:ext cx="1680000" cy="300000"/>
          </a:xfrm>
          <a:prstGeom prst="rect">
            <a:avLst/>
          </a:prstGeom>
          <a:noFill/>
          <a:ln/>
        </p:spPr>
        <p:txBody>
          <a:bodyPr wrap="square" lIns="0" tIns="0" rIns="0" bIns="0" rtlCol="0" anchor="t"/>
          <a:lstStyle/>
          <a:p>
            <a:pPr indent="0" marL="0">
              <a:buNone/>
            </a:pPr>
            <a:r>
              <a:rPr lang="en-US" sz="900" b="1" dirty="0">
                <a:solidFill>
                  <a:srgbClr val="72243E"/>
                </a:solidFill>
                <a:latin typeface="Arial" pitchFamily="34" charset="0"/>
                <a:ea typeface="Arial" pitchFamily="34" charset="-122"/>
                <a:cs typeface="Arial" pitchFamily="34" charset="-120"/>
              </a:rPr>
              <a:t>Fix at source, resend</a:t>
            </a:r>
          </a:p>
        </p:txBody>
      </p:sp>
      <p:sp>
        <p:nvSpPr>
          <p:cNvPr id="94" name="Text 95"/>
          <p:cNvSpPr/>
          <p:nvPr/>
        </p:nvSpPr>
        <p:spPr>
          <a:xfrm>
            <a:off x="9510920" y="3330000"/>
            <a:ext cx="1680000" cy="32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always with a NEW transaction ID</a:t>
            </a:r>
          </a:p>
        </p:txBody>
      </p:sp>
      <p:sp>
        <p:nvSpPr>
          <p:cNvPr id="96" name="Text 97"/>
          <p:cNvSpPr/>
          <p:nvPr/>
        </p:nvSpPr>
        <p:spPr>
          <a:xfrm>
            <a:off x="3220920" y="3810000"/>
            <a:ext cx="8280000" cy="420000"/>
          </a:xfrm>
          <a:prstGeom prst="rect">
            <a:avLst/>
          </a:prstGeom>
          <a:noFill/>
          <a:ln/>
        </p:spPr>
        <p:txBody>
          <a:bodyPr wrap="square" lIns="0" tIns="0" rIns="0" bIns="0" rtlCol="0" anchor="t"/>
          <a:lstStyle/>
          <a:p>
            <a:pPr indent="0" marL="0">
              <a:buNone/>
            </a:pPr>
            <a:r>
              <a:rPr lang="en-US" sz="850" dirty="0">
                <a:solidFill>
                  <a:srgbClr val="444444"/>
                </a:solidFill>
                <a:latin typeface="Arial" pitchFamily="34" charset="0"/>
                <a:ea typeface="Arial" pitchFamily="34" charset="-122"/>
                <a:cs typeface="Arial" pitchFamily="34" charset="-120"/>
              </a:rPr>
              <a:t>Email to the area list (Finance, Field Services, …), cc the technical list. No ticket — a data correction. Never replayed unfixed. Door rejections (slide 11's gates) end the same way: immediate 400, never queued.</a:t>
            </a:r>
          </a:p>
        </p:txBody>
      </p:sp>
      <p:sp>
        <p:nvSpPr>
          <p:cNvPr id="98" name="Shape 99"/>
          <p:cNvSpPr/>
          <p:nvPr/>
        </p:nvSpPr>
        <p:spPr>
          <a:xfrm>
            <a:off x="502920" y="4480000"/>
            <a:ext cx="11186160" cy="1500000"/>
          </a:xfrm>
          <a:prstGeom prst="roundRect">
            <a:avLst>
              <a:gd name="adj" fmla="val 3000"/>
            </a:avLst>
          </a:prstGeom>
          <a:solidFill>
            <a:srgbClr val="EEEDFE"/>
          </a:solidFill>
          <a:ln w="15875">
            <a:solidFill>
              <a:srgbClr val="534AB7"/>
            </a:solidFill>
            <a:prstDash val="solid"/>
          </a:ln>
        </p:spPr>
      </p:sp>
      <p:sp>
        <p:nvSpPr>
          <p:cNvPr id="100" name="Text 101"/>
          <p:cNvSpPr/>
          <p:nvPr/>
        </p:nvSpPr>
        <p:spPr>
          <a:xfrm>
            <a:off x="702920" y="4600000"/>
            <a:ext cx="2300000" cy="300000"/>
          </a:xfrm>
          <a:prstGeom prst="rect">
            <a:avLst/>
          </a:prstGeom>
          <a:noFill/>
          <a:ln/>
        </p:spPr>
        <p:txBody>
          <a:bodyPr wrap="square" lIns="0" tIns="0" rIns="0" bIns="0" rtlCol="0" anchor="t"/>
          <a:lstStyle/>
          <a:p>
            <a:pPr indent="0" marL="0">
              <a:buNone/>
            </a:pPr>
            <a:r>
              <a:rPr lang="en-US" sz="1100" b="1" dirty="0">
                <a:solidFill>
                  <a:srgbClr val="3B3491"/>
                </a:solidFill>
                <a:latin typeface="Arial" pitchFamily="34" charset="0"/>
                <a:ea typeface="Arial" pitchFamily="34" charset="-122"/>
                <a:cs typeface="Arial" pitchFamily="34" charset="-120"/>
              </a:rPr>
              <a:t>FUNCTIONAL — F1–F3</a:t>
            </a:r>
          </a:p>
        </p:txBody>
      </p:sp>
      <p:sp>
        <p:nvSpPr>
          <p:cNvPr id="102" name="Text 103"/>
          <p:cNvSpPr/>
          <p:nvPr/>
        </p:nvSpPr>
        <p:spPr>
          <a:xfrm>
            <a:off x="702920" y="4880000"/>
            <a:ext cx="2300000" cy="500000"/>
          </a:xfrm>
          <a:prstGeom prst="rect">
            <a:avLst/>
          </a:prstGeom>
          <a:noFill/>
          <a:ln/>
        </p:spPr>
        <p:txBody>
          <a:bodyPr wrap="square" lIns="0" tIns="0" rIns="0" bIns="0" rtlCol="0" anchor="t"/>
          <a:lstStyle/>
          <a:p>
            <a:pPr indent="0" marL="0">
              <a:buNone/>
            </a:pPr>
            <a:r>
              <a:rPr lang="en-US" sz="850" dirty="0">
                <a:solidFill>
                  <a:srgbClr val="3B3491"/>
                </a:solidFill>
                <a:latin typeface="Arial" pitchFamily="34" charset="0"/>
                <a:ea typeface="Arial" pitchFamily="34" charset="-122"/>
                <a:cs typeface="Arial" pitchFamily="34" charset="-120"/>
              </a:rPr>
              <a:t>Functional support (Deloitte AMS, SSL review) · ServiceNow P3</a:t>
            </a:r>
          </a:p>
        </p:txBody>
      </p:sp>
      <p:sp>
        <p:nvSpPr>
          <p:cNvPr id="104" name="Text 105"/>
          <p:cNvSpPr/>
          <p:nvPr/>
        </p:nvSpPr>
        <p:spPr>
          <a:xfrm>
            <a:off x="702920" y="5360000"/>
            <a:ext cx="2300000" cy="450000"/>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e.g. value missing from central mapping (F1), posting rule gap (F2)</a:t>
            </a:r>
          </a:p>
        </p:txBody>
      </p:sp>
      <p:sp>
        <p:nvSpPr>
          <p:cNvPr id="106" name="Shape 107"/>
          <p:cNvSpPr/>
          <p:nvPr/>
        </p:nvSpPr>
        <p:spPr>
          <a:xfrm>
            <a:off x="3220920" y="4630000"/>
            <a:ext cx="1900000" cy="760000"/>
          </a:xfrm>
          <a:prstGeom prst="roundRect">
            <a:avLst>
              <a:gd name="adj" fmla="val 6000"/>
            </a:avLst>
          </a:prstGeom>
          <a:solidFill>
            <a:srgbClr val="FFFFFF"/>
          </a:solidFill>
          <a:ln w="12700">
            <a:solidFill>
              <a:srgbClr val="534AB7"/>
            </a:solidFill>
            <a:prstDash val="solid"/>
          </a:ln>
        </p:spPr>
      </p:sp>
      <p:sp>
        <p:nvSpPr>
          <p:cNvPr id="108" name="Text 109"/>
          <p:cNvSpPr/>
          <p:nvPr/>
        </p:nvSpPr>
        <p:spPr>
          <a:xfrm>
            <a:off x="3330920" y="4720000"/>
            <a:ext cx="1680000" cy="300000"/>
          </a:xfrm>
          <a:prstGeom prst="rect">
            <a:avLst/>
          </a:prstGeom>
          <a:noFill/>
          <a:ln/>
        </p:spPr>
        <p:txBody>
          <a:bodyPr wrap="square" lIns="0" tIns="0" rIns="0" bIns="0" rtlCol="0" anchor="t"/>
          <a:lstStyle/>
          <a:p>
            <a:pPr indent="0" marL="0">
              <a:buNone/>
            </a:pPr>
            <a:r>
              <a:rPr lang="en-US" sz="900" b="1" dirty="0">
                <a:solidFill>
                  <a:srgbClr val="3B3491"/>
                </a:solidFill>
                <a:latin typeface="Arial" pitchFamily="34" charset="0"/>
                <a:ea typeface="Arial" pitchFamily="34" charset="-122"/>
                <a:cs typeface="Arial" pitchFamily="34" charset="-120"/>
              </a:rPr>
              <a:t>Same failure repeats</a:t>
            </a:r>
          </a:p>
        </p:txBody>
      </p:sp>
      <p:sp>
        <p:nvSpPr>
          <p:cNvPr id="110" name="Text 111"/>
          <p:cNvSpPr/>
          <p:nvPr/>
        </p:nvSpPr>
        <p:spPr>
          <a:xfrm>
            <a:off x="3330920" y="5010000"/>
            <a:ext cx="1680000" cy="32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identical rejections across records</a:t>
            </a:r>
          </a:p>
        </p:txBody>
      </p:sp>
      <p:sp>
        <p:nvSpPr>
          <p:cNvPr id="112" name="Arrow 113"/>
          <p:cNvSpPr/>
          <p:nvPr/>
        </p:nvSpPr>
        <p:spPr>
          <a:xfrm>
            <a:off x="5135920" y="5010000"/>
            <a:ext cx="130000" cy="1"/>
          </a:xfrm>
          <a:prstGeom prst="line">
            <a:avLst/>
          </a:prstGeom>
          <a:noFill/>
          <a:ln w="25400">
            <a:solidFill>
              <a:srgbClr val="534AB7"/>
            </a:solidFill>
            <a:prstDash val="solid"/>
            <a:headEnd type="none"/>
            <a:tailEnd type="triangle"/>
          </a:ln>
        </p:spPr>
      </p:sp>
      <p:sp>
        <p:nvSpPr>
          <p:cNvPr id="114" name="Shape 115"/>
          <p:cNvSpPr/>
          <p:nvPr/>
        </p:nvSpPr>
        <p:spPr>
          <a:xfrm>
            <a:off x="5280920" y="4630000"/>
            <a:ext cx="1900000" cy="760000"/>
          </a:xfrm>
          <a:prstGeom prst="roundRect">
            <a:avLst>
              <a:gd name="adj" fmla="val 6000"/>
            </a:avLst>
          </a:prstGeom>
          <a:solidFill>
            <a:srgbClr val="FFFFFF"/>
          </a:solidFill>
          <a:ln w="12700">
            <a:solidFill>
              <a:srgbClr val="534AB7"/>
            </a:solidFill>
            <a:prstDash val="solid"/>
          </a:ln>
        </p:spPr>
      </p:sp>
      <p:sp>
        <p:nvSpPr>
          <p:cNvPr id="116" name="Text 117"/>
          <p:cNvSpPr/>
          <p:nvPr/>
        </p:nvSpPr>
        <p:spPr>
          <a:xfrm>
            <a:off x="5390920" y="4720000"/>
            <a:ext cx="1680000" cy="300000"/>
          </a:xfrm>
          <a:prstGeom prst="rect">
            <a:avLst/>
          </a:prstGeom>
          <a:noFill/>
          <a:ln/>
        </p:spPr>
        <p:txBody>
          <a:bodyPr wrap="square" lIns="0" tIns="0" rIns="0" bIns="0" rtlCol="0" anchor="t"/>
          <a:lstStyle/>
          <a:p>
            <a:pPr indent="0" marL="0">
              <a:buNone/>
            </a:pPr>
            <a:r>
              <a:rPr lang="en-US" sz="900" b="1" dirty="0">
                <a:solidFill>
                  <a:srgbClr val="3B3491"/>
                </a:solidFill>
                <a:latin typeface="Arial" pitchFamily="34" charset="0"/>
                <a:ea typeface="Arial" pitchFamily="34" charset="-122"/>
                <a:cs typeface="Arial" pitchFamily="34" charset="-120"/>
              </a:rPr>
              <a:t>Reclassified F1–F3</a:t>
            </a:r>
          </a:p>
        </p:txBody>
      </p:sp>
      <p:sp>
        <p:nvSpPr>
          <p:cNvPr id="118" name="Text 119"/>
          <p:cNvSpPr/>
          <p:nvPr/>
        </p:nvSpPr>
        <p:spPr>
          <a:xfrm>
            <a:off x="5390920" y="5010000"/>
            <a:ext cx="1680000" cy="32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the design is at fault, not one record</a:t>
            </a:r>
          </a:p>
        </p:txBody>
      </p:sp>
      <p:sp>
        <p:nvSpPr>
          <p:cNvPr id="120" name="Arrow 121"/>
          <p:cNvSpPr/>
          <p:nvPr/>
        </p:nvSpPr>
        <p:spPr>
          <a:xfrm>
            <a:off x="7195920" y="5010000"/>
            <a:ext cx="130000" cy="1"/>
          </a:xfrm>
          <a:prstGeom prst="line">
            <a:avLst/>
          </a:prstGeom>
          <a:noFill/>
          <a:ln w="25400">
            <a:solidFill>
              <a:srgbClr val="534AB7"/>
            </a:solidFill>
            <a:prstDash val="solid"/>
            <a:headEnd type="none"/>
            <a:tailEnd type="triangle"/>
          </a:ln>
        </p:spPr>
      </p:sp>
      <p:sp>
        <p:nvSpPr>
          <p:cNvPr id="122" name="Shape 123"/>
          <p:cNvSpPr/>
          <p:nvPr/>
        </p:nvSpPr>
        <p:spPr>
          <a:xfrm>
            <a:off x="7340920" y="4630000"/>
            <a:ext cx="1900000" cy="760000"/>
          </a:xfrm>
          <a:prstGeom prst="roundRect">
            <a:avLst>
              <a:gd name="adj" fmla="val 6000"/>
            </a:avLst>
          </a:prstGeom>
          <a:solidFill>
            <a:srgbClr val="FFFFFF"/>
          </a:solidFill>
          <a:ln w="12700">
            <a:solidFill>
              <a:srgbClr val="534AB7"/>
            </a:solidFill>
            <a:prstDash val="solid"/>
          </a:ln>
        </p:spPr>
      </p:sp>
      <p:sp>
        <p:nvSpPr>
          <p:cNvPr id="124" name="Text 125"/>
          <p:cNvSpPr/>
          <p:nvPr/>
        </p:nvSpPr>
        <p:spPr>
          <a:xfrm>
            <a:off x="7450920" y="4720000"/>
            <a:ext cx="1680000" cy="300000"/>
          </a:xfrm>
          <a:prstGeom prst="rect">
            <a:avLst/>
          </a:prstGeom>
          <a:noFill/>
          <a:ln/>
        </p:spPr>
        <p:txBody>
          <a:bodyPr wrap="square" lIns="0" tIns="0" rIns="0" bIns="0" rtlCol="0" anchor="t"/>
          <a:lstStyle/>
          <a:p>
            <a:pPr indent="0" marL="0">
              <a:buNone/>
            </a:pPr>
            <a:r>
              <a:rPr lang="en-US" sz="900" b="1" dirty="0">
                <a:solidFill>
                  <a:srgbClr val="3B3491"/>
                </a:solidFill>
                <a:latin typeface="Arial" pitchFamily="34" charset="0"/>
                <a:ea typeface="Arial" pitchFamily="34" charset="-122"/>
                <a:cs typeface="Arial" pitchFamily="34" charset="-120"/>
              </a:rPr>
              <a:t>P3 incident raised</a:t>
            </a:r>
          </a:p>
        </p:txBody>
      </p:sp>
      <p:sp>
        <p:nvSpPr>
          <p:cNvPr id="126" name="Text 127"/>
          <p:cNvSpPr/>
          <p:nvPr/>
        </p:nvSpPr>
        <p:spPr>
          <a:xfrm>
            <a:off x="7450920" y="5010000"/>
            <a:ext cx="1680000" cy="32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to the functional support group</a:t>
            </a:r>
          </a:p>
        </p:txBody>
      </p:sp>
      <p:sp>
        <p:nvSpPr>
          <p:cNvPr id="128" name="Arrow 129"/>
          <p:cNvSpPr/>
          <p:nvPr/>
        </p:nvSpPr>
        <p:spPr>
          <a:xfrm>
            <a:off x="9255920" y="5010000"/>
            <a:ext cx="130000" cy="1"/>
          </a:xfrm>
          <a:prstGeom prst="line">
            <a:avLst/>
          </a:prstGeom>
          <a:noFill/>
          <a:ln w="25400">
            <a:solidFill>
              <a:srgbClr val="534AB7"/>
            </a:solidFill>
            <a:prstDash val="solid"/>
            <a:headEnd type="none"/>
            <a:tailEnd type="triangle"/>
          </a:ln>
        </p:spPr>
      </p:sp>
      <p:sp>
        <p:nvSpPr>
          <p:cNvPr id="130" name="Shape 131"/>
          <p:cNvSpPr/>
          <p:nvPr/>
        </p:nvSpPr>
        <p:spPr>
          <a:xfrm>
            <a:off x="9400920" y="4630000"/>
            <a:ext cx="1900000" cy="760000"/>
          </a:xfrm>
          <a:prstGeom prst="roundRect">
            <a:avLst>
              <a:gd name="adj" fmla="val 6000"/>
            </a:avLst>
          </a:prstGeom>
          <a:solidFill>
            <a:srgbClr val="FFFFFF"/>
          </a:solidFill>
          <a:ln w="12700">
            <a:solidFill>
              <a:srgbClr val="534AB7"/>
            </a:solidFill>
            <a:prstDash val="solid"/>
          </a:ln>
        </p:spPr>
      </p:sp>
      <p:sp>
        <p:nvSpPr>
          <p:cNvPr id="132" name="Text 133"/>
          <p:cNvSpPr/>
          <p:nvPr/>
        </p:nvSpPr>
        <p:spPr>
          <a:xfrm>
            <a:off x="9510920" y="4720000"/>
            <a:ext cx="1680000" cy="300000"/>
          </a:xfrm>
          <a:prstGeom prst="rect">
            <a:avLst/>
          </a:prstGeom>
          <a:noFill/>
          <a:ln/>
        </p:spPr>
        <p:txBody>
          <a:bodyPr wrap="square" lIns="0" tIns="0" rIns="0" bIns="0" rtlCol="0" anchor="t"/>
          <a:lstStyle/>
          <a:p>
            <a:pPr indent="0" marL="0">
              <a:buNone/>
            </a:pPr>
            <a:r>
              <a:rPr lang="en-US" sz="900" b="1" dirty="0">
                <a:solidFill>
                  <a:srgbClr val="3B3491"/>
                </a:solidFill>
                <a:latin typeface="Arial" pitchFamily="34" charset="0"/>
                <a:ea typeface="Arial" pitchFamily="34" charset="-122"/>
                <a:cs typeface="Arial" pitchFamily="34" charset="-120"/>
              </a:rPr>
              <a:t>Fix via CTMS, resubmit</a:t>
            </a:r>
          </a:p>
        </p:txBody>
      </p:sp>
      <p:sp>
        <p:nvSpPr>
          <p:cNvPr id="134" name="Text 135"/>
          <p:cNvSpPr/>
          <p:nvPr/>
        </p:nvSpPr>
        <p:spPr>
          <a:xfrm>
            <a:off x="9510920" y="5010000"/>
            <a:ext cx="1680000" cy="320000"/>
          </a:xfrm>
          <a:prstGeom prst="rect">
            <a:avLst/>
          </a:prstGeom>
          <a:noFill/>
          <a:ln/>
        </p:spPr>
        <p:txBody>
          <a:bodyPr wrap="square" lIns="0" tIns="0" rIns="0" bIns="0" rtlCol="0" anchor="t"/>
          <a:lstStyle/>
          <a:p>
            <a:pPr indent="0" marL="0">
              <a:buNone/>
            </a:pPr>
            <a:r>
              <a:rPr lang="en-US" sz="800" dirty="0">
                <a:solidFill>
                  <a:srgbClr val="444444"/>
                </a:solidFill>
                <a:latin typeface="Arial" pitchFamily="34" charset="0"/>
                <a:ea typeface="Arial" pitchFamily="34" charset="-122"/>
                <a:cs typeface="Arial" pitchFamily="34" charset="-120"/>
              </a:rPr>
              <a:t>regression-tested, then replayed</a:t>
            </a:r>
          </a:p>
        </p:txBody>
      </p:sp>
      <p:sp>
        <p:nvSpPr>
          <p:cNvPr id="136" name="Text 137"/>
          <p:cNvSpPr/>
          <p:nvPr/>
        </p:nvSpPr>
        <p:spPr>
          <a:xfrm>
            <a:off x="3220920" y="5490000"/>
            <a:ext cx="8280000" cy="420000"/>
          </a:xfrm>
          <a:prstGeom prst="rect">
            <a:avLst/>
          </a:prstGeom>
          <a:noFill/>
          <a:ln/>
        </p:spPr>
        <p:txBody>
          <a:bodyPr wrap="square" lIns="0" tIns="0" rIns="0" bIns="0" rtlCol="0" anchor="t"/>
          <a:lstStyle/>
          <a:p>
            <a:pPr indent="0" marL="0">
              <a:buNone/>
            </a:pPr>
            <a:r>
              <a:rPr lang="en-US" sz="850" dirty="0">
                <a:solidFill>
                  <a:srgbClr val="444444"/>
                </a:solidFill>
                <a:latin typeface="Arial" pitchFamily="34" charset="0"/>
                <a:ea typeface="Arial" pitchFamily="34" charset="-122"/>
                <a:cs typeface="Arial" pitchFamily="34" charset="-120"/>
              </a:rPr>
              <a:t>A retry cannot fix it and one corrected record will not either — the change ships under change control, then the stored messages are resubmitted — the version check drops any the source already resent, so nothing posts twice.</a:t>
            </a:r>
          </a:p>
        </p:txBody>
      </p:sp>
      <p:sp>
        <p:nvSpPr>
          <p:cNvPr id="138" name="Shape 139"/>
          <p:cNvSpPr/>
          <p:nvPr/>
        </p:nvSpPr>
        <p:spPr>
          <a:xfrm>
            <a:off x="502920" y="6080000"/>
            <a:ext cx="11186160" cy="330000"/>
          </a:xfrm>
          <a:prstGeom prst="roundRect">
            <a:avLst>
              <a:gd name="adj" fmla="val 8000"/>
            </a:avLst>
          </a:prstGeom>
          <a:solidFill>
            <a:srgbClr val="F7F7F5"/>
          </a:solidFill>
          <a:ln w="9525">
            <a:solidFill>
              <a:srgbClr val="D9D9D9"/>
            </a:solidFill>
            <a:prstDash val="solid"/>
          </a:ln>
        </p:spPr>
      </p:sp>
      <p:sp>
        <p:nvSpPr>
          <p:cNvPr id="140" name="Text 141"/>
          <p:cNvSpPr/>
          <p:nvPr/>
        </p:nvSpPr>
        <p:spPr>
          <a:xfrm>
            <a:off x="702920" y="6080000"/>
            <a:ext cx="10800000" cy="330000"/>
          </a:xfrm>
          <a:prstGeom prst="rect">
            <a:avLst/>
          </a:prstGeom>
          <a:noFill/>
          <a:ln/>
        </p:spPr>
        <p:txBody>
          <a:bodyPr wrap="square" lIns="0" tIns="0" rIns="0" bIns="0" rtlCol="0" anchor="ctr"/>
          <a:lstStyle/>
          <a:p>
            <a:pPr indent="0" marL="0">
              <a:buNone/>
            </a:pPr>
            <a:r>
              <a:rPr lang="en-US" sz="850" b="1" dirty="0">
                <a:solidFill>
                  <a:srgbClr val="1F3864"/>
                </a:solidFill>
                <a:latin typeface="Arial" pitchFamily="34" charset="0"/>
                <a:ea typeface="Arial" pitchFamily="34" charset="-122"/>
                <a:cs typeface="Arial" pitchFamily="34" charset="-120"/>
              </a:rPr>
              <a:t>How the canonical failure classes map into this framework:  </a:t>
            </a:r>
            <a:r>
              <a:rPr lang="en-US" sz="850" dirty="0">
                <a:solidFill>
                  <a:srgbClr val="444444"/>
                </a:solidFill>
                <a:latin typeface="Arial" pitchFamily="34" charset="0"/>
                <a:ea typeface="Arial" pitchFamily="34" charset="-122"/>
                <a:cs typeface="Arial" pitchFamily="34" charset="-120"/>
              </a:rPr>
              <a:t>TRANSIENT / PARTIAL / POISON → Technical (T)   ·   FSM-owned data errors → Business/Data (B)   ·   SAP-side conditions → operations (P1–P4 by impact)   ·   recurring patterns → Functional (F)</a:t>
            </a:r>
          </a:p>
        </p:txBody>
      </p:sp>
      <p:sp>
        <p:nvSpPr>
          <p:cNvPr id="300" name="Text 300"/>
          <p:cNvSpPr/>
          <p:nvPr/>
        </p:nvSpPr>
        <p:spPr>
          <a:xfrm>
            <a:off x="702920" y="2350000"/>
            <a:ext cx="2300000" cy="270000"/>
          </a:xfrm>
          <a:prstGeom prst="rect">
            <a:avLst/>
          </a:prstGeom>
          <a:noFill/>
          <a:ln/>
        </p:spPr>
        <p:txBody>
          <a:bodyPr wrap="square" lIns="0" tIns="0" rIns="0" bIns="0" rtlCol="0" anchor="t"/>
          <a:lstStyle/>
          <a:p>
            <a:pPr indent="0" marL="0">
              <a:buNone/>
            </a:pPr>
            <a:r>
              <a:rPr lang="en-US" sz="700" b="1" dirty="0">
                <a:solidFill>
                  <a:srgbClr val="1F3864"/>
                </a:solidFill>
                <a:latin typeface="Arial" pitchFamily="34" charset="0"/>
                <a:ea typeface="Arial" pitchFamily="34" charset="-122"/>
                <a:cs typeface="Arial" pitchFamily="34" charset="-120"/>
              </a:rPr>
              <a:t>in code:  </a:t>
            </a:r>
            <a:r>
              <a:rPr lang="en-US" sz="700" dirty="0">
                <a:solidFill>
                  <a:srgbClr val="1F3864"/>
                </a:solidFill>
                <a:latin typeface="Arial" pitchFamily="34" charset="0"/>
                <a:ea typeface="Arial" pitchFamily="34" charset="-122"/>
                <a:cs typeface="Arial" pitchFamily="34" charset="-120"/>
              </a:rPr>
              <a:t>HTTP 5xx / timeout / empty body → retry</a:t>
            </a:r>
          </a:p>
        </p:txBody>
      </p:sp>
      <p:sp>
        <p:nvSpPr>
          <p:cNvPr id="301" name="Text 301"/>
          <p:cNvSpPr/>
          <p:nvPr/>
        </p:nvSpPr>
        <p:spPr>
          <a:xfrm>
            <a:off x="702920" y="4030000"/>
            <a:ext cx="2300000" cy="270000"/>
          </a:xfrm>
          <a:prstGeom prst="rect">
            <a:avLst/>
          </a:prstGeom>
          <a:noFill/>
          <a:ln/>
        </p:spPr>
        <p:txBody>
          <a:bodyPr wrap="square" lIns="0" tIns="0" rIns="0" bIns="0" rtlCol="0" anchor="t"/>
          <a:lstStyle/>
          <a:p>
            <a:pPr indent="0" marL="0">
              <a:buNone/>
            </a:pPr>
            <a:r>
              <a:rPr lang="en-US" sz="700" b="1" dirty="0">
                <a:solidFill>
                  <a:srgbClr val="72243E"/>
                </a:solidFill>
                <a:latin typeface="Arial" pitchFamily="34" charset="0"/>
                <a:ea typeface="Arial" pitchFamily="34" charset="-122"/>
                <a:cs typeface="Arial" pitchFamily="34" charset="-120"/>
              </a:rPr>
              <a:t>in code:  </a:t>
            </a:r>
            <a:r>
              <a:rPr lang="en-US" sz="700" dirty="0">
                <a:solidFill>
                  <a:srgbClr val="72243E"/>
                </a:solidFill>
                <a:latin typeface="Arial" pitchFamily="34" charset="0"/>
                <a:ea typeface="Arial" pitchFamily="34" charset="-122"/>
                <a:cs typeface="Arial" pitchFamily="34" charset="-120"/>
              </a:rPr>
              <a:t>4xx with SAP's error detail → FAILED answer</a:t>
            </a:r>
          </a:p>
        </p:txBody>
      </p:sp>
      <p:sp>
        <p:nvSpPr>
          <p:cNvPr id="302" name="Text 302"/>
          <p:cNvSpPr/>
          <p:nvPr/>
        </p:nvSpPr>
        <p:spPr>
          <a:xfrm>
            <a:off x="702920" y="5710000"/>
            <a:ext cx="2300000" cy="270000"/>
          </a:xfrm>
          <a:prstGeom prst="rect">
            <a:avLst/>
          </a:prstGeom>
          <a:noFill/>
          <a:ln/>
        </p:spPr>
        <p:txBody>
          <a:bodyPr wrap="square" lIns="0" tIns="0" rIns="0" bIns="0" rtlCol="0" anchor="t"/>
          <a:lstStyle/>
          <a:p>
            <a:pPr indent="0" marL="0">
              <a:buNone/>
            </a:pPr>
            <a:r>
              <a:rPr lang="en-US" sz="700" b="1" dirty="0">
                <a:solidFill>
                  <a:srgbClr val="3B3491"/>
                </a:solidFill>
                <a:latin typeface="Arial" pitchFamily="34" charset="0"/>
                <a:ea typeface="Arial" pitchFamily="34" charset="-122"/>
                <a:cs typeface="Arial" pitchFamily="34" charset="-120"/>
              </a:rPr>
              <a:t>in code:  </a:t>
            </a:r>
            <a:r>
              <a:rPr lang="en-US" sz="700" dirty="0">
                <a:solidFill>
                  <a:srgbClr val="3B3491"/>
                </a:solidFill>
                <a:latin typeface="Arial" pitchFamily="34" charset="0"/>
                <a:ea typeface="Arial" pitchFamily="34" charset="-122"/>
                <a:cs typeface="Arial" pitchFamily="34" charset="-120"/>
              </a:rPr>
              <a:t>nothing new — a repeat counter; F is a human decision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142" name="Shape 143"/>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144" name="Text 145"/>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p>
        </p:txBody>
      </p:sp>
      <p:sp>
        <p:nvSpPr>
          <p:cNvPr id="146" name="Text 147"/>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One standard email — routing, priority and ServiceNow</a:t>
            </a:r>
          </a:p>
        </p:txBody>
      </p:sp>
      <p:sp>
        <p:nvSpPr>
          <p:cNvPr id="148" name="Shape 149"/>
          <p:cNvSpPr/>
          <p:nvPr/>
        </p:nvSpPr>
        <p:spPr>
          <a:xfrm>
            <a:off x="9591672" y="201168"/>
            <a:ext cx="1500000" cy="274320"/>
          </a:xfrm>
          <a:prstGeom prst="roundRect">
            <a:avLst>
              <a:gd name="adj" fmla="val 40000"/>
            </a:avLst>
          </a:prstGeom>
          <a:solidFill>
            <a:srgbClr val="E1F5EE"/>
          </a:solidFill>
          <a:ln w="12700">
            <a:solidFill>
              <a:srgbClr val="0F6E56"/>
            </a:solidFill>
            <a:prstDash val="solid"/>
          </a:ln>
        </p:spPr>
      </p:sp>
      <p:sp>
        <p:nvSpPr>
          <p:cNvPr id="150" name="Text 151"/>
          <p:cNvSpPr/>
          <p:nvPr/>
        </p:nvSpPr>
        <p:spPr>
          <a:xfrm>
            <a:off x="9591672" y="201168"/>
            <a:ext cx="1500000"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Operations</a:t>
            </a:r>
          </a:p>
        </p:txBody>
      </p:sp>
      <p:sp>
        <p:nvSpPr>
          <p:cNvPr id="152" name="Text 153"/>
          <p:cNvSpPr/>
          <p:nvPr/>
        </p:nvSpPr>
        <p:spPr>
          <a:xfrm>
            <a:off x="502920" y="676656"/>
            <a:ext cx="11201400" cy="320000"/>
          </a:xfrm>
          <a:prstGeom prst="rect">
            <a:avLst/>
          </a:prstGeom>
          <a:noFill/>
          <a:ln/>
        </p:spPr>
        <p:txBody>
          <a:bodyPr wrap="square" lIns="0" tIns="0" rIns="0" bIns="0" rtlCol="0" anchor="t"/>
          <a:lstStyle/>
          <a:p>
            <a:pPr indent="0" marL="0">
              <a:buNone/>
            </a:pPr>
            <a:r>
              <a:rPr lang="en-US" sz="1150" dirty="0">
                <a:solidFill>
                  <a:srgbClr val="595959"/>
                </a:solidFill>
                <a:latin typeface="Arial" pitchFamily="34" charset="0"/>
                <a:ea typeface="Arial" pitchFamily="34" charset="-122"/>
                <a:cs typeface="Arial" pitchFamily="34" charset="-120"/>
              </a:rPr>
              <a:t>Every failure produces one standard email from an environment-identifying no-reply sender — and production technical failures also auto-raise a ServiceNow ticket directly from CPI. Alerts fire when retries run out or a message reaches Failed — never on every passing retry.</a:t>
            </a:r>
          </a:p>
        </p:txBody>
      </p:sp>
      <p:sp>
        <p:nvSpPr>
          <p:cNvPr id="154" name="Text 155"/>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p>
        </p:txBody>
      </p:sp>
      <p:sp>
        <p:nvSpPr>
          <p:cNvPr id="156" name="Text 157"/>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p>
        </p:txBody>
      </p:sp>
      <p:sp>
        <p:nvSpPr>
          <p:cNvPr id="158" name="Text 159"/>
          <p:cNvSpPr/>
          <p:nvPr/>
        </p:nvSpPr>
        <p:spPr>
          <a:xfrm>
            <a:off x="502920" y="1120000"/>
            <a:ext cx="5470000" cy="240000"/>
          </a:xfrm>
          <a:prstGeom prst="rect">
            <a:avLst/>
          </a:prstGeom>
          <a:noFill/>
          <a:ln/>
        </p:spPr>
        <p:txBody>
          <a:bodyPr wrap="square" lIns="0" tIns="0" rIns="0" bIns="0" rtlCol="0" anchor="t"/>
          <a:lstStyle/>
          <a:p>
            <a:pPr indent="0" marL="0">
              <a:buNone/>
            </a:pPr>
            <a:r>
              <a:rPr lang="en-US" sz="1050" b="1" dirty="0">
                <a:solidFill>
                  <a:srgbClr val="1F3864"/>
                </a:solidFill>
                <a:latin typeface="Arial" pitchFamily="34" charset="0"/>
                <a:ea typeface="Arial" pitchFamily="34" charset="-122"/>
                <a:cs typeface="Arial" pitchFamily="34" charset="-120"/>
              </a:rPr>
              <a:t>THE EMAIL — a production business alert, field by field</a:t>
            </a:r>
          </a:p>
        </p:txBody>
      </p:sp>
      <p:sp>
        <p:nvSpPr>
          <p:cNvPr id="160" name="Code 161"/>
          <p:cNvSpPr/>
          <p:nvPr/>
        </p:nvSpPr>
        <p:spPr>
          <a:xfrm>
            <a:off x="502920" y="1380000"/>
            <a:ext cx="5470000" cy="3320000"/>
          </a:xfrm>
          <a:prstGeom prst="roundRect">
            <a:avLst>
              <a:gd name="adj" fmla="val 4000"/>
            </a:avLst>
          </a:prstGeom>
          <a:solidFill>
            <a:srgbClr val="F4F5F7"/>
          </a:solidFill>
          <a:ln w="9525">
            <a:solidFill>
              <a:srgbClr val="D9D9D9"/>
            </a:solidFill>
          </a:ln>
        </p:spPr>
        <p:txBody>
          <a:bodyPr wrap="square" lIns="82296" tIns="54864" rIns="82296" bIns="54864" rtlCol="0" anchor="t"/>
          <a:lstStyle/>
          <a:p>
            <a:pPr indent="0" marL="0">
              <a:buNone/>
            </a:pPr>
            <a:r>
              <a:rPr lang="en-US" sz="850" dirty="0">
                <a:solidFill>
                  <a:srgbClr val="5B6570"/>
                </a:solidFill>
                <a:latin typeface="Courier New" pitchFamily="34" charset="0"/>
                <a:ea typeface="Courier New" pitchFamily="34" charset="-122"/>
                <a:cs typeface="Courier New" pitchFamily="34" charset="-120"/>
              </a:rPr>
              <a:t>From:     SAPIS-PROD@servicestream.com.au (no-reply)</a:t>
            </a:r>
          </a:p>
          <a:p>
            <a:pPr indent="0" marL="0">
              <a:buNone/>
            </a:pPr>
            <a:r>
              <a:rPr lang="en-US" sz="850" dirty="0">
                <a:solidFill>
                  <a:srgbClr val="5B6570"/>
                </a:solidFill>
                <a:latin typeface="Courier New" pitchFamily="34" charset="0"/>
                <a:ea typeface="Courier New" pitchFamily="34" charset="-122"/>
                <a:cs typeface="Courier New" pitchFamily="34" charset="-120"/>
              </a:rPr>
              <a:t>To:       SAPIS.Finance.Business.Errors@…</a:t>
            </a:r>
          </a:p>
          <a:p>
            <a:pPr indent="0" marL="0">
              <a:buNone/>
            </a:pPr>
            <a:r>
              <a:rPr lang="en-US" sz="850" dirty="0">
                <a:solidFill>
                  <a:srgbClr val="5B6570"/>
                </a:solidFill>
                <a:latin typeface="Courier New" pitchFamily="34" charset="0"/>
                <a:ea typeface="Courier New" pitchFamily="34" charset="-122"/>
                <a:cs typeface="Courier New" pitchFamily="34" charset="-120"/>
              </a:rPr>
              <a:t>Cc:       SAPIS.Technical.Errors@…</a:t>
            </a:r>
          </a:p>
          <a:p>
            <a:pPr indent="0" marL="0">
              <a:buNone/>
            </a:pPr>
            <a:r>
              <a:rPr lang="en-US" sz="850" b="1" dirty="0">
                <a:solidFill>
                  <a:srgbClr val="1F3864"/>
                </a:solidFill>
                <a:latin typeface="Courier New" pitchFamily="34" charset="0"/>
                <a:ea typeface="Courier New" pitchFamily="34" charset="-122"/>
                <a:cs typeface="Courier New" pitchFamily="34" charset="-120"/>
              </a:rPr>
              <a:t>Subject:  [Production] INT-26 — Canonical Billing —</a:t>
            </a:r>
          </a:p>
          <a:p>
            <a:pPr indent="0" marL="0">
              <a:buNone/>
            </a:pPr>
            <a:r>
              <a:rPr lang="en-US" sz="850" b="1" dirty="0">
                <a:solidFill>
                  <a:srgbClr val="1F3864"/>
                </a:solidFill>
                <a:latin typeface="Courier New" pitchFamily="34" charset="0"/>
                <a:ea typeface="Courier New" pitchFamily="34" charset="-122"/>
                <a:cs typeface="Courier New" pitchFamily="34" charset="-120"/>
              </a:rPr>
              <a:t>          Integration Failed</a:t>
            </a:r>
          </a:p>
          <a:p>
            <a:pPr indent="0" marL="0">
              <a:buNone/>
            </a:pPr>
            <a:r>
              <a:rPr lang="en-US" sz="850" dirty="0">
                <a:solidFill>
                  <a:srgbClr val="24303A"/>
                </a:solidFill>
                <a:latin typeface="Courier New" pitchFamily="34" charset="0"/>
                <a:ea typeface="Courier New" pitchFamily="34" charset="-122"/>
                <a:cs typeface="Courier New" pitchFamily="34" charset="-120"/>
              </a:rPr>
              <a:t> </a:t>
            </a:r>
          </a:p>
          <a:p>
            <a:pPr indent="0" marL="0">
              <a:buNone/>
            </a:pPr>
            <a:r>
              <a:rPr lang="en-US" sz="850" dirty="0">
                <a:solidFill>
                  <a:srgbClr val="24303A"/>
                </a:solidFill>
                <a:latin typeface="Courier New" pitchFamily="34" charset="0"/>
                <a:ea typeface="Courier New" pitchFamily="34" charset="-122"/>
                <a:cs typeface="Courier New" pitchFamily="34" charset="-120"/>
              </a:rPr>
              <a:t>Environment:            Production</a:t>
            </a:r>
          </a:p>
          <a:p>
            <a:pPr indent="0" marL="0">
              <a:buNone/>
            </a:pPr>
            <a:r>
              <a:rPr lang="en-US" sz="850" dirty="0">
                <a:solidFill>
                  <a:srgbClr val="24303A"/>
                </a:solidFill>
                <a:latin typeface="Courier New" pitchFamily="34" charset="0"/>
                <a:ea typeface="Courier New" pitchFamily="34" charset="-122"/>
                <a:cs typeface="Courier New" pitchFamily="34" charset="-120"/>
              </a:rPr>
              <a:t>Interface:              INT-26 Canonical Billing</a:t>
            </a:r>
          </a:p>
          <a:p>
            <a:pPr indent="0" marL="0">
              <a:buNone/>
            </a:pPr>
            <a:r>
              <a:rPr lang="en-US" sz="850" dirty="0">
                <a:solidFill>
                  <a:srgbClr val="24303A"/>
                </a:solidFill>
                <a:latin typeface="Courier New" pitchFamily="34" charset="0"/>
                <a:ea typeface="Courier New" pitchFamily="34" charset="-122"/>
                <a:cs typeface="Courier New" pitchFamily="34" charset="-120"/>
              </a:rPr>
              <a:t>Source / Target:        JAMS → S/4HANA Cloud</a:t>
            </a:r>
          </a:p>
          <a:p>
            <a:pPr indent="0" marL="0">
              <a:buNone/>
            </a:pPr>
            <a:r>
              <a:rPr lang="en-US" sz="850" b="1" dirty="0">
                <a:solidFill>
                  <a:srgbClr val="72243E"/>
                </a:solidFill>
                <a:latin typeface="Courier New" pitchFamily="34" charset="0"/>
                <a:ea typeface="Courier New" pitchFamily="34" charset="-122"/>
                <a:cs typeface="Courier New" pitchFamily="34" charset="-120"/>
              </a:rPr>
              <a:t>Exception Class:        Business/Data — B3</a:t>
            </a:r>
          </a:p>
          <a:p>
            <a:pPr indent="0" marL="0">
              <a:buNone/>
            </a:pPr>
            <a:r>
              <a:rPr lang="en-US" sz="850" dirty="0">
                <a:solidFill>
                  <a:srgbClr val="24303A"/>
                </a:solidFill>
                <a:latin typeface="Courier New" pitchFamily="34" charset="0"/>
                <a:ea typeface="Courier New" pitchFamily="34" charset="-122"/>
                <a:cs typeface="Courier New" pitchFamily="34" charset="-120"/>
              </a:rPr>
              <a:t>Status:                 Failed</a:t>
            </a:r>
          </a:p>
          <a:p>
            <a:pPr indent="0" marL="0">
              <a:buNone/>
            </a:pPr>
            <a:r>
              <a:rPr lang="en-US" sz="850" dirty="0">
                <a:solidFill>
                  <a:srgbClr val="24303A"/>
                </a:solidFill>
                <a:latin typeface="Courier New" pitchFamily="34" charset="0"/>
                <a:ea typeface="Courier New" pitchFamily="34" charset="-122"/>
                <a:cs typeface="Courier New" pitchFamily="34" charset="-120"/>
              </a:rPr>
              <a:t>Message ID:             AGf4… (CPI monitor lookup)</a:t>
            </a:r>
          </a:p>
          <a:p>
            <a:pPr indent="0" marL="0">
              <a:buNone/>
            </a:pPr>
            <a:r>
              <a:rPr lang="en-US" sz="850" dirty="0">
                <a:solidFill>
                  <a:srgbClr val="24303A"/>
                </a:solidFill>
                <a:latin typeface="Courier New" pitchFamily="34" charset="0"/>
                <a:ea typeface="Courier New" pitchFamily="34" charset="-122"/>
                <a:cs typeface="Courier New" pitchFamily="34" charset="-120"/>
              </a:rPr>
              <a:t>Correlation ID:         d4f7a2c9-11e0-4b6a-…</a:t>
            </a:r>
          </a:p>
          <a:p>
            <a:pPr indent="0" marL="0">
              <a:buNone/>
            </a:pPr>
            <a:r>
              <a:rPr lang="en-US" sz="850" dirty="0">
                <a:solidFill>
                  <a:srgbClr val="24303A"/>
                </a:solidFill>
                <a:latin typeface="Courier New" pitchFamily="34" charset="0"/>
                <a:ea typeface="Courier New" pitchFamily="34" charset="-122"/>
                <a:cs typeface="Courier New" pitchFamily="34" charset="-120"/>
              </a:rPr>
              <a:t>Source Transaction ID:  JAMS-B-20441</a:t>
            </a:r>
          </a:p>
          <a:p>
            <a:pPr indent="0" marL="0">
              <a:buNone/>
            </a:pPr>
            <a:r>
              <a:rPr lang="en-US" sz="850" dirty="0">
                <a:solidFill>
                  <a:srgbClr val="24303A"/>
                </a:solidFill>
                <a:latin typeface="Courier New" pitchFamily="34" charset="0"/>
                <a:ea typeface="Courier New" pitchFamily="34" charset="-122"/>
                <a:cs typeface="Courier New" pitchFamily="34" charset="-120"/>
              </a:rPr>
              <a:t>Business Object:        Service order 8000123456</a:t>
            </a:r>
          </a:p>
          <a:p>
            <a:pPr indent="0" marL="0">
              <a:buNone/>
            </a:pPr>
            <a:r>
              <a:rPr lang="en-US" sz="850" dirty="0">
                <a:solidFill>
                  <a:srgbClr val="24303A"/>
                </a:solidFill>
                <a:latin typeface="Courier New" pitchFamily="34" charset="0"/>
                <a:ea typeface="Courier New" pitchFamily="34" charset="-122"/>
                <a:cs typeface="Courier New" pitchFamily="34" charset="-120"/>
              </a:rPr>
              <a:t>Retry State:            0 of 0 — business errors</a:t>
            </a:r>
          </a:p>
          <a:p>
            <a:pPr indent="0" marL="0">
              <a:buNone/>
            </a:pPr>
            <a:r>
              <a:rPr lang="en-US" sz="850" dirty="0">
                <a:solidFill>
                  <a:srgbClr val="24303A"/>
                </a:solidFill>
                <a:latin typeface="Courier New" pitchFamily="34" charset="0"/>
                <a:ea typeface="Courier New" pitchFamily="34" charset="-122"/>
                <a:cs typeface="Courier New" pitchFamily="34" charset="-120"/>
              </a:rPr>
              <a:t>                        are not retried</a:t>
            </a:r>
          </a:p>
          <a:p>
            <a:pPr indent="0" marL="0">
              <a:buNone/>
            </a:pPr>
            <a:r>
              <a:rPr lang="en-US" sz="850" dirty="0">
                <a:solidFill>
                  <a:srgbClr val="24303A"/>
                </a:solidFill>
                <a:latin typeface="Courier New" pitchFamily="34" charset="0"/>
                <a:ea typeface="Courier New" pitchFamily="34" charset="-122"/>
                <a:cs typeface="Courier New" pitchFamily="34" charset="-120"/>
              </a:rPr>
              <a:t>Error summary:          WBS element closed for posting</a:t>
            </a:r>
          </a:p>
          <a:p>
            <a:pPr indent="0" marL="0">
              <a:buNone/>
            </a:pPr>
            <a:r>
              <a:rPr lang="en-US" sz="850" dirty="0">
                <a:solidFill>
                  <a:srgbClr val="24303A"/>
                </a:solidFill>
                <a:latin typeface="Courier New" pitchFamily="34" charset="0"/>
                <a:ea typeface="Courier New" pitchFamily="34" charset="-122"/>
                <a:cs typeface="Courier New" pitchFamily="34" charset="-120"/>
              </a:rPr>
              <a:t>Business impact:        Customer invoicing for this</a:t>
            </a:r>
          </a:p>
          <a:p>
            <a:pPr indent="0" marL="0">
              <a:buNone/>
            </a:pPr>
            <a:r>
              <a:rPr lang="en-US" sz="850" dirty="0">
                <a:solidFill>
                  <a:srgbClr val="24303A"/>
                </a:solidFill>
                <a:latin typeface="Courier New" pitchFamily="34" charset="0"/>
                <a:ea typeface="Courier New" pitchFamily="34" charset="-122"/>
                <a:cs typeface="Courier New" pitchFamily="34" charset="-120"/>
              </a:rPr>
              <a:t>                        service order is delayed</a:t>
            </a:r>
          </a:p>
          <a:p>
            <a:pPr indent="0" marL="0">
              <a:buNone/>
            </a:pPr>
            <a:r>
              <a:rPr lang="en-US" sz="850" b="1" dirty="0">
                <a:solidFill>
                  <a:srgbClr val="085041"/>
                </a:solidFill>
                <a:latin typeface="Courier New" pitchFamily="34" charset="0"/>
                <a:ea typeface="Courier New" pitchFamily="34" charset="-122"/>
                <a:cs typeface="Courier New" pitchFamily="34" charset="-120"/>
              </a:rPr>
              <a:t>Recommended action:     Correct at source and resend</a:t>
            </a:r>
          </a:p>
          <a:p>
            <a:pPr indent="0" marL="0">
              <a:buNone/>
            </a:pPr>
            <a:r>
              <a:rPr lang="en-US" sz="850" b="1" dirty="0">
                <a:solidFill>
                  <a:srgbClr val="085041"/>
                </a:solidFill>
                <a:latin typeface="Courier New" pitchFamily="34" charset="0"/>
                <a:ea typeface="Courier New" pitchFamily="34" charset="-122"/>
                <a:cs typeface="Courier New" pitchFamily="34" charset="-120"/>
              </a:rPr>
              <a:t>                        with a new Source Transaction ID</a:t>
            </a:r>
          </a:p>
        </p:txBody>
      </p:sp>
      <p:sp>
        <p:nvSpPr>
          <p:cNvPr id="162" name="Text 163"/>
          <p:cNvSpPr/>
          <p:nvPr/>
        </p:nvSpPr>
        <p:spPr>
          <a:xfrm>
            <a:off x="502920" y="4800000"/>
            <a:ext cx="5470000" cy="700000"/>
          </a:xfrm>
          <a:prstGeom prst="rect">
            <a:avLst/>
          </a:prstGeom>
          <a:noFill/>
          <a:ln/>
        </p:spPr>
        <p:txBody>
          <a:bodyPr wrap="square" lIns="0" tIns="0" rIns="0" bIns="0" rtlCol="0" anchor="t"/>
          <a:lstStyle/>
          <a:p>
            <a:pPr indent="0" marL="0">
              <a:spcAft>
                <a:spcPts val="300"/>
              </a:spcAft>
              <a:buNone/>
            </a:pPr>
            <a:r>
              <a:rPr lang="en-US" sz="850" i="1" dirty="0">
                <a:solidFill>
                  <a:srgbClr val="595959"/>
                </a:solidFill>
                <a:latin typeface="Arial" pitchFamily="34" charset="0"/>
                <a:ea typeface="Arial" pitchFamily="34" charset="-122"/>
                <a:cs typeface="Arial" pitchFamily="34" charset="-120"/>
              </a:rPr>
              <a:t>The FAILED answer already went back to JAMS with this same Correlation ID (slides 11 and 15) — this email is the human copy of that event, routed by class. The subject carries environment, interface and state so mailbox rules route without opening it; full message content is never attached in production.</a:t>
            </a:r>
          </a:p>
          <a:p>
            <a:pPr indent="0" marL="0">
              <a:buNone/>
            </a:pPr>
            <a:r>
              <a:rPr lang="en-US" sz="850" b="1" i="1" dirty="0">
                <a:solidFill>
                  <a:srgbClr val="1F3864"/>
                </a:solidFill>
                <a:latin typeface="Arial" pitchFamily="34" charset="0"/>
                <a:ea typeface="Arial" pitchFamily="34" charset="-122"/>
                <a:cs typeface="Arial" pitchFamily="34" charset="-120"/>
              </a:rPr>
              <a:t>The team works from the ServiceNow incident, not the mailbox — the email is the notification, not the work queue.</a:t>
            </a:r>
          </a:p>
        </p:txBody>
      </p:sp>
      <p:sp>
        <p:nvSpPr>
          <p:cNvPr id="164" name="Text 165"/>
          <p:cNvSpPr/>
          <p:nvPr/>
        </p:nvSpPr>
        <p:spPr>
          <a:xfrm>
            <a:off x="6251400" y="1120000"/>
            <a:ext cx="5437680" cy="240000"/>
          </a:xfrm>
          <a:prstGeom prst="rect">
            <a:avLst/>
          </a:prstGeom>
          <a:noFill/>
          <a:ln/>
        </p:spPr>
        <p:txBody>
          <a:bodyPr wrap="square" lIns="0" tIns="0" rIns="0" bIns="0" rtlCol="0" anchor="t"/>
          <a:lstStyle/>
          <a:p>
            <a:pPr indent="0" marL="0">
              <a:buNone/>
            </a:pPr>
            <a:r>
              <a:rPr lang="en-US" sz="1050" b="1" dirty="0">
                <a:solidFill>
                  <a:srgbClr val="1F3864"/>
                </a:solidFill>
                <a:latin typeface="Arial" pitchFamily="34" charset="0"/>
                <a:ea typeface="Arial" pitchFamily="34" charset="-122"/>
                <a:cs typeface="Arial" pitchFamily="34" charset="-120"/>
              </a:rPr>
              <a:t>WHO IS TOLD — the class decides</a:t>
            </a:r>
          </a:p>
        </p:txBody>
      </p:sp>
      <p:sp>
        <p:nvSpPr>
          <p:cNvPr id="166" name="Shape 167"/>
          <p:cNvSpPr/>
          <p:nvPr/>
        </p:nvSpPr>
        <p:spPr>
          <a:xfrm>
            <a:off x="6251400" y="1380000"/>
            <a:ext cx="1330000" cy="340000"/>
          </a:xfrm>
          <a:prstGeom prst="roundRect">
            <a:avLst>
              <a:gd name="adj" fmla="val 20000"/>
            </a:avLst>
          </a:prstGeom>
          <a:solidFill>
            <a:srgbClr val="EEF2F8"/>
          </a:solidFill>
          <a:ln w="9525">
            <a:solidFill>
              <a:srgbClr val="1F3864"/>
            </a:solidFill>
            <a:prstDash val="solid"/>
          </a:ln>
        </p:spPr>
      </p:sp>
      <p:sp>
        <p:nvSpPr>
          <p:cNvPr id="168" name="Text 169"/>
          <p:cNvSpPr/>
          <p:nvPr/>
        </p:nvSpPr>
        <p:spPr>
          <a:xfrm>
            <a:off x="6251400" y="1380000"/>
            <a:ext cx="1330000" cy="340000"/>
          </a:xfrm>
          <a:prstGeom prst="rect">
            <a:avLst/>
          </a:prstGeom>
          <a:noFill/>
          <a:ln/>
        </p:spPr>
        <p:txBody>
          <a:bodyPr wrap="square" lIns="0" tIns="0" rIns="0" bIns="0" rtlCol="0" anchor="ctr"/>
          <a:lstStyle/>
          <a:p>
            <a:pPr algn="ctr" indent="0" marL="0">
              <a:buNone/>
            </a:pPr>
            <a:r>
              <a:rPr lang="en-US" sz="850" b="1" dirty="0">
                <a:solidFill>
                  <a:srgbClr val="1F3864"/>
                </a:solidFill>
                <a:latin typeface="Arial" pitchFamily="34" charset="0"/>
                <a:ea typeface="Arial" pitchFamily="34" charset="-122"/>
                <a:cs typeface="Arial" pitchFamily="34" charset="-120"/>
              </a:rPr>
              <a:t>Technical</a:t>
            </a:r>
          </a:p>
        </p:txBody>
      </p:sp>
      <p:sp>
        <p:nvSpPr>
          <p:cNvPr id="170" name="Text 171"/>
          <p:cNvSpPr/>
          <p:nvPr/>
        </p:nvSpPr>
        <p:spPr>
          <a:xfrm>
            <a:off x="7701400" y="1360000"/>
            <a:ext cx="3987680" cy="480000"/>
          </a:xfrm>
          <a:prstGeom prst="rect">
            <a:avLst/>
          </a:prstGeom>
          <a:noFill/>
          <a:ln/>
        </p:spPr>
        <p:txBody>
          <a:bodyPr wrap="square" lIns="0" tIns="0" rIns="0" bIns="0" rtlCol="0" anchor="t"/>
          <a:lstStyle/>
          <a:p>
            <a:pPr indent="0" marL="0">
              <a:buNone/>
            </a:pPr>
            <a:r>
              <a:rPr lang="en-US" sz="830" dirty="0">
                <a:solidFill>
                  <a:srgbClr val="444444"/>
                </a:solidFill>
                <a:latin typeface="Arial" pitchFamily="34" charset="0"/>
                <a:ea typeface="Arial" pitchFamily="34" charset="-122"/>
                <a:cs typeface="Arial" pitchFamily="34" charset="-120"/>
              </a:rPr>
              <a:t>SAPIS.Technical.Errors + an auto ServiceNow ticket from CPI; repeats update the same open incident, and if the ticket call fails the email still carries every field to raise it by hand.</a:t>
            </a:r>
          </a:p>
        </p:txBody>
      </p:sp>
      <p:sp>
        <p:nvSpPr>
          <p:cNvPr id="172" name="Shape 173"/>
          <p:cNvSpPr/>
          <p:nvPr/>
        </p:nvSpPr>
        <p:spPr>
          <a:xfrm>
            <a:off x="6251400" y="1860000"/>
            <a:ext cx="1330000" cy="340000"/>
          </a:xfrm>
          <a:prstGeom prst="roundRect">
            <a:avLst>
              <a:gd name="adj" fmla="val 20000"/>
            </a:avLst>
          </a:prstGeom>
          <a:solidFill>
            <a:srgbClr val="FBEAF0"/>
          </a:solidFill>
          <a:ln w="9525">
            <a:solidFill>
              <a:srgbClr val="72243E"/>
            </a:solidFill>
            <a:prstDash val="solid"/>
          </a:ln>
        </p:spPr>
      </p:sp>
      <p:sp>
        <p:nvSpPr>
          <p:cNvPr id="174" name="Text 175"/>
          <p:cNvSpPr/>
          <p:nvPr/>
        </p:nvSpPr>
        <p:spPr>
          <a:xfrm>
            <a:off x="6251400" y="1860000"/>
            <a:ext cx="1330000" cy="340000"/>
          </a:xfrm>
          <a:prstGeom prst="rect">
            <a:avLst/>
          </a:prstGeom>
          <a:noFill/>
          <a:ln/>
        </p:spPr>
        <p:txBody>
          <a:bodyPr wrap="square" lIns="0" tIns="0" rIns="0" bIns="0" rtlCol="0" anchor="ctr"/>
          <a:lstStyle/>
          <a:p>
            <a:pPr algn="ctr" indent="0" marL="0">
              <a:buNone/>
            </a:pPr>
            <a:r>
              <a:rPr lang="en-US" sz="850" b="1" dirty="0">
                <a:solidFill>
                  <a:srgbClr val="72243E"/>
                </a:solidFill>
                <a:latin typeface="Arial" pitchFamily="34" charset="0"/>
                <a:ea typeface="Arial" pitchFamily="34" charset="-122"/>
                <a:cs typeface="Arial" pitchFamily="34" charset="-120"/>
              </a:rPr>
              <a:t>Business/Data</a:t>
            </a:r>
          </a:p>
        </p:txBody>
      </p:sp>
      <p:sp>
        <p:nvSpPr>
          <p:cNvPr id="176" name="Text 177"/>
          <p:cNvSpPr/>
          <p:nvPr/>
        </p:nvSpPr>
        <p:spPr>
          <a:xfrm>
            <a:off x="7701400" y="1840000"/>
            <a:ext cx="3987680" cy="480000"/>
          </a:xfrm>
          <a:prstGeom prst="rect">
            <a:avLst/>
          </a:prstGeom>
          <a:noFill/>
          <a:ln/>
        </p:spPr>
        <p:txBody>
          <a:bodyPr wrap="square" lIns="0" tIns="0" rIns="0" bIns="0" rtlCol="0" anchor="t"/>
          <a:lstStyle/>
          <a:p>
            <a:pPr indent="0" marL="0">
              <a:buNone/>
            </a:pPr>
            <a:r>
              <a:rPr lang="en-US" sz="830" dirty="0">
                <a:solidFill>
                  <a:srgbClr val="444444"/>
                </a:solidFill>
                <a:latin typeface="Arial" pitchFamily="34" charset="0"/>
                <a:ea typeface="Arial" pitchFamily="34" charset="-122"/>
                <a:cs typeface="Arial" pitchFamily="34" charset="-120"/>
              </a:rPr>
              <a:t>The area list — Field Services / Finance / Procurement / People &amp; Time / Master Data — cc technical. No ticket by default.</a:t>
            </a:r>
          </a:p>
        </p:txBody>
      </p:sp>
      <p:sp>
        <p:nvSpPr>
          <p:cNvPr id="178" name="Shape 179"/>
          <p:cNvSpPr/>
          <p:nvPr/>
        </p:nvSpPr>
        <p:spPr>
          <a:xfrm>
            <a:off x="6251400" y="2340000"/>
            <a:ext cx="1330000" cy="340000"/>
          </a:xfrm>
          <a:prstGeom prst="roundRect">
            <a:avLst>
              <a:gd name="adj" fmla="val 20000"/>
            </a:avLst>
          </a:prstGeom>
          <a:solidFill>
            <a:srgbClr val="EEEDFE"/>
          </a:solidFill>
          <a:ln w="9525">
            <a:solidFill>
              <a:srgbClr val="3B3491"/>
            </a:solidFill>
            <a:prstDash val="solid"/>
          </a:ln>
        </p:spPr>
      </p:sp>
      <p:sp>
        <p:nvSpPr>
          <p:cNvPr id="180" name="Text 181"/>
          <p:cNvSpPr/>
          <p:nvPr/>
        </p:nvSpPr>
        <p:spPr>
          <a:xfrm>
            <a:off x="6251400" y="2340000"/>
            <a:ext cx="1330000" cy="340000"/>
          </a:xfrm>
          <a:prstGeom prst="rect">
            <a:avLst/>
          </a:prstGeom>
          <a:noFill/>
          <a:ln/>
        </p:spPr>
        <p:txBody>
          <a:bodyPr wrap="square" lIns="0" tIns="0" rIns="0" bIns="0" rtlCol="0" anchor="ctr"/>
          <a:lstStyle/>
          <a:p>
            <a:pPr algn="ctr" indent="0" marL="0">
              <a:buNone/>
            </a:pPr>
            <a:r>
              <a:rPr lang="en-US" sz="850" b="1" dirty="0">
                <a:solidFill>
                  <a:srgbClr val="3B3491"/>
                </a:solidFill>
                <a:latin typeface="Arial" pitchFamily="34" charset="0"/>
                <a:ea typeface="Arial" pitchFamily="34" charset="-122"/>
                <a:cs typeface="Arial" pitchFamily="34" charset="-120"/>
              </a:rPr>
              <a:t>Functional</a:t>
            </a:r>
          </a:p>
        </p:txBody>
      </p:sp>
      <p:sp>
        <p:nvSpPr>
          <p:cNvPr id="182" name="Text 183"/>
          <p:cNvSpPr/>
          <p:nvPr/>
        </p:nvSpPr>
        <p:spPr>
          <a:xfrm>
            <a:off x="7701400" y="2320000"/>
            <a:ext cx="3987680" cy="480000"/>
          </a:xfrm>
          <a:prstGeom prst="rect">
            <a:avLst/>
          </a:prstGeom>
          <a:noFill/>
          <a:ln/>
        </p:spPr>
        <p:txBody>
          <a:bodyPr wrap="square" lIns="0" tIns="0" rIns="0" bIns="0" rtlCol="0" anchor="t"/>
          <a:lstStyle/>
          <a:p>
            <a:pPr indent="0" marL="0">
              <a:buNone/>
            </a:pPr>
            <a:r>
              <a:rPr lang="en-US" sz="830" dirty="0">
                <a:solidFill>
                  <a:srgbClr val="444444"/>
                </a:solidFill>
                <a:latin typeface="Arial" pitchFamily="34" charset="0"/>
                <a:ea typeface="Arial" pitchFamily="34" charset="-122"/>
                <a:cs typeface="Arial" pitchFamily="34" charset="-120"/>
              </a:rPr>
              <a:t>A P3 ServiceNow ticket to the functional support group when the same failure keeps repeating; fixed under formal change control.</a:t>
            </a:r>
          </a:p>
        </p:txBody>
      </p:sp>
      <p:sp>
        <p:nvSpPr>
          <p:cNvPr id="184" name="Shape 185"/>
          <p:cNvSpPr/>
          <p:nvPr/>
        </p:nvSpPr>
        <p:spPr>
          <a:xfrm>
            <a:off x="6251400" y="2820000"/>
            <a:ext cx="1330000" cy="340000"/>
          </a:xfrm>
          <a:prstGeom prst="roundRect">
            <a:avLst>
              <a:gd name="adj" fmla="val 20000"/>
            </a:avLst>
          </a:prstGeom>
          <a:solidFill>
            <a:srgbClr val="F4F5F7"/>
          </a:solidFill>
          <a:ln w="9525">
            <a:solidFill>
              <a:srgbClr val="5B6570"/>
            </a:solidFill>
            <a:prstDash val="solid"/>
          </a:ln>
        </p:spPr>
      </p:sp>
      <p:sp>
        <p:nvSpPr>
          <p:cNvPr id="186" name="Text 187"/>
          <p:cNvSpPr/>
          <p:nvPr/>
        </p:nvSpPr>
        <p:spPr>
          <a:xfrm>
            <a:off x="6251400" y="2820000"/>
            <a:ext cx="1330000" cy="340000"/>
          </a:xfrm>
          <a:prstGeom prst="rect">
            <a:avLst/>
          </a:prstGeom>
          <a:noFill/>
          <a:ln/>
        </p:spPr>
        <p:txBody>
          <a:bodyPr wrap="square" lIns="0" tIns="0" rIns="0" bIns="0" rtlCol="0" anchor="ctr"/>
          <a:lstStyle/>
          <a:p>
            <a:pPr algn="ctr" indent="0" marL="0">
              <a:buNone/>
            </a:pPr>
            <a:r>
              <a:rPr lang="en-US" sz="850" b="1" dirty="0">
                <a:solidFill>
                  <a:srgbClr val="5B6570"/>
                </a:solidFill>
                <a:latin typeface="Arial" pitchFamily="34" charset="0"/>
                <a:ea typeface="Arial" pitchFamily="34" charset="-122"/>
                <a:cs typeface="Arial" pitchFamily="34" charset="-120"/>
              </a:rPr>
              <a:t>Non-prod</a:t>
            </a:r>
          </a:p>
        </p:txBody>
      </p:sp>
      <p:sp>
        <p:nvSpPr>
          <p:cNvPr id="188" name="Text 189"/>
          <p:cNvSpPr/>
          <p:nvPr/>
        </p:nvSpPr>
        <p:spPr>
          <a:xfrm>
            <a:off x="7701400" y="2800000"/>
            <a:ext cx="3987680" cy="480000"/>
          </a:xfrm>
          <a:prstGeom prst="rect">
            <a:avLst/>
          </a:prstGeom>
          <a:noFill/>
          <a:ln/>
        </p:spPr>
        <p:txBody>
          <a:bodyPr wrap="square" lIns="0" tIns="0" rIns="0" bIns="0" rtlCol="0" anchor="t"/>
          <a:lstStyle/>
          <a:p>
            <a:pPr indent="0" marL="0">
              <a:buNone/>
            </a:pPr>
            <a:r>
              <a:rPr lang="en-US" sz="830" dirty="0">
                <a:solidFill>
                  <a:srgbClr val="444444"/>
                </a:solidFill>
                <a:latin typeface="Arial" pitchFamily="34" charset="0"/>
                <a:ea typeface="Arial" pitchFamily="34" charset="-122"/>
                <a:cs typeface="Arial" pitchFamily="34" charset="-120"/>
              </a:rPr>
              <a:t>One list — SAPIS.NonProd.Errors. Business lists are never emailed from DEV / TEST / UAT.</a:t>
            </a:r>
          </a:p>
        </p:txBody>
      </p:sp>
      <p:sp>
        <p:nvSpPr>
          <p:cNvPr id="190" name="Text 191"/>
          <p:cNvSpPr/>
          <p:nvPr/>
        </p:nvSpPr>
        <p:spPr>
          <a:xfrm>
            <a:off x="6251400" y="3360000"/>
            <a:ext cx="5437680" cy="240000"/>
          </a:xfrm>
          <a:prstGeom prst="rect">
            <a:avLst/>
          </a:prstGeom>
          <a:noFill/>
          <a:ln/>
        </p:spPr>
        <p:txBody>
          <a:bodyPr wrap="square" lIns="0" tIns="0" rIns="0" bIns="0" rtlCol="0" anchor="t"/>
          <a:lstStyle/>
          <a:p>
            <a:pPr indent="0" marL="0">
              <a:buNone/>
            </a:pPr>
            <a:r>
              <a:rPr lang="en-US" sz="1050" b="1" dirty="0">
                <a:solidFill>
                  <a:srgbClr val="1F3864"/>
                </a:solidFill>
                <a:latin typeface="Arial" pitchFamily="34" charset="0"/>
                <a:ea typeface="Arial" pitchFamily="34" charset="-122"/>
                <a:cs typeface="Arial" pitchFamily="34" charset="-120"/>
              </a:rPr>
              <a:t>PRIORITY — P1–P4, set by three factors</a:t>
            </a:r>
          </a:p>
        </p:txBody>
      </p:sp>
      <p:sp>
        <p:nvSpPr>
          <p:cNvPr id="192" name="Text 193"/>
          <p:cNvSpPr/>
          <p:nvPr/>
        </p:nvSpPr>
        <p:spPr>
          <a:xfrm>
            <a:off x="6251400" y="3610000"/>
            <a:ext cx="5437680" cy="240000"/>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how critical the interface is · how much is failing (all messages or only some) · the business calendar (period end, payment runs)</a:t>
            </a:r>
          </a:p>
        </p:txBody>
      </p:sp>
      <p:sp>
        <p:nvSpPr>
          <p:cNvPr id="194" name="Shape 195"/>
          <p:cNvSpPr/>
          <p:nvPr/>
        </p:nvSpPr>
        <p:spPr>
          <a:xfrm>
            <a:off x="6251400" y="3900000"/>
            <a:ext cx="520000" cy="330000"/>
          </a:xfrm>
          <a:prstGeom prst="roundRect">
            <a:avLst>
              <a:gd name="adj" fmla="val 20000"/>
            </a:avLst>
          </a:prstGeom>
          <a:solidFill>
            <a:srgbClr val="FFFFFF"/>
          </a:solidFill>
          <a:ln w="12700">
            <a:solidFill>
              <a:srgbClr val="993556"/>
            </a:solidFill>
            <a:prstDash val="solid"/>
          </a:ln>
        </p:spPr>
      </p:sp>
      <p:sp>
        <p:nvSpPr>
          <p:cNvPr id="196" name="Text 197"/>
          <p:cNvSpPr/>
          <p:nvPr/>
        </p:nvSpPr>
        <p:spPr>
          <a:xfrm>
            <a:off x="6251400" y="3900000"/>
            <a:ext cx="520000" cy="330000"/>
          </a:xfrm>
          <a:prstGeom prst="rect">
            <a:avLst/>
          </a:prstGeom>
          <a:noFill/>
          <a:ln/>
        </p:spPr>
        <p:txBody>
          <a:bodyPr wrap="square" lIns="0" tIns="0" rIns="0" bIns="0" rtlCol="0" anchor="ctr"/>
          <a:lstStyle/>
          <a:p>
            <a:pPr algn="ctr" indent="0" marL="0">
              <a:buNone/>
            </a:pPr>
            <a:r>
              <a:rPr lang="en-US" sz="900" b="1" dirty="0">
                <a:solidFill>
                  <a:srgbClr val="993556"/>
                </a:solidFill>
                <a:latin typeface="Arial" pitchFamily="34" charset="0"/>
                <a:ea typeface="Arial" pitchFamily="34" charset="-122"/>
                <a:cs typeface="Arial" pitchFamily="34" charset="-120"/>
              </a:rPr>
              <a:t>P1</a:t>
            </a:r>
          </a:p>
        </p:txBody>
      </p:sp>
      <p:sp>
        <p:nvSpPr>
          <p:cNvPr id="198" name="Text 199"/>
          <p:cNvSpPr/>
          <p:nvPr/>
        </p:nvSpPr>
        <p:spPr>
          <a:xfrm>
            <a:off x="6891400" y="3880000"/>
            <a:ext cx="4797680" cy="480000"/>
          </a:xfrm>
          <a:prstGeom prst="rect">
            <a:avLst/>
          </a:prstGeom>
          <a:noFill/>
          <a:ln/>
        </p:spPr>
        <p:txBody>
          <a:bodyPr wrap="square" lIns="0" tIns="0" rIns="0" bIns="0" rtlCol="0" anchor="t"/>
          <a:lstStyle/>
          <a:p>
            <a:pPr indent="0" marL="0">
              <a:buNone/>
            </a:pPr>
            <a:r>
              <a:rPr lang="en-US" sz="830" dirty="0">
                <a:solidFill>
                  <a:srgbClr val="444444"/>
                </a:solidFill>
                <a:latin typeface="Arial" pitchFamily="34" charset="0"/>
                <a:ea typeface="Arial" pitchFamily="34" charset="-122"/>
                <a:cs typeface="Arial" pitchFamily="34" charset="-120"/>
              </a:rPr>
              <a:t>Critical process stopped, no workaround — respond 30 min, restore 4 h, hourly comms. e.g. Canonical Billing failing for all messages.</a:t>
            </a:r>
          </a:p>
        </p:txBody>
      </p:sp>
      <p:sp>
        <p:nvSpPr>
          <p:cNvPr id="200" name="Shape 201"/>
          <p:cNvSpPr/>
          <p:nvPr/>
        </p:nvSpPr>
        <p:spPr>
          <a:xfrm>
            <a:off x="6251400" y="4380000"/>
            <a:ext cx="520000" cy="330000"/>
          </a:xfrm>
          <a:prstGeom prst="roundRect">
            <a:avLst>
              <a:gd name="adj" fmla="val 20000"/>
            </a:avLst>
          </a:prstGeom>
          <a:solidFill>
            <a:srgbClr val="FFFFFF"/>
          </a:solidFill>
          <a:ln w="12700">
            <a:solidFill>
              <a:srgbClr val="993556"/>
            </a:solidFill>
            <a:prstDash val="solid"/>
          </a:ln>
        </p:spPr>
      </p:sp>
      <p:sp>
        <p:nvSpPr>
          <p:cNvPr id="202" name="Text 203"/>
          <p:cNvSpPr/>
          <p:nvPr/>
        </p:nvSpPr>
        <p:spPr>
          <a:xfrm>
            <a:off x="6251400" y="4380000"/>
            <a:ext cx="520000" cy="330000"/>
          </a:xfrm>
          <a:prstGeom prst="rect">
            <a:avLst/>
          </a:prstGeom>
          <a:noFill/>
          <a:ln/>
        </p:spPr>
        <p:txBody>
          <a:bodyPr wrap="square" lIns="0" tIns="0" rIns="0" bIns="0" rtlCol="0" anchor="ctr"/>
          <a:lstStyle/>
          <a:p>
            <a:pPr algn="ctr" indent="0" marL="0">
              <a:buNone/>
            </a:pPr>
            <a:r>
              <a:rPr lang="en-US" sz="900" b="1" dirty="0">
                <a:solidFill>
                  <a:srgbClr val="993556"/>
                </a:solidFill>
                <a:latin typeface="Arial" pitchFamily="34" charset="0"/>
                <a:ea typeface="Arial" pitchFamily="34" charset="-122"/>
                <a:cs typeface="Arial" pitchFamily="34" charset="-120"/>
              </a:rPr>
              <a:t>P2</a:t>
            </a:r>
          </a:p>
        </p:txBody>
      </p:sp>
      <p:sp>
        <p:nvSpPr>
          <p:cNvPr id="204" name="Text 205"/>
          <p:cNvSpPr/>
          <p:nvPr/>
        </p:nvSpPr>
        <p:spPr>
          <a:xfrm>
            <a:off x="6891400" y="4360000"/>
            <a:ext cx="4797680" cy="480000"/>
          </a:xfrm>
          <a:prstGeom prst="rect">
            <a:avLst/>
          </a:prstGeom>
          <a:noFill/>
          <a:ln/>
        </p:spPr>
        <p:txBody>
          <a:bodyPr wrap="square" lIns="0" tIns="0" rIns="0" bIns="0" rtlCol="0" anchor="t"/>
          <a:lstStyle/>
          <a:p>
            <a:pPr indent="0" marL="0">
              <a:buNone/>
            </a:pPr>
            <a:r>
              <a:rPr lang="en-US" sz="830" dirty="0">
                <a:solidFill>
                  <a:srgbClr val="444444"/>
                </a:solidFill>
                <a:latin typeface="Arial" pitchFamily="34" charset="0"/>
                <a:ea typeface="Arial" pitchFamily="34" charset="-122"/>
                <a:cs typeface="Arial" pitchFamily="34" charset="-120"/>
              </a:rPr>
              <a:t>Critical process degraded, workaround exists — respond 1 h, restore 1 business day. e.g. one FSM route failing; backlog on CANONICAL_BILLING_SO_IN.</a:t>
            </a:r>
          </a:p>
        </p:txBody>
      </p:sp>
      <p:sp>
        <p:nvSpPr>
          <p:cNvPr id="206" name="Shape 207"/>
          <p:cNvSpPr/>
          <p:nvPr/>
        </p:nvSpPr>
        <p:spPr>
          <a:xfrm>
            <a:off x="6251400" y="4860000"/>
            <a:ext cx="520000" cy="330000"/>
          </a:xfrm>
          <a:prstGeom prst="roundRect">
            <a:avLst>
              <a:gd name="adj" fmla="val 20000"/>
            </a:avLst>
          </a:prstGeom>
          <a:solidFill>
            <a:srgbClr val="FFFFFF"/>
          </a:solidFill>
          <a:ln w="12700">
            <a:solidFill>
              <a:srgbClr val="3B3491"/>
            </a:solidFill>
            <a:prstDash val="solid"/>
          </a:ln>
        </p:spPr>
      </p:sp>
      <p:sp>
        <p:nvSpPr>
          <p:cNvPr id="208" name="Text 209"/>
          <p:cNvSpPr/>
          <p:nvPr/>
        </p:nvSpPr>
        <p:spPr>
          <a:xfrm>
            <a:off x="6251400" y="4860000"/>
            <a:ext cx="520000" cy="330000"/>
          </a:xfrm>
          <a:prstGeom prst="rect">
            <a:avLst/>
          </a:prstGeom>
          <a:noFill/>
          <a:ln/>
        </p:spPr>
        <p:txBody>
          <a:bodyPr wrap="square" lIns="0" tIns="0" rIns="0" bIns="0" rtlCol="0" anchor="ctr"/>
          <a:lstStyle/>
          <a:p>
            <a:pPr algn="ctr" indent="0" marL="0">
              <a:buNone/>
            </a:pPr>
            <a:r>
              <a:rPr lang="en-US" sz="900" b="1" dirty="0">
                <a:solidFill>
                  <a:srgbClr val="3B3491"/>
                </a:solidFill>
                <a:latin typeface="Arial" pitchFamily="34" charset="0"/>
                <a:ea typeface="Arial" pitchFamily="34" charset="-122"/>
                <a:cs typeface="Arial" pitchFamily="34" charset="-120"/>
              </a:rPr>
              <a:t>P3</a:t>
            </a:r>
          </a:p>
        </p:txBody>
      </p:sp>
      <p:sp>
        <p:nvSpPr>
          <p:cNvPr id="210" name="Text 211"/>
          <p:cNvSpPr/>
          <p:nvPr/>
        </p:nvSpPr>
        <p:spPr>
          <a:xfrm>
            <a:off x="6891400" y="4840000"/>
            <a:ext cx="4797680" cy="480000"/>
          </a:xfrm>
          <a:prstGeom prst="rect">
            <a:avLst/>
          </a:prstGeom>
          <a:noFill/>
          <a:ln/>
        </p:spPr>
        <p:txBody>
          <a:bodyPr wrap="square" lIns="0" tIns="0" rIns="0" bIns="0" rtlCol="0" anchor="t"/>
          <a:lstStyle/>
          <a:p>
            <a:pPr indent="0" marL="0">
              <a:buNone/>
            </a:pPr>
            <a:r>
              <a:rPr lang="en-US" sz="830" dirty="0">
                <a:solidFill>
                  <a:srgbClr val="444444"/>
                </a:solidFill>
                <a:latin typeface="Arial" pitchFamily="34" charset="0"/>
                <a:ea typeface="Arial" pitchFamily="34" charset="-122"/>
                <a:cs typeface="Arial" pitchFamily="34" charset="-120"/>
              </a:rPr>
              <a:t>Business exceptions and functional defects — respond 1 business day, resolve 3. e.g. rejected confirmations returned to JAMS.</a:t>
            </a:r>
          </a:p>
        </p:txBody>
      </p:sp>
      <p:sp>
        <p:nvSpPr>
          <p:cNvPr id="212" name="Shape 213"/>
          <p:cNvSpPr/>
          <p:nvPr/>
        </p:nvSpPr>
        <p:spPr>
          <a:xfrm>
            <a:off x="6251400" y="5340000"/>
            <a:ext cx="520000" cy="330000"/>
          </a:xfrm>
          <a:prstGeom prst="roundRect">
            <a:avLst>
              <a:gd name="adj" fmla="val 20000"/>
            </a:avLst>
          </a:prstGeom>
          <a:solidFill>
            <a:srgbClr val="FFFFFF"/>
          </a:solidFill>
          <a:ln w="12700">
            <a:solidFill>
              <a:srgbClr val="5B6570"/>
            </a:solidFill>
            <a:prstDash val="solid"/>
          </a:ln>
        </p:spPr>
      </p:sp>
      <p:sp>
        <p:nvSpPr>
          <p:cNvPr id="214" name="Text 215"/>
          <p:cNvSpPr/>
          <p:nvPr/>
        </p:nvSpPr>
        <p:spPr>
          <a:xfrm>
            <a:off x="6251400" y="5340000"/>
            <a:ext cx="520000" cy="330000"/>
          </a:xfrm>
          <a:prstGeom prst="rect">
            <a:avLst/>
          </a:prstGeom>
          <a:noFill/>
          <a:ln/>
        </p:spPr>
        <p:txBody>
          <a:bodyPr wrap="square" lIns="0" tIns="0" rIns="0" bIns="0" rtlCol="0" anchor="ctr"/>
          <a:lstStyle/>
          <a:p>
            <a:pPr algn="ctr" indent="0" marL="0">
              <a:buNone/>
            </a:pPr>
            <a:r>
              <a:rPr lang="en-US" sz="900" b="1" dirty="0">
                <a:solidFill>
                  <a:srgbClr val="5B6570"/>
                </a:solidFill>
                <a:latin typeface="Arial" pitchFamily="34" charset="0"/>
                <a:ea typeface="Arial" pitchFamily="34" charset="-122"/>
                <a:cs typeface="Arial" pitchFamily="34" charset="-120"/>
              </a:rPr>
              <a:t>P4</a:t>
            </a:r>
          </a:p>
        </p:txBody>
      </p:sp>
      <p:sp>
        <p:nvSpPr>
          <p:cNvPr id="216" name="Text 217"/>
          <p:cNvSpPr/>
          <p:nvPr/>
        </p:nvSpPr>
        <p:spPr>
          <a:xfrm>
            <a:off x="6891400" y="5320000"/>
            <a:ext cx="4797680" cy="480000"/>
          </a:xfrm>
          <a:prstGeom prst="rect">
            <a:avLst/>
          </a:prstGeom>
          <a:noFill/>
          <a:ln/>
        </p:spPr>
        <p:txBody>
          <a:bodyPr wrap="square" lIns="0" tIns="0" rIns="0" bIns="0" rtlCol="0" anchor="t"/>
          <a:lstStyle/>
          <a:p>
            <a:pPr indent="0" marL="0">
              <a:buNone/>
            </a:pPr>
            <a:r>
              <a:rPr lang="en-US" sz="830" dirty="0">
                <a:solidFill>
                  <a:srgbClr val="444444"/>
                </a:solidFill>
                <a:latin typeface="Arial" pitchFamily="34" charset="0"/>
                <a:ea typeface="Arial" pitchFamily="34" charset="-122"/>
                <a:cs typeface="Arial" pitchFamily="34" charset="-120"/>
              </a:rPr>
              <a:t>Non-production and cosmetic — respond 2 business days. e.g. a TEST-system failure during testing.</a:t>
            </a:r>
          </a:p>
        </p:txBody>
      </p:sp>
      <p:sp>
        <p:nvSpPr>
          <p:cNvPr id="218" name="Text 219"/>
          <p:cNvSpPr/>
          <p:nvPr/>
        </p:nvSpPr>
        <p:spPr>
          <a:xfrm>
            <a:off x="6251400" y="5840000"/>
            <a:ext cx="5437680" cy="400000"/>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Targets are proposed values — confirmed by GBIS against BAU service levels, and by the business for domain impact, before v1.0.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3"/>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4" name="Text 5"/>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p>
        </p:txBody>
      </p:sp>
      <p:sp>
        <p:nvSpPr>
          <p:cNvPr id="6" name="Text 7"/>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Outbound build sheet — register the answers and the pulls</a:t>
            </a:r>
          </a:p>
        </p:txBody>
      </p:sp>
      <p:sp>
        <p:nvSpPr>
          <p:cNvPr id="8" name="Shape 9"/>
          <p:cNvSpPr/>
          <p:nvPr/>
        </p:nvSpPr>
        <p:spPr>
          <a:xfrm>
            <a:off x="9591672" y="201168"/>
            <a:ext cx="1500000" cy="274320"/>
          </a:xfrm>
          <a:prstGeom prst="roundRect">
            <a:avLst>
              <a:gd name="adj" fmla="val 40000"/>
            </a:avLst>
          </a:prstGeom>
          <a:solidFill>
            <a:srgbClr val="E1F5EE"/>
          </a:solidFill>
          <a:ln w="12700">
            <a:solidFill>
              <a:srgbClr val="0F6E56"/>
            </a:solidFill>
            <a:prstDash val="solid"/>
          </a:ln>
        </p:spPr>
      </p:sp>
      <p:sp>
        <p:nvSpPr>
          <p:cNvPr id="10" name="Text 11"/>
          <p:cNvSpPr/>
          <p:nvPr/>
        </p:nvSpPr>
        <p:spPr>
          <a:xfrm>
            <a:off x="9591672" y="201168"/>
            <a:ext cx="1500000"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Implementation</a:t>
            </a:r>
          </a:p>
        </p:txBody>
      </p:sp>
      <p:sp>
        <p:nvSpPr>
          <p:cNvPr id="12" name="Text 13"/>
          <p:cNvSpPr/>
          <p:nvPr/>
        </p:nvSpPr>
        <p:spPr>
          <a:xfrm>
            <a:off x="502920" y="676656"/>
            <a:ext cx="11201400" cy="340000"/>
          </a:xfrm>
          <a:prstGeom prst="rect">
            <a:avLst/>
          </a:prstGeom>
          <a:noFill/>
          <a:ln/>
        </p:spPr>
        <p:txBody>
          <a:bodyPr wrap="square" lIns="0" tIns="0" rIns="0" bIns="0" rtlCol="0" anchor="t"/>
          <a:lstStyle/>
          <a:p>
            <a:pPr indent="0" marL="0">
              <a:buNone/>
            </a:pPr>
            <a:r>
              <a:rPr lang="en-US" sz="1150" dirty="0">
                <a:solidFill>
                  <a:srgbClr val="595959"/>
                </a:solidFill>
                <a:latin typeface="Arial" pitchFamily="34" charset="0"/>
                <a:ea typeface="Arial" pitchFamily="34" charset="-122"/>
                <a:cs typeface="Arial" pitchFamily="34" charset="-120"/>
              </a:rPr>
              <a:t>Everything S/4 sends back is one of two kinds. An ANSWER closes a request the field system sent in — it is pushed. DATA is refreshed when the system wants it — it is pulled. Three shared components serve all twenty-four backlog interfaces; each interface is a single registration line, and the layer has been booted from this page as code.</a:t>
            </a:r>
          </a:p>
        </p:txBody>
      </p:sp>
      <p:sp>
        <p:nvSpPr>
          <p:cNvPr id="14" name="Text 15"/>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p>
        </p:txBody>
      </p:sp>
      <p:sp>
        <p:nvSpPr>
          <p:cNvPr id="16" name="Text 17"/>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p>
        </p:txBody>
      </p:sp>
      <p:sp>
        <p:nvSpPr>
          <p:cNvPr id="18" name="Shape 19"/>
          <p:cNvSpPr/>
          <p:nvPr/>
        </p:nvSpPr>
        <p:spPr>
          <a:xfrm>
            <a:off x="502920" y="1180000"/>
            <a:ext cx="5470000" cy="3950000"/>
          </a:xfrm>
          <a:prstGeom prst="roundRect">
            <a:avLst>
              <a:gd name="adj" fmla="val 3000"/>
            </a:avLst>
          </a:prstGeom>
          <a:solidFill>
            <a:srgbClr val="EEEDFE"/>
          </a:solidFill>
          <a:ln w="15875">
            <a:solidFill>
              <a:srgbClr val="534AB7"/>
            </a:solidFill>
            <a:prstDash val="solid"/>
          </a:ln>
        </p:spPr>
      </p:sp>
      <p:sp>
        <p:nvSpPr>
          <p:cNvPr id="20" name="Text 21"/>
          <p:cNvSpPr/>
          <p:nvPr/>
        </p:nvSpPr>
        <p:spPr>
          <a:xfrm>
            <a:off x="662920" y="1290000"/>
            <a:ext cx="5150000" cy="260000"/>
          </a:xfrm>
          <a:prstGeom prst="rect">
            <a:avLst/>
          </a:prstGeom>
          <a:noFill/>
          <a:ln/>
        </p:spPr>
        <p:txBody>
          <a:bodyPr wrap="square" lIns="0" tIns="0" rIns="0" bIns="0" rtlCol="0" anchor="t"/>
          <a:lstStyle/>
          <a:p>
            <a:pPr indent="0" marL="0">
              <a:buNone/>
            </a:pPr>
            <a:r>
              <a:rPr lang="en-US" sz="1100" b="1" dirty="0">
                <a:solidFill>
                  <a:srgbClr val="3B3491"/>
                </a:solidFill>
                <a:latin typeface="Arial" pitchFamily="34" charset="0"/>
                <a:ea typeface="Arial" pitchFamily="34" charset="-122"/>
                <a:cs typeface="Arial" pitchFamily="34" charset="-120"/>
              </a:rPr>
              <a:t>ANSWERS — pushed by CPI</a:t>
            </a:r>
            <a:r>
              <a:rPr lang="en-US" sz="950" dirty="0">
                <a:solidFill>
                  <a:srgbClr val="3B3491"/>
                </a:solidFill>
                <a:latin typeface="Arial" pitchFamily="34" charset="0"/>
                <a:ea typeface="Arial" pitchFamily="34" charset="-122"/>
                <a:cs typeface="Arial" pitchFamily="34" charset="-120"/>
              </a:rPr>
              <a:t>   13 interfaces</a:t>
            </a:r>
          </a:p>
        </p:txBody>
      </p:sp>
      <p:sp>
        <p:nvSpPr>
          <p:cNvPr id="22" name="Text 23"/>
          <p:cNvSpPr/>
          <p:nvPr/>
        </p:nvSpPr>
        <p:spPr>
          <a:xfrm>
            <a:off x="662920" y="1640000"/>
            <a:ext cx="5150000" cy="240000"/>
          </a:xfrm>
          <a:prstGeom prst="rect">
            <a:avLst/>
          </a:prstGeom>
          <a:noFill/>
          <a:ln/>
        </p:spPr>
        <p:txBody>
          <a:bodyPr wrap="square" lIns="0" tIns="0" rIns="0" bIns="0" rtlCol="0" anchor="t"/>
          <a:lstStyle/>
          <a:p>
            <a:pPr indent="0" marL="0">
              <a:buNone/>
            </a:pPr>
            <a:r>
              <a:rPr lang="en-US" sz="950" b="1" dirty="0">
                <a:solidFill>
                  <a:srgbClr val="3B3491"/>
                </a:solidFill>
                <a:latin typeface="Arial" pitchFamily="34" charset="0"/>
                <a:ea typeface="Arial" pitchFamily="34" charset="-122"/>
                <a:cs typeface="Arial" pitchFamily="34" charset="-120"/>
              </a:rPr>
              <a:t>1 · Confirmation answers  ·  JAMS · ServiceNow · SiteTracker</a:t>
            </a:r>
          </a:p>
        </p:txBody>
      </p:sp>
      <p:sp>
        <p:nvSpPr>
          <p:cNvPr id="24" name="Text 25"/>
          <p:cNvSpPr/>
          <p:nvPr/>
        </p:nvSpPr>
        <p:spPr>
          <a:xfrm>
            <a:off x="662920" y="1890000"/>
            <a:ext cx="5150000" cy="500000"/>
          </a:xfrm>
          <a:prstGeom prst="rect">
            <a:avLst/>
          </a:prstGeom>
          <a:noFill/>
          <a:ln/>
        </p:spPr>
        <p:txBody>
          <a:bodyPr wrap="square" lIns="0" tIns="0" rIns="0" bIns="0" rtlCol="0" anchor="t"/>
          <a:lstStyle/>
          <a:p>
            <a:pPr indent="0" marL="0">
              <a:spcAft>
                <a:spcPts val="200"/>
              </a:spcAft>
              <a:buNone/>
            </a:pPr>
            <a:r>
              <a:rPr lang="en-US" sz="850" dirty="0">
                <a:solidFill>
                  <a:srgbClr val="444444"/>
                </a:solidFill>
                <a:latin typeface="Arial" pitchFamily="34" charset="0"/>
                <a:ea typeface="Arial" pitchFamily="34" charset="-122"/>
                <a:cs typeface="Arial" pitchFamily="34" charset="-120"/>
              </a:rPr>
              <a:t>The field system posted time &amp; equipment confirmations; this is its answer coming back.</a:t>
            </a:r>
          </a:p>
          <a:p>
            <a:pPr indent="0" marL="0">
              <a:buNone/>
            </a:pPr>
            <a:r>
              <a:rPr lang="en-US" sz="850" b="1" dirty="0">
                <a:solidFill>
                  <a:srgbClr val="444444"/>
                </a:solidFill>
                <a:latin typeface="Arial" pitchFamily="34" charset="0"/>
                <a:ea typeface="Arial" pitchFamily="34" charset="-122"/>
                <a:cs typeface="Arial" pitchFamily="34" charset="-120"/>
              </a:rPr>
              <a:t>One shape for all of them:  </a:t>
            </a:r>
            <a:r>
              <a:rPr lang="en-US" sz="850" dirty="0">
                <a:solidFill>
                  <a:srgbClr val="085041"/>
                </a:solidFill>
                <a:latin typeface="Arial" pitchFamily="34" charset="0"/>
                <a:ea typeface="Arial" pitchFamily="34" charset="-122"/>
                <a:cs typeface="Arial" pitchFamily="34" charset="-120"/>
              </a:rPr>
              <a:t>{ status, correlationId, sapServiceOrder, sapStatus }</a:t>
            </a:r>
          </a:p>
        </p:txBody>
      </p:sp>
      <p:sp>
        <p:nvSpPr>
          <p:cNvPr id="26" name="Text 27"/>
          <p:cNvSpPr/>
          <p:nvPr/>
        </p:nvSpPr>
        <p:spPr>
          <a:xfrm>
            <a:off x="662920" y="2430000"/>
            <a:ext cx="5150000" cy="240000"/>
          </a:xfrm>
          <a:prstGeom prst="rect">
            <a:avLst/>
          </a:prstGeom>
          <a:noFill/>
          <a:ln/>
        </p:spPr>
        <p:txBody>
          <a:bodyPr wrap="square" lIns="0" tIns="0" rIns="0" bIns="0" rtlCol="0" anchor="t"/>
          <a:lstStyle/>
          <a:p>
            <a:pPr indent="0" marL="0">
              <a:buNone/>
            </a:pPr>
            <a:r>
              <a:rPr lang="en-US" sz="850" b="1" dirty="0">
                <a:solidFill>
                  <a:srgbClr val="3B3491"/>
                </a:solidFill>
                <a:latin typeface="Arial" pitchFamily="34" charset="0"/>
                <a:ea typeface="Arial" pitchFamily="34" charset="-122"/>
                <a:cs typeface="Arial" pitchFamily="34" charset="-120"/>
              </a:rPr>
              <a:t>We register: </a:t>
            </a:r>
            <a:r>
              <a:rPr lang="en-US" sz="850" dirty="0">
                <a:solidFill>
                  <a:srgbClr val="444444"/>
                </a:solidFill>
                <a:latin typeface="Arial" pitchFamily="34" charset="0"/>
                <a:ea typeface="Arial" pitchFamily="34" charset="-122"/>
                <a:cs typeface="Arial" pitchFamily="34" charset="-120"/>
              </a:rPr>
              <a:t>one dispatcher route per system — endpoint + OAuth client.</a:t>
            </a:r>
          </a:p>
        </p:txBody>
      </p:sp>
      <p:sp>
        <p:nvSpPr>
          <p:cNvPr id="28" name="Text 29"/>
          <p:cNvSpPr/>
          <p:nvPr/>
        </p:nvSpPr>
        <p:spPr>
          <a:xfrm>
            <a:off x="662920" y="2680000"/>
            <a:ext cx="5150000" cy="190000"/>
          </a:xfrm>
          <a:prstGeom prst="rect">
            <a:avLst/>
          </a:prstGeom>
          <a:noFill/>
          <a:ln/>
        </p:spPr>
        <p:txBody>
          <a:bodyPr wrap="square" lIns="0" tIns="0" rIns="0" bIns="0" rtlCol="0" anchor="t"/>
          <a:lstStyle/>
          <a:p>
            <a:pPr indent="0" marL="0">
              <a:buNone/>
            </a:pPr>
            <a:r>
              <a:rPr lang="en-US" sz="750" i="1" dirty="0">
                <a:solidFill>
                  <a:srgbClr val="8A8A8A"/>
                </a:solidFill>
                <a:latin typeface="Arial" pitchFamily="34" charset="0"/>
                <a:ea typeface="Arial" pitchFamily="34" charset="-122"/>
                <a:cs typeface="Arial" pitchFamily="34" charset="-120"/>
              </a:rPr>
              <a:t>backlog: 3-1088 / 89 · 3-1114 / 15 · 3-1100 / 01</a:t>
            </a:r>
          </a:p>
        </p:txBody>
      </p:sp>
      <p:sp>
        <p:nvSpPr>
          <p:cNvPr id="30" name="Text 31"/>
          <p:cNvSpPr/>
          <p:nvPr/>
        </p:nvSpPr>
        <p:spPr>
          <a:xfrm>
            <a:off x="662920" y="3010000"/>
            <a:ext cx="5150000" cy="240000"/>
          </a:xfrm>
          <a:prstGeom prst="rect">
            <a:avLst/>
          </a:prstGeom>
          <a:noFill/>
          <a:ln/>
        </p:spPr>
        <p:txBody>
          <a:bodyPr wrap="square" lIns="0" tIns="0" rIns="0" bIns="0" rtlCol="0" anchor="t"/>
          <a:lstStyle/>
          <a:p>
            <a:pPr indent="0" marL="0">
              <a:buNone/>
            </a:pPr>
            <a:r>
              <a:rPr lang="en-US" sz="950" b="1" dirty="0">
                <a:solidFill>
                  <a:srgbClr val="3B3491"/>
                </a:solidFill>
                <a:latin typeface="Arial" pitchFamily="34" charset="0"/>
                <a:ea typeface="Arial" pitchFamily="34" charset="-122"/>
                <a:cs typeface="Arial" pitchFamily="34" charset="-120"/>
              </a:rPr>
              <a:t>2 · Document answers, pushed  ·  MDFS · PIMS · MARS · UNIWOH · Konect · MEX</a:t>
            </a:r>
          </a:p>
        </p:txBody>
      </p:sp>
      <p:sp>
        <p:nvSpPr>
          <p:cNvPr id="32" name="Text 33"/>
          <p:cNvSpPr/>
          <p:nvPr/>
        </p:nvSpPr>
        <p:spPr>
          <a:xfrm>
            <a:off x="662920" y="3260000"/>
            <a:ext cx="5150000" cy="500000"/>
          </a:xfrm>
          <a:prstGeom prst="rect">
            <a:avLst/>
          </a:prstGeom>
          <a:noFill/>
          <a:ln/>
        </p:spPr>
        <p:txBody>
          <a:bodyPr wrap="square" lIns="0" tIns="0" rIns="0" bIns="0" rtlCol="0" anchor="t"/>
          <a:lstStyle/>
          <a:p>
            <a:pPr indent="0" marL="0">
              <a:spcAft>
                <a:spcPts val="200"/>
              </a:spcAft>
              <a:buNone/>
            </a:pPr>
            <a:r>
              <a:rPr lang="en-US" sz="850" dirty="0">
                <a:solidFill>
                  <a:srgbClr val="444444"/>
                </a:solidFill>
                <a:latin typeface="Arial" pitchFamily="34" charset="0"/>
                <a:ea typeface="Arial" pitchFamily="34" charset="-122"/>
                <a:cs typeface="Arial" pitchFamily="34" charset="-120"/>
              </a:rPr>
              <a:t>Invoice numbers, payment status, SO numbers — each is the answer to that system's own inbound chain (claim in → invoice number back).</a:t>
            </a:r>
          </a:p>
          <a:p>
            <a:pPr indent="0" marL="0">
              <a:buNone/>
            </a:pPr>
            <a:r>
              <a:rPr lang="en-US" sz="850" b="1" dirty="0">
                <a:solidFill>
                  <a:srgbClr val="444444"/>
                </a:solidFill>
                <a:latin typeface="Arial" pitchFamily="34" charset="0"/>
                <a:ea typeface="Arial" pitchFamily="34" charset="-122"/>
                <a:cs typeface="Arial" pitchFamily="34" charset="-120"/>
              </a:rPr>
              <a:t>Same answer shape as group 1 — nothing different per system.</a:t>
            </a:r>
          </a:p>
        </p:txBody>
      </p:sp>
      <p:sp>
        <p:nvSpPr>
          <p:cNvPr id="34" name="Text 35"/>
          <p:cNvSpPr/>
          <p:nvPr/>
        </p:nvSpPr>
        <p:spPr>
          <a:xfrm>
            <a:off x="662920" y="3810000"/>
            <a:ext cx="5150000" cy="240000"/>
          </a:xfrm>
          <a:prstGeom prst="rect">
            <a:avLst/>
          </a:prstGeom>
          <a:noFill/>
          <a:ln/>
        </p:spPr>
        <p:txBody>
          <a:bodyPr wrap="square" lIns="0" tIns="0" rIns="0" bIns="0" rtlCol="0" anchor="t"/>
          <a:lstStyle/>
          <a:p>
            <a:pPr indent="0" marL="0">
              <a:buNone/>
            </a:pPr>
            <a:r>
              <a:rPr lang="en-US" sz="850" b="1" dirty="0">
                <a:solidFill>
                  <a:srgbClr val="3B3491"/>
                </a:solidFill>
                <a:latin typeface="Arial" pitchFamily="34" charset="0"/>
                <a:ea typeface="Arial" pitchFamily="34" charset="-122"/>
                <a:cs typeface="Arial" pitchFamily="34" charset="-120"/>
              </a:rPr>
              <a:t>We register: </a:t>
            </a:r>
            <a:r>
              <a:rPr lang="en-US" sz="850" dirty="0">
                <a:solidFill>
                  <a:srgbClr val="444444"/>
                </a:solidFill>
                <a:latin typeface="Arial" pitchFamily="34" charset="0"/>
                <a:ea typeface="Arial" pitchFamily="34" charset="-122"/>
                <a:cs typeface="Arial" pitchFamily="34" charset="-120"/>
              </a:rPr>
              <a:t>one route each — six lines of configuration.</a:t>
            </a:r>
          </a:p>
        </p:txBody>
      </p:sp>
      <p:sp>
        <p:nvSpPr>
          <p:cNvPr id="36" name="Text 37"/>
          <p:cNvSpPr/>
          <p:nvPr/>
        </p:nvSpPr>
        <p:spPr>
          <a:xfrm>
            <a:off x="662920" y="4060000"/>
            <a:ext cx="5150000" cy="190000"/>
          </a:xfrm>
          <a:prstGeom prst="rect">
            <a:avLst/>
          </a:prstGeom>
          <a:noFill/>
          <a:ln/>
        </p:spPr>
        <p:txBody>
          <a:bodyPr wrap="square" lIns="0" tIns="0" rIns="0" bIns="0" rtlCol="0" anchor="t"/>
          <a:lstStyle/>
          <a:p>
            <a:pPr indent="0" marL="0">
              <a:buNone/>
            </a:pPr>
            <a:r>
              <a:rPr lang="en-US" sz="750" i="1" dirty="0">
                <a:solidFill>
                  <a:srgbClr val="8A8A8A"/>
                </a:solidFill>
                <a:latin typeface="Arial" pitchFamily="34" charset="0"/>
                <a:ea typeface="Arial" pitchFamily="34" charset="-122"/>
                <a:cs typeface="Arial" pitchFamily="34" charset="-120"/>
              </a:rPr>
              <a:t>backlog: 3-1247 · 1249 · 1225 / 26 · 1237 · 1241 · 1233</a:t>
            </a:r>
          </a:p>
        </p:txBody>
      </p:sp>
      <p:sp>
        <p:nvSpPr>
          <p:cNvPr id="38" name="Text 39"/>
          <p:cNvSpPr/>
          <p:nvPr/>
        </p:nvSpPr>
        <p:spPr>
          <a:xfrm>
            <a:off x="662920" y="4460000"/>
            <a:ext cx="5150000" cy="560000"/>
          </a:xfrm>
          <a:prstGeom prst="rect">
            <a:avLst/>
          </a:prstGeom>
          <a:noFill/>
          <a:ln/>
        </p:spPr>
        <p:txBody>
          <a:bodyPr wrap="square" lIns="0" tIns="0" rIns="0" bIns="0" rtlCol="0" anchor="t"/>
          <a:lstStyle/>
          <a:p>
            <a:pPr indent="0" marL="0">
              <a:buNone/>
            </a:pPr>
            <a:r>
              <a:rPr lang="en-US" sz="850" b="1" dirty="0">
                <a:solidFill>
                  <a:srgbClr val="72243E"/>
                </a:solidFill>
                <a:latin typeface="Arial" pitchFamily="34" charset="0"/>
                <a:ea typeface="Arial" pitchFamily="34" charset="-122"/>
                <a:cs typeface="Arial" pitchFamily="34" charset="-120"/>
              </a:rPr>
              <a:t>If the endpoint is down: </a:t>
            </a:r>
            <a:r>
              <a:rPr lang="en-US" sz="850" dirty="0">
                <a:solidFill>
                  <a:srgbClr val="444444"/>
                </a:solidFill>
                <a:latin typeface="Arial" pitchFamily="34" charset="0"/>
                <a:ea typeface="Arial" pitchFamily="34" charset="-122"/>
                <a:cs typeface="Arial" pitchFamily="34" charset="-120"/>
              </a:rPr>
              <a:t>the answer waits in the response queue and retries alone — S/4 is never re-posted, and the tracker answers meanwhile.</a:t>
            </a:r>
          </a:p>
        </p:txBody>
      </p:sp>
      <p:sp>
        <p:nvSpPr>
          <p:cNvPr id="40" name="Shape 41"/>
          <p:cNvSpPr/>
          <p:nvPr/>
        </p:nvSpPr>
        <p:spPr>
          <a:xfrm>
            <a:off x="6251400" y="1180000"/>
            <a:ext cx="5437680" cy="3950000"/>
          </a:xfrm>
          <a:prstGeom prst="roundRect">
            <a:avLst>
              <a:gd name="adj" fmla="val 3000"/>
            </a:avLst>
          </a:prstGeom>
          <a:solidFill>
            <a:srgbClr val="E1F5EE"/>
          </a:solidFill>
          <a:ln w="15875">
            <a:solidFill>
              <a:srgbClr val="0F6E56"/>
            </a:solidFill>
            <a:prstDash val="solid"/>
          </a:ln>
        </p:spPr>
      </p:sp>
      <p:sp>
        <p:nvSpPr>
          <p:cNvPr id="42" name="Text 43"/>
          <p:cNvSpPr/>
          <p:nvPr/>
        </p:nvSpPr>
        <p:spPr>
          <a:xfrm>
            <a:off x="6411400" y="1290000"/>
            <a:ext cx="5117680" cy="260000"/>
          </a:xfrm>
          <a:prstGeom prst="rect">
            <a:avLst/>
          </a:prstGeom>
          <a:noFill/>
          <a:ln/>
        </p:spPr>
        <p:txBody>
          <a:bodyPr wrap="square" lIns="0" tIns="0" rIns="0" bIns="0" rtlCol="0" anchor="t"/>
          <a:lstStyle/>
          <a:p>
            <a:pPr indent="0" marL="0">
              <a:buNone/>
            </a:pPr>
            <a:r>
              <a:rPr lang="en-US" sz="1100" b="1" dirty="0">
                <a:solidFill>
                  <a:srgbClr val="085041"/>
                </a:solidFill>
                <a:latin typeface="Arial" pitchFamily="34" charset="0"/>
                <a:ea typeface="Arial" pitchFamily="34" charset="-122"/>
                <a:cs typeface="Arial" pitchFamily="34" charset="-120"/>
              </a:rPr>
              <a:t>DATA — pulled by the system</a:t>
            </a:r>
            <a:r>
              <a:rPr lang="en-US" sz="950" dirty="0">
                <a:solidFill>
                  <a:srgbClr val="085041"/>
                </a:solidFill>
                <a:latin typeface="Arial" pitchFamily="34" charset="0"/>
                <a:ea typeface="Arial" pitchFamily="34" charset="-122"/>
                <a:cs typeface="Arial" pitchFamily="34" charset="-120"/>
              </a:rPr>
              <a:t>   11 interfaces</a:t>
            </a:r>
          </a:p>
        </p:txBody>
      </p:sp>
      <p:sp>
        <p:nvSpPr>
          <p:cNvPr id="44" name="Text 45"/>
          <p:cNvSpPr/>
          <p:nvPr/>
        </p:nvSpPr>
        <p:spPr>
          <a:xfrm>
            <a:off x="6411400" y="1640000"/>
            <a:ext cx="5117680" cy="500000"/>
          </a:xfrm>
          <a:prstGeom prst="rect">
            <a:avLst/>
          </a:prstGeom>
          <a:noFill/>
          <a:ln/>
        </p:spPr>
        <p:txBody>
          <a:bodyPr wrap="square" lIns="0" tIns="0" rIns="0" bIns="0" rtlCol="0" anchor="t"/>
          <a:lstStyle/>
          <a:p>
            <a:pPr indent="0" marL="0">
              <a:buNone/>
            </a:pPr>
            <a:r>
              <a:rPr lang="en-US" sz="850" dirty="0">
                <a:solidFill>
                  <a:srgbClr val="444444"/>
                </a:solidFill>
                <a:latin typeface="Arial" pitchFamily="34" charset="0"/>
                <a:ea typeface="Arial" pitchFamily="34" charset="-122"/>
                <a:cs typeface="Arial" pitchFamily="34" charset="-120"/>
              </a:rPr>
              <a:t>Cost, status and payment data the field systems refresh on their own schedule — nothing "asked" for it, so nothing is pushed.</a:t>
            </a:r>
          </a:p>
        </p:txBody>
      </p:sp>
      <p:sp>
        <p:nvSpPr>
          <p:cNvPr id="46" name="Text 47"/>
          <p:cNvSpPr/>
          <p:nvPr/>
        </p:nvSpPr>
        <p:spPr>
          <a:xfrm>
            <a:off x="6411400" y="2160000"/>
            <a:ext cx="5117680" cy="240000"/>
          </a:xfrm>
          <a:prstGeom prst="rect">
            <a:avLst/>
          </a:prstGeom>
          <a:noFill/>
          <a:ln/>
        </p:spPr>
        <p:txBody>
          <a:bodyPr wrap="square" lIns="0" tIns="0" rIns="0" bIns="0" rtlCol="0" anchor="t"/>
          <a:lstStyle/>
          <a:p>
            <a:pPr indent="0" marL="0">
              <a:buNone/>
            </a:pPr>
            <a:r>
              <a:rPr lang="en-US" sz="950" b="1" dirty="0">
                <a:solidFill>
                  <a:srgbClr val="085041"/>
                </a:solidFill>
                <a:latin typeface="Arial" pitchFamily="34" charset="0"/>
                <a:ea typeface="Arial" pitchFamily="34" charset="-122"/>
                <a:cs typeface="Arial" pitchFamily="34" charset="-120"/>
              </a:rPr>
              <a:t>One address for everything:</a:t>
            </a:r>
          </a:p>
        </p:txBody>
      </p:sp>
      <p:sp>
        <p:nvSpPr>
          <p:cNvPr id="48" name="Text 49"/>
          <p:cNvSpPr/>
          <p:nvPr/>
        </p:nvSpPr>
        <p:spPr>
          <a:xfrm>
            <a:off x="6411400" y="2410000"/>
            <a:ext cx="5117680" cy="240000"/>
          </a:xfrm>
          <a:prstGeom prst="rect">
            <a:avLst/>
          </a:prstGeom>
          <a:noFill/>
          <a:ln/>
        </p:spPr>
        <p:txBody>
          <a:bodyPr wrap="square" lIns="0" tIns="0" rIns="0" bIns="0" rtlCol="0" anchor="t"/>
          <a:lstStyle/>
          <a:p>
            <a:pPr indent="0" marL="0">
              <a:buNone/>
            </a:pPr>
            <a:r>
              <a:rPr lang="en-US" sz="850" dirty="0">
                <a:solidFill>
                  <a:srgbClr val="24303A"/>
                </a:solidFill>
                <a:latin typeface="Courier New" pitchFamily="34" charset="0"/>
                <a:ea typeface="Courier New" pitchFamily="34" charset="-122"/>
                <a:cs typeface="Courier New" pitchFamily="34" charset="-120"/>
              </a:rPr>
              <a:t>GET /refdata/v1/{domain}?system=…&amp;changedSince=…</a:t>
            </a:r>
          </a:p>
        </p:txBody>
      </p:sp>
      <p:sp>
        <p:nvSpPr>
          <p:cNvPr id="50" name="Text 51"/>
          <p:cNvSpPr/>
          <p:nvPr/>
        </p:nvSpPr>
        <p:spPr>
          <a:xfrm>
            <a:off x="6411400" y="2720000"/>
            <a:ext cx="5117680" cy="700000"/>
          </a:xfrm>
          <a:prstGeom prst="rect">
            <a:avLst/>
          </a:prstGeom>
          <a:noFill/>
          <a:ln/>
        </p:spPr>
        <p:txBody>
          <a:bodyPr wrap="square" lIns="0" tIns="0" rIns="0" bIns="0" rtlCol="0" anchor="t"/>
          <a:lstStyle/>
          <a:p>
            <a:pPr indent="0" marL="0">
              <a:spcAft>
                <a:spcPts val="200"/>
              </a:spcAft>
              <a:buNone/>
            </a:pPr>
            <a:r>
              <a:rPr lang="en-US" sz="850" b="1" dirty="0">
                <a:solidFill>
                  <a:srgbClr val="444444"/>
                </a:solidFill>
                <a:latin typeface="Arial" pitchFamily="34" charset="0"/>
                <a:ea typeface="Arial" pitchFamily="34" charset="-122"/>
                <a:cs typeface="Arial" pitchFamily="34" charset="-120"/>
              </a:rPr>
              <a:t>Four kinds of data:  </a:t>
            </a:r>
            <a:r>
              <a:rPr lang="en-US" sz="850" dirty="0">
                <a:solidFill>
                  <a:srgbClr val="444444"/>
                </a:solidFill>
                <a:latin typeface="Arial" pitchFamily="34" charset="0"/>
                <a:ea typeface="Arial" pitchFamily="34" charset="-122"/>
                <a:cs typeface="Arial" pitchFamily="34" charset="-120"/>
              </a:rPr>
              <a:t>stock cost &amp; quantity · supplier invoice / RCTI payments · project time &amp; equipment usage · customer invoice</a:t>
            </a:r>
          </a:p>
          <a:p>
            <a:pPr indent="0" marL="0">
              <a:buNone/>
            </a:pPr>
            <a:r>
              <a:rPr lang="en-US" sz="850" b="1" dirty="0">
                <a:solidFill>
                  <a:srgbClr val="444444"/>
                </a:solidFill>
                <a:latin typeface="Arial" pitchFamily="34" charset="0"/>
                <a:ea typeface="Arial" pitchFamily="34" charset="-122"/>
                <a:cs typeface="Arial" pitchFamily="34" charset="-120"/>
              </a:rPr>
              <a:t>Three systems:  </a:t>
            </a:r>
            <a:r>
              <a:rPr lang="en-US" sz="850" dirty="0">
                <a:solidFill>
                  <a:srgbClr val="444444"/>
                </a:solidFill>
                <a:latin typeface="Arial" pitchFamily="34" charset="0"/>
                <a:ea typeface="Arial" pitchFamily="34" charset="-122"/>
                <a:cs typeface="Arial" pitchFamily="34" charset="-120"/>
              </a:rPr>
              <a:t>JAMS · ServiceNow · SiteTracker — eleven combinations in the backlog.</a:t>
            </a:r>
          </a:p>
        </p:txBody>
      </p:sp>
      <p:sp>
        <p:nvSpPr>
          <p:cNvPr id="52" name="Text 53"/>
          <p:cNvSpPr/>
          <p:nvPr/>
        </p:nvSpPr>
        <p:spPr>
          <a:xfrm>
            <a:off x="6411400" y="3470000"/>
            <a:ext cx="5117680" cy="460000"/>
          </a:xfrm>
          <a:prstGeom prst="rect">
            <a:avLst/>
          </a:prstGeom>
          <a:noFill/>
          <a:ln/>
        </p:spPr>
        <p:txBody>
          <a:bodyPr wrap="square" lIns="0" tIns="0" rIns="0" bIns="0" rtlCol="0" anchor="t"/>
          <a:lstStyle/>
          <a:p>
            <a:pPr indent="0" marL="0">
              <a:buNone/>
            </a:pPr>
            <a:r>
              <a:rPr lang="en-US" sz="850" b="1" dirty="0">
                <a:solidFill>
                  <a:srgbClr val="085041"/>
                </a:solidFill>
                <a:latin typeface="Arial" pitchFamily="34" charset="0"/>
                <a:ea typeface="Arial" pitchFamily="34" charset="-122"/>
                <a:cs typeface="Arial" pitchFamily="34" charset="-120"/>
              </a:rPr>
              <a:t>We register: </a:t>
            </a:r>
            <a:r>
              <a:rPr lang="en-US" sz="850" dirty="0">
                <a:solidFill>
                  <a:srgbClr val="444444"/>
                </a:solidFill>
                <a:latin typeface="Arial" pitchFamily="34" charset="0"/>
                <a:ea typeface="Arial" pitchFamily="34" charset="-122"/>
                <a:cs typeface="Arial" pitchFamily="34" charset="-120"/>
              </a:rPr>
              <a:t>one query per combination. The query itself is the security: a system with no supplier-invoice query registered cannot pull supplier invoices.</a:t>
            </a:r>
          </a:p>
        </p:txBody>
      </p:sp>
      <p:sp>
        <p:nvSpPr>
          <p:cNvPr id="54" name="Text 55"/>
          <p:cNvSpPr/>
          <p:nvPr/>
        </p:nvSpPr>
        <p:spPr>
          <a:xfrm>
            <a:off x="6411400" y="3960000"/>
            <a:ext cx="5117680" cy="190000"/>
          </a:xfrm>
          <a:prstGeom prst="rect">
            <a:avLst/>
          </a:prstGeom>
          <a:noFill/>
          <a:ln/>
        </p:spPr>
        <p:txBody>
          <a:bodyPr wrap="square" lIns="0" tIns="0" rIns="0" bIns="0" rtlCol="0" anchor="t"/>
          <a:lstStyle/>
          <a:p>
            <a:pPr indent="0" marL="0">
              <a:buNone/>
            </a:pPr>
            <a:r>
              <a:rPr lang="en-US" sz="750" i="1" dirty="0">
                <a:solidFill>
                  <a:srgbClr val="8A8A8A"/>
                </a:solidFill>
                <a:latin typeface="Arial" pitchFamily="34" charset="0"/>
                <a:ea typeface="Arial" pitchFamily="34" charset="-122"/>
                <a:cs typeface="Arial" pitchFamily="34" charset="-120"/>
              </a:rPr>
              <a:t>backlog: 3-1090–93 · 3-1110 / 11 / 13 / 1195 · 3-1102 / 03 / 04</a:t>
            </a:r>
          </a:p>
        </p:txBody>
      </p:sp>
      <p:sp>
        <p:nvSpPr>
          <p:cNvPr id="56" name="Text 57"/>
          <p:cNvSpPr/>
          <p:nvPr/>
        </p:nvSpPr>
        <p:spPr>
          <a:xfrm>
            <a:off x="6411400" y="4260000"/>
            <a:ext cx="5117680" cy="700000"/>
          </a:xfrm>
          <a:prstGeom prst="rect">
            <a:avLst/>
          </a:prstGeom>
          <a:noFill/>
          <a:ln/>
        </p:spPr>
        <p:txBody>
          <a:bodyPr wrap="square" lIns="0" tIns="0" rIns="0" bIns="0" rtlCol="0" anchor="t"/>
          <a:lstStyle/>
          <a:p>
            <a:pPr indent="0" marL="0">
              <a:buNone/>
            </a:pPr>
            <a:r>
              <a:rPr lang="en-US" sz="850" b="1" dirty="0">
                <a:solidFill>
                  <a:srgbClr val="72243E"/>
                </a:solidFill>
                <a:latin typeface="Arial" pitchFamily="34" charset="0"/>
                <a:ea typeface="Arial" pitchFamily="34" charset="-122"/>
                <a:cs typeface="Arial" pitchFamily="34" charset="-120"/>
              </a:rPr>
              <a:t>If a call fails: </a:t>
            </a:r>
            <a:r>
              <a:rPr lang="en-US" sz="850" dirty="0">
                <a:solidFill>
                  <a:srgbClr val="444444"/>
                </a:solidFill>
                <a:latin typeface="Arial" pitchFamily="34" charset="0"/>
                <a:ea typeface="Arial" pitchFamily="34" charset="-122"/>
                <a:cs typeface="Arial" pitchFamily="34" charset="-120"/>
              </a:rPr>
              <a:t>no data is missed — the system keeps its changedSince bookmark and calls again.</a:t>
            </a:r>
          </a:p>
        </p:txBody>
      </p:sp>
      <p:sp>
        <p:nvSpPr>
          <p:cNvPr id="58" name="Shape 59"/>
          <p:cNvSpPr/>
          <p:nvPr/>
        </p:nvSpPr>
        <p:spPr>
          <a:xfrm>
            <a:off x="502920" y="5320000"/>
            <a:ext cx="11186160" cy="900000"/>
          </a:xfrm>
          <a:prstGeom prst="roundRect">
            <a:avLst>
              <a:gd name="adj" fmla="val 4000"/>
            </a:avLst>
          </a:prstGeom>
          <a:solidFill>
            <a:srgbClr val="F7F7F5"/>
          </a:solidFill>
          <a:ln w="9525">
            <a:solidFill>
              <a:srgbClr val="D9D9D9"/>
            </a:solidFill>
            <a:prstDash val="solid"/>
          </a:ln>
        </p:spPr>
      </p:sp>
      <p:sp>
        <p:nvSpPr>
          <p:cNvPr id="60" name="Text 61"/>
          <p:cNvSpPr/>
          <p:nvPr/>
        </p:nvSpPr>
        <p:spPr>
          <a:xfrm>
            <a:off x="702920" y="5420000"/>
            <a:ext cx="10800000" cy="340000"/>
          </a:xfrm>
          <a:prstGeom prst="rect">
            <a:avLst/>
          </a:prstGeom>
          <a:noFill/>
          <a:ln/>
        </p:spPr>
        <p:txBody>
          <a:bodyPr wrap="square" lIns="0" tIns="0" rIns="0" bIns="0" rtlCol="0" anchor="t"/>
          <a:lstStyle/>
          <a:p>
            <a:pPr indent="0" marL="0">
              <a:buNone/>
            </a:pPr>
            <a:r>
              <a:rPr lang="en-US" sz="950" b="1" dirty="0">
                <a:solidFill>
                  <a:srgbClr val="1F3864"/>
                </a:solidFill>
                <a:latin typeface="Arial" pitchFamily="34" charset="0"/>
                <a:ea typeface="Arial" pitchFamily="34" charset="-122"/>
                <a:cs typeface="Arial" pitchFamily="34" charset="-120"/>
              </a:rPr>
              <a:t>Build once, then register:  </a:t>
            </a:r>
            <a:r>
              <a:rPr lang="en-US" sz="950" dirty="0">
                <a:solidFill>
                  <a:srgbClr val="444444"/>
                </a:solidFill>
                <a:latin typeface="Arial" pitchFamily="34" charset="0"/>
                <a:ea typeface="Arial" pitchFamily="34" charset="-122"/>
                <a:cs typeface="Arial" pitchFamily="34" charset="-120"/>
              </a:rPr>
              <a:t>the dispatcher, the pull service and the status tracker are the only builds. After that, this page is the outbound backlog — adding an interface is one registration line.</a:t>
            </a:r>
          </a:p>
        </p:txBody>
      </p:sp>
      <p:sp>
        <p:nvSpPr>
          <p:cNvPr id="62" name="Text 63"/>
          <p:cNvSpPr/>
          <p:nvPr/>
        </p:nvSpPr>
        <p:spPr>
          <a:xfrm>
            <a:off x="702920" y="5810000"/>
            <a:ext cx="10800000" cy="340000"/>
          </a:xfrm>
          <a:prstGeom prst="rect">
            <a:avLst/>
          </a:prstGeom>
          <a:noFill/>
          <a:ln/>
        </p:spPr>
        <p:txBody>
          <a:bodyPr wrap="square" lIns="0" tIns="0" rIns="0" bIns="0" rtlCol="0" anchor="t"/>
          <a:lstStyle/>
          <a:p>
            <a:pPr indent="0" marL="0">
              <a:buNone/>
            </a:pPr>
            <a:r>
              <a:rPr lang="en-US" sz="950" b="1" dirty="0">
                <a:solidFill>
                  <a:srgbClr val="085041"/>
                </a:solidFill>
                <a:latin typeface="Arial" pitchFamily="34" charset="0"/>
                <a:ea typeface="Arial" pitchFamily="34" charset="-122"/>
                <a:cs typeface="Arial" pitchFamily="34" charset="-120"/>
              </a:rPr>
              <a:t>Run as code:  </a:t>
            </a:r>
            <a:r>
              <a:rPr lang="en-US" sz="950" dirty="0">
                <a:solidFill>
                  <a:srgbClr val="444444"/>
                </a:solidFill>
                <a:latin typeface="Arial" pitchFamily="34" charset="0"/>
                <a:ea typeface="Arial" pitchFamily="34" charset="-122"/>
                <a:cs typeface="Arial" pitchFamily="34" charset="-120"/>
              </a:rPr>
              <a:t>the layer boots from these three groups — 9 routes + 11 queries served all 24 interfaces with zero interface-specific code.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3"/>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4" name="Text 5"/>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p>
        </p:txBody>
      </p:sp>
      <p:sp>
        <p:nvSpPr>
          <p:cNvPr id="6" name="Text 7"/>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Developer blueprint — one message, every technical block</a:t>
            </a:r>
          </a:p>
        </p:txBody>
      </p:sp>
      <p:sp>
        <p:nvSpPr>
          <p:cNvPr id="8" name="Shape 9"/>
          <p:cNvSpPr/>
          <p:nvPr/>
        </p:nvSpPr>
        <p:spPr>
          <a:xfrm>
            <a:off x="9591672" y="201168"/>
            <a:ext cx="1500000" cy="274320"/>
          </a:xfrm>
          <a:prstGeom prst="roundRect">
            <a:avLst>
              <a:gd name="adj" fmla="val 40000"/>
            </a:avLst>
          </a:prstGeom>
          <a:solidFill>
            <a:srgbClr val="E1F5EE"/>
          </a:solidFill>
          <a:ln w="12700">
            <a:solidFill>
              <a:srgbClr val="0F6E56"/>
            </a:solidFill>
            <a:prstDash val="solid"/>
          </a:ln>
        </p:spPr>
      </p:sp>
      <p:sp>
        <p:nvSpPr>
          <p:cNvPr id="10" name="Text 11"/>
          <p:cNvSpPr/>
          <p:nvPr/>
        </p:nvSpPr>
        <p:spPr>
          <a:xfrm>
            <a:off x="9591672" y="201168"/>
            <a:ext cx="1500000"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Implementation</a:t>
            </a:r>
          </a:p>
        </p:txBody>
      </p:sp>
      <p:sp>
        <p:nvSpPr>
          <p:cNvPr id="12" name="Text 13"/>
          <p:cNvSpPr/>
          <p:nvPr/>
        </p:nvSpPr>
        <p:spPr>
          <a:xfrm>
            <a:off x="502920" y="676656"/>
            <a:ext cx="11201400" cy="340000"/>
          </a:xfrm>
          <a:prstGeom prst="rect">
            <a:avLst/>
          </a:prstGeom>
          <a:noFill/>
          <a:ln/>
        </p:spPr>
        <p:txBody>
          <a:bodyPr wrap="square" lIns="0" tIns="0" rIns="0" bIns="0" rtlCol="0" anchor="t"/>
          <a:lstStyle/>
          <a:p>
            <a:pPr indent="0" marL="0">
              <a:buNone/>
            </a:pPr>
            <a:r>
              <a:rPr lang="en-US" sz="1150" dirty="0">
                <a:solidFill>
                  <a:srgbClr val="595959"/>
                </a:solidFill>
                <a:latin typeface="Arial" pitchFamily="34" charset="0"/>
                <a:ea typeface="Arial" pitchFamily="34" charset="-122"/>
                <a:cs typeface="Arial" pitchFamily="34" charset="-120"/>
              </a:rPr>
              <a:t>What a developer builds: one small 1st-leg mapping flow per FSM, plus three shared flows per model. The front door answers immediately; everything after the queue runs in the background. Each block names its CPI building block; error handling is drawn in the lane where it happens.</a:t>
            </a:r>
          </a:p>
        </p:txBody>
      </p:sp>
      <p:sp>
        <p:nvSpPr>
          <p:cNvPr id="14" name="Text 15"/>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p>
        </p:txBody>
      </p:sp>
      <p:sp>
        <p:nvSpPr>
          <p:cNvPr id="16" name="Text 17"/>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p>
        </p:txBody>
      </p:sp>
      <p:sp>
        <p:nvSpPr>
          <p:cNvPr id="18" name="Shape 19"/>
          <p:cNvSpPr/>
          <p:nvPr/>
        </p:nvSpPr>
        <p:spPr>
          <a:xfrm>
            <a:off x="502920" y="1085000"/>
            <a:ext cx="11186160" cy="400000"/>
          </a:xfrm>
          <a:prstGeom prst="roundRect">
            <a:avLst>
              <a:gd name="adj" fmla="val 8000"/>
            </a:avLst>
          </a:prstGeom>
          <a:solidFill>
            <a:srgbClr val="EEF2F8"/>
          </a:solidFill>
          <a:ln w="12700">
            <a:solidFill>
              <a:srgbClr val="1F3864"/>
            </a:solidFill>
            <a:prstDash val="solid"/>
          </a:ln>
        </p:spPr>
      </p:sp>
      <p:sp>
        <p:nvSpPr>
          <p:cNvPr id="20" name="Text 21"/>
          <p:cNvSpPr/>
          <p:nvPr/>
        </p:nvSpPr>
        <p:spPr>
          <a:xfrm>
            <a:off x="662920" y="1085000"/>
            <a:ext cx="2600000" cy="400000"/>
          </a:xfrm>
          <a:prstGeom prst="rect">
            <a:avLst/>
          </a:prstGeom>
          <a:noFill/>
          <a:ln/>
        </p:spPr>
        <p:txBody>
          <a:bodyPr wrap="square" lIns="0" tIns="0" rIns="0" bIns="0" rtlCol="0" anchor="ctr"/>
          <a:lstStyle/>
          <a:p>
            <a:pPr indent="0" marL="0">
              <a:buNone/>
            </a:pPr>
            <a:r>
              <a:rPr lang="en-US" sz="1000" b="1" dirty="0">
                <a:solidFill>
                  <a:srgbClr val="1F3864"/>
                </a:solidFill>
                <a:latin typeface="Arial" pitchFamily="34" charset="0"/>
                <a:ea typeface="Arial" pitchFamily="34" charset="-122"/>
                <a:cs typeface="Arial" pitchFamily="34" charset="-120"/>
              </a:rPr>
              <a:t>Source FSM</a:t>
            </a:r>
          </a:p>
          <a:p>
            <a:pPr indent="0" marL="0">
              <a:buNone/>
            </a:pPr>
            <a:r>
              <a:rPr lang="en-US" sz="750" dirty="0">
                <a:solidFill>
                  <a:srgbClr val="1F3864"/>
                </a:solidFill>
                <a:latin typeface="Arial" pitchFamily="34" charset="0"/>
                <a:ea typeface="Arial" pitchFamily="34" charset="-122"/>
                <a:cs typeface="Arial" pitchFamily="34" charset="-120"/>
              </a:rPr>
              <a:t>JAMS · ServiceNow · SiteTracker · MDFS (+5 — slide 22)</a:t>
            </a:r>
          </a:p>
        </p:txBody>
      </p:sp>
      <p:sp>
        <p:nvSpPr>
          <p:cNvPr id="22" name="Text 23"/>
          <p:cNvSpPr/>
          <p:nvPr/>
        </p:nvSpPr>
        <p:spPr>
          <a:xfrm>
            <a:off x="3400000" y="1085000"/>
            <a:ext cx="8100000" cy="400000"/>
          </a:xfrm>
          <a:prstGeom prst="rect">
            <a:avLst/>
          </a:prstGeom>
          <a:noFill/>
          <a:ln/>
        </p:spPr>
        <p:txBody>
          <a:bodyPr wrap="square" lIns="0" tIns="0" rIns="0" bIns="0" rtlCol="0" anchor="ctr"/>
          <a:lstStyle/>
          <a:p>
            <a:pPr indent="0" marL="0">
              <a:buNone/>
            </a:pPr>
            <a:r>
              <a:rPr lang="en-US" sz="780" b="1" dirty="0">
                <a:solidFill>
                  <a:srgbClr val="3B3491"/>
                </a:solidFill>
                <a:latin typeface="Arial" pitchFamily="34" charset="0"/>
                <a:ea typeface="Arial" pitchFamily="34" charset="-122"/>
                <a:cs typeface="Arial" pitchFamily="34" charset="-120"/>
              </a:rPr>
              <a:t>① 1st leg maps its message to canonical, sends it in (OAuth2)    </a:t>
            </a:r>
            <a:r>
              <a:rPr lang="en-US" sz="780" b="1" dirty="0">
                <a:solidFill>
                  <a:srgbClr val="085041"/>
                </a:solidFill>
                <a:latin typeface="Arial" pitchFamily="34" charset="0"/>
                <a:ea typeface="Arial" pitchFamily="34" charset="-122"/>
                <a:cs typeface="Arial" pitchFamily="34" charset="-120"/>
              </a:rPr>
              <a:t>⑦ ← receipt 202 with tracking ID / 400    </a:t>
            </a:r>
            <a:r>
              <a:rPr lang="en-US" sz="780" b="1" dirty="0">
                <a:solidFill>
                  <a:srgbClr val="72243E"/>
                </a:solidFill>
                <a:latin typeface="Arial" pitchFamily="34" charset="0"/>
                <a:ea typeface="Arial" pitchFamily="34" charset="-122"/>
                <a:cs typeface="Arial" pitchFamily="34" charset="-120"/>
              </a:rPr>
              <a:t>⑫ ← final answer (pushed)    </a:t>
            </a:r>
            <a:r>
              <a:rPr lang="en-US" sz="780" dirty="0">
                <a:solidFill>
                  <a:srgbClr val="5B6570"/>
                </a:solidFill>
                <a:latin typeface="Arial" pitchFamily="34" charset="0"/>
                <a:ea typeface="Arial" pitchFamily="34" charset="-122"/>
                <a:cs typeface="Arial" pitchFamily="34" charset="-120"/>
              </a:rPr>
              <a:t>status lookup by tracking ID (any time)</a:t>
            </a:r>
          </a:p>
        </p:txBody>
      </p:sp>
      <p:sp>
        <p:nvSpPr>
          <p:cNvPr id="24" name="Shape 25"/>
          <p:cNvSpPr/>
          <p:nvPr/>
        </p:nvSpPr>
        <p:spPr>
          <a:xfrm>
            <a:off x="502920" y="1585000"/>
            <a:ext cx="11186160" cy="1150000"/>
          </a:xfrm>
          <a:prstGeom prst="roundRect">
            <a:avLst>
              <a:gd name="adj" fmla="val 2500"/>
            </a:avLst>
          </a:prstGeom>
          <a:solidFill>
            <a:srgbClr val="F5F4FC"/>
          </a:solidFill>
          <a:ln w="15875">
            <a:solidFill>
              <a:srgbClr val="534AB7"/>
            </a:solidFill>
            <a:prstDash val="solid"/>
          </a:ln>
        </p:spPr>
      </p:sp>
      <p:sp>
        <p:nvSpPr>
          <p:cNvPr id="26" name="Text 27"/>
          <p:cNvSpPr/>
          <p:nvPr/>
        </p:nvSpPr>
        <p:spPr>
          <a:xfrm>
            <a:off x="662920" y="1655000"/>
            <a:ext cx="10800000" cy="230000"/>
          </a:xfrm>
          <a:prstGeom prst="rect">
            <a:avLst/>
          </a:prstGeom>
          <a:noFill/>
          <a:ln/>
        </p:spPr>
        <p:txBody>
          <a:bodyPr wrap="square" lIns="0" tIns="0" rIns="0" bIns="0" rtlCol="0" anchor="t"/>
          <a:lstStyle/>
          <a:p>
            <a:pPr indent="0" marL="0">
              <a:buNone/>
            </a:pPr>
            <a:r>
              <a:rPr lang="en-US" sz="900" b="1" dirty="0">
                <a:solidFill>
                  <a:srgbClr val="3B3491"/>
                </a:solidFill>
                <a:latin typeface="Arial" pitchFamily="34" charset="0"/>
                <a:ea typeface="Arial" pitchFamily="34" charset="-122"/>
                <a:cs typeface="Arial" pitchFamily="34" charset="-120"/>
              </a:rPr>
              <a:t>Flow 1 — RECEIVE  ·  answers immediately  ·  HTTPS entry point</a:t>
            </a:r>
          </a:p>
        </p:txBody>
      </p:sp>
      <p:sp>
        <p:nvSpPr>
          <p:cNvPr id="28" name="Shape 29"/>
          <p:cNvSpPr/>
          <p:nvPr/>
        </p:nvSpPr>
        <p:spPr>
          <a:xfrm>
            <a:off x="632920" y="1915000"/>
            <a:ext cx="1483737" cy="520000"/>
          </a:xfrm>
          <a:prstGeom prst="roundRect">
            <a:avLst>
              <a:gd name="adj" fmla="val 8000"/>
            </a:avLst>
          </a:prstGeom>
          <a:solidFill>
            <a:srgbClr val="FFFFFF"/>
          </a:solidFill>
          <a:ln w="12700">
            <a:solidFill>
              <a:srgbClr val="534AB7"/>
            </a:solidFill>
            <a:prstDash val="solid"/>
          </a:ln>
        </p:spPr>
      </p:sp>
      <p:sp>
        <p:nvSpPr>
          <p:cNvPr id="30" name="Text 31"/>
          <p:cNvSpPr/>
          <p:nvPr/>
        </p:nvSpPr>
        <p:spPr>
          <a:xfrm>
            <a:off x="702920" y="1975000"/>
            <a:ext cx="1343737" cy="220000"/>
          </a:xfrm>
          <a:prstGeom prst="rect">
            <a:avLst/>
          </a:prstGeom>
          <a:noFill/>
          <a:ln/>
        </p:spPr>
        <p:txBody>
          <a:bodyPr wrap="square" lIns="0" tIns="0" rIns="0" bIns="0" rtlCol="0" anchor="t"/>
          <a:lstStyle/>
          <a:p>
            <a:pPr indent="0" marL="0">
              <a:buNone/>
            </a:pPr>
            <a:r>
              <a:rPr lang="en-US" sz="800" b="1" dirty="0">
                <a:solidFill>
                  <a:srgbClr val="3B3491"/>
                </a:solidFill>
                <a:latin typeface="Arial" pitchFamily="34" charset="0"/>
                <a:ea typeface="Arial" pitchFamily="34" charset="-122"/>
                <a:cs typeface="Arial" pitchFamily="34" charset="-120"/>
              </a:rPr>
              <a:t>HTTPS sender</a:t>
            </a:r>
          </a:p>
        </p:txBody>
      </p:sp>
      <p:sp>
        <p:nvSpPr>
          <p:cNvPr id="32" name="Text 33"/>
          <p:cNvSpPr/>
          <p:nvPr/>
        </p:nvSpPr>
        <p:spPr>
          <a:xfrm>
            <a:off x="702920" y="219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OAuth2 · TLS · JSON</a:t>
            </a:r>
          </a:p>
        </p:txBody>
      </p:sp>
      <p:sp>
        <p:nvSpPr>
          <p:cNvPr id="34" name="Arrow 35"/>
          <p:cNvSpPr/>
          <p:nvPr/>
        </p:nvSpPr>
        <p:spPr>
          <a:xfrm>
            <a:off x="2124657" y="2175000"/>
            <a:ext cx="74000" cy="1"/>
          </a:xfrm>
          <a:prstGeom prst="line">
            <a:avLst/>
          </a:prstGeom>
          <a:noFill/>
          <a:ln w="19050">
            <a:solidFill>
              <a:srgbClr val="534AB7"/>
            </a:solidFill>
            <a:prstDash val="solid"/>
            <a:headEnd type="none"/>
            <a:tailEnd type="triangle"/>
          </a:ln>
        </p:spPr>
      </p:sp>
      <p:sp>
        <p:nvSpPr>
          <p:cNvPr id="36" name="Shape 37"/>
          <p:cNvSpPr/>
          <p:nvPr/>
        </p:nvSpPr>
        <p:spPr>
          <a:xfrm>
            <a:off x="2206657" y="1915000"/>
            <a:ext cx="1483737" cy="520000"/>
          </a:xfrm>
          <a:prstGeom prst="roundRect">
            <a:avLst>
              <a:gd name="adj" fmla="val 8000"/>
            </a:avLst>
          </a:prstGeom>
          <a:solidFill>
            <a:srgbClr val="FFFFFF"/>
          </a:solidFill>
          <a:ln w="12700">
            <a:solidFill>
              <a:srgbClr val="534AB7"/>
            </a:solidFill>
            <a:prstDash val="solid"/>
          </a:ln>
        </p:spPr>
      </p:sp>
      <p:sp>
        <p:nvSpPr>
          <p:cNvPr id="38" name="Text 39"/>
          <p:cNvSpPr/>
          <p:nvPr/>
        </p:nvSpPr>
        <p:spPr>
          <a:xfrm>
            <a:off x="2276657" y="1975000"/>
            <a:ext cx="1343737" cy="220000"/>
          </a:xfrm>
          <a:prstGeom prst="rect">
            <a:avLst/>
          </a:prstGeom>
          <a:noFill/>
          <a:ln/>
        </p:spPr>
        <p:txBody>
          <a:bodyPr wrap="square" lIns="0" tIns="0" rIns="0" bIns="0" rtlCol="0" anchor="t"/>
          <a:lstStyle/>
          <a:p>
            <a:pPr indent="0" marL="0">
              <a:buNone/>
            </a:pPr>
            <a:r>
              <a:rPr lang="en-US" sz="800" b="1" dirty="0">
                <a:solidFill>
                  <a:srgbClr val="3B3491"/>
                </a:solidFill>
                <a:latin typeface="Arial" pitchFamily="34" charset="0"/>
                <a:ea typeface="Arial" pitchFamily="34" charset="-122"/>
                <a:cs typeface="Arial" pitchFamily="34" charset="-120"/>
              </a:rPr>
              <a:t>Schema validate</a:t>
            </a:r>
          </a:p>
        </p:txBody>
      </p:sp>
      <p:sp>
        <p:nvSpPr>
          <p:cNvPr id="40" name="Text 41"/>
          <p:cNvSpPr/>
          <p:nvPr/>
        </p:nvSpPr>
        <p:spPr>
          <a:xfrm>
            <a:off x="2276657" y="219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canonical JSON schema</a:t>
            </a:r>
          </a:p>
        </p:txBody>
      </p:sp>
      <p:sp>
        <p:nvSpPr>
          <p:cNvPr id="42" name="Arrow 43"/>
          <p:cNvSpPr/>
          <p:nvPr/>
        </p:nvSpPr>
        <p:spPr>
          <a:xfrm>
            <a:off x="3698394" y="2175000"/>
            <a:ext cx="74000" cy="1"/>
          </a:xfrm>
          <a:prstGeom prst="line">
            <a:avLst/>
          </a:prstGeom>
          <a:noFill/>
          <a:ln w="19050">
            <a:solidFill>
              <a:srgbClr val="534AB7"/>
            </a:solidFill>
            <a:prstDash val="solid"/>
            <a:headEnd type="none"/>
            <a:tailEnd type="triangle"/>
          </a:ln>
        </p:spPr>
      </p:sp>
      <p:sp>
        <p:nvSpPr>
          <p:cNvPr id="44" name="Shape 45"/>
          <p:cNvSpPr/>
          <p:nvPr/>
        </p:nvSpPr>
        <p:spPr>
          <a:xfrm>
            <a:off x="3780394" y="1915000"/>
            <a:ext cx="1483737" cy="520000"/>
          </a:xfrm>
          <a:prstGeom prst="roundRect">
            <a:avLst>
              <a:gd name="adj" fmla="val 8000"/>
            </a:avLst>
          </a:prstGeom>
          <a:solidFill>
            <a:srgbClr val="FFFFFF"/>
          </a:solidFill>
          <a:ln w="12700">
            <a:solidFill>
              <a:srgbClr val="534AB7"/>
            </a:solidFill>
            <a:prstDash val="solid"/>
          </a:ln>
        </p:spPr>
      </p:sp>
      <p:sp>
        <p:nvSpPr>
          <p:cNvPr id="46" name="Text 47"/>
          <p:cNvSpPr/>
          <p:nvPr/>
        </p:nvSpPr>
        <p:spPr>
          <a:xfrm>
            <a:off x="3850394" y="1975000"/>
            <a:ext cx="1343737" cy="220000"/>
          </a:xfrm>
          <a:prstGeom prst="rect">
            <a:avLst/>
          </a:prstGeom>
          <a:noFill/>
          <a:ln/>
        </p:spPr>
        <p:txBody>
          <a:bodyPr wrap="square" lIns="0" tIns="0" rIns="0" bIns="0" rtlCol="0" anchor="t"/>
          <a:lstStyle/>
          <a:p>
            <a:pPr indent="0" marL="0">
              <a:buNone/>
            </a:pPr>
            <a:r>
              <a:rPr lang="en-US" sz="800" b="1" dirty="0">
                <a:solidFill>
                  <a:srgbClr val="3B3491"/>
                </a:solidFill>
                <a:latin typeface="Arial" pitchFamily="34" charset="0"/>
                <a:ea typeface="Arial" pitchFamily="34" charset="-122"/>
                <a:cs typeface="Arial" pitchFamily="34" charset="-120"/>
              </a:rPr>
              <a:t>Codes + mandatory</a:t>
            </a:r>
          </a:p>
        </p:txBody>
      </p:sp>
      <p:sp>
        <p:nvSpPr>
          <p:cNvPr id="48" name="Text 49"/>
          <p:cNvSpPr/>
          <p:nvPr/>
        </p:nvSpPr>
        <p:spPr>
          <a:xfrm>
            <a:off x="3850394" y="219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value mapping · Groovy</a:t>
            </a:r>
          </a:p>
        </p:txBody>
      </p:sp>
      <p:sp>
        <p:nvSpPr>
          <p:cNvPr id="50" name="Arrow 51"/>
          <p:cNvSpPr/>
          <p:nvPr/>
        </p:nvSpPr>
        <p:spPr>
          <a:xfrm>
            <a:off x="5272131" y="2175000"/>
            <a:ext cx="74000" cy="1"/>
          </a:xfrm>
          <a:prstGeom prst="line">
            <a:avLst/>
          </a:prstGeom>
          <a:noFill/>
          <a:ln w="19050">
            <a:solidFill>
              <a:srgbClr val="534AB7"/>
            </a:solidFill>
            <a:prstDash val="solid"/>
            <a:headEnd type="none"/>
            <a:tailEnd type="triangle"/>
          </a:ln>
        </p:spPr>
      </p:sp>
      <p:sp>
        <p:nvSpPr>
          <p:cNvPr id="52" name="Shape 53"/>
          <p:cNvSpPr/>
          <p:nvPr/>
        </p:nvSpPr>
        <p:spPr>
          <a:xfrm>
            <a:off x="5354131" y="1915000"/>
            <a:ext cx="1483737" cy="520000"/>
          </a:xfrm>
          <a:prstGeom prst="roundRect">
            <a:avLst>
              <a:gd name="adj" fmla="val 8000"/>
            </a:avLst>
          </a:prstGeom>
          <a:solidFill>
            <a:srgbClr val="FFFFFF"/>
          </a:solidFill>
          <a:ln w="12700">
            <a:solidFill>
              <a:srgbClr val="534AB7"/>
            </a:solidFill>
            <a:prstDash val="solid"/>
          </a:ln>
        </p:spPr>
      </p:sp>
      <p:sp>
        <p:nvSpPr>
          <p:cNvPr id="54" name="Text 55"/>
          <p:cNvSpPr/>
          <p:nvPr/>
        </p:nvSpPr>
        <p:spPr>
          <a:xfrm>
            <a:off x="5424131" y="1975000"/>
            <a:ext cx="1343737" cy="220000"/>
          </a:xfrm>
          <a:prstGeom prst="rect">
            <a:avLst/>
          </a:prstGeom>
          <a:noFill/>
          <a:ln/>
        </p:spPr>
        <p:txBody>
          <a:bodyPr wrap="square" lIns="0" tIns="0" rIns="0" bIns="0" rtlCol="0" anchor="t"/>
          <a:lstStyle/>
          <a:p>
            <a:pPr indent="0" marL="0">
              <a:buNone/>
            </a:pPr>
            <a:r>
              <a:rPr lang="en-US" sz="800" b="1" dirty="0">
                <a:solidFill>
                  <a:srgbClr val="3B3491"/>
                </a:solidFill>
                <a:latin typeface="Arial" pitchFamily="34" charset="0"/>
                <a:ea typeface="Arial" pitchFamily="34" charset="-122"/>
                <a:cs typeface="Arial" pitchFamily="34" charset="-120"/>
              </a:rPr>
              <a:t>correlationId</a:t>
            </a:r>
          </a:p>
        </p:txBody>
      </p:sp>
      <p:sp>
        <p:nvSpPr>
          <p:cNvPr id="56" name="Text 57"/>
          <p:cNvSpPr/>
          <p:nvPr/>
        </p:nvSpPr>
        <p:spPr>
          <a:xfrm>
            <a:off x="5424131" y="219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new ID → written to message log</a:t>
            </a:r>
          </a:p>
        </p:txBody>
      </p:sp>
      <p:sp>
        <p:nvSpPr>
          <p:cNvPr id="58" name="Arrow 59"/>
          <p:cNvSpPr/>
          <p:nvPr/>
        </p:nvSpPr>
        <p:spPr>
          <a:xfrm>
            <a:off x="6845868" y="2175000"/>
            <a:ext cx="74000" cy="1"/>
          </a:xfrm>
          <a:prstGeom prst="line">
            <a:avLst/>
          </a:prstGeom>
          <a:noFill/>
          <a:ln w="19050">
            <a:solidFill>
              <a:srgbClr val="534AB7"/>
            </a:solidFill>
            <a:prstDash val="solid"/>
            <a:headEnd type="none"/>
            <a:tailEnd type="triangle"/>
          </a:ln>
        </p:spPr>
      </p:sp>
      <p:sp>
        <p:nvSpPr>
          <p:cNvPr id="60" name="Shape 61"/>
          <p:cNvSpPr/>
          <p:nvPr/>
        </p:nvSpPr>
        <p:spPr>
          <a:xfrm>
            <a:off x="6927868" y="1915000"/>
            <a:ext cx="1483737" cy="520000"/>
          </a:xfrm>
          <a:prstGeom prst="roundRect">
            <a:avLst>
              <a:gd name="adj" fmla="val 8000"/>
            </a:avLst>
          </a:prstGeom>
          <a:solidFill>
            <a:srgbClr val="FFFFFF"/>
          </a:solidFill>
          <a:ln w="12700">
            <a:solidFill>
              <a:srgbClr val="534AB7"/>
            </a:solidFill>
            <a:prstDash val="solid"/>
          </a:ln>
        </p:spPr>
      </p:sp>
      <p:sp>
        <p:nvSpPr>
          <p:cNvPr id="62" name="Text 63"/>
          <p:cNvSpPr/>
          <p:nvPr/>
        </p:nvSpPr>
        <p:spPr>
          <a:xfrm>
            <a:off x="6997868" y="1975000"/>
            <a:ext cx="1343737" cy="220000"/>
          </a:xfrm>
          <a:prstGeom prst="rect">
            <a:avLst/>
          </a:prstGeom>
          <a:noFill/>
          <a:ln/>
        </p:spPr>
        <p:txBody>
          <a:bodyPr wrap="square" lIns="0" tIns="0" rIns="0" bIns="0" rtlCol="0" anchor="t"/>
          <a:lstStyle/>
          <a:p>
            <a:pPr indent="0" marL="0">
              <a:buNone/>
            </a:pPr>
            <a:r>
              <a:rPr lang="en-US" sz="800" b="1" dirty="0">
                <a:solidFill>
                  <a:srgbClr val="3B3491"/>
                </a:solidFill>
                <a:latin typeface="Arial" pitchFamily="34" charset="0"/>
                <a:ea typeface="Arial" pitchFamily="34" charset="-122"/>
                <a:cs typeface="Arial" pitchFamily="34" charset="-120"/>
              </a:rPr>
              <a:t>Duplicate check</a:t>
            </a:r>
          </a:p>
        </p:txBody>
      </p:sp>
      <p:sp>
        <p:nvSpPr>
          <p:cNvPr id="64" name="Text 65"/>
          <p:cNvSpPr/>
          <p:nvPr/>
        </p:nvSpPr>
        <p:spPr>
          <a:xfrm>
            <a:off x="6997868" y="219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Data Store GET · 90 d key</a:t>
            </a:r>
          </a:p>
        </p:txBody>
      </p:sp>
      <p:sp>
        <p:nvSpPr>
          <p:cNvPr id="66" name="Arrow 67"/>
          <p:cNvSpPr/>
          <p:nvPr/>
        </p:nvSpPr>
        <p:spPr>
          <a:xfrm>
            <a:off x="8419605" y="2175000"/>
            <a:ext cx="74000" cy="1"/>
          </a:xfrm>
          <a:prstGeom prst="line">
            <a:avLst/>
          </a:prstGeom>
          <a:noFill/>
          <a:ln w="19050">
            <a:solidFill>
              <a:srgbClr val="534AB7"/>
            </a:solidFill>
            <a:prstDash val="solid"/>
            <a:headEnd type="none"/>
            <a:tailEnd type="triangle"/>
          </a:ln>
        </p:spPr>
      </p:sp>
      <p:sp>
        <p:nvSpPr>
          <p:cNvPr id="68" name="Shape 69"/>
          <p:cNvSpPr/>
          <p:nvPr/>
        </p:nvSpPr>
        <p:spPr>
          <a:xfrm>
            <a:off x="8501605" y="1915000"/>
            <a:ext cx="1483737" cy="520000"/>
          </a:xfrm>
          <a:prstGeom prst="roundRect">
            <a:avLst>
              <a:gd name="adj" fmla="val 8000"/>
            </a:avLst>
          </a:prstGeom>
          <a:solidFill>
            <a:srgbClr val="FFFFFF"/>
          </a:solidFill>
          <a:ln w="12700">
            <a:solidFill>
              <a:srgbClr val="534AB7"/>
            </a:solidFill>
            <a:prstDash val="solid"/>
          </a:ln>
        </p:spPr>
      </p:sp>
      <p:sp>
        <p:nvSpPr>
          <p:cNvPr id="70" name="Text 71"/>
          <p:cNvSpPr/>
          <p:nvPr/>
        </p:nvSpPr>
        <p:spPr>
          <a:xfrm>
            <a:off x="8571605" y="1975000"/>
            <a:ext cx="1343737" cy="220000"/>
          </a:xfrm>
          <a:prstGeom prst="rect">
            <a:avLst/>
          </a:prstGeom>
          <a:noFill/>
          <a:ln/>
        </p:spPr>
        <p:txBody>
          <a:bodyPr wrap="square" lIns="0" tIns="0" rIns="0" bIns="0" rtlCol="0" anchor="t"/>
          <a:lstStyle/>
          <a:p>
            <a:pPr indent="0" marL="0">
              <a:buNone/>
            </a:pPr>
            <a:r>
              <a:rPr lang="en-US" sz="800" b="1" dirty="0">
                <a:solidFill>
                  <a:srgbClr val="3B3491"/>
                </a:solidFill>
                <a:latin typeface="Arial" pitchFamily="34" charset="0"/>
                <a:ea typeface="Arial" pitchFamily="34" charset="-122"/>
                <a:cs typeface="Arial" pitchFamily="34" charset="-120"/>
              </a:rPr>
              <a:t>JMS PUT</a:t>
            </a:r>
          </a:p>
        </p:txBody>
      </p:sp>
      <p:sp>
        <p:nvSpPr>
          <p:cNvPr id="72" name="Text 73"/>
          <p:cNvSpPr/>
          <p:nvPr/>
        </p:nvSpPr>
        <p:spPr>
          <a:xfrm>
            <a:off x="8571605" y="219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committed with the flow · one per model</a:t>
            </a:r>
          </a:p>
        </p:txBody>
      </p:sp>
      <p:sp>
        <p:nvSpPr>
          <p:cNvPr id="74" name="Arrow 75"/>
          <p:cNvSpPr/>
          <p:nvPr/>
        </p:nvSpPr>
        <p:spPr>
          <a:xfrm>
            <a:off x="9993342" y="2175000"/>
            <a:ext cx="74000" cy="1"/>
          </a:xfrm>
          <a:prstGeom prst="line">
            <a:avLst/>
          </a:prstGeom>
          <a:noFill/>
          <a:ln w="19050">
            <a:solidFill>
              <a:srgbClr val="534AB7"/>
            </a:solidFill>
            <a:prstDash val="solid"/>
            <a:headEnd type="none"/>
            <a:tailEnd type="triangle"/>
          </a:ln>
        </p:spPr>
      </p:sp>
      <p:sp>
        <p:nvSpPr>
          <p:cNvPr id="76" name="Shape 77"/>
          <p:cNvSpPr/>
          <p:nvPr/>
        </p:nvSpPr>
        <p:spPr>
          <a:xfrm>
            <a:off x="10075342" y="1915000"/>
            <a:ext cx="1483737" cy="520000"/>
          </a:xfrm>
          <a:prstGeom prst="roundRect">
            <a:avLst>
              <a:gd name="adj" fmla="val 8000"/>
            </a:avLst>
          </a:prstGeom>
          <a:solidFill>
            <a:srgbClr val="FFFFFF"/>
          </a:solidFill>
          <a:ln w="12700">
            <a:solidFill>
              <a:srgbClr val="534AB7"/>
            </a:solidFill>
            <a:prstDash val="solid"/>
          </a:ln>
        </p:spPr>
      </p:sp>
      <p:sp>
        <p:nvSpPr>
          <p:cNvPr id="78" name="Text 79"/>
          <p:cNvSpPr/>
          <p:nvPr/>
        </p:nvSpPr>
        <p:spPr>
          <a:xfrm>
            <a:off x="10145342" y="1975000"/>
            <a:ext cx="1343737" cy="220000"/>
          </a:xfrm>
          <a:prstGeom prst="rect">
            <a:avLst/>
          </a:prstGeom>
          <a:noFill/>
          <a:ln/>
        </p:spPr>
        <p:txBody>
          <a:bodyPr wrap="square" lIns="0" tIns="0" rIns="0" bIns="0" rtlCol="0" anchor="t"/>
          <a:lstStyle/>
          <a:p>
            <a:pPr indent="0" marL="0">
              <a:buNone/>
            </a:pPr>
            <a:r>
              <a:rPr lang="en-US" sz="800" b="1" dirty="0">
                <a:solidFill>
                  <a:srgbClr val="3B3491"/>
                </a:solidFill>
                <a:latin typeface="Arial" pitchFamily="34" charset="0"/>
                <a:ea typeface="Arial" pitchFamily="34" charset="-122"/>
                <a:cs typeface="Arial" pitchFamily="34" charset="-120"/>
              </a:rPr>
              <a:t>Sync reply 202</a:t>
            </a:r>
          </a:p>
        </p:txBody>
      </p:sp>
      <p:sp>
        <p:nvSpPr>
          <p:cNvPr id="80" name="Text 81"/>
          <p:cNvSpPr/>
          <p:nvPr/>
        </p:nvSpPr>
        <p:spPr>
          <a:xfrm>
            <a:off x="10145342" y="219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{status, correlationId}</a:t>
            </a:r>
          </a:p>
        </p:txBody>
      </p:sp>
      <p:sp>
        <p:nvSpPr>
          <p:cNvPr id="82" name="Text 83"/>
          <p:cNvSpPr/>
          <p:nvPr/>
        </p:nvSpPr>
        <p:spPr>
          <a:xfrm>
            <a:off x="662920" y="2475000"/>
            <a:ext cx="10800000" cy="240000"/>
          </a:xfrm>
          <a:prstGeom prst="rect">
            <a:avLst/>
          </a:prstGeom>
          <a:noFill/>
          <a:ln/>
        </p:spPr>
        <p:txBody>
          <a:bodyPr wrap="square" lIns="0" tIns="0" rIns="0" bIns="0" rtlCol="0" anchor="t"/>
          <a:lstStyle/>
          <a:p>
            <a:pPr indent="0" marL="0">
              <a:buNone/>
            </a:pPr>
            <a:r>
              <a:rPr lang="en-US" sz="750" dirty="0">
                <a:solidFill>
                  <a:srgbClr val="3B3491"/>
                </a:solidFill>
                <a:latin typeface="Arial" pitchFamily="34" charset="0"/>
                <a:ea typeface="Arial" pitchFamily="34" charset="-122"/>
                <a:cs typeface="Arial" pitchFamily="34" charset="-120"/>
              </a:rPr>
              <a:t>⚠ any failure in this lane → immediate HTTP 400 with the error list — nothing is ever stored  ·  a duplicate gets the saved result back from the tracker — no second post</a:t>
            </a:r>
          </a:p>
        </p:txBody>
      </p:sp>
      <p:sp>
        <p:nvSpPr>
          <p:cNvPr id="84" name="Shape 85"/>
          <p:cNvSpPr/>
          <p:nvPr/>
        </p:nvSpPr>
        <p:spPr>
          <a:xfrm>
            <a:off x="502920" y="2815000"/>
            <a:ext cx="11186160" cy="1150000"/>
          </a:xfrm>
          <a:prstGeom prst="roundRect">
            <a:avLst>
              <a:gd name="adj" fmla="val 2500"/>
            </a:avLst>
          </a:prstGeom>
          <a:solidFill>
            <a:srgbClr val="F0FAF6"/>
          </a:solidFill>
          <a:ln w="15875">
            <a:solidFill>
              <a:srgbClr val="0F6E56"/>
            </a:solidFill>
            <a:prstDash val="solid"/>
          </a:ln>
        </p:spPr>
      </p:sp>
      <p:sp>
        <p:nvSpPr>
          <p:cNvPr id="86" name="Text 87"/>
          <p:cNvSpPr/>
          <p:nvPr/>
        </p:nvSpPr>
        <p:spPr>
          <a:xfrm>
            <a:off x="662920" y="2885000"/>
            <a:ext cx="10800000" cy="230000"/>
          </a:xfrm>
          <a:prstGeom prst="rect">
            <a:avLst/>
          </a:prstGeom>
          <a:noFill/>
          <a:ln/>
        </p:spPr>
        <p:txBody>
          <a:bodyPr wrap="square" lIns="0" tIns="0" rIns="0" bIns="0" rtlCol="0" anchor="t"/>
          <a:lstStyle/>
          <a:p>
            <a:pPr indent="0" marL="0">
              <a:buNone/>
            </a:pPr>
            <a:r>
              <a:rPr lang="en-US" sz="900" b="1" dirty="0">
                <a:solidFill>
                  <a:srgbClr val="085041"/>
                </a:solidFill>
                <a:latin typeface="Arial" pitchFamily="34" charset="0"/>
                <a:ea typeface="Arial" pitchFamily="34" charset="-122"/>
                <a:cs typeface="Arial" pitchFamily="34" charset="-120"/>
              </a:rPr>
              <a:t>Flow 2 — PROCESS  ·  runs in the background  ·  started by the queue</a:t>
            </a:r>
          </a:p>
        </p:txBody>
      </p:sp>
      <p:sp>
        <p:nvSpPr>
          <p:cNvPr id="88" name="Shape 89"/>
          <p:cNvSpPr/>
          <p:nvPr/>
        </p:nvSpPr>
        <p:spPr>
          <a:xfrm>
            <a:off x="632920" y="3145000"/>
            <a:ext cx="1483737" cy="520000"/>
          </a:xfrm>
          <a:prstGeom prst="roundRect">
            <a:avLst>
              <a:gd name="adj" fmla="val 8000"/>
            </a:avLst>
          </a:prstGeom>
          <a:solidFill>
            <a:srgbClr val="FFFFFF"/>
          </a:solidFill>
          <a:ln w="12700">
            <a:solidFill>
              <a:srgbClr val="0F6E56"/>
            </a:solidFill>
            <a:prstDash val="solid"/>
          </a:ln>
        </p:spPr>
      </p:sp>
      <p:sp>
        <p:nvSpPr>
          <p:cNvPr id="90" name="Text 91"/>
          <p:cNvSpPr/>
          <p:nvPr/>
        </p:nvSpPr>
        <p:spPr>
          <a:xfrm>
            <a:off x="702920" y="3205000"/>
            <a:ext cx="1343737" cy="220000"/>
          </a:xfrm>
          <a:prstGeom prst="rect">
            <a:avLst/>
          </a:prstGeom>
          <a:noFill/>
          <a:ln/>
        </p:spPr>
        <p:txBody>
          <a:bodyPr wrap="square" lIns="0" tIns="0" rIns="0" bIns="0" rtlCol="0" anchor="t"/>
          <a:lstStyle/>
          <a:p>
            <a:pPr indent="0" marL="0">
              <a:buNone/>
            </a:pPr>
            <a:r>
              <a:rPr lang="en-US" sz="800" b="1" dirty="0">
                <a:solidFill>
                  <a:srgbClr val="085041"/>
                </a:solidFill>
                <a:latin typeface="Arial" pitchFamily="34" charset="0"/>
                <a:ea typeface="Arial" pitchFamily="34" charset="-122"/>
                <a:cs typeface="Arial" pitchFamily="34" charset="-120"/>
              </a:rPr>
              <a:t>JMS sender</a:t>
            </a:r>
          </a:p>
        </p:txBody>
      </p:sp>
      <p:sp>
        <p:nvSpPr>
          <p:cNvPr id="92" name="Text 93"/>
          <p:cNvSpPr/>
          <p:nvPr/>
        </p:nvSpPr>
        <p:spPr>
          <a:xfrm>
            <a:off x="702920" y="342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5 retries · growing waits</a:t>
            </a:r>
          </a:p>
        </p:txBody>
      </p:sp>
      <p:sp>
        <p:nvSpPr>
          <p:cNvPr id="94" name="Arrow 95"/>
          <p:cNvSpPr/>
          <p:nvPr/>
        </p:nvSpPr>
        <p:spPr>
          <a:xfrm>
            <a:off x="2124657" y="3405000"/>
            <a:ext cx="74000" cy="1"/>
          </a:xfrm>
          <a:prstGeom prst="line">
            <a:avLst/>
          </a:prstGeom>
          <a:noFill/>
          <a:ln w="19050">
            <a:solidFill>
              <a:srgbClr val="0F6E56"/>
            </a:solidFill>
            <a:prstDash val="solid"/>
            <a:headEnd type="none"/>
            <a:tailEnd type="triangle"/>
          </a:ln>
        </p:spPr>
      </p:sp>
      <p:sp>
        <p:nvSpPr>
          <p:cNvPr id="96" name="Shape 97"/>
          <p:cNvSpPr/>
          <p:nvPr/>
        </p:nvSpPr>
        <p:spPr>
          <a:xfrm>
            <a:off x="2206657" y="3145000"/>
            <a:ext cx="1483737" cy="520000"/>
          </a:xfrm>
          <a:prstGeom prst="roundRect">
            <a:avLst>
              <a:gd name="adj" fmla="val 8000"/>
            </a:avLst>
          </a:prstGeom>
          <a:solidFill>
            <a:srgbClr val="FFFFFF"/>
          </a:solidFill>
          <a:ln w="12700">
            <a:solidFill>
              <a:srgbClr val="0F6E56"/>
            </a:solidFill>
            <a:prstDash val="solid"/>
          </a:ln>
        </p:spPr>
      </p:sp>
      <p:sp>
        <p:nvSpPr>
          <p:cNvPr id="98" name="Text 99"/>
          <p:cNvSpPr/>
          <p:nvPr/>
        </p:nvSpPr>
        <p:spPr>
          <a:xfrm>
            <a:off x="2276657" y="3205000"/>
            <a:ext cx="1343737" cy="220000"/>
          </a:xfrm>
          <a:prstGeom prst="rect">
            <a:avLst/>
          </a:prstGeom>
          <a:noFill/>
          <a:ln/>
        </p:spPr>
        <p:txBody>
          <a:bodyPr wrap="square" lIns="0" tIns="0" rIns="0" bIns="0" rtlCol="0" anchor="t"/>
          <a:lstStyle/>
          <a:p>
            <a:pPr indent="0" marL="0">
              <a:buNone/>
            </a:pPr>
            <a:r>
              <a:rPr lang="en-US" sz="800" b="1" dirty="0">
                <a:solidFill>
                  <a:srgbClr val="085041"/>
                </a:solidFill>
                <a:latin typeface="Arial" pitchFamily="34" charset="0"/>
                <a:ea typeface="Arial" pitchFamily="34" charset="-122"/>
                <a:cs typeface="Arial" pitchFamily="34" charset="-120"/>
              </a:rPr>
              <a:t>businessKey lock</a:t>
            </a:r>
          </a:p>
        </p:txBody>
      </p:sp>
      <p:sp>
        <p:nvSpPr>
          <p:cNvPr id="100" name="Text 101"/>
          <p:cNvSpPr/>
          <p:nvPr/>
        </p:nvSpPr>
        <p:spPr>
          <a:xfrm>
            <a:off x="2276657" y="342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Data Store lease</a:t>
            </a:r>
          </a:p>
        </p:txBody>
      </p:sp>
      <p:sp>
        <p:nvSpPr>
          <p:cNvPr id="102" name="Arrow 103"/>
          <p:cNvSpPr/>
          <p:nvPr/>
        </p:nvSpPr>
        <p:spPr>
          <a:xfrm>
            <a:off x="3698394" y="3405000"/>
            <a:ext cx="74000" cy="1"/>
          </a:xfrm>
          <a:prstGeom prst="line">
            <a:avLst/>
          </a:prstGeom>
          <a:noFill/>
          <a:ln w="19050">
            <a:solidFill>
              <a:srgbClr val="0F6E56"/>
            </a:solidFill>
            <a:prstDash val="solid"/>
            <a:headEnd type="none"/>
            <a:tailEnd type="triangle"/>
          </a:ln>
        </p:spPr>
      </p:sp>
      <p:sp>
        <p:nvSpPr>
          <p:cNvPr id="104" name="Shape 105"/>
          <p:cNvSpPr/>
          <p:nvPr/>
        </p:nvSpPr>
        <p:spPr>
          <a:xfrm>
            <a:off x="3780394" y="3145000"/>
            <a:ext cx="1483737" cy="520000"/>
          </a:xfrm>
          <a:prstGeom prst="roundRect">
            <a:avLst>
              <a:gd name="adj" fmla="val 8000"/>
            </a:avLst>
          </a:prstGeom>
          <a:solidFill>
            <a:srgbClr val="FFFFFF"/>
          </a:solidFill>
          <a:ln w="12700">
            <a:solidFill>
              <a:srgbClr val="0F6E56"/>
            </a:solidFill>
            <a:prstDash val="solid"/>
          </a:ln>
        </p:spPr>
      </p:sp>
      <p:sp>
        <p:nvSpPr>
          <p:cNvPr id="106" name="Text 107"/>
          <p:cNvSpPr/>
          <p:nvPr/>
        </p:nvSpPr>
        <p:spPr>
          <a:xfrm>
            <a:off x="3850394" y="3205000"/>
            <a:ext cx="1343737" cy="220000"/>
          </a:xfrm>
          <a:prstGeom prst="rect">
            <a:avLst/>
          </a:prstGeom>
          <a:noFill/>
          <a:ln/>
        </p:spPr>
        <p:txBody>
          <a:bodyPr wrap="square" lIns="0" tIns="0" rIns="0" bIns="0" rtlCol="0" anchor="t"/>
          <a:lstStyle/>
          <a:p>
            <a:pPr indent="0" marL="0">
              <a:buNone/>
            </a:pPr>
            <a:r>
              <a:rPr lang="en-US" sz="800" b="1" dirty="0">
                <a:solidFill>
                  <a:srgbClr val="085041"/>
                </a:solidFill>
                <a:latin typeface="Arial" pitchFamily="34" charset="0"/>
                <a:ea typeface="Arial" pitchFamily="34" charset="-122"/>
                <a:cs typeface="Arial" pitchFamily="34" charset="-120"/>
              </a:rPr>
              <a:t>Version check</a:t>
            </a:r>
          </a:p>
        </p:txBody>
      </p:sp>
      <p:sp>
        <p:nvSpPr>
          <p:cNvPr id="108" name="Text 109"/>
          <p:cNvSpPr/>
          <p:nvPr/>
        </p:nvSpPr>
        <p:spPr>
          <a:xfrm>
            <a:off x="3850394" y="342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drop out-of-date versions</a:t>
            </a:r>
          </a:p>
        </p:txBody>
      </p:sp>
      <p:sp>
        <p:nvSpPr>
          <p:cNvPr id="110" name="Arrow 111"/>
          <p:cNvSpPr/>
          <p:nvPr/>
        </p:nvSpPr>
        <p:spPr>
          <a:xfrm>
            <a:off x="5272131" y="3405000"/>
            <a:ext cx="74000" cy="1"/>
          </a:xfrm>
          <a:prstGeom prst="line">
            <a:avLst/>
          </a:prstGeom>
          <a:noFill/>
          <a:ln w="19050">
            <a:solidFill>
              <a:srgbClr val="0F6E56"/>
            </a:solidFill>
            <a:prstDash val="solid"/>
            <a:headEnd type="none"/>
            <a:tailEnd type="triangle"/>
          </a:ln>
        </p:spPr>
      </p:sp>
      <p:sp>
        <p:nvSpPr>
          <p:cNvPr id="112" name="Shape 113"/>
          <p:cNvSpPr/>
          <p:nvPr/>
        </p:nvSpPr>
        <p:spPr>
          <a:xfrm>
            <a:off x="5354131" y="3145000"/>
            <a:ext cx="1483737" cy="520000"/>
          </a:xfrm>
          <a:prstGeom prst="roundRect">
            <a:avLst>
              <a:gd name="adj" fmla="val 8000"/>
            </a:avLst>
          </a:prstGeom>
          <a:solidFill>
            <a:srgbClr val="FFFFFF"/>
          </a:solidFill>
          <a:ln w="12700">
            <a:solidFill>
              <a:srgbClr val="0F6E56"/>
            </a:solidFill>
            <a:prstDash val="solid"/>
          </a:ln>
        </p:spPr>
      </p:sp>
      <p:sp>
        <p:nvSpPr>
          <p:cNvPr id="114" name="Text 115"/>
          <p:cNvSpPr/>
          <p:nvPr/>
        </p:nvSpPr>
        <p:spPr>
          <a:xfrm>
            <a:off x="5424131" y="3205000"/>
            <a:ext cx="1343737" cy="220000"/>
          </a:xfrm>
          <a:prstGeom prst="rect">
            <a:avLst/>
          </a:prstGeom>
          <a:noFill/>
          <a:ln/>
        </p:spPr>
        <p:txBody>
          <a:bodyPr wrap="square" lIns="0" tIns="0" rIns="0" bIns="0" rtlCol="0" anchor="t"/>
          <a:lstStyle/>
          <a:p>
            <a:pPr indent="0" marL="0">
              <a:buNone/>
            </a:pPr>
            <a:r>
              <a:rPr lang="en-US" sz="800" b="1" dirty="0">
                <a:solidFill>
                  <a:srgbClr val="085041"/>
                </a:solidFill>
                <a:latin typeface="Arial" pitchFamily="34" charset="0"/>
                <a:ea typeface="Arial" pitchFamily="34" charset="-122"/>
                <a:cs typeface="Arial" pitchFamily="34" charset="-120"/>
              </a:rPr>
              <a:t>Map to OData</a:t>
            </a:r>
          </a:p>
        </p:txBody>
      </p:sp>
      <p:sp>
        <p:nvSpPr>
          <p:cNvPr id="116" name="Text 117"/>
          <p:cNvSpPr/>
          <p:nvPr/>
        </p:nvSpPr>
        <p:spPr>
          <a:xfrm>
            <a:off x="5424131" y="342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field mapping + cross-ref</a:t>
            </a:r>
          </a:p>
        </p:txBody>
      </p:sp>
      <p:sp>
        <p:nvSpPr>
          <p:cNvPr id="118" name="Arrow 119"/>
          <p:cNvSpPr/>
          <p:nvPr/>
        </p:nvSpPr>
        <p:spPr>
          <a:xfrm>
            <a:off x="6845868" y="3405000"/>
            <a:ext cx="74000" cy="1"/>
          </a:xfrm>
          <a:prstGeom prst="line">
            <a:avLst/>
          </a:prstGeom>
          <a:noFill/>
          <a:ln w="19050">
            <a:solidFill>
              <a:srgbClr val="0F6E56"/>
            </a:solidFill>
            <a:prstDash val="solid"/>
            <a:headEnd type="none"/>
            <a:tailEnd type="triangle"/>
          </a:ln>
        </p:spPr>
      </p:sp>
      <p:sp>
        <p:nvSpPr>
          <p:cNvPr id="120" name="Shape 121"/>
          <p:cNvSpPr/>
          <p:nvPr/>
        </p:nvSpPr>
        <p:spPr>
          <a:xfrm>
            <a:off x="6927868" y="3145000"/>
            <a:ext cx="1483737" cy="520000"/>
          </a:xfrm>
          <a:prstGeom prst="roundRect">
            <a:avLst>
              <a:gd name="adj" fmla="val 8000"/>
            </a:avLst>
          </a:prstGeom>
          <a:solidFill>
            <a:srgbClr val="E1F5EE"/>
          </a:solidFill>
          <a:ln w="12700">
            <a:solidFill>
              <a:srgbClr val="0F6E56"/>
            </a:solidFill>
            <a:prstDash val="solid"/>
          </a:ln>
        </p:spPr>
      </p:sp>
      <p:sp>
        <p:nvSpPr>
          <p:cNvPr id="122" name="Text 123"/>
          <p:cNvSpPr/>
          <p:nvPr/>
        </p:nvSpPr>
        <p:spPr>
          <a:xfrm>
            <a:off x="6997868" y="3205000"/>
            <a:ext cx="1343737" cy="220000"/>
          </a:xfrm>
          <a:prstGeom prst="rect">
            <a:avLst/>
          </a:prstGeom>
          <a:noFill/>
          <a:ln/>
        </p:spPr>
        <p:txBody>
          <a:bodyPr wrap="square" lIns="0" tIns="0" rIns="0" bIns="0" rtlCol="0" anchor="t"/>
          <a:lstStyle/>
          <a:p>
            <a:pPr indent="0" marL="0">
              <a:buNone/>
            </a:pPr>
            <a:r>
              <a:rPr lang="en-US" sz="800" b="1" dirty="0">
                <a:solidFill>
                  <a:srgbClr val="085041"/>
                </a:solidFill>
                <a:latin typeface="Arial" pitchFamily="34" charset="0"/>
                <a:ea typeface="Arial" pitchFamily="34" charset="-122"/>
                <a:cs typeface="Arial" pitchFamily="34" charset="-120"/>
              </a:rPr>
              <a:t>S/4 released API</a:t>
            </a:r>
          </a:p>
        </p:txBody>
      </p:sp>
      <p:sp>
        <p:nvSpPr>
          <p:cNvPr id="124" name="Text 125"/>
          <p:cNvSpPr/>
          <p:nvPr/>
        </p:nvSpPr>
        <p:spPr>
          <a:xfrm>
            <a:off x="6997868" y="342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OData API · 60 s timeout</a:t>
            </a:r>
          </a:p>
        </p:txBody>
      </p:sp>
      <p:sp>
        <p:nvSpPr>
          <p:cNvPr id="126" name="Arrow 127"/>
          <p:cNvSpPr/>
          <p:nvPr/>
        </p:nvSpPr>
        <p:spPr>
          <a:xfrm>
            <a:off x="8419605" y="3405000"/>
            <a:ext cx="74000" cy="1"/>
          </a:xfrm>
          <a:prstGeom prst="line">
            <a:avLst/>
          </a:prstGeom>
          <a:noFill/>
          <a:ln w="19050">
            <a:solidFill>
              <a:srgbClr val="0F6E56"/>
            </a:solidFill>
            <a:prstDash val="solid"/>
            <a:headEnd type="none"/>
            <a:tailEnd type="triangle"/>
          </a:ln>
        </p:spPr>
      </p:sp>
      <p:sp>
        <p:nvSpPr>
          <p:cNvPr id="128" name="Shape 129"/>
          <p:cNvSpPr/>
          <p:nvPr/>
        </p:nvSpPr>
        <p:spPr>
          <a:xfrm>
            <a:off x="8501605" y="3145000"/>
            <a:ext cx="1483737" cy="520000"/>
          </a:xfrm>
          <a:prstGeom prst="roundRect">
            <a:avLst>
              <a:gd name="adj" fmla="val 8000"/>
            </a:avLst>
          </a:prstGeom>
          <a:solidFill>
            <a:srgbClr val="FFFFFF"/>
          </a:solidFill>
          <a:ln w="12700">
            <a:solidFill>
              <a:srgbClr val="0F6E56"/>
            </a:solidFill>
            <a:prstDash val="solid"/>
          </a:ln>
        </p:spPr>
      </p:sp>
      <p:sp>
        <p:nvSpPr>
          <p:cNvPr id="130" name="Text 131"/>
          <p:cNvSpPr/>
          <p:nvPr/>
        </p:nvSpPr>
        <p:spPr>
          <a:xfrm>
            <a:off x="8571605" y="3205000"/>
            <a:ext cx="1343737" cy="220000"/>
          </a:xfrm>
          <a:prstGeom prst="rect">
            <a:avLst/>
          </a:prstGeom>
          <a:noFill/>
          <a:ln/>
        </p:spPr>
        <p:txBody>
          <a:bodyPr wrap="square" lIns="0" tIns="0" rIns="0" bIns="0" rtlCol="0" anchor="t"/>
          <a:lstStyle/>
          <a:p>
            <a:pPr indent="0" marL="0">
              <a:buNone/>
            </a:pPr>
            <a:r>
              <a:rPr lang="en-US" sz="800" b="1" dirty="0">
                <a:solidFill>
                  <a:srgbClr val="085041"/>
                </a:solidFill>
                <a:latin typeface="Arial" pitchFamily="34" charset="0"/>
                <a:ea typeface="Arial" pitchFamily="34" charset="-122"/>
                <a:cs typeface="Arial" pitchFamily="34" charset="-120"/>
              </a:rPr>
              <a:t>Judge result</a:t>
            </a:r>
          </a:p>
        </p:txBody>
      </p:sp>
      <p:sp>
        <p:nvSpPr>
          <p:cNvPr id="132" name="Text 133"/>
          <p:cNvSpPr/>
          <p:nvPr/>
        </p:nvSpPr>
        <p:spPr>
          <a:xfrm>
            <a:off x="8571605" y="342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SAP's error list, not HTTP</a:t>
            </a:r>
          </a:p>
        </p:txBody>
      </p:sp>
      <p:sp>
        <p:nvSpPr>
          <p:cNvPr id="134" name="Arrow 135"/>
          <p:cNvSpPr/>
          <p:nvPr/>
        </p:nvSpPr>
        <p:spPr>
          <a:xfrm>
            <a:off x="9993342" y="3405000"/>
            <a:ext cx="74000" cy="1"/>
          </a:xfrm>
          <a:prstGeom prst="line">
            <a:avLst/>
          </a:prstGeom>
          <a:noFill/>
          <a:ln w="19050">
            <a:solidFill>
              <a:srgbClr val="0F6E56"/>
            </a:solidFill>
            <a:prstDash val="solid"/>
            <a:headEnd type="none"/>
            <a:tailEnd type="triangle"/>
          </a:ln>
        </p:spPr>
      </p:sp>
      <p:sp>
        <p:nvSpPr>
          <p:cNvPr id="136" name="Shape 137"/>
          <p:cNvSpPr/>
          <p:nvPr/>
        </p:nvSpPr>
        <p:spPr>
          <a:xfrm>
            <a:off x="10075342" y="3145000"/>
            <a:ext cx="1483737" cy="520000"/>
          </a:xfrm>
          <a:prstGeom prst="roundRect">
            <a:avLst>
              <a:gd name="adj" fmla="val 8000"/>
            </a:avLst>
          </a:prstGeom>
          <a:solidFill>
            <a:srgbClr val="FFFFFF"/>
          </a:solidFill>
          <a:ln w="12700">
            <a:solidFill>
              <a:srgbClr val="0F6E56"/>
            </a:solidFill>
            <a:prstDash val="solid"/>
          </a:ln>
        </p:spPr>
      </p:sp>
      <p:sp>
        <p:nvSpPr>
          <p:cNvPr id="138" name="Text 139"/>
          <p:cNvSpPr/>
          <p:nvPr/>
        </p:nvSpPr>
        <p:spPr>
          <a:xfrm>
            <a:off x="10145342" y="3205000"/>
            <a:ext cx="1343737" cy="220000"/>
          </a:xfrm>
          <a:prstGeom prst="rect">
            <a:avLst/>
          </a:prstGeom>
          <a:noFill/>
          <a:ln/>
        </p:spPr>
        <p:txBody>
          <a:bodyPr wrap="square" lIns="0" tIns="0" rIns="0" bIns="0" rtlCol="0" anchor="t"/>
          <a:lstStyle/>
          <a:p>
            <a:pPr indent="0" marL="0">
              <a:buNone/>
            </a:pPr>
            <a:r>
              <a:rPr lang="en-US" sz="800" b="1" dirty="0">
                <a:solidFill>
                  <a:srgbClr val="085041"/>
                </a:solidFill>
                <a:latin typeface="Arial" pitchFamily="34" charset="0"/>
                <a:ea typeface="Arial" pitchFamily="34" charset="-122"/>
                <a:cs typeface="Arial" pitchFamily="34" charset="-120"/>
              </a:rPr>
              <a:t>Step record</a:t>
            </a:r>
          </a:p>
        </p:txBody>
      </p:sp>
      <p:sp>
        <p:nvSpPr>
          <p:cNvPr id="140" name="Text 141"/>
          <p:cNvSpPr/>
          <p:nvPr/>
        </p:nvSpPr>
        <p:spPr>
          <a:xfrm>
            <a:off x="10145342" y="3425000"/>
            <a:ext cx="1343737"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cross-ref saved, same commit</a:t>
            </a:r>
          </a:p>
        </p:txBody>
      </p:sp>
      <p:sp>
        <p:nvSpPr>
          <p:cNvPr id="142" name="Text 143"/>
          <p:cNvSpPr/>
          <p:nvPr/>
        </p:nvSpPr>
        <p:spPr>
          <a:xfrm>
            <a:off x="662920" y="3705000"/>
            <a:ext cx="10800000" cy="240000"/>
          </a:xfrm>
          <a:prstGeom prst="rect">
            <a:avLst/>
          </a:prstGeom>
          <a:noFill/>
          <a:ln/>
        </p:spPr>
        <p:txBody>
          <a:bodyPr wrap="square" lIns="0" tIns="0" rIns="0" bIns="0" rtlCol="0" anchor="t"/>
          <a:lstStyle/>
          <a:p>
            <a:pPr indent="0" marL="0">
              <a:buNone/>
            </a:pPr>
            <a:r>
              <a:rPr lang="en-US" sz="750" dirty="0">
                <a:solidFill>
                  <a:srgbClr val="085041"/>
                </a:solidFill>
                <a:latin typeface="Arial" pitchFamily="34" charset="0"/>
                <a:ea typeface="Arial" pitchFamily="34" charset="-122"/>
                <a:cs typeface="Arial" pitchFamily="34" charset="-120"/>
              </a:rPr>
              <a:t>⚠ the error handler routes by class:  TRANSIENT → queue retries, set aside after 5  ·  arrived too early → wait and retry later  ·  BUSINESS → FAILED answer to the source  ·  SAP-side → set aside in the Data Store + notify (P1–P4, ServiceNow)</a:t>
            </a:r>
          </a:p>
        </p:txBody>
      </p:sp>
      <p:sp>
        <p:nvSpPr>
          <p:cNvPr id="144" name="Shape 145"/>
          <p:cNvSpPr/>
          <p:nvPr/>
        </p:nvSpPr>
        <p:spPr>
          <a:xfrm>
            <a:off x="502920" y="4045000"/>
            <a:ext cx="11186160" cy="1150000"/>
          </a:xfrm>
          <a:prstGeom prst="roundRect">
            <a:avLst>
              <a:gd name="adj" fmla="val 2500"/>
            </a:avLst>
          </a:prstGeom>
          <a:solidFill>
            <a:srgbClr val="FDF3F7"/>
          </a:solidFill>
          <a:ln w="15875">
            <a:solidFill>
              <a:srgbClr val="993556"/>
            </a:solidFill>
            <a:prstDash val="solid"/>
          </a:ln>
        </p:spPr>
      </p:sp>
      <p:sp>
        <p:nvSpPr>
          <p:cNvPr id="146" name="Text 147"/>
          <p:cNvSpPr/>
          <p:nvPr/>
        </p:nvSpPr>
        <p:spPr>
          <a:xfrm>
            <a:off x="662920" y="4115000"/>
            <a:ext cx="10800000" cy="230000"/>
          </a:xfrm>
          <a:prstGeom prst="rect">
            <a:avLst/>
          </a:prstGeom>
          <a:noFill/>
          <a:ln/>
        </p:spPr>
        <p:txBody>
          <a:bodyPr wrap="square" lIns="0" tIns="0" rIns="0" bIns="0" rtlCol="0" anchor="t"/>
          <a:lstStyle/>
          <a:p>
            <a:pPr indent="0" marL="0">
              <a:buNone/>
            </a:pPr>
            <a:r>
              <a:rPr lang="en-US" sz="900" b="1" dirty="0">
                <a:solidFill>
                  <a:srgbClr val="72243E"/>
                </a:solidFill>
                <a:latin typeface="Arial" pitchFamily="34" charset="0"/>
                <a:ea typeface="Arial" pitchFamily="34" charset="-122"/>
                <a:cs typeface="Arial" pitchFamily="34" charset="-120"/>
              </a:rPr>
              <a:t>Flow 3 — ANSWER  ·  runs in the background  ·  owns delivery, never the posting</a:t>
            </a:r>
          </a:p>
        </p:txBody>
      </p:sp>
      <p:sp>
        <p:nvSpPr>
          <p:cNvPr id="148" name="Shape 149"/>
          <p:cNvSpPr/>
          <p:nvPr/>
        </p:nvSpPr>
        <p:spPr>
          <a:xfrm>
            <a:off x="632920" y="4375000"/>
            <a:ext cx="2113232" cy="520000"/>
          </a:xfrm>
          <a:prstGeom prst="roundRect">
            <a:avLst>
              <a:gd name="adj" fmla="val 8000"/>
            </a:avLst>
          </a:prstGeom>
          <a:solidFill>
            <a:srgbClr val="FFFFFF"/>
          </a:solidFill>
          <a:ln w="12700">
            <a:solidFill>
              <a:srgbClr val="993556"/>
            </a:solidFill>
            <a:prstDash val="solid"/>
          </a:ln>
        </p:spPr>
      </p:sp>
      <p:sp>
        <p:nvSpPr>
          <p:cNvPr id="150" name="Text 151"/>
          <p:cNvSpPr/>
          <p:nvPr/>
        </p:nvSpPr>
        <p:spPr>
          <a:xfrm>
            <a:off x="702920" y="4435000"/>
            <a:ext cx="1973232" cy="220000"/>
          </a:xfrm>
          <a:prstGeom prst="rect">
            <a:avLst/>
          </a:prstGeom>
          <a:noFill/>
          <a:ln/>
        </p:spPr>
        <p:txBody>
          <a:bodyPr wrap="square" lIns="0" tIns="0" rIns="0" bIns="0" rtlCol="0" anchor="t"/>
          <a:lstStyle/>
          <a:p>
            <a:pPr indent="0" marL="0">
              <a:buNone/>
            </a:pPr>
            <a:r>
              <a:rPr lang="en-US" sz="800" b="1" dirty="0">
                <a:solidFill>
                  <a:srgbClr val="72243E"/>
                </a:solidFill>
                <a:latin typeface="Arial" pitchFamily="34" charset="0"/>
                <a:ea typeface="Arial" pitchFamily="34" charset="-122"/>
                <a:cs typeface="Arial" pitchFamily="34" charset="-120"/>
              </a:rPr>
              <a:t>Build response</a:t>
            </a:r>
          </a:p>
        </p:txBody>
      </p:sp>
      <p:sp>
        <p:nvSpPr>
          <p:cNvPr id="152" name="Text 153"/>
          <p:cNvSpPr/>
          <p:nvPr/>
        </p:nvSpPr>
        <p:spPr>
          <a:xfrm>
            <a:off x="702920" y="4655000"/>
            <a:ext cx="1973232"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SUCCEEDED / PARTIAL / FAILED</a:t>
            </a:r>
          </a:p>
        </p:txBody>
      </p:sp>
      <p:sp>
        <p:nvSpPr>
          <p:cNvPr id="154" name="Arrow 155"/>
          <p:cNvSpPr/>
          <p:nvPr/>
        </p:nvSpPr>
        <p:spPr>
          <a:xfrm>
            <a:off x="2754152" y="4635000"/>
            <a:ext cx="74000" cy="1"/>
          </a:xfrm>
          <a:prstGeom prst="line">
            <a:avLst/>
          </a:prstGeom>
          <a:noFill/>
          <a:ln w="19050">
            <a:solidFill>
              <a:srgbClr val="993556"/>
            </a:solidFill>
            <a:prstDash val="solid"/>
            <a:headEnd type="none"/>
            <a:tailEnd type="triangle"/>
          </a:ln>
        </p:spPr>
      </p:sp>
      <p:sp>
        <p:nvSpPr>
          <p:cNvPr id="156" name="Shape 157"/>
          <p:cNvSpPr/>
          <p:nvPr/>
        </p:nvSpPr>
        <p:spPr>
          <a:xfrm>
            <a:off x="2836152" y="4375000"/>
            <a:ext cx="2113232" cy="520000"/>
          </a:xfrm>
          <a:prstGeom prst="roundRect">
            <a:avLst>
              <a:gd name="adj" fmla="val 8000"/>
            </a:avLst>
          </a:prstGeom>
          <a:solidFill>
            <a:srgbClr val="FFFFFF"/>
          </a:solidFill>
          <a:ln w="12700">
            <a:solidFill>
              <a:srgbClr val="993556"/>
            </a:solidFill>
            <a:prstDash val="solid"/>
          </a:ln>
        </p:spPr>
      </p:sp>
      <p:sp>
        <p:nvSpPr>
          <p:cNvPr id="158" name="Text 159"/>
          <p:cNvSpPr/>
          <p:nvPr/>
        </p:nvSpPr>
        <p:spPr>
          <a:xfrm>
            <a:off x="2906152" y="4435000"/>
            <a:ext cx="1973232" cy="220000"/>
          </a:xfrm>
          <a:prstGeom prst="rect">
            <a:avLst/>
          </a:prstGeom>
          <a:noFill/>
          <a:ln/>
        </p:spPr>
        <p:txBody>
          <a:bodyPr wrap="square" lIns="0" tIns="0" rIns="0" bIns="0" rtlCol="0" anchor="t"/>
          <a:lstStyle/>
          <a:p>
            <a:pPr indent="0" marL="0">
              <a:buNone/>
            </a:pPr>
            <a:r>
              <a:rPr lang="en-US" sz="800" b="1" dirty="0">
                <a:solidFill>
                  <a:srgbClr val="72243E"/>
                </a:solidFill>
                <a:latin typeface="Arial" pitchFamily="34" charset="0"/>
                <a:ea typeface="Arial" pitchFamily="34" charset="-122"/>
                <a:cs typeface="Arial" pitchFamily="34" charset="-120"/>
              </a:rPr>
              <a:t>Tracker PUT</a:t>
            </a:r>
          </a:p>
        </p:txBody>
      </p:sp>
      <p:sp>
        <p:nvSpPr>
          <p:cNvPr id="160" name="Text 161"/>
          <p:cNvSpPr/>
          <p:nvPr/>
        </p:nvSpPr>
        <p:spPr>
          <a:xfrm>
            <a:off x="2906152" y="4655000"/>
            <a:ext cx="1973232"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correlationId · 90 days</a:t>
            </a:r>
          </a:p>
        </p:txBody>
      </p:sp>
      <p:sp>
        <p:nvSpPr>
          <p:cNvPr id="162" name="Arrow 163"/>
          <p:cNvSpPr/>
          <p:nvPr/>
        </p:nvSpPr>
        <p:spPr>
          <a:xfrm>
            <a:off x="4957384" y="4635000"/>
            <a:ext cx="74000" cy="1"/>
          </a:xfrm>
          <a:prstGeom prst="line">
            <a:avLst/>
          </a:prstGeom>
          <a:noFill/>
          <a:ln w="19050">
            <a:solidFill>
              <a:srgbClr val="993556"/>
            </a:solidFill>
            <a:prstDash val="solid"/>
            <a:headEnd type="none"/>
            <a:tailEnd type="triangle"/>
          </a:ln>
        </p:spPr>
      </p:sp>
      <p:sp>
        <p:nvSpPr>
          <p:cNvPr id="164" name="Shape 165"/>
          <p:cNvSpPr/>
          <p:nvPr/>
        </p:nvSpPr>
        <p:spPr>
          <a:xfrm>
            <a:off x="5039384" y="4375000"/>
            <a:ext cx="2113232" cy="520000"/>
          </a:xfrm>
          <a:prstGeom prst="roundRect">
            <a:avLst>
              <a:gd name="adj" fmla="val 8000"/>
            </a:avLst>
          </a:prstGeom>
          <a:solidFill>
            <a:srgbClr val="FFFFFF"/>
          </a:solidFill>
          <a:ln w="12700">
            <a:solidFill>
              <a:srgbClr val="993556"/>
            </a:solidFill>
            <a:prstDash val="solid"/>
          </a:ln>
        </p:spPr>
      </p:sp>
      <p:sp>
        <p:nvSpPr>
          <p:cNvPr id="166" name="Text 167"/>
          <p:cNvSpPr/>
          <p:nvPr/>
        </p:nvSpPr>
        <p:spPr>
          <a:xfrm>
            <a:off x="5109384" y="4435000"/>
            <a:ext cx="1973232" cy="220000"/>
          </a:xfrm>
          <a:prstGeom prst="rect">
            <a:avLst/>
          </a:prstGeom>
          <a:noFill/>
          <a:ln/>
        </p:spPr>
        <p:txBody>
          <a:bodyPr wrap="square" lIns="0" tIns="0" rIns="0" bIns="0" rtlCol="0" anchor="t"/>
          <a:lstStyle/>
          <a:p>
            <a:pPr indent="0" marL="0">
              <a:buNone/>
            </a:pPr>
            <a:r>
              <a:rPr lang="en-US" sz="800" b="1" dirty="0">
                <a:solidFill>
                  <a:srgbClr val="72243E"/>
                </a:solidFill>
                <a:latin typeface="Arial" pitchFamily="34" charset="0"/>
                <a:ea typeface="Arial" pitchFamily="34" charset="-122"/>
                <a:cs typeface="Arial" pitchFamily="34" charset="-120"/>
              </a:rPr>
              <a:t>Route by system</a:t>
            </a:r>
          </a:p>
        </p:txBody>
      </p:sp>
      <p:sp>
        <p:nvSpPr>
          <p:cNvPr id="168" name="Text 169"/>
          <p:cNvSpPr/>
          <p:nvPr/>
        </p:nvSpPr>
        <p:spPr>
          <a:xfrm>
            <a:off x="5109384" y="4655000"/>
            <a:ext cx="1973232"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route to the right system</a:t>
            </a:r>
          </a:p>
        </p:txBody>
      </p:sp>
      <p:sp>
        <p:nvSpPr>
          <p:cNvPr id="170" name="Arrow 171"/>
          <p:cNvSpPr/>
          <p:nvPr/>
        </p:nvSpPr>
        <p:spPr>
          <a:xfrm>
            <a:off x="7160616" y="4635000"/>
            <a:ext cx="74000" cy="1"/>
          </a:xfrm>
          <a:prstGeom prst="line">
            <a:avLst/>
          </a:prstGeom>
          <a:noFill/>
          <a:ln w="19050">
            <a:solidFill>
              <a:srgbClr val="993556"/>
            </a:solidFill>
            <a:prstDash val="solid"/>
            <a:headEnd type="none"/>
            <a:tailEnd type="triangle"/>
          </a:ln>
        </p:spPr>
      </p:sp>
      <p:sp>
        <p:nvSpPr>
          <p:cNvPr id="172" name="Shape 173"/>
          <p:cNvSpPr/>
          <p:nvPr/>
        </p:nvSpPr>
        <p:spPr>
          <a:xfrm>
            <a:off x="7242616" y="4375000"/>
            <a:ext cx="2113232" cy="520000"/>
          </a:xfrm>
          <a:prstGeom prst="roundRect">
            <a:avLst>
              <a:gd name="adj" fmla="val 8000"/>
            </a:avLst>
          </a:prstGeom>
          <a:solidFill>
            <a:srgbClr val="FFFFFF"/>
          </a:solidFill>
          <a:ln w="12700">
            <a:solidFill>
              <a:srgbClr val="993556"/>
            </a:solidFill>
            <a:prstDash val="solid"/>
          </a:ln>
        </p:spPr>
      </p:sp>
      <p:sp>
        <p:nvSpPr>
          <p:cNvPr id="174" name="Text 175"/>
          <p:cNvSpPr/>
          <p:nvPr/>
        </p:nvSpPr>
        <p:spPr>
          <a:xfrm>
            <a:off x="7312616" y="4435000"/>
            <a:ext cx="1973232" cy="220000"/>
          </a:xfrm>
          <a:prstGeom prst="rect">
            <a:avLst/>
          </a:prstGeom>
          <a:noFill/>
          <a:ln/>
        </p:spPr>
        <p:txBody>
          <a:bodyPr wrap="square" lIns="0" tIns="0" rIns="0" bIns="0" rtlCol="0" anchor="t"/>
          <a:lstStyle/>
          <a:p>
            <a:pPr indent="0" marL="0">
              <a:buNone/>
            </a:pPr>
            <a:r>
              <a:rPr lang="en-US" sz="800" b="1" dirty="0">
                <a:solidFill>
                  <a:srgbClr val="72243E"/>
                </a:solidFill>
                <a:latin typeface="Arial" pitchFamily="34" charset="0"/>
                <a:ea typeface="Arial" pitchFamily="34" charset="-122"/>
                <a:cs typeface="Arial" pitchFamily="34" charset="-120"/>
              </a:rPr>
              <a:t>Deliver callback</a:t>
            </a:r>
          </a:p>
        </p:txBody>
      </p:sp>
      <p:sp>
        <p:nvSpPr>
          <p:cNvPr id="176" name="Text 177"/>
          <p:cNvSpPr/>
          <p:nvPr/>
        </p:nvSpPr>
        <p:spPr>
          <a:xfrm>
            <a:off x="7312616" y="4655000"/>
            <a:ext cx="1973232"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HTTPS · OAuth2 login</a:t>
            </a:r>
          </a:p>
        </p:txBody>
      </p:sp>
      <p:sp>
        <p:nvSpPr>
          <p:cNvPr id="178" name="Arrow 179"/>
          <p:cNvSpPr/>
          <p:nvPr/>
        </p:nvSpPr>
        <p:spPr>
          <a:xfrm>
            <a:off x="9363848" y="4635000"/>
            <a:ext cx="74000" cy="1"/>
          </a:xfrm>
          <a:prstGeom prst="line">
            <a:avLst/>
          </a:prstGeom>
          <a:noFill/>
          <a:ln w="19050">
            <a:solidFill>
              <a:srgbClr val="993556"/>
            </a:solidFill>
            <a:prstDash val="solid"/>
            <a:headEnd type="none"/>
            <a:tailEnd type="triangle"/>
          </a:ln>
        </p:spPr>
      </p:sp>
      <p:sp>
        <p:nvSpPr>
          <p:cNvPr id="180" name="Shape 181"/>
          <p:cNvSpPr/>
          <p:nvPr/>
        </p:nvSpPr>
        <p:spPr>
          <a:xfrm>
            <a:off x="9445848" y="4375000"/>
            <a:ext cx="2113232" cy="520000"/>
          </a:xfrm>
          <a:prstGeom prst="roundRect">
            <a:avLst>
              <a:gd name="adj" fmla="val 8000"/>
            </a:avLst>
          </a:prstGeom>
          <a:solidFill>
            <a:srgbClr val="FFFFFF"/>
          </a:solidFill>
          <a:ln w="12700">
            <a:solidFill>
              <a:srgbClr val="993556"/>
            </a:solidFill>
            <a:prstDash val="solid"/>
          </a:ln>
        </p:spPr>
      </p:sp>
      <p:sp>
        <p:nvSpPr>
          <p:cNvPr id="182" name="Text 183"/>
          <p:cNvSpPr/>
          <p:nvPr/>
        </p:nvSpPr>
        <p:spPr>
          <a:xfrm>
            <a:off x="9515848" y="4435000"/>
            <a:ext cx="1973232" cy="220000"/>
          </a:xfrm>
          <a:prstGeom prst="rect">
            <a:avLst/>
          </a:prstGeom>
          <a:noFill/>
          <a:ln/>
        </p:spPr>
        <p:txBody>
          <a:bodyPr wrap="square" lIns="0" tIns="0" rIns="0" bIns="0" rtlCol="0" anchor="t"/>
          <a:lstStyle/>
          <a:p>
            <a:pPr indent="0" marL="0">
              <a:buNone/>
            </a:pPr>
            <a:r>
              <a:rPr lang="en-US" sz="800" b="1" dirty="0">
                <a:solidFill>
                  <a:srgbClr val="72243E"/>
                </a:solidFill>
                <a:latin typeface="Arial" pitchFamily="34" charset="0"/>
                <a:ea typeface="Arial" pitchFamily="34" charset="-122"/>
                <a:cs typeface="Arial" pitchFamily="34" charset="-120"/>
              </a:rPr>
              <a:t>Retry alone</a:t>
            </a:r>
          </a:p>
        </p:txBody>
      </p:sp>
      <p:sp>
        <p:nvSpPr>
          <p:cNvPr id="184" name="Text 185"/>
          <p:cNvSpPr/>
          <p:nvPr/>
        </p:nvSpPr>
        <p:spPr>
          <a:xfrm>
            <a:off x="9515848" y="4655000"/>
            <a:ext cx="1973232" cy="220000"/>
          </a:xfrm>
          <a:prstGeom prst="rect">
            <a:avLst/>
          </a:prstGeom>
          <a:noFill/>
          <a:ln/>
        </p:spPr>
        <p:txBody>
          <a:bodyPr wrap="square" lIns="0" tIns="0" rIns="0" bIns="0" rtlCol="0" anchor="t"/>
          <a:lstStyle/>
          <a:p>
            <a:pPr indent="0" marL="0">
              <a:buNone/>
            </a:pPr>
            <a:r>
              <a:rPr lang="en-US" sz="700" dirty="0">
                <a:solidFill>
                  <a:srgbClr val="444444"/>
                </a:solidFill>
                <a:latin typeface="Arial" pitchFamily="34" charset="0"/>
                <a:ea typeface="Arial" pitchFamily="34" charset="-122"/>
                <a:cs typeface="Arial" pitchFamily="34" charset="-120"/>
              </a:rPr>
              <a:t>own response queue</a:t>
            </a:r>
          </a:p>
        </p:txBody>
      </p:sp>
      <p:sp>
        <p:nvSpPr>
          <p:cNvPr id="186" name="Text 187"/>
          <p:cNvSpPr/>
          <p:nvPr/>
        </p:nvSpPr>
        <p:spPr>
          <a:xfrm>
            <a:off x="662920" y="4935000"/>
            <a:ext cx="10800000" cy="240000"/>
          </a:xfrm>
          <a:prstGeom prst="rect">
            <a:avLst/>
          </a:prstGeom>
          <a:noFill/>
          <a:ln/>
        </p:spPr>
        <p:txBody>
          <a:bodyPr wrap="square" lIns="0" tIns="0" rIns="0" bIns="0" rtlCol="0" anchor="t"/>
          <a:lstStyle/>
          <a:p>
            <a:pPr indent="0" marL="0">
              <a:buNone/>
            </a:pPr>
            <a:r>
              <a:rPr lang="en-US" sz="750" dirty="0">
                <a:solidFill>
                  <a:srgbClr val="72243E"/>
                </a:solidFill>
                <a:latin typeface="Arial" pitchFamily="34" charset="0"/>
                <a:ea typeface="Arial" pitchFamily="34" charset="-122"/>
                <a:cs typeface="Arial" pitchFamily="34" charset="-120"/>
              </a:rPr>
              <a:t>⚠ if the answer cannot be delivered → its own queue keeps retrying, and the SAP posting is never run again  ·  the source system can always look up the tracker, so an undelivered answer can still be read there</a:t>
            </a:r>
          </a:p>
        </p:txBody>
      </p:sp>
      <p:sp>
        <p:nvSpPr>
          <p:cNvPr id="188" name="Arrow 189"/>
          <p:cNvSpPr/>
          <p:nvPr/>
        </p:nvSpPr>
        <p:spPr>
          <a:xfrm>
            <a:off x="3200000" y="1485000"/>
            <a:ext cx="1" cy="100000"/>
          </a:xfrm>
          <a:prstGeom prst="line">
            <a:avLst/>
          </a:prstGeom>
          <a:noFill/>
          <a:ln w="19050">
            <a:solidFill>
              <a:srgbClr val="534AB7"/>
            </a:solidFill>
            <a:prstDash val="solid"/>
            <a:headEnd type="none"/>
            <a:tailEnd type="triangle"/>
          </a:ln>
        </p:spPr>
      </p:sp>
      <p:sp>
        <p:nvSpPr>
          <p:cNvPr id="190" name="Arrow 191"/>
          <p:cNvSpPr/>
          <p:nvPr/>
        </p:nvSpPr>
        <p:spPr>
          <a:xfrm>
            <a:off x="9200000" y="2735000"/>
            <a:ext cx="1" cy="80000"/>
          </a:xfrm>
          <a:prstGeom prst="line">
            <a:avLst/>
          </a:prstGeom>
          <a:noFill/>
          <a:ln w="19050">
            <a:solidFill>
              <a:srgbClr val="0F6E56"/>
            </a:solidFill>
            <a:prstDash val="solid"/>
            <a:headEnd type="none"/>
            <a:tailEnd type="triangle"/>
          </a:ln>
        </p:spPr>
      </p:sp>
      <p:sp>
        <p:nvSpPr>
          <p:cNvPr id="192" name="Arrow 193"/>
          <p:cNvSpPr/>
          <p:nvPr/>
        </p:nvSpPr>
        <p:spPr>
          <a:xfrm>
            <a:off x="9200000" y="3965000"/>
            <a:ext cx="1" cy="80000"/>
          </a:xfrm>
          <a:prstGeom prst="line">
            <a:avLst/>
          </a:prstGeom>
          <a:noFill/>
          <a:ln w="19050">
            <a:solidFill>
              <a:srgbClr val="993556"/>
            </a:solidFill>
            <a:prstDash val="solid"/>
            <a:headEnd type="none"/>
            <a:tailEnd type="triangle"/>
          </a:ln>
        </p:spPr>
      </p:sp>
      <p:sp>
        <p:nvSpPr>
          <p:cNvPr id="194" name="Arrow 195"/>
          <p:cNvSpPr/>
          <p:nvPr/>
        </p:nvSpPr>
        <p:spPr>
          <a:xfrm flipV="1">
            <a:off x="430000" y="1485000"/>
            <a:ext cx="1" cy="3135000"/>
          </a:xfrm>
          <a:prstGeom prst="line">
            <a:avLst/>
          </a:prstGeom>
          <a:noFill/>
          <a:ln w="19050">
            <a:solidFill>
              <a:srgbClr val="72243E"/>
            </a:solidFill>
            <a:prstDash val="dash"/>
            <a:headEnd type="none"/>
            <a:tailEnd type="triangle"/>
          </a:ln>
        </p:spPr>
      </p:sp>
      <p:sp>
        <p:nvSpPr>
          <p:cNvPr id="196" name="Shape 197"/>
          <p:cNvSpPr/>
          <p:nvPr/>
        </p:nvSpPr>
        <p:spPr>
          <a:xfrm>
            <a:off x="502920" y="5320000"/>
            <a:ext cx="11186160" cy="1060000"/>
          </a:xfrm>
          <a:prstGeom prst="roundRect">
            <a:avLst>
              <a:gd name="adj" fmla="val 3000"/>
            </a:avLst>
          </a:prstGeom>
          <a:solidFill>
            <a:srgbClr val="F7F7F5"/>
          </a:solidFill>
          <a:ln w="9525">
            <a:solidFill>
              <a:srgbClr val="D9D9D9"/>
            </a:solidFill>
            <a:prstDash val="solid"/>
          </a:ln>
        </p:spPr>
      </p:sp>
      <p:sp>
        <p:nvSpPr>
          <p:cNvPr id="198" name="Text 199"/>
          <p:cNvSpPr/>
          <p:nvPr/>
        </p:nvSpPr>
        <p:spPr>
          <a:xfrm>
            <a:off x="702920" y="5400000"/>
            <a:ext cx="10800000" cy="240000"/>
          </a:xfrm>
          <a:prstGeom prst="rect">
            <a:avLst/>
          </a:prstGeom>
          <a:noFill/>
          <a:ln/>
        </p:spPr>
        <p:txBody>
          <a:bodyPr wrap="square" lIns="0" tIns="0" rIns="0" bIns="0" rtlCol="0" anchor="t"/>
          <a:lstStyle/>
          <a:p>
            <a:pPr indent="0" marL="0">
              <a:buNone/>
            </a:pPr>
            <a:r>
              <a:rPr lang="en-US" sz="820" b="1" dirty="0">
                <a:solidFill>
                  <a:srgbClr val="1F3864"/>
                </a:solidFill>
                <a:latin typeface="Arial" pitchFamily="34" charset="0"/>
                <a:ea typeface="Arial" pitchFamily="34" charset="-122"/>
                <a:cs typeface="Arial" pitchFamily="34" charset="-120"/>
              </a:rPr>
              <a:t>The 202 is sent only after the JMS commit. </a:t>
            </a:r>
            <a:r>
              <a:rPr lang="en-US" sz="820" dirty="0">
                <a:solidFill>
                  <a:srgbClr val="444444"/>
                </a:solidFill>
                <a:latin typeface="Arial" pitchFamily="34" charset="0"/>
                <a:ea typeface="Arial" pitchFamily="34" charset="-122"/>
                <a:cs typeface="Arial" pitchFamily="34" charset="-120"/>
              </a:rPr>
              <a:t>The store-and-reply happen together: a crash before the store returns an error and the sender retries; a crash after the store is safe — the duplicate check returns the saved result.</a:t>
            </a:r>
          </a:p>
        </p:txBody>
      </p:sp>
      <p:sp>
        <p:nvSpPr>
          <p:cNvPr id="200" name="Text 201"/>
          <p:cNvSpPr/>
          <p:nvPr/>
        </p:nvSpPr>
        <p:spPr>
          <a:xfrm>
            <a:off x="702920" y="5670000"/>
            <a:ext cx="10800000" cy="240000"/>
          </a:xfrm>
          <a:prstGeom prst="rect">
            <a:avLst/>
          </a:prstGeom>
          <a:noFill/>
          <a:ln/>
        </p:spPr>
        <p:txBody>
          <a:bodyPr wrap="square" lIns="0" tIns="0" rIns="0" bIns="0" rtlCol="0" anchor="t"/>
          <a:lstStyle/>
          <a:p>
            <a:pPr indent="0" marL="0">
              <a:buNone/>
            </a:pPr>
            <a:r>
              <a:rPr lang="en-US" sz="820" b="1" dirty="0">
                <a:solidFill>
                  <a:srgbClr val="1F3864"/>
                </a:solidFill>
                <a:latin typeface="Arial" pitchFamily="34" charset="0"/>
                <a:ea typeface="Arial" pitchFamily="34" charset="-122"/>
                <a:cs typeface="Arial" pitchFamily="34" charset="-120"/>
              </a:rPr>
              <a:t>The duplicate record and the step record commit with the queue read; every SAP create is preceded by a lookup (read before create) </a:t>
            </a:r>
            <a:r>
              <a:rPr lang="en-US" sz="820" dirty="0">
                <a:solidFill>
                  <a:srgbClr val="444444"/>
                </a:solidFill>
                <a:latin typeface="Arial" pitchFamily="34" charset="0"/>
                <a:ea typeface="Arial" pitchFamily="34" charset="-122"/>
                <a:cs typeface="Arial" pitchFamily="34" charset="-120"/>
              </a:rPr>
              <a:t>— a crash between the SAP call and the record cannot cause a second posting.</a:t>
            </a:r>
          </a:p>
        </p:txBody>
      </p:sp>
      <p:sp>
        <p:nvSpPr>
          <p:cNvPr id="202" name="Text 203"/>
          <p:cNvSpPr/>
          <p:nvPr/>
        </p:nvSpPr>
        <p:spPr>
          <a:xfrm>
            <a:off x="702920" y="5940000"/>
            <a:ext cx="10800000" cy="240000"/>
          </a:xfrm>
          <a:prstGeom prst="rect">
            <a:avLst/>
          </a:prstGeom>
          <a:noFill/>
          <a:ln/>
        </p:spPr>
        <p:txBody>
          <a:bodyPr wrap="square" lIns="0" tIns="0" rIns="0" bIns="0" rtlCol="0" anchor="t"/>
          <a:lstStyle/>
          <a:p>
            <a:pPr indent="0" marL="0">
              <a:buNone/>
            </a:pPr>
            <a:r>
              <a:rPr lang="en-US" sz="820" b="1" dirty="0">
                <a:solidFill>
                  <a:srgbClr val="1F3864"/>
                </a:solidFill>
                <a:latin typeface="Arial" pitchFamily="34" charset="0"/>
                <a:ea typeface="Arial" pitchFamily="34" charset="-122"/>
                <a:cs typeface="Arial" pitchFamily="34" charset="-120"/>
              </a:rPr>
              <a:t>The response retries from its own queue </a:t>
            </a:r>
            <a:r>
              <a:rPr lang="en-US" sz="820" dirty="0">
                <a:solidFill>
                  <a:srgbClr val="444444"/>
                </a:solidFill>
                <a:latin typeface="Arial" pitchFamily="34" charset="0"/>
                <a:ea typeface="Arial" pitchFamily="34" charset="-122"/>
                <a:cs typeface="Arial" pitchFamily="34" charset="-120"/>
              </a:rPr>
              <a:t>— a callback failure never re-executes the SAP call.</a:t>
            </a:r>
          </a:p>
        </p:txBody>
      </p:sp>
      <p:sp>
        <p:nvSpPr>
          <p:cNvPr id="204" name="Text 205"/>
          <p:cNvSpPr/>
          <p:nvPr/>
        </p:nvSpPr>
        <p:spPr>
          <a:xfrm>
            <a:off x="702920" y="6080000"/>
            <a:ext cx="10800000" cy="240000"/>
          </a:xfrm>
          <a:prstGeom prst="rect">
            <a:avLst/>
          </a:prstGeom>
          <a:noFill/>
          <a:ln/>
        </p:spPr>
        <p:txBody>
          <a:bodyPr wrap="square" lIns="0" tIns="0" rIns="0" bIns="0" rtlCol="0" anchor="t"/>
          <a:lstStyle/>
          <a:p>
            <a:pPr indent="0" marL="0">
              <a:buNone/>
            </a:pPr>
            <a:r>
              <a:rPr lang="en-US" sz="820" b="1" dirty="0">
                <a:solidFill>
                  <a:srgbClr val="1F3864"/>
                </a:solidFill>
                <a:latin typeface="Arial" pitchFamily="34" charset="0"/>
                <a:ea typeface="Arial" pitchFamily="34" charset="-122"/>
                <a:cs typeface="Arial" pitchFamily="34" charset="-120"/>
              </a:rPr>
              <a:t>Every block writes a status line to the CPI message monitor under the same tracking ID </a:t>
            </a:r>
            <a:r>
              <a:rPr lang="en-US" sz="820" dirty="0">
                <a:solidFill>
                  <a:srgbClr val="444444"/>
                </a:solidFill>
                <a:latin typeface="Arial" pitchFamily="34" charset="0"/>
                <a:ea typeface="Arial" pitchFamily="34" charset="-122"/>
                <a:cs typeface="Arial" pitchFamily="34" charset="-120"/>
              </a:rPr>
              <a:t>— one search shows every step. Passwords and certificates live in CPI's secure store, never inside flows.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40111-CABB-A7D4-A45C-F5CE7BBEA0D2}"/>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E428F9AB-0A08-DE0E-C860-1985DE5D72E2}"/>
              </a:ext>
            </a:extLst>
          </p:cNvPr>
          <p:cNvSpPr/>
          <p:nvPr/>
        </p:nvSpPr>
        <p:spPr>
          <a:xfrm>
            <a:off x="502919" y="182880"/>
            <a:ext cx="10258283" cy="502920"/>
          </a:xfrm>
          <a:prstGeom prst="rect">
            <a:avLst/>
          </a:prstGeom>
          <a:noFill/>
          <a:ln/>
        </p:spPr>
        <p:txBody>
          <a:bodyPr wrap="square" lIns="0" tIns="0" rIns="0" bIns="0" rtlCol="0" anchor="ctr"/>
          <a:lstStyle/>
          <a:p>
            <a:r>
              <a:rPr lang="en-US" sz="2300" b="1">
                <a:solidFill>
                  <a:srgbClr val="1F3864"/>
                </a:solidFill>
                <a:latin typeface="Arial"/>
                <a:ea typeface="Arial" pitchFamily="34" charset="-122"/>
                <a:cs typeface="Arial"/>
              </a:rPr>
              <a:t>FSM – JAMS Create_SO Canonical Lifecycle</a:t>
            </a:r>
            <a:endParaRPr lang="en-US" sz="2300">
              <a:latin typeface="Arial"/>
              <a:cs typeface="Arial"/>
            </a:endParaRPr>
          </a:p>
        </p:txBody>
      </p:sp>
      <p:sp>
        <p:nvSpPr>
          <p:cNvPr id="7" name="Text 5">
            <a:extLst>
              <a:ext uri="{FF2B5EF4-FFF2-40B4-BE49-F238E27FC236}">
                <a16:creationId xmlns:a16="http://schemas.microsoft.com/office/drawing/2014/main" id="{8B3DB39D-BD6C-0F7A-2026-FE9C26C9CC6B}"/>
              </a:ext>
            </a:extLst>
          </p:cNvPr>
          <p:cNvSpPr/>
          <p:nvPr/>
        </p:nvSpPr>
        <p:spPr>
          <a:xfrm>
            <a:off x="502920" y="676655"/>
            <a:ext cx="11155680" cy="399059"/>
          </a:xfrm>
          <a:prstGeom prst="rect">
            <a:avLst/>
          </a:prstGeom>
          <a:noFill/>
          <a:ln/>
        </p:spPr>
        <p:txBody>
          <a:bodyPr wrap="square" lIns="0" tIns="0" rIns="0" bIns="0" rtlCol="0" anchor="t"/>
          <a:lstStyle/>
          <a:p>
            <a:pPr marL="0" indent="0">
              <a:buNone/>
            </a:pPr>
            <a:r>
              <a:rPr lang="en-US" sz="1200">
                <a:solidFill>
                  <a:srgbClr val="595959"/>
                </a:solidFill>
                <a:latin typeface="Arial" pitchFamily="34" charset="0"/>
                <a:ea typeface="Arial" pitchFamily="34" charset="-122"/>
                <a:cs typeface="Arial" pitchFamily="34" charset="-120"/>
              </a:rPr>
              <a:t>As soon as the JOB is created (trigger TBC), JAMS sends Create_SO; S/4HANA creates the service order. The canonical response confirms receipt and outcome — no document details.</a:t>
            </a:r>
            <a:endParaRPr lang="en-US" sz="1200"/>
          </a:p>
        </p:txBody>
      </p:sp>
      <p:sp>
        <p:nvSpPr>
          <p:cNvPr id="63" name="Shape 10">
            <a:extLst>
              <a:ext uri="{FF2B5EF4-FFF2-40B4-BE49-F238E27FC236}">
                <a16:creationId xmlns:a16="http://schemas.microsoft.com/office/drawing/2014/main" id="{07F7A6F2-A4B0-75B9-2258-E3B85FDE70B8}"/>
              </a:ext>
            </a:extLst>
          </p:cNvPr>
          <p:cNvSpPr/>
          <p:nvPr/>
        </p:nvSpPr>
        <p:spPr>
          <a:xfrm>
            <a:off x="333153" y="3740564"/>
            <a:ext cx="11525693" cy="2320033"/>
          </a:xfrm>
          <a:prstGeom prst="roundRect">
            <a:avLst>
              <a:gd name="adj" fmla="val 10465"/>
            </a:avLst>
          </a:prstGeom>
          <a:solidFill>
            <a:schemeClr val="bg1"/>
          </a:solidFill>
          <a:ln w="15875">
            <a:noFill/>
            <a:prstDash val="solid"/>
          </a:ln>
        </p:spPr>
        <p:txBody>
          <a:bodyPr/>
          <a:lstStyle/>
          <a:p>
            <a:r>
              <a:rPr lang="en-AU" sz="1600" b="1"/>
              <a:t>Step 2: Retrieval of created Service Orders in S/4HANA</a:t>
            </a:r>
            <a:r>
              <a:rPr lang="en-AU" sz="1600" b="1" err="1"/>
              <a:t/>
            </a:r>
            <a:r>
              <a:rPr lang="en-AU" sz="1600" b="1"/>
              <a:t/>
            </a:r>
          </a:p>
        </p:txBody>
      </p:sp>
      <p:sp>
        <p:nvSpPr>
          <p:cNvPr id="64" name="Shape 10">
            <a:extLst>
              <a:ext uri="{FF2B5EF4-FFF2-40B4-BE49-F238E27FC236}">
                <a16:creationId xmlns:a16="http://schemas.microsoft.com/office/drawing/2014/main" id="{E6E8F543-4752-9692-5657-913C717491F1}"/>
              </a:ext>
            </a:extLst>
          </p:cNvPr>
          <p:cNvSpPr/>
          <p:nvPr/>
        </p:nvSpPr>
        <p:spPr>
          <a:xfrm>
            <a:off x="333153" y="973306"/>
            <a:ext cx="11525693" cy="1966168"/>
          </a:xfrm>
          <a:prstGeom prst="roundRect">
            <a:avLst>
              <a:gd name="adj" fmla="val 10465"/>
            </a:avLst>
          </a:prstGeom>
          <a:solidFill>
            <a:schemeClr val="bg1"/>
          </a:solidFill>
          <a:ln w="15875">
            <a:noFill/>
            <a:prstDash val="solid"/>
          </a:ln>
        </p:spPr>
        <p:txBody>
          <a:bodyPr/>
          <a:lstStyle/>
          <a:p>
            <a:r>
              <a:rPr lang="en-AU" sz="1600" b="1"/>
              <a:t>Step 1: </a:t>
            </a:r>
            <a:r>
              <a:rPr lang="en-AU" sz="1600" b="1" err="1"/>
              <a:t>Create_SO</a:t>
            </a:r>
            <a:r>
              <a:rPr lang="en-AU" sz="1600" b="1"/>
              <a:t> for Creation of the Service Order and Canonical Response</a:t>
            </a:r>
          </a:p>
        </p:txBody>
      </p:sp>
      <p:sp>
        <p:nvSpPr>
          <p:cNvPr id="66" name="Shape 8">
            <a:extLst>
              <a:ext uri="{FF2B5EF4-FFF2-40B4-BE49-F238E27FC236}">
                <a16:creationId xmlns:a16="http://schemas.microsoft.com/office/drawing/2014/main" id="{71284D9C-CCBE-D8FE-611F-BAF47464D7AA}"/>
              </a:ext>
            </a:extLst>
          </p:cNvPr>
          <p:cNvSpPr/>
          <p:nvPr/>
        </p:nvSpPr>
        <p:spPr>
          <a:xfrm>
            <a:off x="761646"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JAMS</a:t>
            </a:r>
          </a:p>
        </p:txBody>
      </p:sp>
      <p:sp>
        <p:nvSpPr>
          <p:cNvPr id="67" name="Rounded Rectangle 66">
            <a:extLst>
              <a:ext uri="{FF2B5EF4-FFF2-40B4-BE49-F238E27FC236}">
                <a16:creationId xmlns:a16="http://schemas.microsoft.com/office/drawing/2014/main" id="{135921EE-A7CE-6E4A-64C9-AD992733634B}"/>
              </a:ext>
            </a:extLst>
          </p:cNvPr>
          <p:cNvSpPr/>
          <p:nvPr/>
        </p:nvSpPr>
        <p:spPr>
          <a:xfrm>
            <a:off x="3437861" y="1407544"/>
            <a:ext cx="4986670"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71" name="Shape 8">
            <a:extLst>
              <a:ext uri="{FF2B5EF4-FFF2-40B4-BE49-F238E27FC236}">
                <a16:creationId xmlns:a16="http://schemas.microsoft.com/office/drawing/2014/main" id="{C0C34612-DA8E-977D-E71D-46613133C200}"/>
              </a:ext>
            </a:extLst>
          </p:cNvPr>
          <p:cNvSpPr/>
          <p:nvPr/>
        </p:nvSpPr>
        <p:spPr>
          <a:xfrm>
            <a:off x="3915882"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1</a:t>
            </a:r>
            <a:r>
              <a:rPr lang="en-AU" sz="1400" b="1" baseline="30000"/>
              <a:t>st</a:t>
            </a:r>
            <a:r>
              <a:rPr lang="en-AU" sz="1400" b="1"/>
              <a:t> Leg Interfaces</a:t>
            </a:r>
          </a:p>
        </p:txBody>
      </p:sp>
      <p:sp>
        <p:nvSpPr>
          <p:cNvPr id="72" name="Shape 8">
            <a:extLst>
              <a:ext uri="{FF2B5EF4-FFF2-40B4-BE49-F238E27FC236}">
                <a16:creationId xmlns:a16="http://schemas.microsoft.com/office/drawing/2014/main" id="{EAFF3EAF-DE22-6890-D215-580005F33CD3}"/>
              </a:ext>
            </a:extLst>
          </p:cNvPr>
          <p:cNvSpPr/>
          <p:nvPr/>
        </p:nvSpPr>
        <p:spPr>
          <a:xfrm>
            <a:off x="6399736"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Canonical Model</a:t>
            </a:r>
          </a:p>
        </p:txBody>
      </p:sp>
      <p:sp>
        <p:nvSpPr>
          <p:cNvPr id="73" name="Shape 26">
            <a:extLst>
              <a:ext uri="{FF2B5EF4-FFF2-40B4-BE49-F238E27FC236}">
                <a16:creationId xmlns:a16="http://schemas.microsoft.com/office/drawing/2014/main" id="{D00DEFED-5ED5-4851-5F51-6181A8246097}"/>
              </a:ext>
            </a:extLst>
          </p:cNvPr>
          <p:cNvSpPr/>
          <p:nvPr/>
        </p:nvSpPr>
        <p:spPr>
          <a:xfrm>
            <a:off x="9553972" y="1807536"/>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cxnSp>
        <p:nvCxnSpPr>
          <p:cNvPr id="74" name="Straight Arrow Connector 73">
            <a:extLst>
              <a:ext uri="{FF2B5EF4-FFF2-40B4-BE49-F238E27FC236}">
                <a16:creationId xmlns:a16="http://schemas.microsoft.com/office/drawing/2014/main" id="{CE6480D8-8C6B-21C6-D7B7-D048E19BDD2E}"/>
              </a:ext>
            </a:extLst>
          </p:cNvPr>
          <p:cNvCxnSpPr/>
          <p:nvPr/>
        </p:nvCxnSpPr>
        <p:spPr>
          <a:xfrm>
            <a:off x="2236382" y="197191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9D83CE9-3817-8790-D52A-D755A00412A8}"/>
              </a:ext>
            </a:extLst>
          </p:cNvPr>
          <p:cNvCxnSpPr>
            <a:cxnSpLocks/>
          </p:cNvCxnSpPr>
          <p:nvPr/>
        </p:nvCxnSpPr>
        <p:spPr>
          <a:xfrm>
            <a:off x="7874472" y="197191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8E8BD4F-B178-2D50-6A09-A397CC8846B5}"/>
              </a:ext>
            </a:extLst>
          </p:cNvPr>
          <p:cNvCxnSpPr>
            <a:cxnSpLocks/>
          </p:cNvCxnSpPr>
          <p:nvPr/>
        </p:nvCxnSpPr>
        <p:spPr>
          <a:xfrm>
            <a:off x="5390618" y="1982546"/>
            <a:ext cx="7053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00F9DFE-D2B5-8C2F-4622-BA0913265AED}"/>
              </a:ext>
            </a:extLst>
          </p:cNvPr>
          <p:cNvCxnSpPr>
            <a:cxnSpLocks/>
          </p:cNvCxnSpPr>
          <p:nvPr/>
        </p:nvCxnSpPr>
        <p:spPr>
          <a:xfrm flipH="1">
            <a:off x="2225749" y="2485820"/>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Shape 8">
            <a:extLst>
              <a:ext uri="{FF2B5EF4-FFF2-40B4-BE49-F238E27FC236}">
                <a16:creationId xmlns:a16="http://schemas.microsoft.com/office/drawing/2014/main" id="{90D8951B-6A21-7B71-3C6A-A74797A5DC58}"/>
              </a:ext>
            </a:extLst>
          </p:cNvPr>
          <p:cNvSpPr/>
          <p:nvPr/>
        </p:nvSpPr>
        <p:spPr>
          <a:xfrm>
            <a:off x="6095998" y="1813446"/>
            <a:ext cx="249855" cy="841965"/>
          </a:xfrm>
          <a:prstGeom prst="roundRect">
            <a:avLst>
              <a:gd name="adj" fmla="val 17621"/>
            </a:avLst>
          </a:prstGeom>
          <a:solidFill>
            <a:srgbClr val="EEF2F8"/>
          </a:solidFill>
          <a:ln w="19050">
            <a:solidFill>
              <a:srgbClr val="1F3864"/>
            </a:solidFill>
            <a:prstDash val="solid"/>
          </a:ln>
        </p:spPr>
        <p:txBody>
          <a:bodyPr vert="vert270" anchor="ctr"/>
          <a:lstStyle/>
          <a:p>
            <a:pPr algn="ctr"/>
            <a:r>
              <a:rPr lang="en-AU" sz="1100" b="1"/>
              <a:t>JMS Queue</a:t>
            </a:r>
          </a:p>
        </p:txBody>
      </p:sp>
      <p:sp>
        <p:nvSpPr>
          <p:cNvPr id="80" name="TextBox 79">
            <a:extLst>
              <a:ext uri="{FF2B5EF4-FFF2-40B4-BE49-F238E27FC236}">
                <a16:creationId xmlns:a16="http://schemas.microsoft.com/office/drawing/2014/main" id="{59A5AFA5-CDE1-1D19-414A-C80862542294}"/>
              </a:ext>
            </a:extLst>
          </p:cNvPr>
          <p:cNvSpPr txBox="1"/>
          <p:nvPr/>
        </p:nvSpPr>
        <p:spPr>
          <a:xfrm>
            <a:off x="2264834" y="2526893"/>
            <a:ext cx="1212112" cy="553998"/>
          </a:xfrm>
          <a:prstGeom prst="rect">
            <a:avLst/>
          </a:prstGeom>
          <a:noFill/>
        </p:spPr>
        <p:txBody>
          <a:bodyPr wrap="square" rtlCol="0">
            <a:spAutoFit/>
          </a:bodyPr>
          <a:lstStyle/>
          <a:p>
            <a:r>
              <a:rPr lang="en-US" sz="1000" b="1" i="1">
                <a:solidFill>
                  <a:schemeClr val="bg1">
                    <a:lumMod val="50000"/>
                  </a:schemeClr>
                </a:solidFill>
              </a:rPr>
              <a:t>Acknowledgement.</a:t>
            </a:r>
            <a:br>
              <a:rPr lang="en-US" sz="1000" i="1">
                <a:solidFill>
                  <a:schemeClr val="bg1">
                    <a:lumMod val="50000"/>
                  </a:schemeClr>
                </a:solidFill>
              </a:rPr>
            </a:br>
            <a:r>
              <a:rPr lang="en-US" sz="1000" i="1">
                <a:solidFill>
                  <a:schemeClr val="bg1">
                    <a:lumMod val="50000"/>
                  </a:schemeClr>
                </a:solidFill>
              </a:rPr>
              <a:t>HTTP Response Code</a:t>
            </a:r>
          </a:p>
        </p:txBody>
      </p:sp>
      <p:sp>
        <p:nvSpPr>
          <p:cNvPr id="81" name="TextBox 80">
            <a:extLst>
              <a:ext uri="{FF2B5EF4-FFF2-40B4-BE49-F238E27FC236}">
                <a16:creationId xmlns:a16="http://schemas.microsoft.com/office/drawing/2014/main" id="{845DDA79-01C7-7D35-64DD-0A0705CF7855}"/>
              </a:ext>
            </a:extLst>
          </p:cNvPr>
          <p:cNvSpPr txBox="1"/>
          <p:nvPr/>
        </p:nvSpPr>
        <p:spPr>
          <a:xfrm>
            <a:off x="2264834" y="1522104"/>
            <a:ext cx="1212112" cy="400110"/>
          </a:xfrm>
          <a:prstGeom prst="rect">
            <a:avLst/>
          </a:prstGeom>
          <a:noFill/>
        </p:spPr>
        <p:txBody>
          <a:bodyPr wrap="square" rtlCol="0">
            <a:spAutoFit/>
          </a:bodyPr>
          <a:lstStyle/>
          <a:p>
            <a:r>
              <a:rPr lang="en-US" sz="1000" b="1" i="1" err="1">
                <a:solidFill>
                  <a:schemeClr val="bg1">
                    <a:lumMod val="50000"/>
                  </a:schemeClr>
                </a:solidFill>
              </a:rPr>
              <a:t>Create_SO</a:t>
            </a:r>
            <a:br>
              <a:rPr lang="en-US" sz="1000" b="1" i="1">
                <a:solidFill>
                  <a:schemeClr val="bg1">
                    <a:lumMod val="50000"/>
                  </a:schemeClr>
                </a:solidFill>
              </a:rPr>
            </a:br>
            <a:r>
              <a:rPr lang="en-US" sz="1000" i="1">
                <a:solidFill>
                  <a:schemeClr val="bg1">
                    <a:lumMod val="50000"/>
                  </a:schemeClr>
                </a:solidFill>
              </a:rPr>
              <a:t>Outbound JAMS</a:t>
            </a:r>
          </a:p>
        </p:txBody>
      </p:sp>
      <p:sp>
        <p:nvSpPr>
          <p:cNvPr id="82" name="TextBox 81">
            <a:extLst>
              <a:ext uri="{FF2B5EF4-FFF2-40B4-BE49-F238E27FC236}">
                <a16:creationId xmlns:a16="http://schemas.microsoft.com/office/drawing/2014/main" id="{8EBE07E5-3521-46E4-589A-227BD8E0A96A}"/>
              </a:ext>
            </a:extLst>
          </p:cNvPr>
          <p:cNvSpPr txBox="1"/>
          <p:nvPr/>
        </p:nvSpPr>
        <p:spPr>
          <a:xfrm>
            <a:off x="3860117" y="2686108"/>
            <a:ext cx="1623459" cy="553998"/>
          </a:xfrm>
          <a:prstGeom prst="rect">
            <a:avLst/>
          </a:prstGeom>
          <a:noFill/>
        </p:spPr>
        <p:txBody>
          <a:bodyPr wrap="square" rtlCol="0">
            <a:spAutoFit/>
          </a:bodyPr>
          <a:lstStyle/>
          <a:p>
            <a:r>
              <a:rPr lang="en-US" sz="1000" b="1" i="1">
                <a:solidFill>
                  <a:schemeClr val="bg1">
                    <a:lumMod val="50000"/>
                  </a:schemeClr>
                </a:solidFill>
              </a:rPr>
              <a:t>Mapping and Canonical Trigger</a:t>
            </a:r>
          </a:p>
          <a:p>
            <a:r>
              <a:rPr lang="en-US" sz="1000" i="1">
                <a:solidFill>
                  <a:schemeClr val="bg1">
                    <a:lumMod val="50000"/>
                  </a:schemeClr>
                </a:solidFill>
              </a:rPr>
              <a:t>CPI Process to Process call</a:t>
            </a:r>
          </a:p>
        </p:txBody>
      </p:sp>
      <p:sp>
        <p:nvSpPr>
          <p:cNvPr id="83" name="TextBox 82">
            <a:extLst>
              <a:ext uri="{FF2B5EF4-FFF2-40B4-BE49-F238E27FC236}">
                <a16:creationId xmlns:a16="http://schemas.microsoft.com/office/drawing/2014/main" id="{CC3E88FD-CBA8-9719-B393-4D7555A5085F}"/>
              </a:ext>
            </a:extLst>
          </p:cNvPr>
          <p:cNvSpPr txBox="1"/>
          <p:nvPr/>
        </p:nvSpPr>
        <p:spPr>
          <a:xfrm>
            <a:off x="8353267" y="1582436"/>
            <a:ext cx="1293540" cy="400110"/>
          </a:xfrm>
          <a:prstGeom prst="rect">
            <a:avLst/>
          </a:prstGeom>
          <a:noFill/>
        </p:spPr>
        <p:txBody>
          <a:bodyPr wrap="square" rtlCol="0">
            <a:spAutoFit/>
          </a:bodyPr>
          <a:lstStyle/>
          <a:p>
            <a:r>
              <a:rPr lang="en-US" sz="1000" b="1" i="1">
                <a:solidFill>
                  <a:schemeClr val="bg1">
                    <a:lumMod val="50000"/>
                  </a:schemeClr>
                </a:solidFill>
              </a:rPr>
              <a:t>S/4HANA API Call</a:t>
            </a:r>
          </a:p>
          <a:p>
            <a:r>
              <a:rPr lang="en-US" sz="1000" i="1" err="1">
                <a:solidFill>
                  <a:schemeClr val="bg1">
                    <a:lumMod val="50000"/>
                  </a:schemeClr>
                </a:solidFill>
              </a:rPr>
              <a:t>ServiceOrder</a:t>
            </a:r>
            <a:endParaRPr lang="en-US" sz="1000" i="1">
              <a:solidFill>
                <a:schemeClr val="bg1">
                  <a:lumMod val="50000"/>
                </a:schemeClr>
              </a:solidFill>
            </a:endParaRPr>
          </a:p>
        </p:txBody>
      </p:sp>
      <p:sp>
        <p:nvSpPr>
          <p:cNvPr id="85" name="Shape 8">
            <a:extLst>
              <a:ext uri="{FF2B5EF4-FFF2-40B4-BE49-F238E27FC236}">
                <a16:creationId xmlns:a16="http://schemas.microsoft.com/office/drawing/2014/main" id="{116CA344-D1DC-F66D-AB1D-2A7F5116908F}"/>
              </a:ext>
            </a:extLst>
          </p:cNvPr>
          <p:cNvSpPr/>
          <p:nvPr/>
        </p:nvSpPr>
        <p:spPr>
          <a:xfrm>
            <a:off x="6399736" y="2894674"/>
            <a:ext cx="1474736" cy="237029"/>
          </a:xfrm>
          <a:prstGeom prst="roundRect">
            <a:avLst>
              <a:gd name="adj" fmla="val 17621"/>
            </a:avLst>
          </a:prstGeom>
          <a:solidFill>
            <a:srgbClr val="EEF2F8"/>
          </a:solidFill>
          <a:ln w="19050">
            <a:solidFill>
              <a:srgbClr val="1F3864"/>
            </a:solidFill>
            <a:prstDash val="solid"/>
          </a:ln>
        </p:spPr>
        <p:txBody>
          <a:bodyPr anchor="ctr"/>
          <a:lstStyle/>
          <a:p>
            <a:pPr algn="ctr"/>
            <a:r>
              <a:rPr lang="en-AU" sz="1100" b="1"/>
              <a:t>Exception Subprocess</a:t>
            </a:r>
          </a:p>
        </p:txBody>
      </p:sp>
      <p:sp>
        <p:nvSpPr>
          <p:cNvPr id="86" name="TextBox 85">
            <a:extLst>
              <a:ext uri="{FF2B5EF4-FFF2-40B4-BE49-F238E27FC236}">
                <a16:creationId xmlns:a16="http://schemas.microsoft.com/office/drawing/2014/main" id="{1D162BE0-DB5C-B9C8-1F7B-45595BF258DA}"/>
              </a:ext>
            </a:extLst>
          </p:cNvPr>
          <p:cNvSpPr txBox="1"/>
          <p:nvPr/>
        </p:nvSpPr>
        <p:spPr>
          <a:xfrm>
            <a:off x="6748452" y="2647235"/>
            <a:ext cx="1619025" cy="246221"/>
          </a:xfrm>
          <a:prstGeom prst="rect">
            <a:avLst/>
          </a:prstGeom>
          <a:noFill/>
        </p:spPr>
        <p:txBody>
          <a:bodyPr wrap="square" rtlCol="0">
            <a:spAutoFit/>
          </a:bodyPr>
          <a:lstStyle/>
          <a:p>
            <a:r>
              <a:rPr lang="en-US" sz="1000" b="1" i="1">
                <a:solidFill>
                  <a:schemeClr val="bg1">
                    <a:lumMod val="50000"/>
                  </a:schemeClr>
                </a:solidFill>
              </a:rPr>
              <a:t>Canonical Error Logging</a:t>
            </a:r>
          </a:p>
        </p:txBody>
      </p:sp>
      <p:sp>
        <p:nvSpPr>
          <p:cNvPr id="87" name="Shape 26">
            <a:extLst>
              <a:ext uri="{FF2B5EF4-FFF2-40B4-BE49-F238E27FC236}">
                <a16:creationId xmlns:a16="http://schemas.microsoft.com/office/drawing/2014/main" id="{4BDA93AC-488F-AFDF-5D92-4DFC630494C5}"/>
              </a:ext>
            </a:extLst>
          </p:cNvPr>
          <p:cNvSpPr/>
          <p:nvPr/>
        </p:nvSpPr>
        <p:spPr>
          <a:xfrm>
            <a:off x="9549512" y="4738383"/>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sp>
        <p:nvSpPr>
          <p:cNvPr id="88" name="Rounded Rectangle 87">
            <a:extLst>
              <a:ext uri="{FF2B5EF4-FFF2-40B4-BE49-F238E27FC236}">
                <a16:creationId xmlns:a16="http://schemas.microsoft.com/office/drawing/2014/main" id="{4979ACED-8607-317F-BF9B-FCB211433910}"/>
              </a:ext>
            </a:extLst>
          </p:cNvPr>
          <p:cNvSpPr/>
          <p:nvPr/>
        </p:nvSpPr>
        <p:spPr>
          <a:xfrm>
            <a:off x="4063713" y="4303001"/>
            <a:ext cx="3647835"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89" name="Shape 8">
            <a:extLst>
              <a:ext uri="{FF2B5EF4-FFF2-40B4-BE49-F238E27FC236}">
                <a16:creationId xmlns:a16="http://schemas.microsoft.com/office/drawing/2014/main" id="{5640CCFF-69A8-1C94-E69E-BD4CCE724D35}"/>
              </a:ext>
            </a:extLst>
          </p:cNvPr>
          <p:cNvSpPr/>
          <p:nvPr/>
        </p:nvSpPr>
        <p:spPr>
          <a:xfrm>
            <a:off x="4162944" y="5031065"/>
            <a:ext cx="3269003" cy="136687"/>
          </a:xfrm>
          <a:prstGeom prst="roundRect">
            <a:avLst>
              <a:gd name="adj" fmla="val 17621"/>
            </a:avLst>
          </a:prstGeom>
          <a:solidFill>
            <a:srgbClr val="EEF2F8"/>
          </a:solidFill>
          <a:ln w="19050">
            <a:solidFill>
              <a:srgbClr val="1F3864"/>
            </a:solidFill>
            <a:prstDash val="solid"/>
          </a:ln>
        </p:spPr>
        <p:txBody>
          <a:bodyPr anchor="ctr"/>
          <a:lstStyle/>
          <a:p>
            <a:pPr algn="ctr"/>
            <a:r>
              <a:rPr lang="en-AU" sz="1100"/>
              <a:t>Service Order List</a:t>
            </a:r>
          </a:p>
        </p:txBody>
      </p:sp>
      <p:sp>
        <p:nvSpPr>
          <p:cNvPr id="90" name="Shape 8">
            <a:extLst>
              <a:ext uri="{FF2B5EF4-FFF2-40B4-BE49-F238E27FC236}">
                <a16:creationId xmlns:a16="http://schemas.microsoft.com/office/drawing/2014/main" id="{7233D9DB-361B-6DC7-F907-2F7E5D1CB1E8}"/>
              </a:ext>
            </a:extLst>
          </p:cNvPr>
          <p:cNvSpPr/>
          <p:nvPr/>
        </p:nvSpPr>
        <p:spPr>
          <a:xfrm>
            <a:off x="751013" y="4816871"/>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JAMS</a:t>
            </a:r>
          </a:p>
        </p:txBody>
      </p:sp>
      <p:cxnSp>
        <p:nvCxnSpPr>
          <p:cNvPr id="91" name="Straight Arrow Connector 90">
            <a:extLst>
              <a:ext uri="{FF2B5EF4-FFF2-40B4-BE49-F238E27FC236}">
                <a16:creationId xmlns:a16="http://schemas.microsoft.com/office/drawing/2014/main" id="{24747EFF-3174-7B55-05F9-4F99543B5249}"/>
              </a:ext>
            </a:extLst>
          </p:cNvPr>
          <p:cNvCxnSpPr>
            <a:cxnSpLocks/>
          </p:cNvCxnSpPr>
          <p:nvPr/>
        </p:nvCxnSpPr>
        <p:spPr>
          <a:xfrm>
            <a:off x="2236382" y="5042135"/>
            <a:ext cx="18273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28AE0277-E164-D7AE-F20A-FC1415CC5B1F}"/>
              </a:ext>
            </a:extLst>
          </p:cNvPr>
          <p:cNvSpPr txBox="1"/>
          <p:nvPr/>
        </p:nvSpPr>
        <p:spPr>
          <a:xfrm>
            <a:off x="2254201" y="4417448"/>
            <a:ext cx="1798879" cy="569387"/>
          </a:xfrm>
          <a:prstGeom prst="rect">
            <a:avLst/>
          </a:prstGeom>
          <a:noFill/>
        </p:spPr>
        <p:txBody>
          <a:bodyPr wrap="square" rtlCol="0">
            <a:spAutoFit/>
          </a:bodyPr>
          <a:lstStyle/>
          <a:p>
            <a:r>
              <a:rPr lang="en-US" sz="1000" b="1" i="1">
                <a:solidFill>
                  <a:schemeClr val="bg1">
                    <a:lumMod val="50000"/>
                  </a:schemeClr>
                </a:solidFill>
              </a:rPr>
              <a:t>GET Call to Service Orders</a:t>
            </a:r>
            <a:br>
              <a:rPr lang="en-US" sz="1000" b="1" i="1">
                <a:solidFill>
                  <a:schemeClr val="bg1">
                    <a:lumMod val="50000"/>
                  </a:schemeClr>
                </a:solidFill>
              </a:rPr>
            </a:br>
            <a:r>
              <a:rPr lang="en-AU" sz="1050"/>
              <a:t>/</a:t>
            </a:r>
            <a:r>
              <a:rPr lang="en-AU" sz="1050" err="1"/>
              <a:t>serviceorders</a:t>
            </a:r>
            <a:r>
              <a:rPr lang="en-AU" sz="500" err="1"/>
              <a:t>?</a:t>
            </a:r>
            <a:r>
              <a:rPr lang="en-AU" sz="1050" err="1"/>
              <a:t>system</a:t>
            </a:r>
            <a:r>
              <a:rPr lang="en-AU" sz="1050"/>
              <a:t>=JAMS&amp;contract=CCR-145…</a:t>
            </a:r>
            <a:endParaRPr lang="en-US" sz="1000" i="1">
              <a:solidFill>
                <a:schemeClr val="bg1">
                  <a:lumMod val="50000"/>
                </a:schemeClr>
              </a:solidFill>
            </a:endParaRPr>
          </a:p>
        </p:txBody>
      </p:sp>
      <p:cxnSp>
        <p:nvCxnSpPr>
          <p:cNvPr id="93" name="Straight Arrow Connector 92">
            <a:extLst>
              <a:ext uri="{FF2B5EF4-FFF2-40B4-BE49-F238E27FC236}">
                <a16:creationId xmlns:a16="http://schemas.microsoft.com/office/drawing/2014/main" id="{C62B78B9-717C-4EC4-093A-DE1E9F881740}"/>
              </a:ext>
            </a:extLst>
          </p:cNvPr>
          <p:cNvCxnSpPr>
            <a:cxnSpLocks/>
          </p:cNvCxnSpPr>
          <p:nvPr/>
        </p:nvCxnSpPr>
        <p:spPr>
          <a:xfrm>
            <a:off x="7711548" y="5013437"/>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4FB39A18-4485-895B-E7B0-0CF783A6002E}"/>
              </a:ext>
            </a:extLst>
          </p:cNvPr>
          <p:cNvSpPr txBox="1"/>
          <p:nvPr/>
        </p:nvSpPr>
        <p:spPr>
          <a:xfrm>
            <a:off x="7763988" y="4289822"/>
            <a:ext cx="1737543" cy="400110"/>
          </a:xfrm>
          <a:prstGeom prst="rect">
            <a:avLst/>
          </a:prstGeom>
          <a:noFill/>
        </p:spPr>
        <p:txBody>
          <a:bodyPr wrap="square" rtlCol="0">
            <a:spAutoFit/>
          </a:bodyPr>
          <a:lstStyle/>
          <a:p>
            <a:r>
              <a:rPr lang="en-US" sz="1000" b="1" i="1">
                <a:solidFill>
                  <a:schemeClr val="bg1">
                    <a:lumMod val="50000"/>
                  </a:schemeClr>
                </a:solidFill>
              </a:rPr>
              <a:t>S/4HANA API Call</a:t>
            </a:r>
            <a:br>
              <a:rPr lang="en-US" sz="1000" b="1" i="1">
                <a:solidFill>
                  <a:schemeClr val="bg1">
                    <a:lumMod val="50000"/>
                  </a:schemeClr>
                </a:solidFill>
              </a:rPr>
            </a:br>
            <a:r>
              <a:rPr lang="en-US" sz="1000" i="1">
                <a:solidFill>
                  <a:schemeClr val="bg1">
                    <a:lumMod val="50000"/>
                  </a:schemeClr>
                </a:solidFill>
              </a:rPr>
              <a:t>/</a:t>
            </a:r>
            <a:r>
              <a:rPr lang="en-US" sz="1000" i="1" err="1">
                <a:solidFill>
                  <a:schemeClr val="bg1">
                    <a:lumMod val="50000"/>
                  </a:schemeClr>
                </a:solidFill>
              </a:rPr>
              <a:t>ServiceOrder</a:t>
            </a:r>
            <a:r>
              <a:rPr lang="en-US" sz="1000" i="1">
                <a:solidFill>
                  <a:schemeClr val="bg1">
                    <a:lumMod val="50000"/>
                  </a:schemeClr>
                </a:solidFill>
              </a:rPr>
              <a:t>/….</a:t>
            </a:r>
          </a:p>
        </p:txBody>
      </p:sp>
      <p:cxnSp>
        <p:nvCxnSpPr>
          <p:cNvPr id="95" name="Straight Arrow Connector 94">
            <a:extLst>
              <a:ext uri="{FF2B5EF4-FFF2-40B4-BE49-F238E27FC236}">
                <a16:creationId xmlns:a16="http://schemas.microsoft.com/office/drawing/2014/main" id="{F6692B6A-A0B9-A154-A2F6-25AA3A8063F5}"/>
              </a:ext>
            </a:extLst>
          </p:cNvPr>
          <p:cNvCxnSpPr>
            <a:cxnSpLocks/>
          </p:cNvCxnSpPr>
          <p:nvPr/>
        </p:nvCxnSpPr>
        <p:spPr>
          <a:xfrm flipH="1">
            <a:off x="7711548" y="5384830"/>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6132993A-B2E9-73F2-F901-4B186D46729F}"/>
              </a:ext>
            </a:extLst>
          </p:cNvPr>
          <p:cNvCxnSpPr>
            <a:cxnSpLocks/>
          </p:cNvCxnSpPr>
          <p:nvPr/>
        </p:nvCxnSpPr>
        <p:spPr>
          <a:xfrm flipH="1">
            <a:off x="2225749" y="5456034"/>
            <a:ext cx="18379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CC7675C9-0E10-512A-5018-9253B7F0B1D9}"/>
              </a:ext>
            </a:extLst>
          </p:cNvPr>
          <p:cNvSpPr txBox="1"/>
          <p:nvPr/>
        </p:nvSpPr>
        <p:spPr>
          <a:xfrm>
            <a:off x="7763987" y="5485662"/>
            <a:ext cx="1737543" cy="400110"/>
          </a:xfrm>
          <a:prstGeom prst="rect">
            <a:avLst/>
          </a:prstGeom>
          <a:noFill/>
        </p:spPr>
        <p:txBody>
          <a:bodyPr wrap="square" rtlCol="0">
            <a:spAutoFit/>
          </a:bodyPr>
          <a:lstStyle/>
          <a:p>
            <a:r>
              <a:rPr lang="en-US" sz="1000" b="1" i="1">
                <a:solidFill>
                  <a:schemeClr val="bg1">
                    <a:lumMod val="50000"/>
                  </a:schemeClr>
                </a:solidFill>
              </a:rPr>
              <a:t>S/4HANA API Response</a:t>
            </a:r>
            <a:br>
              <a:rPr lang="en-US" sz="1000" b="1" i="1">
                <a:solidFill>
                  <a:schemeClr val="bg1">
                    <a:lumMod val="50000"/>
                  </a:schemeClr>
                </a:solidFill>
              </a:rPr>
            </a:br>
            <a:r>
              <a:rPr lang="en-US" sz="1000" i="1">
                <a:solidFill>
                  <a:schemeClr val="bg1">
                    <a:lumMod val="50000"/>
                  </a:schemeClr>
                </a:solidFill>
              </a:rPr>
              <a:t>Standard API Payload</a:t>
            </a:r>
          </a:p>
        </p:txBody>
      </p:sp>
      <p:sp>
        <p:nvSpPr>
          <p:cNvPr id="103" name="TextBox 102">
            <a:extLst>
              <a:ext uri="{FF2B5EF4-FFF2-40B4-BE49-F238E27FC236}">
                <a16:creationId xmlns:a16="http://schemas.microsoft.com/office/drawing/2014/main" id="{D0826A1A-428E-5DE5-D2F0-201E16EC2DB8}"/>
              </a:ext>
            </a:extLst>
          </p:cNvPr>
          <p:cNvSpPr txBox="1"/>
          <p:nvPr/>
        </p:nvSpPr>
        <p:spPr>
          <a:xfrm>
            <a:off x="2273731" y="5518622"/>
            <a:ext cx="1737543" cy="400110"/>
          </a:xfrm>
          <a:prstGeom prst="rect">
            <a:avLst/>
          </a:prstGeom>
          <a:noFill/>
        </p:spPr>
        <p:txBody>
          <a:bodyPr wrap="square" rtlCol="0">
            <a:spAutoFit/>
          </a:bodyPr>
          <a:lstStyle/>
          <a:p>
            <a:r>
              <a:rPr lang="en-US" sz="1000" b="1" i="1">
                <a:solidFill>
                  <a:schemeClr val="bg1">
                    <a:lumMod val="50000"/>
                  </a:schemeClr>
                </a:solidFill>
              </a:rPr>
              <a:t>Response Message</a:t>
            </a:r>
            <a:br>
              <a:rPr lang="en-US" sz="1000" b="1" i="1">
                <a:solidFill>
                  <a:schemeClr val="bg1">
                    <a:lumMod val="50000"/>
                  </a:schemeClr>
                </a:solidFill>
              </a:rPr>
            </a:br>
            <a:r>
              <a:rPr lang="en-US" sz="1000" i="1">
                <a:solidFill>
                  <a:schemeClr val="bg1">
                    <a:lumMod val="50000"/>
                  </a:schemeClr>
                </a:solidFill>
              </a:rPr>
              <a:t>Standard API Payload</a:t>
            </a:r>
          </a:p>
        </p:txBody>
      </p:sp>
      <p:cxnSp>
        <p:nvCxnSpPr>
          <p:cNvPr id="104" name="Straight Arrow Connector 103">
            <a:extLst>
              <a:ext uri="{FF2B5EF4-FFF2-40B4-BE49-F238E27FC236}">
                <a16:creationId xmlns:a16="http://schemas.microsoft.com/office/drawing/2014/main" id="{3B2754E7-07CA-67B8-E75A-6A3DD79B8881}"/>
              </a:ext>
            </a:extLst>
          </p:cNvPr>
          <p:cNvCxnSpPr>
            <a:cxnSpLocks/>
          </p:cNvCxnSpPr>
          <p:nvPr/>
        </p:nvCxnSpPr>
        <p:spPr>
          <a:xfrm>
            <a:off x="6729024" y="2656922"/>
            <a:ext cx="0" cy="236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105">
            <a:extLst>
              <a:ext uri="{FF2B5EF4-FFF2-40B4-BE49-F238E27FC236}">
                <a16:creationId xmlns:a16="http://schemas.microsoft.com/office/drawing/2014/main" id="{351E3097-D6C3-35AE-C487-B5C31C51DCCB}"/>
              </a:ext>
            </a:extLst>
          </p:cNvPr>
          <p:cNvCxnSpPr>
            <a:cxnSpLocks/>
            <a:stCxn id="73" idx="3"/>
          </p:cNvCxnSpPr>
          <p:nvPr/>
        </p:nvCxnSpPr>
        <p:spPr>
          <a:xfrm flipV="1">
            <a:off x="11153109" y="1552789"/>
            <a:ext cx="277245" cy="68004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Snip Single Corner of Rectangle 106">
            <a:extLst>
              <a:ext uri="{FF2B5EF4-FFF2-40B4-BE49-F238E27FC236}">
                <a16:creationId xmlns:a16="http://schemas.microsoft.com/office/drawing/2014/main" id="{59B684AC-FA69-1AC3-972A-B67F21E0A7B6}"/>
              </a:ext>
            </a:extLst>
          </p:cNvPr>
          <p:cNvSpPr/>
          <p:nvPr/>
        </p:nvSpPr>
        <p:spPr>
          <a:xfrm>
            <a:off x="10174916" y="1121124"/>
            <a:ext cx="1869599" cy="196276"/>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Service Order Created</a:t>
            </a:r>
          </a:p>
        </p:txBody>
      </p:sp>
      <p:sp>
        <p:nvSpPr>
          <p:cNvPr id="111" name="Snip Single Corner of Rectangle 110">
            <a:extLst>
              <a:ext uri="{FF2B5EF4-FFF2-40B4-BE49-F238E27FC236}">
                <a16:creationId xmlns:a16="http://schemas.microsoft.com/office/drawing/2014/main" id="{3B94F5BF-D18B-3F29-0B83-C57E6EEAED19}"/>
              </a:ext>
            </a:extLst>
          </p:cNvPr>
          <p:cNvSpPr/>
          <p:nvPr/>
        </p:nvSpPr>
        <p:spPr>
          <a:xfrm>
            <a:off x="10174916" y="1356513"/>
            <a:ext cx="1869599" cy="196276"/>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Service Order Created</a:t>
            </a:r>
          </a:p>
        </p:txBody>
      </p:sp>
      <p:cxnSp>
        <p:nvCxnSpPr>
          <p:cNvPr id="113" name="Elbow Connector 112">
            <a:extLst>
              <a:ext uri="{FF2B5EF4-FFF2-40B4-BE49-F238E27FC236}">
                <a16:creationId xmlns:a16="http://schemas.microsoft.com/office/drawing/2014/main" id="{151B534D-401B-EEF3-2539-84D740AB4875}"/>
              </a:ext>
            </a:extLst>
          </p:cNvPr>
          <p:cNvCxnSpPr>
            <a:cxnSpLocks/>
            <a:stCxn id="73" idx="3"/>
          </p:cNvCxnSpPr>
          <p:nvPr/>
        </p:nvCxnSpPr>
        <p:spPr>
          <a:xfrm>
            <a:off x="11153109" y="2232838"/>
            <a:ext cx="277245" cy="7828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Snip Single Corner of Rectangle 115">
            <a:extLst>
              <a:ext uri="{FF2B5EF4-FFF2-40B4-BE49-F238E27FC236}">
                <a16:creationId xmlns:a16="http://schemas.microsoft.com/office/drawing/2014/main" id="{E01FE335-2D25-F3E6-788F-A1D6C74BF494}"/>
              </a:ext>
            </a:extLst>
          </p:cNvPr>
          <p:cNvSpPr/>
          <p:nvPr/>
        </p:nvSpPr>
        <p:spPr>
          <a:xfrm>
            <a:off x="10174915" y="3047817"/>
            <a:ext cx="1869599" cy="196276"/>
          </a:xfrm>
          <a:prstGeom prst="snip1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Service Order Errored</a:t>
            </a:r>
          </a:p>
        </p:txBody>
      </p:sp>
      <p:cxnSp>
        <p:nvCxnSpPr>
          <p:cNvPr id="120" name="Straight Arrow Connector 119">
            <a:extLst>
              <a:ext uri="{FF2B5EF4-FFF2-40B4-BE49-F238E27FC236}">
                <a16:creationId xmlns:a16="http://schemas.microsoft.com/office/drawing/2014/main" id="{506EF5EC-8D89-1B52-347A-61DB909A3642}"/>
              </a:ext>
            </a:extLst>
          </p:cNvPr>
          <p:cNvCxnSpPr>
            <a:stCxn id="85" idx="2"/>
            <a:endCxn id="118" idx="0"/>
          </p:cNvCxnSpPr>
          <p:nvPr/>
        </p:nvCxnSpPr>
        <p:spPr>
          <a:xfrm>
            <a:off x="7137104" y="3131703"/>
            <a:ext cx="0" cy="3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Elbow Connector 122">
            <a:extLst>
              <a:ext uri="{FF2B5EF4-FFF2-40B4-BE49-F238E27FC236}">
                <a16:creationId xmlns:a16="http://schemas.microsoft.com/office/drawing/2014/main" id="{B0F00DD4-8D85-2C81-D17D-7EEA1FFC90CB}"/>
              </a:ext>
            </a:extLst>
          </p:cNvPr>
          <p:cNvCxnSpPr>
            <a:stCxn id="107" idx="2"/>
            <a:endCxn id="72" idx="0"/>
          </p:cNvCxnSpPr>
          <p:nvPr/>
        </p:nvCxnSpPr>
        <p:spPr>
          <a:xfrm rot="10800000" flipV="1">
            <a:off x="7137104" y="1219262"/>
            <a:ext cx="3037812" cy="58827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8668CBCC-07FE-F0FB-97C3-1231DFFF2CBE}"/>
              </a:ext>
            </a:extLst>
          </p:cNvPr>
          <p:cNvCxnSpPr>
            <a:cxnSpLocks/>
            <a:stCxn id="116" idx="2"/>
          </p:cNvCxnSpPr>
          <p:nvPr/>
        </p:nvCxnSpPr>
        <p:spPr>
          <a:xfrm rot="10800000">
            <a:off x="7874473" y="2234687"/>
            <a:ext cx="2300443" cy="911269"/>
          </a:xfrm>
          <a:prstGeom prst="bentConnector3">
            <a:avLst>
              <a:gd name="adj1" fmla="val 69173"/>
            </a:avLst>
          </a:prstGeom>
          <a:ln>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7F49CF00-5BD6-E61F-7C60-2E82F40AC276}"/>
              </a:ext>
            </a:extLst>
          </p:cNvPr>
          <p:cNvSpPr txBox="1"/>
          <p:nvPr/>
        </p:nvSpPr>
        <p:spPr>
          <a:xfrm>
            <a:off x="8632758" y="3179633"/>
            <a:ext cx="1510995" cy="400110"/>
          </a:xfrm>
          <a:prstGeom prst="rect">
            <a:avLst/>
          </a:prstGeom>
          <a:noFill/>
        </p:spPr>
        <p:txBody>
          <a:bodyPr wrap="square" rtlCol="0">
            <a:spAutoFit/>
          </a:bodyPr>
          <a:lstStyle/>
          <a:p>
            <a:r>
              <a:rPr lang="en-US" sz="1000" b="1" i="1">
                <a:solidFill>
                  <a:schemeClr val="bg1">
                    <a:lumMod val="50000"/>
                  </a:schemeClr>
                </a:solidFill>
              </a:rPr>
              <a:t>Error Documents</a:t>
            </a:r>
          </a:p>
          <a:p>
            <a:r>
              <a:rPr lang="en-US" sz="1000" i="1">
                <a:solidFill>
                  <a:schemeClr val="bg1">
                    <a:lumMod val="50000"/>
                  </a:schemeClr>
                </a:solidFill>
              </a:rPr>
              <a:t>API Response and Owner</a:t>
            </a:r>
          </a:p>
        </p:txBody>
      </p:sp>
      <p:sp>
        <p:nvSpPr>
          <p:cNvPr id="129" name="TextBox 128">
            <a:extLst>
              <a:ext uri="{FF2B5EF4-FFF2-40B4-BE49-F238E27FC236}">
                <a16:creationId xmlns:a16="http://schemas.microsoft.com/office/drawing/2014/main" id="{694000A4-C915-6E16-0D32-5452DBA6F56F}"/>
              </a:ext>
            </a:extLst>
          </p:cNvPr>
          <p:cNvSpPr txBox="1"/>
          <p:nvPr/>
        </p:nvSpPr>
        <p:spPr>
          <a:xfrm>
            <a:off x="7137104" y="825322"/>
            <a:ext cx="1869599" cy="400110"/>
          </a:xfrm>
          <a:prstGeom prst="rect">
            <a:avLst/>
          </a:prstGeom>
          <a:noFill/>
        </p:spPr>
        <p:txBody>
          <a:bodyPr wrap="square" rtlCol="0">
            <a:spAutoFit/>
          </a:bodyPr>
          <a:lstStyle/>
          <a:p>
            <a:r>
              <a:rPr lang="en-US" sz="1000" b="1" i="1">
                <a:solidFill>
                  <a:schemeClr val="bg1">
                    <a:lumMod val="50000"/>
                  </a:schemeClr>
                </a:solidFill>
              </a:rPr>
              <a:t>Success Documents</a:t>
            </a:r>
          </a:p>
          <a:p>
            <a:r>
              <a:rPr lang="en-US" sz="1000" i="1">
                <a:solidFill>
                  <a:schemeClr val="bg1">
                    <a:lumMod val="50000"/>
                  </a:schemeClr>
                </a:solidFill>
              </a:rPr>
              <a:t>API Response and Document</a:t>
            </a:r>
          </a:p>
        </p:txBody>
      </p:sp>
      <p:sp>
        <p:nvSpPr>
          <p:cNvPr id="9601" name="Chip9601"/>
          <p:cNvSpPr/>
          <p:nvPr/>
        </p:nvSpPr>
        <p:spPr>
          <a:xfrm>
            <a:off x="350873" y="3405000"/>
            <a:ext cx="5480000" cy="300000"/>
          </a:xfrm>
          <a:prstGeom prst="roundRect">
            <a:avLst>
              <a:gd name="adj" fmla="val 12000"/>
            </a:avLst>
          </a:prstGeom>
          <a:solidFill>
            <a:srgbClr val="FDF6E3"/>
          </a:solidFill>
          <a:ln w="9525">
            <a:solidFill>
              <a:srgbClr val="9C6A00"/>
            </a:solidFill>
          </a:ln>
        </p:spPr>
        <p:txBody>
          <a:bodyPr wrap="square" lIns="72000" tIns="18000" rIns="72000" bIns="18000" anchor="ctr"/>
          <a:lstStyle/>
          <a:p>
            <a:pPr indent="0" marL="0">
              <a:buNone/>
            </a:pPr>
            <a:r>
              <a:rPr lang="en-US" sz="720" b="1" dirty="0">
                <a:solidFill>
                  <a:srgbClr val="9C6A00"/>
                </a:solidFill>
                <a:latin typeface="Arial" pitchFamily="34" charset="0"/>
              </a:rPr>
              <a:t>Business / data error:  </a:t>
            </a:r>
            <a:r>
              <a:rPr lang="en-US" sz="720" dirty="0">
                <a:solidFill>
                  <a:srgbClr val="444444"/>
                </a:solidFill>
                <a:latin typeface="Arial" pitchFamily="34" charset="0"/>
              </a:rPr>
              <a:t>email to the business area mailbox (cc technical) → analysed and fixed in JAMS, resent with a new ID — no ticket.</a:t>
            </a:r>
          </a:p>
        </p:txBody>
      </p:sp>
      <p:sp>
        <p:nvSpPr>
          <p:cNvPr id="9602" name="Chip9602"/>
          <p:cNvSpPr/>
          <p:nvPr/>
        </p:nvSpPr>
        <p:spPr>
          <a:xfrm>
            <a:off x="5950000" y="3405000"/>
            <a:ext cx="5926566" cy="300000"/>
          </a:xfrm>
          <a:prstGeom prst="roundRect">
            <a:avLst>
              <a:gd name="adj" fmla="val 12000"/>
            </a:avLst>
          </a:prstGeom>
          <a:solidFill>
            <a:srgbClr val="EEF2F8"/>
          </a:solidFill>
          <a:ln w="9525">
            <a:solidFill>
              <a:srgbClr val="1F3864"/>
            </a:solidFill>
          </a:ln>
        </p:spPr>
        <p:txBody>
          <a:bodyPr wrap="square" lIns="72000" tIns="18000" rIns="72000" bIns="18000" anchor="ctr"/>
          <a:lstStyle/>
          <a:p>
            <a:pPr indent="0" marL="0">
              <a:buNone/>
            </a:pPr>
            <a:r>
              <a:rPr lang="en-US" sz="720" b="1" dirty="0">
                <a:solidFill>
                  <a:srgbClr val="1F3864"/>
                </a:solidFill>
                <a:latin typeface="Arial" pitchFamily="34" charset="0"/>
              </a:rPr>
              <a:t>Technical or S/4-side:  </a:t>
            </a:r>
            <a:r>
              <a:rPr lang="en-US" sz="720" dirty="0">
                <a:solidFill>
                  <a:srgbClr val="444444"/>
                </a:solidFill>
                <a:latin typeface="Arial" pitchFamily="34" charset="0"/>
              </a:rPr>
              <a:t>email to the technical mailbox + automatic ServiceNow ticket (production) → analysed and fixed in CPI / S/4, replayed — JAMS does nothing.</a:t>
            </a:r>
          </a:p>
        </p:txBody>
      </p:sp>
    </p:spTree>
    <p:extLst>
      <p:ext uri="{BB962C8B-B14F-4D97-AF65-F5344CB8AC3E}">
        <p14:creationId xmlns:p14="http://schemas.microsoft.com/office/powerpoint/2010/main" val="3033675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40111-CABB-A7D4-A45C-F5CE7BBEA0D2}"/>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E428F9AB-0A08-DE0E-C860-1985DE5D72E2}"/>
              </a:ext>
            </a:extLst>
          </p:cNvPr>
          <p:cNvSpPr/>
          <p:nvPr/>
        </p:nvSpPr>
        <p:spPr>
          <a:xfrm>
            <a:off x="502919" y="182880"/>
            <a:ext cx="10258283" cy="502920"/>
          </a:xfrm>
          <a:prstGeom prst="rect">
            <a:avLst/>
          </a:prstGeom>
          <a:noFill/>
          <a:ln/>
        </p:spPr>
        <p:txBody>
          <a:bodyPr wrap="square" lIns="0" tIns="0" rIns="0" bIns="0" rtlCol="0" anchor="ctr"/>
          <a:lstStyle/>
          <a:p>
            <a:r>
              <a:rPr lang="en-US" sz="2300" b="1">
                <a:solidFill>
                  <a:srgbClr val="1F3864"/>
                </a:solidFill>
                <a:latin typeface="Arial"/>
                <a:ea typeface="Arial" pitchFamily="34" charset="-122"/>
                <a:cs typeface="Arial"/>
              </a:rPr>
              <a:t>FSM – JAMS RCTI Canonical Lifecycle</a:t>
            </a:r>
            <a:endParaRPr lang="en-US" sz="2300">
              <a:latin typeface="Arial"/>
              <a:cs typeface="Arial"/>
            </a:endParaRPr>
          </a:p>
        </p:txBody>
      </p:sp>
      <p:sp>
        <p:nvSpPr>
          <p:cNvPr id="7" name="Text 5">
            <a:extLst>
              <a:ext uri="{FF2B5EF4-FFF2-40B4-BE49-F238E27FC236}">
                <a16:creationId xmlns:a16="http://schemas.microsoft.com/office/drawing/2014/main" id="{8B3DB39D-BD6C-0F7A-2026-FE9C26C9CC6B}"/>
              </a:ext>
            </a:extLst>
          </p:cNvPr>
          <p:cNvSpPr/>
          <p:nvPr/>
        </p:nvSpPr>
        <p:spPr>
          <a:xfrm>
            <a:off x="502920" y="676655"/>
            <a:ext cx="11155680" cy="399059"/>
          </a:xfrm>
          <a:prstGeom prst="rect">
            <a:avLst/>
          </a:prstGeom>
          <a:noFill/>
          <a:ln/>
        </p:spPr>
        <p:txBody>
          <a:bodyPr wrap="square" lIns="0" tIns="0" rIns="0" bIns="0" rtlCol="0" anchor="t"/>
          <a:lstStyle/>
          <a:p>
            <a:pPr marL="0" indent="0">
              <a:buNone/>
            </a:pPr>
            <a:r>
              <a:rPr lang="en-US" sz="1200">
                <a:solidFill>
                  <a:srgbClr val="595959"/>
                </a:solidFill>
                <a:latin typeface="Arial" pitchFamily="34" charset="0"/>
                <a:ea typeface="Arial" pitchFamily="34" charset="-122"/>
                <a:cs typeface="Arial" pitchFamily="34" charset="-120"/>
              </a:rPr>
              <a:t>Trigger: the JOB has status APP, approved (trigger TBC). The canonical response for RCTI is TBC from the sign-off session.</a:t>
            </a:r>
            <a:endParaRPr lang="en-US" sz="1200"/>
          </a:p>
        </p:txBody>
      </p:sp>
      <p:sp>
        <p:nvSpPr>
          <p:cNvPr id="63" name="Shape 10">
            <a:extLst>
              <a:ext uri="{FF2B5EF4-FFF2-40B4-BE49-F238E27FC236}">
                <a16:creationId xmlns:a16="http://schemas.microsoft.com/office/drawing/2014/main" id="{07F7A6F2-A4B0-75B9-2258-E3B85FDE70B8}"/>
              </a:ext>
            </a:extLst>
          </p:cNvPr>
          <p:cNvSpPr/>
          <p:nvPr/>
        </p:nvSpPr>
        <p:spPr>
          <a:xfrm>
            <a:off x="333153" y="3740564"/>
            <a:ext cx="11525693" cy="2320033"/>
          </a:xfrm>
          <a:prstGeom prst="roundRect">
            <a:avLst>
              <a:gd name="adj" fmla="val 10465"/>
            </a:avLst>
          </a:prstGeom>
          <a:solidFill>
            <a:schemeClr val="bg1"/>
          </a:solidFill>
          <a:ln w="15875">
            <a:noFill/>
            <a:prstDash val="solid"/>
          </a:ln>
        </p:spPr>
        <p:txBody>
          <a:bodyPr/>
          <a:lstStyle/>
          <a:p>
            <a:r>
              <a:rPr lang="en-AU" sz="1600" b="1"/>
              <a:t>Step 2: Retrieval — Subbie RCTI payment status (frequency TBC)</a:t>
            </a:r>
            <a:r>
              <a:rPr lang="en-AU" sz="1600" b="1" err="1"/>
              <a:t/>
            </a:r>
            <a:r>
              <a:rPr lang="en-AU" sz="1600" b="1"/>
              <a:t/>
            </a:r>
          </a:p>
        </p:txBody>
      </p:sp>
      <p:sp>
        <p:nvSpPr>
          <p:cNvPr id="64" name="Shape 10">
            <a:extLst>
              <a:ext uri="{FF2B5EF4-FFF2-40B4-BE49-F238E27FC236}">
                <a16:creationId xmlns:a16="http://schemas.microsoft.com/office/drawing/2014/main" id="{E6E8F543-4752-9692-5657-913C717491F1}"/>
              </a:ext>
            </a:extLst>
          </p:cNvPr>
          <p:cNvSpPr/>
          <p:nvPr/>
        </p:nvSpPr>
        <p:spPr>
          <a:xfrm>
            <a:off x="333153" y="973306"/>
            <a:ext cx="11525693" cy="1966168"/>
          </a:xfrm>
          <a:prstGeom prst="roundRect">
            <a:avLst>
              <a:gd name="adj" fmla="val 10465"/>
            </a:avLst>
          </a:prstGeom>
          <a:solidFill>
            <a:schemeClr val="bg1"/>
          </a:solidFill>
          <a:ln w="15875">
            <a:noFill/>
            <a:prstDash val="solid"/>
          </a:ln>
        </p:spPr>
        <p:txBody>
          <a:bodyPr/>
          <a:lstStyle/>
          <a:p>
            <a:r>
              <a:rPr lang="en-AU" sz="1600" b="1"/>
              <a:t>Step 1: </a:t>
            </a:r>
            <a:r>
              <a:rPr lang="en-AU" sz="1600" b="1" err="1"/>
              <a:t>RCTI</a:t>
            </a:r>
            <a:r>
              <a:rPr lang="en-AU" sz="1600" b="1"/>
              <a:t> for the Subcontractor Claim and Canonical Response (response TBC)</a:t>
            </a:r>
          </a:p>
        </p:txBody>
      </p:sp>
      <p:sp>
        <p:nvSpPr>
          <p:cNvPr id="66" name="Shape 8">
            <a:extLst>
              <a:ext uri="{FF2B5EF4-FFF2-40B4-BE49-F238E27FC236}">
                <a16:creationId xmlns:a16="http://schemas.microsoft.com/office/drawing/2014/main" id="{71284D9C-CCBE-D8FE-611F-BAF47464D7AA}"/>
              </a:ext>
            </a:extLst>
          </p:cNvPr>
          <p:cNvSpPr/>
          <p:nvPr/>
        </p:nvSpPr>
        <p:spPr>
          <a:xfrm>
            <a:off x="761646"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JAMS</a:t>
            </a:r>
          </a:p>
        </p:txBody>
      </p:sp>
      <p:sp>
        <p:nvSpPr>
          <p:cNvPr id="67" name="Rounded Rectangle 66">
            <a:extLst>
              <a:ext uri="{FF2B5EF4-FFF2-40B4-BE49-F238E27FC236}">
                <a16:creationId xmlns:a16="http://schemas.microsoft.com/office/drawing/2014/main" id="{135921EE-A7CE-6E4A-64C9-AD992733634B}"/>
              </a:ext>
            </a:extLst>
          </p:cNvPr>
          <p:cNvSpPr/>
          <p:nvPr/>
        </p:nvSpPr>
        <p:spPr>
          <a:xfrm>
            <a:off x="3437861" y="1407544"/>
            <a:ext cx="4986670"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71" name="Shape 8">
            <a:extLst>
              <a:ext uri="{FF2B5EF4-FFF2-40B4-BE49-F238E27FC236}">
                <a16:creationId xmlns:a16="http://schemas.microsoft.com/office/drawing/2014/main" id="{C0C34612-DA8E-977D-E71D-46613133C200}"/>
              </a:ext>
            </a:extLst>
          </p:cNvPr>
          <p:cNvSpPr/>
          <p:nvPr/>
        </p:nvSpPr>
        <p:spPr>
          <a:xfrm>
            <a:off x="3915882"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1</a:t>
            </a:r>
            <a:r>
              <a:rPr lang="en-AU" sz="1400" b="1" baseline="30000"/>
              <a:t>st</a:t>
            </a:r>
            <a:r>
              <a:rPr lang="en-AU" sz="1400" b="1"/>
              <a:t> Leg Interfaces</a:t>
            </a:r>
          </a:p>
        </p:txBody>
      </p:sp>
      <p:sp>
        <p:nvSpPr>
          <p:cNvPr id="72" name="Shape 8">
            <a:extLst>
              <a:ext uri="{FF2B5EF4-FFF2-40B4-BE49-F238E27FC236}">
                <a16:creationId xmlns:a16="http://schemas.microsoft.com/office/drawing/2014/main" id="{EAFF3EAF-DE22-6890-D215-580005F33CD3}"/>
              </a:ext>
            </a:extLst>
          </p:cNvPr>
          <p:cNvSpPr/>
          <p:nvPr/>
        </p:nvSpPr>
        <p:spPr>
          <a:xfrm>
            <a:off x="6399736"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Canonical Model</a:t>
            </a:r>
          </a:p>
        </p:txBody>
      </p:sp>
      <p:sp>
        <p:nvSpPr>
          <p:cNvPr id="73" name="Shape 26">
            <a:extLst>
              <a:ext uri="{FF2B5EF4-FFF2-40B4-BE49-F238E27FC236}">
                <a16:creationId xmlns:a16="http://schemas.microsoft.com/office/drawing/2014/main" id="{D00DEFED-5ED5-4851-5F51-6181A8246097}"/>
              </a:ext>
            </a:extLst>
          </p:cNvPr>
          <p:cNvSpPr/>
          <p:nvPr/>
        </p:nvSpPr>
        <p:spPr>
          <a:xfrm>
            <a:off x="9553972" y="1807536"/>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cxnSp>
        <p:nvCxnSpPr>
          <p:cNvPr id="74" name="Straight Arrow Connector 73">
            <a:extLst>
              <a:ext uri="{FF2B5EF4-FFF2-40B4-BE49-F238E27FC236}">
                <a16:creationId xmlns:a16="http://schemas.microsoft.com/office/drawing/2014/main" id="{CE6480D8-8C6B-21C6-D7B7-D048E19BDD2E}"/>
              </a:ext>
            </a:extLst>
          </p:cNvPr>
          <p:cNvCxnSpPr/>
          <p:nvPr/>
        </p:nvCxnSpPr>
        <p:spPr>
          <a:xfrm>
            <a:off x="2236382" y="197191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9D83CE9-3817-8790-D52A-D755A00412A8}"/>
              </a:ext>
            </a:extLst>
          </p:cNvPr>
          <p:cNvCxnSpPr>
            <a:cxnSpLocks/>
          </p:cNvCxnSpPr>
          <p:nvPr/>
        </p:nvCxnSpPr>
        <p:spPr>
          <a:xfrm>
            <a:off x="7874472" y="197191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8E8BD4F-B178-2D50-6A09-A397CC8846B5}"/>
              </a:ext>
            </a:extLst>
          </p:cNvPr>
          <p:cNvCxnSpPr>
            <a:cxnSpLocks/>
          </p:cNvCxnSpPr>
          <p:nvPr/>
        </p:nvCxnSpPr>
        <p:spPr>
          <a:xfrm>
            <a:off x="5390618" y="1982546"/>
            <a:ext cx="7053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00F9DFE-D2B5-8C2F-4622-BA0913265AED}"/>
              </a:ext>
            </a:extLst>
          </p:cNvPr>
          <p:cNvCxnSpPr>
            <a:cxnSpLocks/>
          </p:cNvCxnSpPr>
          <p:nvPr/>
        </p:nvCxnSpPr>
        <p:spPr>
          <a:xfrm flipH="1">
            <a:off x="2225749" y="2485820"/>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Shape 8">
            <a:extLst>
              <a:ext uri="{FF2B5EF4-FFF2-40B4-BE49-F238E27FC236}">
                <a16:creationId xmlns:a16="http://schemas.microsoft.com/office/drawing/2014/main" id="{90D8951B-6A21-7B71-3C6A-A74797A5DC58}"/>
              </a:ext>
            </a:extLst>
          </p:cNvPr>
          <p:cNvSpPr/>
          <p:nvPr/>
        </p:nvSpPr>
        <p:spPr>
          <a:xfrm>
            <a:off x="6095998" y="1813446"/>
            <a:ext cx="249855" cy="841965"/>
          </a:xfrm>
          <a:prstGeom prst="roundRect">
            <a:avLst>
              <a:gd name="adj" fmla="val 17621"/>
            </a:avLst>
          </a:prstGeom>
          <a:solidFill>
            <a:srgbClr val="EEF2F8"/>
          </a:solidFill>
          <a:ln w="19050">
            <a:solidFill>
              <a:srgbClr val="1F3864"/>
            </a:solidFill>
            <a:prstDash val="solid"/>
          </a:ln>
        </p:spPr>
        <p:txBody>
          <a:bodyPr vert="vert270" anchor="ctr"/>
          <a:lstStyle/>
          <a:p>
            <a:pPr algn="ctr"/>
            <a:r>
              <a:rPr lang="en-AU" sz="1100" b="1"/>
              <a:t>JMS Queue</a:t>
            </a:r>
          </a:p>
        </p:txBody>
      </p:sp>
      <p:sp>
        <p:nvSpPr>
          <p:cNvPr id="80" name="TextBox 79">
            <a:extLst>
              <a:ext uri="{FF2B5EF4-FFF2-40B4-BE49-F238E27FC236}">
                <a16:creationId xmlns:a16="http://schemas.microsoft.com/office/drawing/2014/main" id="{59A5AFA5-CDE1-1D19-414A-C80862542294}"/>
              </a:ext>
            </a:extLst>
          </p:cNvPr>
          <p:cNvSpPr txBox="1"/>
          <p:nvPr/>
        </p:nvSpPr>
        <p:spPr>
          <a:xfrm>
            <a:off x="2264834" y="2526893"/>
            <a:ext cx="1212112" cy="553998"/>
          </a:xfrm>
          <a:prstGeom prst="rect">
            <a:avLst/>
          </a:prstGeom>
          <a:noFill/>
        </p:spPr>
        <p:txBody>
          <a:bodyPr wrap="square" rtlCol="0">
            <a:spAutoFit/>
          </a:bodyPr>
          <a:lstStyle/>
          <a:p>
            <a:r>
              <a:rPr lang="en-US" sz="1000" b="1" i="1">
                <a:solidFill>
                  <a:schemeClr val="bg1">
                    <a:lumMod val="50000"/>
                  </a:schemeClr>
                </a:solidFill>
              </a:rPr>
              <a:t>Acknowledgement.</a:t>
            </a:r>
            <a:br>
              <a:rPr lang="en-US" sz="1000" i="1">
                <a:solidFill>
                  <a:schemeClr val="bg1">
                    <a:lumMod val="50000"/>
                  </a:schemeClr>
                </a:solidFill>
              </a:rPr>
            </a:br>
            <a:r>
              <a:rPr lang="en-US" sz="1000" i="1">
                <a:solidFill>
                  <a:schemeClr val="bg1">
                    <a:lumMod val="50000"/>
                  </a:schemeClr>
                </a:solidFill>
              </a:rPr>
              <a:t>HTTP Response Code</a:t>
            </a:r>
          </a:p>
        </p:txBody>
      </p:sp>
      <p:sp>
        <p:nvSpPr>
          <p:cNvPr id="81" name="TextBox 80">
            <a:extLst>
              <a:ext uri="{FF2B5EF4-FFF2-40B4-BE49-F238E27FC236}">
                <a16:creationId xmlns:a16="http://schemas.microsoft.com/office/drawing/2014/main" id="{845DDA79-01C7-7D35-64DD-0A0705CF7855}"/>
              </a:ext>
            </a:extLst>
          </p:cNvPr>
          <p:cNvSpPr txBox="1"/>
          <p:nvPr/>
        </p:nvSpPr>
        <p:spPr>
          <a:xfrm>
            <a:off x="2264834" y="1522104"/>
            <a:ext cx="1212112" cy="400110"/>
          </a:xfrm>
          <a:prstGeom prst="rect">
            <a:avLst/>
          </a:prstGeom>
          <a:noFill/>
        </p:spPr>
        <p:txBody>
          <a:bodyPr wrap="square" rtlCol="0">
            <a:spAutoFit/>
          </a:bodyPr>
          <a:lstStyle/>
          <a:p>
            <a:r>
              <a:rPr lang="en-US" sz="1000" b="1" i="1" err="1">
                <a:solidFill>
                  <a:schemeClr val="bg1">
                    <a:lumMod val="50000"/>
                  </a:schemeClr>
                </a:solidFill>
              </a:rPr>
              <a:t>RCTI</a:t>
            </a:r>
            <a:br>
              <a:rPr lang="en-US" sz="1000" b="1" i="1">
                <a:solidFill>
                  <a:schemeClr val="bg1">
                    <a:lumMod val="50000"/>
                  </a:schemeClr>
                </a:solidFill>
              </a:rPr>
            </a:br>
            <a:r>
              <a:rPr lang="en-US" sz="1000" i="1">
                <a:solidFill>
                  <a:schemeClr val="bg1">
                    <a:lumMod val="50000"/>
                  </a:schemeClr>
                </a:solidFill>
              </a:rPr>
              <a:t>Outbound JAMS</a:t>
            </a:r>
          </a:p>
        </p:txBody>
      </p:sp>
      <p:sp>
        <p:nvSpPr>
          <p:cNvPr id="82" name="TextBox 81">
            <a:extLst>
              <a:ext uri="{FF2B5EF4-FFF2-40B4-BE49-F238E27FC236}">
                <a16:creationId xmlns:a16="http://schemas.microsoft.com/office/drawing/2014/main" id="{8EBE07E5-3521-46E4-589A-227BD8E0A96A}"/>
              </a:ext>
            </a:extLst>
          </p:cNvPr>
          <p:cNvSpPr txBox="1"/>
          <p:nvPr/>
        </p:nvSpPr>
        <p:spPr>
          <a:xfrm>
            <a:off x="3860117" y="2686108"/>
            <a:ext cx="1623459" cy="553998"/>
          </a:xfrm>
          <a:prstGeom prst="rect">
            <a:avLst/>
          </a:prstGeom>
          <a:noFill/>
        </p:spPr>
        <p:txBody>
          <a:bodyPr wrap="square" rtlCol="0">
            <a:spAutoFit/>
          </a:bodyPr>
          <a:lstStyle/>
          <a:p>
            <a:r>
              <a:rPr lang="en-US" sz="1000" b="1" i="1">
                <a:solidFill>
                  <a:schemeClr val="bg1">
                    <a:lumMod val="50000"/>
                  </a:schemeClr>
                </a:solidFill>
              </a:rPr>
              <a:t>Mapping and Canonical Trigger</a:t>
            </a:r>
          </a:p>
          <a:p>
            <a:r>
              <a:rPr lang="en-US" sz="1000" i="1">
                <a:solidFill>
                  <a:schemeClr val="bg1">
                    <a:lumMod val="50000"/>
                  </a:schemeClr>
                </a:solidFill>
              </a:rPr>
              <a:t>CPI Process to Process call</a:t>
            </a:r>
          </a:p>
        </p:txBody>
      </p:sp>
      <p:sp>
        <p:nvSpPr>
          <p:cNvPr id="83" name="TextBox 82">
            <a:extLst>
              <a:ext uri="{FF2B5EF4-FFF2-40B4-BE49-F238E27FC236}">
                <a16:creationId xmlns:a16="http://schemas.microsoft.com/office/drawing/2014/main" id="{CC3E88FD-CBA8-9719-B393-4D7555A5085F}"/>
              </a:ext>
            </a:extLst>
          </p:cNvPr>
          <p:cNvSpPr txBox="1"/>
          <p:nvPr/>
        </p:nvSpPr>
        <p:spPr>
          <a:xfrm>
            <a:off x="8353267" y="1582436"/>
            <a:ext cx="1293540" cy="400110"/>
          </a:xfrm>
          <a:prstGeom prst="rect">
            <a:avLst/>
          </a:prstGeom>
          <a:noFill/>
        </p:spPr>
        <p:txBody>
          <a:bodyPr wrap="square" rtlCol="0">
            <a:spAutoFit/>
          </a:bodyPr>
          <a:lstStyle/>
          <a:p>
            <a:r>
              <a:rPr lang="en-US" sz="1000" b="1" i="1">
                <a:solidFill>
                  <a:schemeClr val="bg1">
                    <a:lumMod val="50000"/>
                  </a:schemeClr>
                </a:solidFill>
              </a:rPr>
              <a:t>S/4HANA API Call</a:t>
            </a:r>
          </a:p>
          <a:p>
            <a:r>
              <a:rPr lang="en-US" sz="1000" i="1" err="1">
                <a:solidFill>
                  <a:schemeClr val="bg1">
                    <a:lumMod val="50000"/>
                  </a:schemeClr>
                </a:solidFill>
              </a:rPr>
              <a:t>Supplier Invoice / RCTI</a:t>
            </a:r>
            <a:endParaRPr lang="en-US" sz="1000" i="1">
              <a:solidFill>
                <a:schemeClr val="bg1">
                  <a:lumMod val="50000"/>
                </a:schemeClr>
              </a:solidFill>
            </a:endParaRPr>
          </a:p>
        </p:txBody>
      </p:sp>
      <p:sp>
        <p:nvSpPr>
          <p:cNvPr id="85" name="Shape 8">
            <a:extLst>
              <a:ext uri="{FF2B5EF4-FFF2-40B4-BE49-F238E27FC236}">
                <a16:creationId xmlns:a16="http://schemas.microsoft.com/office/drawing/2014/main" id="{116CA344-D1DC-F66D-AB1D-2A7F5116908F}"/>
              </a:ext>
            </a:extLst>
          </p:cNvPr>
          <p:cNvSpPr/>
          <p:nvPr/>
        </p:nvSpPr>
        <p:spPr>
          <a:xfrm>
            <a:off x="6399736" y="2894674"/>
            <a:ext cx="1474736" cy="237029"/>
          </a:xfrm>
          <a:prstGeom prst="roundRect">
            <a:avLst>
              <a:gd name="adj" fmla="val 17621"/>
            </a:avLst>
          </a:prstGeom>
          <a:solidFill>
            <a:srgbClr val="EEF2F8"/>
          </a:solidFill>
          <a:ln w="19050">
            <a:solidFill>
              <a:srgbClr val="1F3864"/>
            </a:solidFill>
            <a:prstDash val="solid"/>
          </a:ln>
        </p:spPr>
        <p:txBody>
          <a:bodyPr anchor="ctr"/>
          <a:lstStyle/>
          <a:p>
            <a:pPr algn="ctr"/>
            <a:r>
              <a:rPr lang="en-AU" sz="1100" b="1"/>
              <a:t>Exception Subprocess</a:t>
            </a:r>
          </a:p>
        </p:txBody>
      </p:sp>
      <p:sp>
        <p:nvSpPr>
          <p:cNvPr id="86" name="TextBox 85">
            <a:extLst>
              <a:ext uri="{FF2B5EF4-FFF2-40B4-BE49-F238E27FC236}">
                <a16:creationId xmlns:a16="http://schemas.microsoft.com/office/drawing/2014/main" id="{1D162BE0-DB5C-B9C8-1F7B-45595BF258DA}"/>
              </a:ext>
            </a:extLst>
          </p:cNvPr>
          <p:cNvSpPr txBox="1"/>
          <p:nvPr/>
        </p:nvSpPr>
        <p:spPr>
          <a:xfrm>
            <a:off x="6748452" y="2647235"/>
            <a:ext cx="1619025" cy="246221"/>
          </a:xfrm>
          <a:prstGeom prst="rect">
            <a:avLst/>
          </a:prstGeom>
          <a:noFill/>
        </p:spPr>
        <p:txBody>
          <a:bodyPr wrap="square" rtlCol="0">
            <a:spAutoFit/>
          </a:bodyPr>
          <a:lstStyle/>
          <a:p>
            <a:r>
              <a:rPr lang="en-US" sz="1000" b="1" i="1">
                <a:solidFill>
                  <a:schemeClr val="bg1">
                    <a:lumMod val="50000"/>
                  </a:schemeClr>
                </a:solidFill>
              </a:rPr>
              <a:t>Canonical Error Logging</a:t>
            </a:r>
          </a:p>
        </p:txBody>
      </p:sp>
      <p:sp>
        <p:nvSpPr>
          <p:cNvPr id="87" name="Shape 26">
            <a:extLst>
              <a:ext uri="{FF2B5EF4-FFF2-40B4-BE49-F238E27FC236}">
                <a16:creationId xmlns:a16="http://schemas.microsoft.com/office/drawing/2014/main" id="{4BDA93AC-488F-AFDF-5D92-4DFC630494C5}"/>
              </a:ext>
            </a:extLst>
          </p:cNvPr>
          <p:cNvSpPr/>
          <p:nvPr/>
        </p:nvSpPr>
        <p:spPr>
          <a:xfrm>
            <a:off x="9549512" y="4738383"/>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sp>
        <p:nvSpPr>
          <p:cNvPr id="88" name="Rounded Rectangle 87">
            <a:extLst>
              <a:ext uri="{FF2B5EF4-FFF2-40B4-BE49-F238E27FC236}">
                <a16:creationId xmlns:a16="http://schemas.microsoft.com/office/drawing/2014/main" id="{4979ACED-8607-317F-BF9B-FCB211433910}"/>
              </a:ext>
            </a:extLst>
          </p:cNvPr>
          <p:cNvSpPr/>
          <p:nvPr/>
        </p:nvSpPr>
        <p:spPr>
          <a:xfrm>
            <a:off x="4063713" y="4303001"/>
            <a:ext cx="3647835"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89" name="Shape 8">
            <a:extLst>
              <a:ext uri="{FF2B5EF4-FFF2-40B4-BE49-F238E27FC236}">
                <a16:creationId xmlns:a16="http://schemas.microsoft.com/office/drawing/2014/main" id="{5640CCFF-69A8-1C94-E69E-BD4CCE724D35}"/>
              </a:ext>
            </a:extLst>
          </p:cNvPr>
          <p:cNvSpPr/>
          <p:nvPr/>
        </p:nvSpPr>
        <p:spPr>
          <a:xfrm>
            <a:off x="4162944" y="5031065"/>
            <a:ext cx="3269003" cy="136687"/>
          </a:xfrm>
          <a:prstGeom prst="roundRect">
            <a:avLst>
              <a:gd name="adj" fmla="val 17621"/>
            </a:avLst>
          </a:prstGeom>
          <a:solidFill>
            <a:srgbClr val="EEF2F8"/>
          </a:solidFill>
          <a:ln w="19050">
            <a:solidFill>
              <a:srgbClr val="1F3864"/>
            </a:solidFill>
            <a:prstDash val="solid"/>
          </a:ln>
        </p:spPr>
        <p:txBody>
          <a:bodyPr anchor="ctr"/>
          <a:lstStyle/>
          <a:p>
            <a:pPr algn="ctr"/>
            <a:r>
              <a:rPr lang="en-AU" sz="1100"/>
              <a:t>Supplier Invoice / RCTI Payments</a:t>
            </a:r>
          </a:p>
        </p:txBody>
      </p:sp>
      <p:sp>
        <p:nvSpPr>
          <p:cNvPr id="90" name="Shape 8">
            <a:extLst>
              <a:ext uri="{FF2B5EF4-FFF2-40B4-BE49-F238E27FC236}">
                <a16:creationId xmlns:a16="http://schemas.microsoft.com/office/drawing/2014/main" id="{7233D9DB-361B-6DC7-F907-2F7E5D1CB1E8}"/>
              </a:ext>
            </a:extLst>
          </p:cNvPr>
          <p:cNvSpPr/>
          <p:nvPr/>
        </p:nvSpPr>
        <p:spPr>
          <a:xfrm>
            <a:off x="751013" y="4816871"/>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JAMS</a:t>
            </a:r>
          </a:p>
        </p:txBody>
      </p:sp>
      <p:cxnSp>
        <p:nvCxnSpPr>
          <p:cNvPr id="91" name="Straight Arrow Connector 90">
            <a:extLst>
              <a:ext uri="{FF2B5EF4-FFF2-40B4-BE49-F238E27FC236}">
                <a16:creationId xmlns:a16="http://schemas.microsoft.com/office/drawing/2014/main" id="{24747EFF-3174-7B55-05F9-4F99543B5249}"/>
              </a:ext>
            </a:extLst>
          </p:cNvPr>
          <p:cNvCxnSpPr>
            <a:cxnSpLocks/>
          </p:cNvCxnSpPr>
          <p:nvPr/>
        </p:nvCxnSpPr>
        <p:spPr>
          <a:xfrm>
            <a:off x="2236382" y="5042135"/>
            <a:ext cx="18273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28AE0277-E164-D7AE-F20A-FC1415CC5B1F}"/>
              </a:ext>
            </a:extLst>
          </p:cNvPr>
          <p:cNvSpPr txBox="1"/>
          <p:nvPr/>
        </p:nvSpPr>
        <p:spPr>
          <a:xfrm>
            <a:off x="2254201" y="4417448"/>
            <a:ext cx="1798879" cy="569387"/>
          </a:xfrm>
          <a:prstGeom prst="rect">
            <a:avLst/>
          </a:prstGeom>
          <a:noFill/>
        </p:spPr>
        <p:txBody>
          <a:bodyPr wrap="square" rtlCol="0">
            <a:spAutoFit/>
          </a:bodyPr>
          <a:lstStyle/>
          <a:p>
            <a:r>
              <a:rPr lang="en-US" sz="1000" b="1" i="1">
                <a:solidFill>
                  <a:schemeClr val="bg1">
                    <a:lumMod val="50000"/>
                  </a:schemeClr>
                </a:solidFill>
              </a:rPr>
              <a:t>GET Call to Supplier Invoice / RCTI Payments</a:t>
            </a:r>
            <a:br>
              <a:rPr lang="en-US" sz="1000" b="1" i="1">
                <a:solidFill>
                  <a:schemeClr val="bg1">
                    <a:lumMod val="50000"/>
                  </a:schemeClr>
                </a:solidFill>
              </a:rPr>
            </a:br>
            <a:r>
              <a:rPr lang="en-AU" sz="1050"/>
              <a:t>/</a:t>
            </a:r>
            <a:r>
              <a:rPr lang="en-AU" sz="1050" err="1"/>
              <a:t>TBC</a:t>
            </a:r>
            <a:r>
              <a:rPr lang="en-AU" sz="500" err="1"/>
              <a:t>?</a:t>
            </a:r>
            <a:r>
              <a:rPr lang="en-AU" sz="1050" err="1"/>
              <a:t>system</a:t>
            </a:r>
            <a:r>
              <a:rPr lang="en-AU" sz="1050"/>
              <a:t>=JAMS&amp;contract=CCR-145…</a:t>
            </a:r>
            <a:endParaRPr lang="en-US" sz="1000" i="1">
              <a:solidFill>
                <a:schemeClr val="bg1">
                  <a:lumMod val="50000"/>
                </a:schemeClr>
              </a:solidFill>
            </a:endParaRPr>
          </a:p>
        </p:txBody>
      </p:sp>
      <p:cxnSp>
        <p:nvCxnSpPr>
          <p:cNvPr id="93" name="Straight Arrow Connector 92">
            <a:extLst>
              <a:ext uri="{FF2B5EF4-FFF2-40B4-BE49-F238E27FC236}">
                <a16:creationId xmlns:a16="http://schemas.microsoft.com/office/drawing/2014/main" id="{C62B78B9-717C-4EC4-093A-DE1E9F881740}"/>
              </a:ext>
            </a:extLst>
          </p:cNvPr>
          <p:cNvCxnSpPr>
            <a:cxnSpLocks/>
          </p:cNvCxnSpPr>
          <p:nvPr/>
        </p:nvCxnSpPr>
        <p:spPr>
          <a:xfrm>
            <a:off x="7711548" y="5013437"/>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4FB39A18-4485-895B-E7B0-0CF783A6002E}"/>
              </a:ext>
            </a:extLst>
          </p:cNvPr>
          <p:cNvSpPr txBox="1"/>
          <p:nvPr/>
        </p:nvSpPr>
        <p:spPr>
          <a:xfrm>
            <a:off x="7763988" y="4289822"/>
            <a:ext cx="1737543" cy="400110"/>
          </a:xfrm>
          <a:prstGeom prst="rect">
            <a:avLst/>
          </a:prstGeom>
          <a:noFill/>
        </p:spPr>
        <p:txBody>
          <a:bodyPr wrap="square" rtlCol="0">
            <a:spAutoFit/>
          </a:bodyPr>
          <a:lstStyle/>
          <a:p>
            <a:r>
              <a:rPr lang="en-US" sz="1000" b="1" i="1">
                <a:solidFill>
                  <a:schemeClr val="bg1">
                    <a:lumMod val="50000"/>
                  </a:schemeClr>
                </a:solidFill>
              </a:rPr>
              <a:t>S/4HANA API Call</a:t>
            </a:r>
            <a:br>
              <a:rPr lang="en-US" sz="1000" b="1" i="1">
                <a:solidFill>
                  <a:schemeClr val="bg1">
                    <a:lumMod val="50000"/>
                  </a:schemeClr>
                </a:solidFill>
              </a:rPr>
            </a:br>
            <a:r>
              <a:rPr lang="en-US" sz="1000" i="1">
                <a:solidFill>
                  <a:schemeClr val="bg1">
                    <a:lumMod val="50000"/>
                  </a:schemeClr>
                </a:solidFill>
              </a:rPr>
              <a:t>/</a:t>
            </a:r>
            <a:r>
              <a:rPr lang="en-US" sz="1000" i="1" err="1">
                <a:solidFill>
                  <a:schemeClr val="bg1">
                    <a:lumMod val="50000"/>
                  </a:schemeClr>
                </a:solidFill>
              </a:rPr>
              <a:t>TBC</a:t>
            </a:r>
            <a:r>
              <a:rPr lang="en-US" sz="1000" i="1">
                <a:solidFill>
                  <a:schemeClr val="bg1">
                    <a:lumMod val="50000"/>
                  </a:schemeClr>
                </a:solidFill>
              </a:rPr>
              <a:t>/….</a:t>
            </a:r>
          </a:p>
        </p:txBody>
      </p:sp>
      <p:cxnSp>
        <p:nvCxnSpPr>
          <p:cNvPr id="95" name="Straight Arrow Connector 94">
            <a:extLst>
              <a:ext uri="{FF2B5EF4-FFF2-40B4-BE49-F238E27FC236}">
                <a16:creationId xmlns:a16="http://schemas.microsoft.com/office/drawing/2014/main" id="{F6692B6A-A0B9-A154-A2F6-25AA3A8063F5}"/>
              </a:ext>
            </a:extLst>
          </p:cNvPr>
          <p:cNvCxnSpPr>
            <a:cxnSpLocks/>
          </p:cNvCxnSpPr>
          <p:nvPr/>
        </p:nvCxnSpPr>
        <p:spPr>
          <a:xfrm flipH="1">
            <a:off x="7711548" y="5384830"/>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6132993A-B2E9-73F2-F901-4B186D46729F}"/>
              </a:ext>
            </a:extLst>
          </p:cNvPr>
          <p:cNvCxnSpPr>
            <a:cxnSpLocks/>
          </p:cNvCxnSpPr>
          <p:nvPr/>
        </p:nvCxnSpPr>
        <p:spPr>
          <a:xfrm flipH="1">
            <a:off x="2225749" y="5456034"/>
            <a:ext cx="18379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CC7675C9-0E10-512A-5018-9253B7F0B1D9}"/>
              </a:ext>
            </a:extLst>
          </p:cNvPr>
          <p:cNvSpPr txBox="1"/>
          <p:nvPr/>
        </p:nvSpPr>
        <p:spPr>
          <a:xfrm>
            <a:off x="7763987" y="5485662"/>
            <a:ext cx="1737543" cy="400110"/>
          </a:xfrm>
          <a:prstGeom prst="rect">
            <a:avLst/>
          </a:prstGeom>
          <a:noFill/>
        </p:spPr>
        <p:txBody>
          <a:bodyPr wrap="square" rtlCol="0">
            <a:spAutoFit/>
          </a:bodyPr>
          <a:lstStyle/>
          <a:p>
            <a:r>
              <a:rPr lang="en-US" sz="1000" b="1" i="1">
                <a:solidFill>
                  <a:schemeClr val="bg1">
                    <a:lumMod val="50000"/>
                  </a:schemeClr>
                </a:solidFill>
              </a:rPr>
              <a:t>S/4HANA API Response</a:t>
            </a:r>
            <a:br>
              <a:rPr lang="en-US" sz="1000" b="1" i="1">
                <a:solidFill>
                  <a:schemeClr val="bg1">
                    <a:lumMod val="50000"/>
                  </a:schemeClr>
                </a:solidFill>
              </a:rPr>
            </a:br>
            <a:r>
              <a:rPr lang="en-US" sz="1000" i="1">
                <a:solidFill>
                  <a:schemeClr val="bg1">
                    <a:lumMod val="50000"/>
                  </a:schemeClr>
                </a:solidFill>
              </a:rPr>
              <a:t>Standard API Payload</a:t>
            </a:r>
          </a:p>
        </p:txBody>
      </p:sp>
      <p:sp>
        <p:nvSpPr>
          <p:cNvPr id="103" name="TextBox 102">
            <a:extLst>
              <a:ext uri="{FF2B5EF4-FFF2-40B4-BE49-F238E27FC236}">
                <a16:creationId xmlns:a16="http://schemas.microsoft.com/office/drawing/2014/main" id="{D0826A1A-428E-5DE5-D2F0-201E16EC2DB8}"/>
              </a:ext>
            </a:extLst>
          </p:cNvPr>
          <p:cNvSpPr txBox="1"/>
          <p:nvPr/>
        </p:nvSpPr>
        <p:spPr>
          <a:xfrm>
            <a:off x="2273731" y="5518622"/>
            <a:ext cx="1737543" cy="400110"/>
          </a:xfrm>
          <a:prstGeom prst="rect">
            <a:avLst/>
          </a:prstGeom>
          <a:noFill/>
        </p:spPr>
        <p:txBody>
          <a:bodyPr wrap="square" rtlCol="0">
            <a:spAutoFit/>
          </a:bodyPr>
          <a:lstStyle/>
          <a:p>
            <a:r>
              <a:rPr lang="en-US" sz="1000" b="1" i="1">
                <a:solidFill>
                  <a:schemeClr val="bg1">
                    <a:lumMod val="50000"/>
                  </a:schemeClr>
                </a:solidFill>
              </a:rPr>
              <a:t>Response Message</a:t>
            </a:r>
            <a:br>
              <a:rPr lang="en-US" sz="1000" b="1" i="1">
                <a:solidFill>
                  <a:schemeClr val="bg1">
                    <a:lumMod val="50000"/>
                  </a:schemeClr>
                </a:solidFill>
              </a:rPr>
            </a:br>
            <a:r>
              <a:rPr lang="en-US" sz="1000" i="1">
                <a:solidFill>
                  <a:schemeClr val="bg1">
                    <a:lumMod val="50000"/>
                  </a:schemeClr>
                </a:solidFill>
              </a:rPr>
              <a:t>Standard API Payload</a:t>
            </a:r>
          </a:p>
        </p:txBody>
      </p:sp>
      <p:cxnSp>
        <p:nvCxnSpPr>
          <p:cNvPr id="104" name="Straight Arrow Connector 103">
            <a:extLst>
              <a:ext uri="{FF2B5EF4-FFF2-40B4-BE49-F238E27FC236}">
                <a16:creationId xmlns:a16="http://schemas.microsoft.com/office/drawing/2014/main" id="{3B2754E7-07CA-67B8-E75A-6A3DD79B8881}"/>
              </a:ext>
            </a:extLst>
          </p:cNvPr>
          <p:cNvCxnSpPr>
            <a:cxnSpLocks/>
          </p:cNvCxnSpPr>
          <p:nvPr/>
        </p:nvCxnSpPr>
        <p:spPr>
          <a:xfrm>
            <a:off x="6729024" y="2656922"/>
            <a:ext cx="0" cy="236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105">
            <a:extLst>
              <a:ext uri="{FF2B5EF4-FFF2-40B4-BE49-F238E27FC236}">
                <a16:creationId xmlns:a16="http://schemas.microsoft.com/office/drawing/2014/main" id="{351E3097-D6C3-35AE-C487-B5C31C51DCCB}"/>
              </a:ext>
            </a:extLst>
          </p:cNvPr>
          <p:cNvCxnSpPr>
            <a:cxnSpLocks/>
            <a:stCxn id="73" idx="3"/>
          </p:cNvCxnSpPr>
          <p:nvPr/>
        </p:nvCxnSpPr>
        <p:spPr>
          <a:xfrm flipV="1">
            <a:off x="11153109" y="1552789"/>
            <a:ext cx="277245" cy="68004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Snip Single Corner of Rectangle 106">
            <a:extLst>
              <a:ext uri="{FF2B5EF4-FFF2-40B4-BE49-F238E27FC236}">
                <a16:creationId xmlns:a16="http://schemas.microsoft.com/office/drawing/2014/main" id="{59B684AC-FA69-1AC3-972A-B67F21E0A7B6}"/>
              </a:ext>
            </a:extLst>
          </p:cNvPr>
          <p:cNvSpPr/>
          <p:nvPr/>
        </p:nvSpPr>
        <p:spPr>
          <a:xfrm>
            <a:off x="10174916" y="1121124"/>
            <a:ext cx="1869599" cy="196276"/>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Supplier Invoice Created</a:t>
            </a:r>
          </a:p>
        </p:txBody>
      </p:sp>
      <p:sp>
        <p:nvSpPr>
          <p:cNvPr id="111" name="Snip Single Corner of Rectangle 110">
            <a:extLst>
              <a:ext uri="{FF2B5EF4-FFF2-40B4-BE49-F238E27FC236}">
                <a16:creationId xmlns:a16="http://schemas.microsoft.com/office/drawing/2014/main" id="{3B94F5BF-D18B-3F29-0B83-C57E6EEAED19}"/>
              </a:ext>
            </a:extLst>
          </p:cNvPr>
          <p:cNvSpPr/>
          <p:nvPr/>
        </p:nvSpPr>
        <p:spPr>
          <a:xfrm>
            <a:off x="10174916" y="1356513"/>
            <a:ext cx="1869599" cy="196276"/>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Supplier Invoice Created</a:t>
            </a:r>
          </a:p>
        </p:txBody>
      </p:sp>
      <p:cxnSp>
        <p:nvCxnSpPr>
          <p:cNvPr id="113" name="Elbow Connector 112">
            <a:extLst>
              <a:ext uri="{FF2B5EF4-FFF2-40B4-BE49-F238E27FC236}">
                <a16:creationId xmlns:a16="http://schemas.microsoft.com/office/drawing/2014/main" id="{151B534D-401B-EEF3-2539-84D740AB4875}"/>
              </a:ext>
            </a:extLst>
          </p:cNvPr>
          <p:cNvCxnSpPr>
            <a:cxnSpLocks/>
            <a:stCxn id="73" idx="3"/>
          </p:cNvCxnSpPr>
          <p:nvPr/>
        </p:nvCxnSpPr>
        <p:spPr>
          <a:xfrm>
            <a:off x="11153109" y="2232838"/>
            <a:ext cx="277245" cy="7828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Snip Single Corner of Rectangle 115">
            <a:extLst>
              <a:ext uri="{FF2B5EF4-FFF2-40B4-BE49-F238E27FC236}">
                <a16:creationId xmlns:a16="http://schemas.microsoft.com/office/drawing/2014/main" id="{E01FE335-2D25-F3E6-788F-A1D6C74BF494}"/>
              </a:ext>
            </a:extLst>
          </p:cNvPr>
          <p:cNvSpPr/>
          <p:nvPr/>
        </p:nvSpPr>
        <p:spPr>
          <a:xfrm>
            <a:off x="10174915" y="3047817"/>
            <a:ext cx="1869599" cy="196276"/>
          </a:xfrm>
          <a:prstGeom prst="snip1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Supplier Invoice Errored</a:t>
            </a:r>
          </a:p>
        </p:txBody>
      </p:sp>
      <p:cxnSp>
        <p:nvCxnSpPr>
          <p:cNvPr id="120" name="Straight Arrow Connector 119">
            <a:extLst>
              <a:ext uri="{FF2B5EF4-FFF2-40B4-BE49-F238E27FC236}">
                <a16:creationId xmlns:a16="http://schemas.microsoft.com/office/drawing/2014/main" id="{506EF5EC-8D89-1B52-347A-61DB909A3642}"/>
              </a:ext>
            </a:extLst>
          </p:cNvPr>
          <p:cNvCxnSpPr>
            <a:stCxn id="85" idx="2"/>
            <a:endCxn id="118" idx="0"/>
          </p:cNvCxnSpPr>
          <p:nvPr/>
        </p:nvCxnSpPr>
        <p:spPr>
          <a:xfrm>
            <a:off x="7137104" y="3131703"/>
            <a:ext cx="0" cy="3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Elbow Connector 122">
            <a:extLst>
              <a:ext uri="{FF2B5EF4-FFF2-40B4-BE49-F238E27FC236}">
                <a16:creationId xmlns:a16="http://schemas.microsoft.com/office/drawing/2014/main" id="{B0F00DD4-8D85-2C81-D17D-7EEA1FFC90CB}"/>
              </a:ext>
            </a:extLst>
          </p:cNvPr>
          <p:cNvCxnSpPr>
            <a:stCxn id="107" idx="2"/>
            <a:endCxn id="72" idx="0"/>
          </p:cNvCxnSpPr>
          <p:nvPr/>
        </p:nvCxnSpPr>
        <p:spPr>
          <a:xfrm rot="10800000" flipV="1">
            <a:off x="7137104" y="1219262"/>
            <a:ext cx="3037812" cy="58827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8668CBCC-07FE-F0FB-97C3-1231DFFF2CBE}"/>
              </a:ext>
            </a:extLst>
          </p:cNvPr>
          <p:cNvCxnSpPr>
            <a:cxnSpLocks/>
            <a:stCxn id="116" idx="2"/>
          </p:cNvCxnSpPr>
          <p:nvPr/>
        </p:nvCxnSpPr>
        <p:spPr>
          <a:xfrm rot="10800000">
            <a:off x="7874473" y="2234687"/>
            <a:ext cx="2300443" cy="911269"/>
          </a:xfrm>
          <a:prstGeom prst="bentConnector3">
            <a:avLst>
              <a:gd name="adj1" fmla="val 69173"/>
            </a:avLst>
          </a:prstGeom>
          <a:ln>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7F49CF00-5BD6-E61F-7C60-2E82F40AC276}"/>
              </a:ext>
            </a:extLst>
          </p:cNvPr>
          <p:cNvSpPr txBox="1"/>
          <p:nvPr/>
        </p:nvSpPr>
        <p:spPr>
          <a:xfrm>
            <a:off x="8632758" y="3179633"/>
            <a:ext cx="1510995" cy="400110"/>
          </a:xfrm>
          <a:prstGeom prst="rect">
            <a:avLst/>
          </a:prstGeom>
          <a:noFill/>
        </p:spPr>
        <p:txBody>
          <a:bodyPr wrap="square" rtlCol="0">
            <a:spAutoFit/>
          </a:bodyPr>
          <a:lstStyle/>
          <a:p>
            <a:r>
              <a:rPr lang="en-US" sz="1000" b="1" i="1">
                <a:solidFill>
                  <a:schemeClr val="bg1">
                    <a:lumMod val="50000"/>
                  </a:schemeClr>
                </a:solidFill>
              </a:rPr>
              <a:t>Error Documents</a:t>
            </a:r>
          </a:p>
          <a:p>
            <a:r>
              <a:rPr lang="en-US" sz="1000" i="1">
                <a:solidFill>
                  <a:schemeClr val="bg1">
                    <a:lumMod val="50000"/>
                  </a:schemeClr>
                </a:solidFill>
              </a:rPr>
              <a:t>API Response and Owner</a:t>
            </a:r>
          </a:p>
        </p:txBody>
      </p:sp>
      <p:sp>
        <p:nvSpPr>
          <p:cNvPr id="129" name="TextBox 128">
            <a:extLst>
              <a:ext uri="{FF2B5EF4-FFF2-40B4-BE49-F238E27FC236}">
                <a16:creationId xmlns:a16="http://schemas.microsoft.com/office/drawing/2014/main" id="{694000A4-C915-6E16-0D32-5452DBA6F56F}"/>
              </a:ext>
            </a:extLst>
          </p:cNvPr>
          <p:cNvSpPr txBox="1"/>
          <p:nvPr/>
        </p:nvSpPr>
        <p:spPr>
          <a:xfrm>
            <a:off x="7137104" y="825322"/>
            <a:ext cx="1869599" cy="400110"/>
          </a:xfrm>
          <a:prstGeom prst="rect">
            <a:avLst/>
          </a:prstGeom>
          <a:noFill/>
        </p:spPr>
        <p:txBody>
          <a:bodyPr wrap="square" rtlCol="0">
            <a:spAutoFit/>
          </a:bodyPr>
          <a:lstStyle/>
          <a:p>
            <a:r>
              <a:rPr lang="en-US" sz="1000" b="1" i="1">
                <a:solidFill>
                  <a:schemeClr val="bg1">
                    <a:lumMod val="50000"/>
                  </a:schemeClr>
                </a:solidFill>
              </a:rPr>
              <a:t>Success Documents</a:t>
            </a:r>
          </a:p>
          <a:p>
            <a:r>
              <a:rPr lang="en-US" sz="1000" i="1">
                <a:solidFill>
                  <a:schemeClr val="bg1">
                    <a:lumMod val="50000"/>
                  </a:schemeClr>
                </a:solidFill>
              </a:rPr>
              <a:t>API Response and Document</a:t>
            </a:r>
          </a:p>
        </p:txBody>
      </p:sp>
      <p:sp>
        <p:nvSpPr>
          <p:cNvPr id="9601" name="Chip9601"/>
          <p:cNvSpPr/>
          <p:nvPr/>
        </p:nvSpPr>
        <p:spPr>
          <a:xfrm>
            <a:off x="350873" y="3405000"/>
            <a:ext cx="5480000" cy="300000"/>
          </a:xfrm>
          <a:prstGeom prst="roundRect">
            <a:avLst>
              <a:gd name="adj" fmla="val 12000"/>
            </a:avLst>
          </a:prstGeom>
          <a:solidFill>
            <a:srgbClr val="FDF6E3"/>
          </a:solidFill>
          <a:ln w="9525">
            <a:solidFill>
              <a:srgbClr val="9C6A00"/>
            </a:solidFill>
          </a:ln>
        </p:spPr>
        <p:txBody>
          <a:bodyPr wrap="square" lIns="72000" tIns="18000" rIns="72000" bIns="18000" anchor="ctr"/>
          <a:lstStyle/>
          <a:p>
            <a:pPr indent="0" marL="0">
              <a:buNone/>
            </a:pPr>
            <a:r>
              <a:rPr lang="en-US" sz="720" b="1" dirty="0">
                <a:solidFill>
                  <a:srgbClr val="9C6A00"/>
                </a:solidFill>
                <a:latin typeface="Arial" pitchFamily="34" charset="0"/>
              </a:rPr>
              <a:t>Business / data error:  </a:t>
            </a:r>
            <a:r>
              <a:rPr lang="en-US" sz="720" dirty="0">
                <a:solidFill>
                  <a:srgbClr val="444444"/>
                </a:solidFill>
                <a:latin typeface="Arial" pitchFamily="34" charset="0"/>
              </a:rPr>
              <a:t>email to the business area mailbox (cc technical) → analysed and fixed in JAMS, resent with a new ID — no ticket.</a:t>
            </a:r>
          </a:p>
        </p:txBody>
      </p:sp>
      <p:sp>
        <p:nvSpPr>
          <p:cNvPr id="9602" name="Chip9602"/>
          <p:cNvSpPr/>
          <p:nvPr/>
        </p:nvSpPr>
        <p:spPr>
          <a:xfrm>
            <a:off x="5950000" y="3405000"/>
            <a:ext cx="5926566" cy="300000"/>
          </a:xfrm>
          <a:prstGeom prst="roundRect">
            <a:avLst>
              <a:gd name="adj" fmla="val 12000"/>
            </a:avLst>
          </a:prstGeom>
          <a:solidFill>
            <a:srgbClr val="EEF2F8"/>
          </a:solidFill>
          <a:ln w="9525">
            <a:solidFill>
              <a:srgbClr val="1F3864"/>
            </a:solidFill>
          </a:ln>
        </p:spPr>
        <p:txBody>
          <a:bodyPr wrap="square" lIns="72000" tIns="18000" rIns="72000" bIns="18000" anchor="ctr"/>
          <a:lstStyle/>
          <a:p>
            <a:pPr indent="0" marL="0">
              <a:buNone/>
            </a:pPr>
            <a:r>
              <a:rPr lang="en-US" sz="720" b="1" dirty="0">
                <a:solidFill>
                  <a:srgbClr val="1F3864"/>
                </a:solidFill>
                <a:latin typeface="Arial" pitchFamily="34" charset="0"/>
              </a:rPr>
              <a:t>Technical or S/4-side:  </a:t>
            </a:r>
            <a:r>
              <a:rPr lang="en-US" sz="720" dirty="0">
                <a:solidFill>
                  <a:srgbClr val="444444"/>
                </a:solidFill>
                <a:latin typeface="Arial" pitchFamily="34" charset="0"/>
              </a:rPr>
              <a:t>email to the technical mailbox + automatic ServiceNow ticket (production) → analysed and fixed in CPI / S/4, replayed — JAMS does nothing.</a:t>
            </a:r>
          </a:p>
        </p:txBody>
      </p:sp>
    </p:spTree>
    <p:extLst>
      <p:ext uri="{BB962C8B-B14F-4D97-AF65-F5344CB8AC3E}">
        <p14:creationId xmlns:p14="http://schemas.microsoft.com/office/powerpoint/2010/main" val="3033675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40111-CABB-A7D4-A45C-F5CE7BBEA0D2}"/>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E428F9AB-0A08-DE0E-C860-1985DE5D72E2}"/>
              </a:ext>
            </a:extLst>
          </p:cNvPr>
          <p:cNvSpPr/>
          <p:nvPr/>
        </p:nvSpPr>
        <p:spPr>
          <a:xfrm>
            <a:off x="502919" y="182880"/>
            <a:ext cx="10258283" cy="502920"/>
          </a:xfrm>
          <a:prstGeom prst="rect">
            <a:avLst/>
          </a:prstGeom>
          <a:noFill/>
          <a:ln/>
        </p:spPr>
        <p:txBody>
          <a:bodyPr wrap="square" lIns="0" tIns="0" rIns="0" bIns="0" rtlCol="0" anchor="ctr"/>
          <a:lstStyle/>
          <a:p>
            <a:r>
              <a:rPr lang="en-US" sz="2300" b="1">
                <a:solidFill>
                  <a:srgbClr val="1F3864"/>
                </a:solidFill>
                <a:latin typeface="Arial"/>
                <a:ea typeface="Arial" pitchFamily="34" charset="-122"/>
                <a:cs typeface="Arial"/>
              </a:rPr>
              <a:t>FSM – JAMS REQUEST_PO Canonical Lifecycle</a:t>
            </a:r>
            <a:endParaRPr lang="en-US" sz="2300">
              <a:latin typeface="Arial"/>
              <a:cs typeface="Arial"/>
            </a:endParaRPr>
          </a:p>
        </p:txBody>
      </p:sp>
      <p:sp>
        <p:nvSpPr>
          <p:cNvPr id="7" name="Text 5">
            <a:extLst>
              <a:ext uri="{FF2B5EF4-FFF2-40B4-BE49-F238E27FC236}">
                <a16:creationId xmlns:a16="http://schemas.microsoft.com/office/drawing/2014/main" id="{8B3DB39D-BD6C-0F7A-2026-FE9C26C9CC6B}"/>
              </a:ext>
            </a:extLst>
          </p:cNvPr>
          <p:cNvSpPr/>
          <p:nvPr/>
        </p:nvSpPr>
        <p:spPr>
          <a:xfrm>
            <a:off x="502920" y="676655"/>
            <a:ext cx="11155680" cy="399059"/>
          </a:xfrm>
          <a:prstGeom prst="rect">
            <a:avLst/>
          </a:prstGeom>
          <a:noFill/>
          <a:ln/>
        </p:spPr>
        <p:txBody>
          <a:bodyPr wrap="square" lIns="0" tIns="0" rIns="0" bIns="0" rtlCol="0" anchor="t"/>
          <a:lstStyle/>
          <a:p>
            <a:pPr marL="0" indent="0">
              <a:buNone/>
            </a:pPr>
            <a:r>
              <a:rPr lang="en-US" sz="1200">
                <a:solidFill>
                  <a:srgbClr val="595959"/>
                </a:solidFill>
                <a:latin typeface="Arial" pitchFamily="34" charset="0"/>
                <a:ea typeface="Arial" pitchFamily="34" charset="-122"/>
                <a:cs typeface="Arial" pitchFamily="34" charset="-120"/>
              </a:rPr>
              <a:t>Trigger TBC. The canonical response confirms receipt and outcome; sending the PO approval status back to the FSM is not planned.</a:t>
            </a:r>
            <a:endParaRPr lang="en-US" sz="1200"/>
          </a:p>
        </p:txBody>
      </p:sp>
      <p:sp>
        <p:nvSpPr>
          <p:cNvPr id="63" name="Shape 10">
            <a:extLst>
              <a:ext uri="{FF2B5EF4-FFF2-40B4-BE49-F238E27FC236}">
                <a16:creationId xmlns:a16="http://schemas.microsoft.com/office/drawing/2014/main" id="{07F7A6F2-A4B0-75B9-2258-E3B85FDE70B8}"/>
              </a:ext>
            </a:extLst>
          </p:cNvPr>
          <p:cNvSpPr/>
          <p:nvPr/>
        </p:nvSpPr>
        <p:spPr>
          <a:xfrm>
            <a:off x="333153" y="3740564"/>
            <a:ext cx="11525693" cy="2320033"/>
          </a:xfrm>
          <a:prstGeom prst="roundRect">
            <a:avLst>
              <a:gd name="adj" fmla="val 10465"/>
            </a:avLst>
          </a:prstGeom>
          <a:solidFill>
            <a:schemeClr val="bg1"/>
          </a:solidFill>
          <a:ln w="15875">
            <a:noFill/>
            <a:prstDash val="solid"/>
          </a:ln>
        </p:spPr>
        <p:txBody>
          <a:bodyPr/>
          <a:lstStyle/>
          <a:p>
            <a:r>
              <a:rPr lang="en-AU" sz="1600" b="1"/>
              <a:t>Step 2: Not planned — the PO approval status is not sent back to the FSM</a:t>
            </a:r>
            <a:r>
              <a:rPr lang="en-AU" sz="1600" b="1" err="1"/>
              <a:t/>
            </a:r>
            <a:r>
              <a:rPr lang="en-AU" sz="1600" b="1"/>
              <a:t/>
            </a:r>
          </a:p>
        </p:txBody>
      </p:sp>
      <p:sp>
        <p:nvSpPr>
          <p:cNvPr id="64" name="Shape 10">
            <a:extLst>
              <a:ext uri="{FF2B5EF4-FFF2-40B4-BE49-F238E27FC236}">
                <a16:creationId xmlns:a16="http://schemas.microsoft.com/office/drawing/2014/main" id="{E6E8F543-4752-9692-5657-913C717491F1}"/>
              </a:ext>
            </a:extLst>
          </p:cNvPr>
          <p:cNvSpPr/>
          <p:nvPr/>
        </p:nvSpPr>
        <p:spPr>
          <a:xfrm>
            <a:off x="333153" y="973306"/>
            <a:ext cx="11525693" cy="1966168"/>
          </a:xfrm>
          <a:prstGeom prst="roundRect">
            <a:avLst>
              <a:gd name="adj" fmla="val 10465"/>
            </a:avLst>
          </a:prstGeom>
          <a:solidFill>
            <a:schemeClr val="bg1"/>
          </a:solidFill>
          <a:ln w="15875">
            <a:noFill/>
            <a:prstDash val="solid"/>
          </a:ln>
        </p:spPr>
        <p:txBody>
          <a:bodyPr/>
          <a:lstStyle/>
          <a:p>
            <a:r>
              <a:rPr lang="en-AU" sz="1600" b="1"/>
              <a:t>Step 1: </a:t>
            </a:r>
            <a:r>
              <a:rPr lang="en-AU" sz="1600" b="1" err="1"/>
              <a:t>REQUEST_PO</a:t>
            </a:r>
            <a:r>
              <a:rPr lang="en-AU" sz="1600" b="1"/>
              <a:t> for the Purchase Request and Canonical Response</a:t>
            </a:r>
          </a:p>
        </p:txBody>
      </p:sp>
      <p:sp>
        <p:nvSpPr>
          <p:cNvPr id="66" name="Shape 8">
            <a:extLst>
              <a:ext uri="{FF2B5EF4-FFF2-40B4-BE49-F238E27FC236}">
                <a16:creationId xmlns:a16="http://schemas.microsoft.com/office/drawing/2014/main" id="{71284D9C-CCBE-D8FE-611F-BAF47464D7AA}"/>
              </a:ext>
            </a:extLst>
          </p:cNvPr>
          <p:cNvSpPr/>
          <p:nvPr/>
        </p:nvSpPr>
        <p:spPr>
          <a:xfrm>
            <a:off x="761646"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JAMS</a:t>
            </a:r>
          </a:p>
        </p:txBody>
      </p:sp>
      <p:sp>
        <p:nvSpPr>
          <p:cNvPr id="67" name="Rounded Rectangle 66">
            <a:extLst>
              <a:ext uri="{FF2B5EF4-FFF2-40B4-BE49-F238E27FC236}">
                <a16:creationId xmlns:a16="http://schemas.microsoft.com/office/drawing/2014/main" id="{135921EE-A7CE-6E4A-64C9-AD992733634B}"/>
              </a:ext>
            </a:extLst>
          </p:cNvPr>
          <p:cNvSpPr/>
          <p:nvPr/>
        </p:nvSpPr>
        <p:spPr>
          <a:xfrm>
            <a:off x="3437861" y="1407544"/>
            <a:ext cx="4986670"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71" name="Shape 8">
            <a:extLst>
              <a:ext uri="{FF2B5EF4-FFF2-40B4-BE49-F238E27FC236}">
                <a16:creationId xmlns:a16="http://schemas.microsoft.com/office/drawing/2014/main" id="{C0C34612-DA8E-977D-E71D-46613133C200}"/>
              </a:ext>
            </a:extLst>
          </p:cNvPr>
          <p:cNvSpPr/>
          <p:nvPr/>
        </p:nvSpPr>
        <p:spPr>
          <a:xfrm>
            <a:off x="3915882"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1</a:t>
            </a:r>
            <a:r>
              <a:rPr lang="en-AU" sz="1400" b="1" baseline="30000"/>
              <a:t>st</a:t>
            </a:r>
            <a:r>
              <a:rPr lang="en-AU" sz="1400" b="1"/>
              <a:t> Leg Interfaces</a:t>
            </a:r>
          </a:p>
        </p:txBody>
      </p:sp>
      <p:sp>
        <p:nvSpPr>
          <p:cNvPr id="72" name="Shape 8">
            <a:extLst>
              <a:ext uri="{FF2B5EF4-FFF2-40B4-BE49-F238E27FC236}">
                <a16:creationId xmlns:a16="http://schemas.microsoft.com/office/drawing/2014/main" id="{EAFF3EAF-DE22-6890-D215-580005F33CD3}"/>
              </a:ext>
            </a:extLst>
          </p:cNvPr>
          <p:cNvSpPr/>
          <p:nvPr/>
        </p:nvSpPr>
        <p:spPr>
          <a:xfrm>
            <a:off x="6399736"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Canonical Model</a:t>
            </a:r>
          </a:p>
        </p:txBody>
      </p:sp>
      <p:sp>
        <p:nvSpPr>
          <p:cNvPr id="73" name="Shape 26">
            <a:extLst>
              <a:ext uri="{FF2B5EF4-FFF2-40B4-BE49-F238E27FC236}">
                <a16:creationId xmlns:a16="http://schemas.microsoft.com/office/drawing/2014/main" id="{D00DEFED-5ED5-4851-5F51-6181A8246097}"/>
              </a:ext>
            </a:extLst>
          </p:cNvPr>
          <p:cNvSpPr/>
          <p:nvPr/>
        </p:nvSpPr>
        <p:spPr>
          <a:xfrm>
            <a:off x="9553972" y="1807536"/>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cxnSp>
        <p:nvCxnSpPr>
          <p:cNvPr id="74" name="Straight Arrow Connector 73">
            <a:extLst>
              <a:ext uri="{FF2B5EF4-FFF2-40B4-BE49-F238E27FC236}">
                <a16:creationId xmlns:a16="http://schemas.microsoft.com/office/drawing/2014/main" id="{CE6480D8-8C6B-21C6-D7B7-D048E19BDD2E}"/>
              </a:ext>
            </a:extLst>
          </p:cNvPr>
          <p:cNvCxnSpPr/>
          <p:nvPr/>
        </p:nvCxnSpPr>
        <p:spPr>
          <a:xfrm>
            <a:off x="2236382" y="197191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9D83CE9-3817-8790-D52A-D755A00412A8}"/>
              </a:ext>
            </a:extLst>
          </p:cNvPr>
          <p:cNvCxnSpPr>
            <a:cxnSpLocks/>
          </p:cNvCxnSpPr>
          <p:nvPr/>
        </p:nvCxnSpPr>
        <p:spPr>
          <a:xfrm>
            <a:off x="7874472" y="197191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8E8BD4F-B178-2D50-6A09-A397CC8846B5}"/>
              </a:ext>
            </a:extLst>
          </p:cNvPr>
          <p:cNvCxnSpPr>
            <a:cxnSpLocks/>
          </p:cNvCxnSpPr>
          <p:nvPr/>
        </p:nvCxnSpPr>
        <p:spPr>
          <a:xfrm>
            <a:off x="5390618" y="1982546"/>
            <a:ext cx="7053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00F9DFE-D2B5-8C2F-4622-BA0913265AED}"/>
              </a:ext>
            </a:extLst>
          </p:cNvPr>
          <p:cNvCxnSpPr>
            <a:cxnSpLocks/>
          </p:cNvCxnSpPr>
          <p:nvPr/>
        </p:nvCxnSpPr>
        <p:spPr>
          <a:xfrm flipH="1">
            <a:off x="2225749" y="2485820"/>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Shape 8">
            <a:extLst>
              <a:ext uri="{FF2B5EF4-FFF2-40B4-BE49-F238E27FC236}">
                <a16:creationId xmlns:a16="http://schemas.microsoft.com/office/drawing/2014/main" id="{90D8951B-6A21-7B71-3C6A-A74797A5DC58}"/>
              </a:ext>
            </a:extLst>
          </p:cNvPr>
          <p:cNvSpPr/>
          <p:nvPr/>
        </p:nvSpPr>
        <p:spPr>
          <a:xfrm>
            <a:off x="6095998" y="1813446"/>
            <a:ext cx="249855" cy="841965"/>
          </a:xfrm>
          <a:prstGeom prst="roundRect">
            <a:avLst>
              <a:gd name="adj" fmla="val 17621"/>
            </a:avLst>
          </a:prstGeom>
          <a:solidFill>
            <a:srgbClr val="EEF2F8"/>
          </a:solidFill>
          <a:ln w="19050">
            <a:solidFill>
              <a:srgbClr val="1F3864"/>
            </a:solidFill>
            <a:prstDash val="solid"/>
          </a:ln>
        </p:spPr>
        <p:txBody>
          <a:bodyPr vert="vert270" anchor="ctr"/>
          <a:lstStyle/>
          <a:p>
            <a:pPr algn="ctr"/>
            <a:r>
              <a:rPr lang="en-AU" sz="1100" b="1"/>
              <a:t>JMS Queue</a:t>
            </a:r>
          </a:p>
        </p:txBody>
      </p:sp>
      <p:sp>
        <p:nvSpPr>
          <p:cNvPr id="80" name="TextBox 79">
            <a:extLst>
              <a:ext uri="{FF2B5EF4-FFF2-40B4-BE49-F238E27FC236}">
                <a16:creationId xmlns:a16="http://schemas.microsoft.com/office/drawing/2014/main" id="{59A5AFA5-CDE1-1D19-414A-C80862542294}"/>
              </a:ext>
            </a:extLst>
          </p:cNvPr>
          <p:cNvSpPr txBox="1"/>
          <p:nvPr/>
        </p:nvSpPr>
        <p:spPr>
          <a:xfrm>
            <a:off x="2264834" y="2526893"/>
            <a:ext cx="1212112" cy="553998"/>
          </a:xfrm>
          <a:prstGeom prst="rect">
            <a:avLst/>
          </a:prstGeom>
          <a:noFill/>
        </p:spPr>
        <p:txBody>
          <a:bodyPr wrap="square" rtlCol="0">
            <a:spAutoFit/>
          </a:bodyPr>
          <a:lstStyle/>
          <a:p>
            <a:r>
              <a:rPr lang="en-US" sz="1000" b="1" i="1">
                <a:solidFill>
                  <a:schemeClr val="bg1">
                    <a:lumMod val="50000"/>
                  </a:schemeClr>
                </a:solidFill>
              </a:rPr>
              <a:t>Acknowledgement.</a:t>
            </a:r>
            <a:br>
              <a:rPr lang="en-US" sz="1000" i="1">
                <a:solidFill>
                  <a:schemeClr val="bg1">
                    <a:lumMod val="50000"/>
                  </a:schemeClr>
                </a:solidFill>
              </a:rPr>
            </a:br>
            <a:r>
              <a:rPr lang="en-US" sz="1000" i="1">
                <a:solidFill>
                  <a:schemeClr val="bg1">
                    <a:lumMod val="50000"/>
                  </a:schemeClr>
                </a:solidFill>
              </a:rPr>
              <a:t>HTTP Response Code</a:t>
            </a:r>
          </a:p>
        </p:txBody>
      </p:sp>
      <p:sp>
        <p:nvSpPr>
          <p:cNvPr id="81" name="TextBox 80">
            <a:extLst>
              <a:ext uri="{FF2B5EF4-FFF2-40B4-BE49-F238E27FC236}">
                <a16:creationId xmlns:a16="http://schemas.microsoft.com/office/drawing/2014/main" id="{845DDA79-01C7-7D35-64DD-0A0705CF7855}"/>
              </a:ext>
            </a:extLst>
          </p:cNvPr>
          <p:cNvSpPr txBox="1"/>
          <p:nvPr/>
        </p:nvSpPr>
        <p:spPr>
          <a:xfrm>
            <a:off x="2264834" y="1522104"/>
            <a:ext cx="1212112" cy="400110"/>
          </a:xfrm>
          <a:prstGeom prst="rect">
            <a:avLst/>
          </a:prstGeom>
          <a:noFill/>
        </p:spPr>
        <p:txBody>
          <a:bodyPr wrap="square" rtlCol="0">
            <a:spAutoFit/>
          </a:bodyPr>
          <a:lstStyle/>
          <a:p>
            <a:r>
              <a:rPr lang="en-US" sz="1000" b="1" i="1" err="1">
                <a:solidFill>
                  <a:schemeClr val="bg1">
                    <a:lumMod val="50000"/>
                  </a:schemeClr>
                </a:solidFill>
              </a:rPr>
              <a:t>REQUEST_PO</a:t>
            </a:r>
            <a:br>
              <a:rPr lang="en-US" sz="1000" b="1" i="1">
                <a:solidFill>
                  <a:schemeClr val="bg1">
                    <a:lumMod val="50000"/>
                  </a:schemeClr>
                </a:solidFill>
              </a:rPr>
            </a:br>
            <a:r>
              <a:rPr lang="en-US" sz="1000" i="1">
                <a:solidFill>
                  <a:schemeClr val="bg1">
                    <a:lumMod val="50000"/>
                  </a:schemeClr>
                </a:solidFill>
              </a:rPr>
              <a:t>Outbound JAMS</a:t>
            </a:r>
          </a:p>
        </p:txBody>
      </p:sp>
      <p:sp>
        <p:nvSpPr>
          <p:cNvPr id="82" name="TextBox 81">
            <a:extLst>
              <a:ext uri="{FF2B5EF4-FFF2-40B4-BE49-F238E27FC236}">
                <a16:creationId xmlns:a16="http://schemas.microsoft.com/office/drawing/2014/main" id="{8EBE07E5-3521-46E4-589A-227BD8E0A96A}"/>
              </a:ext>
            </a:extLst>
          </p:cNvPr>
          <p:cNvSpPr txBox="1"/>
          <p:nvPr/>
        </p:nvSpPr>
        <p:spPr>
          <a:xfrm>
            <a:off x="3860117" y="2686108"/>
            <a:ext cx="1623459" cy="553998"/>
          </a:xfrm>
          <a:prstGeom prst="rect">
            <a:avLst/>
          </a:prstGeom>
          <a:noFill/>
        </p:spPr>
        <p:txBody>
          <a:bodyPr wrap="square" rtlCol="0">
            <a:spAutoFit/>
          </a:bodyPr>
          <a:lstStyle/>
          <a:p>
            <a:r>
              <a:rPr lang="en-US" sz="1000" b="1" i="1">
                <a:solidFill>
                  <a:schemeClr val="bg1">
                    <a:lumMod val="50000"/>
                  </a:schemeClr>
                </a:solidFill>
              </a:rPr>
              <a:t>Mapping and Canonical Trigger</a:t>
            </a:r>
          </a:p>
          <a:p>
            <a:r>
              <a:rPr lang="en-US" sz="1000" i="1">
                <a:solidFill>
                  <a:schemeClr val="bg1">
                    <a:lumMod val="50000"/>
                  </a:schemeClr>
                </a:solidFill>
              </a:rPr>
              <a:t>CPI Process to Process call</a:t>
            </a:r>
          </a:p>
        </p:txBody>
      </p:sp>
      <p:sp>
        <p:nvSpPr>
          <p:cNvPr id="83" name="TextBox 82">
            <a:extLst>
              <a:ext uri="{FF2B5EF4-FFF2-40B4-BE49-F238E27FC236}">
                <a16:creationId xmlns:a16="http://schemas.microsoft.com/office/drawing/2014/main" id="{CC3E88FD-CBA8-9719-B393-4D7555A5085F}"/>
              </a:ext>
            </a:extLst>
          </p:cNvPr>
          <p:cNvSpPr txBox="1"/>
          <p:nvPr/>
        </p:nvSpPr>
        <p:spPr>
          <a:xfrm>
            <a:off x="8353267" y="1582436"/>
            <a:ext cx="1293540" cy="400110"/>
          </a:xfrm>
          <a:prstGeom prst="rect">
            <a:avLst/>
          </a:prstGeom>
          <a:noFill/>
        </p:spPr>
        <p:txBody>
          <a:bodyPr wrap="square" rtlCol="0">
            <a:spAutoFit/>
          </a:bodyPr>
          <a:lstStyle/>
          <a:p>
            <a:r>
              <a:rPr lang="en-US" sz="1000" b="1" i="1">
                <a:solidFill>
                  <a:schemeClr val="bg1">
                    <a:lumMod val="50000"/>
                  </a:schemeClr>
                </a:solidFill>
              </a:rPr>
              <a:t>S/4HANA API Call</a:t>
            </a:r>
          </a:p>
          <a:p>
            <a:r>
              <a:rPr lang="en-US" sz="1000" i="1" err="1">
                <a:solidFill>
                  <a:schemeClr val="bg1">
                    <a:lumMod val="50000"/>
                  </a:schemeClr>
                </a:solidFill>
              </a:rPr>
              <a:t>TBC</a:t>
            </a:r>
            <a:endParaRPr lang="en-US" sz="1000" i="1">
              <a:solidFill>
                <a:schemeClr val="bg1">
                  <a:lumMod val="50000"/>
                </a:schemeClr>
              </a:solidFill>
            </a:endParaRPr>
          </a:p>
        </p:txBody>
      </p:sp>
      <p:sp>
        <p:nvSpPr>
          <p:cNvPr id="85" name="Shape 8">
            <a:extLst>
              <a:ext uri="{FF2B5EF4-FFF2-40B4-BE49-F238E27FC236}">
                <a16:creationId xmlns:a16="http://schemas.microsoft.com/office/drawing/2014/main" id="{116CA344-D1DC-F66D-AB1D-2A7F5116908F}"/>
              </a:ext>
            </a:extLst>
          </p:cNvPr>
          <p:cNvSpPr/>
          <p:nvPr/>
        </p:nvSpPr>
        <p:spPr>
          <a:xfrm>
            <a:off x="6399736" y="2894674"/>
            <a:ext cx="1474736" cy="237029"/>
          </a:xfrm>
          <a:prstGeom prst="roundRect">
            <a:avLst>
              <a:gd name="adj" fmla="val 17621"/>
            </a:avLst>
          </a:prstGeom>
          <a:solidFill>
            <a:srgbClr val="EEF2F8"/>
          </a:solidFill>
          <a:ln w="19050">
            <a:solidFill>
              <a:srgbClr val="1F3864"/>
            </a:solidFill>
            <a:prstDash val="solid"/>
          </a:ln>
        </p:spPr>
        <p:txBody>
          <a:bodyPr anchor="ctr"/>
          <a:lstStyle/>
          <a:p>
            <a:pPr algn="ctr"/>
            <a:r>
              <a:rPr lang="en-AU" sz="1100" b="1"/>
              <a:t>Exception Subprocess</a:t>
            </a:r>
          </a:p>
        </p:txBody>
      </p:sp>
      <p:sp>
        <p:nvSpPr>
          <p:cNvPr id="86" name="TextBox 85">
            <a:extLst>
              <a:ext uri="{FF2B5EF4-FFF2-40B4-BE49-F238E27FC236}">
                <a16:creationId xmlns:a16="http://schemas.microsoft.com/office/drawing/2014/main" id="{1D162BE0-DB5C-B9C8-1F7B-45595BF258DA}"/>
              </a:ext>
            </a:extLst>
          </p:cNvPr>
          <p:cNvSpPr txBox="1"/>
          <p:nvPr/>
        </p:nvSpPr>
        <p:spPr>
          <a:xfrm>
            <a:off x="6748452" y="2647235"/>
            <a:ext cx="1619025" cy="246221"/>
          </a:xfrm>
          <a:prstGeom prst="rect">
            <a:avLst/>
          </a:prstGeom>
          <a:noFill/>
        </p:spPr>
        <p:txBody>
          <a:bodyPr wrap="square" rtlCol="0">
            <a:spAutoFit/>
          </a:bodyPr>
          <a:lstStyle/>
          <a:p>
            <a:r>
              <a:rPr lang="en-US" sz="1000" b="1" i="1">
                <a:solidFill>
                  <a:schemeClr val="bg1">
                    <a:lumMod val="50000"/>
                  </a:schemeClr>
                </a:solidFill>
              </a:rPr>
              <a:t>Canonical Error Logging</a:t>
            </a:r>
          </a:p>
        </p:txBody>
      </p:sp>
      <p:sp>
        <p:nvSpPr>
          <p:cNvPr id="87" name="Shape 26">
            <a:extLst>
              <a:ext uri="{FF2B5EF4-FFF2-40B4-BE49-F238E27FC236}">
                <a16:creationId xmlns:a16="http://schemas.microsoft.com/office/drawing/2014/main" id="{4BDA93AC-488F-AFDF-5D92-4DFC630494C5}"/>
              </a:ext>
            </a:extLst>
          </p:cNvPr>
          <p:cNvSpPr/>
          <p:nvPr/>
        </p:nvSpPr>
        <p:spPr>
          <a:xfrm>
            <a:off x="9549512" y="4738383"/>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sp>
        <p:nvSpPr>
          <p:cNvPr id="88" name="Rounded Rectangle 87">
            <a:extLst>
              <a:ext uri="{FF2B5EF4-FFF2-40B4-BE49-F238E27FC236}">
                <a16:creationId xmlns:a16="http://schemas.microsoft.com/office/drawing/2014/main" id="{4979ACED-8607-317F-BF9B-FCB211433910}"/>
              </a:ext>
            </a:extLst>
          </p:cNvPr>
          <p:cNvSpPr/>
          <p:nvPr/>
        </p:nvSpPr>
        <p:spPr>
          <a:xfrm>
            <a:off x="4063713" y="4303001"/>
            <a:ext cx="3647835"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89" name="Shape 8">
            <a:extLst>
              <a:ext uri="{FF2B5EF4-FFF2-40B4-BE49-F238E27FC236}">
                <a16:creationId xmlns:a16="http://schemas.microsoft.com/office/drawing/2014/main" id="{5640CCFF-69A8-1C94-E69E-BD4CCE724D35}"/>
              </a:ext>
            </a:extLst>
          </p:cNvPr>
          <p:cNvSpPr/>
          <p:nvPr/>
        </p:nvSpPr>
        <p:spPr>
          <a:xfrm>
            <a:off x="4162944" y="5031065"/>
            <a:ext cx="3269003" cy="136687"/>
          </a:xfrm>
          <a:prstGeom prst="roundRect">
            <a:avLst>
              <a:gd name="adj" fmla="val 17621"/>
            </a:avLst>
          </a:prstGeom>
          <a:solidFill>
            <a:srgbClr val="EEF2F8"/>
          </a:solidFill>
          <a:ln w="19050">
            <a:solidFill>
              <a:srgbClr val="1F3864"/>
            </a:solidFill>
            <a:prstDash val="solid"/>
          </a:ln>
        </p:spPr>
        <p:txBody>
          <a:bodyPr anchor="ctr"/>
          <a:lstStyle/>
          <a:p>
            <a:pPr algn="ctr"/>
            <a:r>
              <a:rPr lang="en-AU" sz="1100"/>
              <a:t>Purchase Order Status — not planned</a:t>
            </a:r>
          </a:p>
        </p:txBody>
      </p:sp>
      <p:sp>
        <p:nvSpPr>
          <p:cNvPr id="90" name="Shape 8">
            <a:extLst>
              <a:ext uri="{FF2B5EF4-FFF2-40B4-BE49-F238E27FC236}">
                <a16:creationId xmlns:a16="http://schemas.microsoft.com/office/drawing/2014/main" id="{7233D9DB-361B-6DC7-F907-2F7E5D1CB1E8}"/>
              </a:ext>
            </a:extLst>
          </p:cNvPr>
          <p:cNvSpPr/>
          <p:nvPr/>
        </p:nvSpPr>
        <p:spPr>
          <a:xfrm>
            <a:off x="751013" y="4816871"/>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JAMS</a:t>
            </a:r>
          </a:p>
        </p:txBody>
      </p:sp>
      <p:cxnSp>
        <p:nvCxnSpPr>
          <p:cNvPr id="91" name="Straight Arrow Connector 90">
            <a:extLst>
              <a:ext uri="{FF2B5EF4-FFF2-40B4-BE49-F238E27FC236}">
                <a16:creationId xmlns:a16="http://schemas.microsoft.com/office/drawing/2014/main" id="{24747EFF-3174-7B55-05F9-4F99543B5249}"/>
              </a:ext>
            </a:extLst>
          </p:cNvPr>
          <p:cNvCxnSpPr>
            <a:cxnSpLocks/>
          </p:cNvCxnSpPr>
          <p:nvPr/>
        </p:nvCxnSpPr>
        <p:spPr>
          <a:xfrm>
            <a:off x="2236382" y="5042135"/>
            <a:ext cx="18273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28AE0277-E164-D7AE-F20A-FC1415CC5B1F}"/>
              </a:ext>
            </a:extLst>
          </p:cNvPr>
          <p:cNvSpPr txBox="1"/>
          <p:nvPr/>
        </p:nvSpPr>
        <p:spPr>
          <a:xfrm>
            <a:off x="2254201" y="4417448"/>
            <a:ext cx="1798879" cy="569387"/>
          </a:xfrm>
          <a:prstGeom prst="rect">
            <a:avLst/>
          </a:prstGeom>
          <a:noFill/>
        </p:spPr>
        <p:txBody>
          <a:bodyPr wrap="square" rtlCol="0">
            <a:spAutoFit/>
          </a:bodyPr>
          <a:lstStyle/>
          <a:p>
            <a:r>
              <a:rPr lang="en-US" sz="1000" b="1" i="1">
                <a:solidFill>
                  <a:schemeClr val="bg1">
                    <a:lumMod val="50000"/>
                  </a:schemeClr>
                </a:solidFill>
              </a:rPr>
              <a:t>Not planned (sign-off 28 July 2026)</a:t>
            </a:r>
            <a:br>
              <a:rPr lang="en-US" sz="1000" b="1" i="1">
                <a:solidFill>
                  <a:schemeClr val="bg1">
                    <a:lumMod val="50000"/>
                  </a:schemeClr>
                </a:solidFill>
              </a:rPr>
            </a:br>
            <a:r>
              <a:rPr lang="en-AU" sz="1050"/>
              <a:t>/</a:t>
            </a:r>
            <a:r>
              <a:rPr lang="en-AU" sz="1050" err="1"/>
              <a:t>TBC</a:t>
            </a:r>
            <a:r>
              <a:rPr lang="en-AU" sz="500" err="1"/>
              <a:t>?</a:t>
            </a:r>
            <a:r>
              <a:rPr lang="en-AU" sz="1050" err="1"/>
              <a:t>system</a:t>
            </a:r>
            <a:r>
              <a:rPr lang="en-AU" sz="1050"/>
              <a:t>=JAMS&amp;contract=CCR-145…</a:t>
            </a:r>
            <a:endParaRPr lang="en-US" sz="1000" i="1">
              <a:solidFill>
                <a:schemeClr val="bg1">
                  <a:lumMod val="50000"/>
                </a:schemeClr>
              </a:solidFill>
            </a:endParaRPr>
          </a:p>
        </p:txBody>
      </p:sp>
      <p:cxnSp>
        <p:nvCxnSpPr>
          <p:cNvPr id="93" name="Straight Arrow Connector 92">
            <a:extLst>
              <a:ext uri="{FF2B5EF4-FFF2-40B4-BE49-F238E27FC236}">
                <a16:creationId xmlns:a16="http://schemas.microsoft.com/office/drawing/2014/main" id="{C62B78B9-717C-4EC4-093A-DE1E9F881740}"/>
              </a:ext>
            </a:extLst>
          </p:cNvPr>
          <p:cNvCxnSpPr>
            <a:cxnSpLocks/>
          </p:cNvCxnSpPr>
          <p:nvPr/>
        </p:nvCxnSpPr>
        <p:spPr>
          <a:xfrm>
            <a:off x="7711548" y="5013437"/>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4FB39A18-4485-895B-E7B0-0CF783A6002E}"/>
              </a:ext>
            </a:extLst>
          </p:cNvPr>
          <p:cNvSpPr txBox="1"/>
          <p:nvPr/>
        </p:nvSpPr>
        <p:spPr>
          <a:xfrm>
            <a:off x="7763988" y="4289822"/>
            <a:ext cx="1737543" cy="400110"/>
          </a:xfrm>
          <a:prstGeom prst="rect">
            <a:avLst/>
          </a:prstGeom>
          <a:noFill/>
        </p:spPr>
        <p:txBody>
          <a:bodyPr wrap="square" rtlCol="0">
            <a:spAutoFit/>
          </a:bodyPr>
          <a:lstStyle/>
          <a:p>
            <a:r>
              <a:rPr lang="en-US" sz="1000" b="1" i="1">
                <a:solidFill>
                  <a:schemeClr val="bg1">
                    <a:lumMod val="50000"/>
                  </a:schemeClr>
                </a:solidFill>
              </a:rPr>
              <a:t>S/4HANA API Call</a:t>
            </a:r>
            <a:br>
              <a:rPr lang="en-US" sz="1000" b="1" i="1">
                <a:solidFill>
                  <a:schemeClr val="bg1">
                    <a:lumMod val="50000"/>
                  </a:schemeClr>
                </a:solidFill>
              </a:rPr>
            </a:br>
            <a:r>
              <a:rPr lang="en-US" sz="1000" i="1">
                <a:solidFill>
                  <a:schemeClr val="bg1">
                    <a:lumMod val="50000"/>
                  </a:schemeClr>
                </a:solidFill>
              </a:rPr>
              <a:t>/</a:t>
            </a:r>
            <a:r>
              <a:rPr lang="en-US" sz="1000" i="1" err="1">
                <a:solidFill>
                  <a:schemeClr val="bg1">
                    <a:lumMod val="50000"/>
                  </a:schemeClr>
                </a:solidFill>
              </a:rPr>
              <a:t>TBC</a:t>
            </a:r>
            <a:r>
              <a:rPr lang="en-US" sz="1000" i="1">
                <a:solidFill>
                  <a:schemeClr val="bg1">
                    <a:lumMod val="50000"/>
                  </a:schemeClr>
                </a:solidFill>
              </a:rPr>
              <a:t>/….</a:t>
            </a:r>
          </a:p>
        </p:txBody>
      </p:sp>
      <p:cxnSp>
        <p:nvCxnSpPr>
          <p:cNvPr id="95" name="Straight Arrow Connector 94">
            <a:extLst>
              <a:ext uri="{FF2B5EF4-FFF2-40B4-BE49-F238E27FC236}">
                <a16:creationId xmlns:a16="http://schemas.microsoft.com/office/drawing/2014/main" id="{F6692B6A-A0B9-A154-A2F6-25AA3A8063F5}"/>
              </a:ext>
            </a:extLst>
          </p:cNvPr>
          <p:cNvCxnSpPr>
            <a:cxnSpLocks/>
          </p:cNvCxnSpPr>
          <p:nvPr/>
        </p:nvCxnSpPr>
        <p:spPr>
          <a:xfrm flipH="1">
            <a:off x="7711548" y="5384830"/>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6132993A-B2E9-73F2-F901-4B186D46729F}"/>
              </a:ext>
            </a:extLst>
          </p:cNvPr>
          <p:cNvCxnSpPr>
            <a:cxnSpLocks/>
          </p:cNvCxnSpPr>
          <p:nvPr/>
        </p:nvCxnSpPr>
        <p:spPr>
          <a:xfrm flipH="1">
            <a:off x="2225749" y="5456034"/>
            <a:ext cx="18379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CC7675C9-0E10-512A-5018-9253B7F0B1D9}"/>
              </a:ext>
            </a:extLst>
          </p:cNvPr>
          <p:cNvSpPr txBox="1"/>
          <p:nvPr/>
        </p:nvSpPr>
        <p:spPr>
          <a:xfrm>
            <a:off x="7763987" y="5485662"/>
            <a:ext cx="1737543" cy="400110"/>
          </a:xfrm>
          <a:prstGeom prst="rect">
            <a:avLst/>
          </a:prstGeom>
          <a:noFill/>
        </p:spPr>
        <p:txBody>
          <a:bodyPr wrap="square" rtlCol="0">
            <a:spAutoFit/>
          </a:bodyPr>
          <a:lstStyle/>
          <a:p>
            <a:r>
              <a:rPr lang="en-US" sz="1000" b="1" i="1">
                <a:solidFill>
                  <a:schemeClr val="bg1">
                    <a:lumMod val="50000"/>
                  </a:schemeClr>
                </a:solidFill>
              </a:rPr>
              <a:t>S/4HANA API Response</a:t>
            </a:r>
            <a:br>
              <a:rPr lang="en-US" sz="1000" b="1" i="1">
                <a:solidFill>
                  <a:schemeClr val="bg1">
                    <a:lumMod val="50000"/>
                  </a:schemeClr>
                </a:solidFill>
              </a:rPr>
            </a:br>
            <a:r>
              <a:rPr lang="en-US" sz="1000" i="1">
                <a:solidFill>
                  <a:schemeClr val="bg1">
                    <a:lumMod val="50000"/>
                  </a:schemeClr>
                </a:solidFill>
              </a:rPr>
              <a:t>Standard API Payload</a:t>
            </a:r>
          </a:p>
        </p:txBody>
      </p:sp>
      <p:sp>
        <p:nvSpPr>
          <p:cNvPr id="103" name="TextBox 102">
            <a:extLst>
              <a:ext uri="{FF2B5EF4-FFF2-40B4-BE49-F238E27FC236}">
                <a16:creationId xmlns:a16="http://schemas.microsoft.com/office/drawing/2014/main" id="{D0826A1A-428E-5DE5-D2F0-201E16EC2DB8}"/>
              </a:ext>
            </a:extLst>
          </p:cNvPr>
          <p:cNvSpPr txBox="1"/>
          <p:nvPr/>
        </p:nvSpPr>
        <p:spPr>
          <a:xfrm>
            <a:off x="2273731" y="5518622"/>
            <a:ext cx="1737543" cy="400110"/>
          </a:xfrm>
          <a:prstGeom prst="rect">
            <a:avLst/>
          </a:prstGeom>
          <a:noFill/>
        </p:spPr>
        <p:txBody>
          <a:bodyPr wrap="square" rtlCol="0">
            <a:spAutoFit/>
          </a:bodyPr>
          <a:lstStyle/>
          <a:p>
            <a:r>
              <a:rPr lang="en-US" sz="1000" b="1" i="1">
                <a:solidFill>
                  <a:schemeClr val="bg1">
                    <a:lumMod val="50000"/>
                  </a:schemeClr>
                </a:solidFill>
              </a:rPr>
              <a:t>Response Message</a:t>
            </a:r>
            <a:br>
              <a:rPr lang="en-US" sz="1000" b="1" i="1">
                <a:solidFill>
                  <a:schemeClr val="bg1">
                    <a:lumMod val="50000"/>
                  </a:schemeClr>
                </a:solidFill>
              </a:rPr>
            </a:br>
            <a:r>
              <a:rPr lang="en-US" sz="1000" i="1">
                <a:solidFill>
                  <a:schemeClr val="bg1">
                    <a:lumMod val="50000"/>
                  </a:schemeClr>
                </a:solidFill>
              </a:rPr>
              <a:t>Standard API Payload</a:t>
            </a:r>
          </a:p>
        </p:txBody>
      </p:sp>
      <p:cxnSp>
        <p:nvCxnSpPr>
          <p:cNvPr id="104" name="Straight Arrow Connector 103">
            <a:extLst>
              <a:ext uri="{FF2B5EF4-FFF2-40B4-BE49-F238E27FC236}">
                <a16:creationId xmlns:a16="http://schemas.microsoft.com/office/drawing/2014/main" id="{3B2754E7-07CA-67B8-E75A-6A3DD79B8881}"/>
              </a:ext>
            </a:extLst>
          </p:cNvPr>
          <p:cNvCxnSpPr>
            <a:cxnSpLocks/>
          </p:cNvCxnSpPr>
          <p:nvPr/>
        </p:nvCxnSpPr>
        <p:spPr>
          <a:xfrm>
            <a:off x="6729024" y="2656922"/>
            <a:ext cx="0" cy="236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105">
            <a:extLst>
              <a:ext uri="{FF2B5EF4-FFF2-40B4-BE49-F238E27FC236}">
                <a16:creationId xmlns:a16="http://schemas.microsoft.com/office/drawing/2014/main" id="{351E3097-D6C3-35AE-C487-B5C31C51DCCB}"/>
              </a:ext>
            </a:extLst>
          </p:cNvPr>
          <p:cNvCxnSpPr>
            <a:cxnSpLocks/>
            <a:stCxn id="73" idx="3"/>
          </p:cNvCxnSpPr>
          <p:nvPr/>
        </p:nvCxnSpPr>
        <p:spPr>
          <a:xfrm flipV="1">
            <a:off x="11153109" y="1552789"/>
            <a:ext cx="277245" cy="68004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Snip Single Corner of Rectangle 106">
            <a:extLst>
              <a:ext uri="{FF2B5EF4-FFF2-40B4-BE49-F238E27FC236}">
                <a16:creationId xmlns:a16="http://schemas.microsoft.com/office/drawing/2014/main" id="{59B684AC-FA69-1AC3-972A-B67F21E0A7B6}"/>
              </a:ext>
            </a:extLst>
          </p:cNvPr>
          <p:cNvSpPr/>
          <p:nvPr/>
        </p:nvSpPr>
        <p:spPr>
          <a:xfrm>
            <a:off x="10174916" y="1121124"/>
            <a:ext cx="1869599" cy="196276"/>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Purchase Order Created</a:t>
            </a:r>
          </a:p>
        </p:txBody>
      </p:sp>
      <p:sp>
        <p:nvSpPr>
          <p:cNvPr id="111" name="Snip Single Corner of Rectangle 110">
            <a:extLst>
              <a:ext uri="{FF2B5EF4-FFF2-40B4-BE49-F238E27FC236}">
                <a16:creationId xmlns:a16="http://schemas.microsoft.com/office/drawing/2014/main" id="{3B94F5BF-D18B-3F29-0B83-C57E6EEAED19}"/>
              </a:ext>
            </a:extLst>
          </p:cNvPr>
          <p:cNvSpPr/>
          <p:nvPr/>
        </p:nvSpPr>
        <p:spPr>
          <a:xfrm>
            <a:off x="10174916" y="1356513"/>
            <a:ext cx="1869599" cy="196276"/>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Purchase Order Created</a:t>
            </a:r>
          </a:p>
        </p:txBody>
      </p:sp>
      <p:cxnSp>
        <p:nvCxnSpPr>
          <p:cNvPr id="113" name="Elbow Connector 112">
            <a:extLst>
              <a:ext uri="{FF2B5EF4-FFF2-40B4-BE49-F238E27FC236}">
                <a16:creationId xmlns:a16="http://schemas.microsoft.com/office/drawing/2014/main" id="{151B534D-401B-EEF3-2539-84D740AB4875}"/>
              </a:ext>
            </a:extLst>
          </p:cNvPr>
          <p:cNvCxnSpPr>
            <a:cxnSpLocks/>
            <a:stCxn id="73" idx="3"/>
          </p:cNvCxnSpPr>
          <p:nvPr/>
        </p:nvCxnSpPr>
        <p:spPr>
          <a:xfrm>
            <a:off x="11153109" y="2232838"/>
            <a:ext cx="277245" cy="7828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Snip Single Corner of Rectangle 115">
            <a:extLst>
              <a:ext uri="{FF2B5EF4-FFF2-40B4-BE49-F238E27FC236}">
                <a16:creationId xmlns:a16="http://schemas.microsoft.com/office/drawing/2014/main" id="{E01FE335-2D25-F3E6-788F-A1D6C74BF494}"/>
              </a:ext>
            </a:extLst>
          </p:cNvPr>
          <p:cNvSpPr/>
          <p:nvPr/>
        </p:nvSpPr>
        <p:spPr>
          <a:xfrm>
            <a:off x="10174915" y="3047817"/>
            <a:ext cx="1869599" cy="196276"/>
          </a:xfrm>
          <a:prstGeom prst="snip1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Purchase Order Errored</a:t>
            </a:r>
          </a:p>
        </p:txBody>
      </p:sp>
      <p:cxnSp>
        <p:nvCxnSpPr>
          <p:cNvPr id="120" name="Straight Arrow Connector 119">
            <a:extLst>
              <a:ext uri="{FF2B5EF4-FFF2-40B4-BE49-F238E27FC236}">
                <a16:creationId xmlns:a16="http://schemas.microsoft.com/office/drawing/2014/main" id="{506EF5EC-8D89-1B52-347A-61DB909A3642}"/>
              </a:ext>
            </a:extLst>
          </p:cNvPr>
          <p:cNvCxnSpPr>
            <a:stCxn id="85" idx="2"/>
            <a:endCxn id="118" idx="0"/>
          </p:cNvCxnSpPr>
          <p:nvPr/>
        </p:nvCxnSpPr>
        <p:spPr>
          <a:xfrm>
            <a:off x="7137104" y="3131703"/>
            <a:ext cx="0" cy="3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Elbow Connector 122">
            <a:extLst>
              <a:ext uri="{FF2B5EF4-FFF2-40B4-BE49-F238E27FC236}">
                <a16:creationId xmlns:a16="http://schemas.microsoft.com/office/drawing/2014/main" id="{B0F00DD4-8D85-2C81-D17D-7EEA1FFC90CB}"/>
              </a:ext>
            </a:extLst>
          </p:cNvPr>
          <p:cNvCxnSpPr>
            <a:stCxn id="107" idx="2"/>
            <a:endCxn id="72" idx="0"/>
          </p:cNvCxnSpPr>
          <p:nvPr/>
        </p:nvCxnSpPr>
        <p:spPr>
          <a:xfrm rot="10800000" flipV="1">
            <a:off x="7137104" y="1219262"/>
            <a:ext cx="3037812" cy="58827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8668CBCC-07FE-F0FB-97C3-1231DFFF2CBE}"/>
              </a:ext>
            </a:extLst>
          </p:cNvPr>
          <p:cNvCxnSpPr>
            <a:cxnSpLocks/>
            <a:stCxn id="116" idx="2"/>
          </p:cNvCxnSpPr>
          <p:nvPr/>
        </p:nvCxnSpPr>
        <p:spPr>
          <a:xfrm rot="10800000">
            <a:off x="7874473" y="2234687"/>
            <a:ext cx="2300443" cy="911269"/>
          </a:xfrm>
          <a:prstGeom prst="bentConnector3">
            <a:avLst>
              <a:gd name="adj1" fmla="val 69173"/>
            </a:avLst>
          </a:prstGeom>
          <a:ln>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7F49CF00-5BD6-E61F-7C60-2E82F40AC276}"/>
              </a:ext>
            </a:extLst>
          </p:cNvPr>
          <p:cNvSpPr txBox="1"/>
          <p:nvPr/>
        </p:nvSpPr>
        <p:spPr>
          <a:xfrm>
            <a:off x="8632758" y="3179633"/>
            <a:ext cx="1510995" cy="400110"/>
          </a:xfrm>
          <a:prstGeom prst="rect">
            <a:avLst/>
          </a:prstGeom>
          <a:noFill/>
        </p:spPr>
        <p:txBody>
          <a:bodyPr wrap="square" rtlCol="0">
            <a:spAutoFit/>
          </a:bodyPr>
          <a:lstStyle/>
          <a:p>
            <a:r>
              <a:rPr lang="en-US" sz="1000" b="1" i="1">
                <a:solidFill>
                  <a:schemeClr val="bg1">
                    <a:lumMod val="50000"/>
                  </a:schemeClr>
                </a:solidFill>
              </a:rPr>
              <a:t>Error Documents</a:t>
            </a:r>
          </a:p>
          <a:p>
            <a:r>
              <a:rPr lang="en-US" sz="1000" i="1">
                <a:solidFill>
                  <a:schemeClr val="bg1">
                    <a:lumMod val="50000"/>
                  </a:schemeClr>
                </a:solidFill>
              </a:rPr>
              <a:t>API Response and Owner</a:t>
            </a:r>
          </a:p>
        </p:txBody>
      </p:sp>
      <p:sp>
        <p:nvSpPr>
          <p:cNvPr id="129" name="TextBox 128">
            <a:extLst>
              <a:ext uri="{FF2B5EF4-FFF2-40B4-BE49-F238E27FC236}">
                <a16:creationId xmlns:a16="http://schemas.microsoft.com/office/drawing/2014/main" id="{694000A4-C915-6E16-0D32-5452DBA6F56F}"/>
              </a:ext>
            </a:extLst>
          </p:cNvPr>
          <p:cNvSpPr txBox="1"/>
          <p:nvPr/>
        </p:nvSpPr>
        <p:spPr>
          <a:xfrm>
            <a:off x="7137104" y="825322"/>
            <a:ext cx="1869599" cy="400110"/>
          </a:xfrm>
          <a:prstGeom prst="rect">
            <a:avLst/>
          </a:prstGeom>
          <a:noFill/>
        </p:spPr>
        <p:txBody>
          <a:bodyPr wrap="square" rtlCol="0">
            <a:spAutoFit/>
          </a:bodyPr>
          <a:lstStyle/>
          <a:p>
            <a:r>
              <a:rPr lang="en-US" sz="1000" b="1" i="1">
                <a:solidFill>
                  <a:schemeClr val="bg1">
                    <a:lumMod val="50000"/>
                  </a:schemeClr>
                </a:solidFill>
              </a:rPr>
              <a:t>Success Documents</a:t>
            </a:r>
          </a:p>
          <a:p>
            <a:r>
              <a:rPr lang="en-US" sz="1000" i="1">
                <a:solidFill>
                  <a:schemeClr val="bg1">
                    <a:lumMod val="50000"/>
                  </a:schemeClr>
                </a:solidFill>
              </a:rPr>
              <a:t>API Response and Document</a:t>
            </a:r>
          </a:p>
        </p:txBody>
      </p:sp>
      <p:sp>
        <p:nvSpPr>
          <p:cNvPr id="9601" name="Chip9601"/>
          <p:cNvSpPr/>
          <p:nvPr/>
        </p:nvSpPr>
        <p:spPr>
          <a:xfrm>
            <a:off x="350873" y="3405000"/>
            <a:ext cx="5480000" cy="300000"/>
          </a:xfrm>
          <a:prstGeom prst="roundRect">
            <a:avLst>
              <a:gd name="adj" fmla="val 12000"/>
            </a:avLst>
          </a:prstGeom>
          <a:solidFill>
            <a:srgbClr val="FDF6E3"/>
          </a:solidFill>
          <a:ln w="9525">
            <a:solidFill>
              <a:srgbClr val="9C6A00"/>
            </a:solidFill>
          </a:ln>
        </p:spPr>
        <p:txBody>
          <a:bodyPr wrap="square" lIns="72000" tIns="18000" rIns="72000" bIns="18000" anchor="ctr"/>
          <a:lstStyle/>
          <a:p>
            <a:pPr indent="0" marL="0">
              <a:buNone/>
            </a:pPr>
            <a:r>
              <a:rPr lang="en-US" sz="720" b="1" dirty="0">
                <a:solidFill>
                  <a:srgbClr val="9C6A00"/>
                </a:solidFill>
                <a:latin typeface="Arial" pitchFamily="34" charset="0"/>
              </a:rPr>
              <a:t>Business / data error:  </a:t>
            </a:r>
            <a:r>
              <a:rPr lang="en-US" sz="720" dirty="0">
                <a:solidFill>
                  <a:srgbClr val="444444"/>
                </a:solidFill>
                <a:latin typeface="Arial" pitchFamily="34" charset="0"/>
              </a:rPr>
              <a:t>email to the business area mailbox (cc technical) → analysed and fixed in JAMS, resent with a new ID — no ticket.</a:t>
            </a:r>
          </a:p>
        </p:txBody>
      </p:sp>
      <p:sp>
        <p:nvSpPr>
          <p:cNvPr id="9602" name="Chip9602"/>
          <p:cNvSpPr/>
          <p:nvPr/>
        </p:nvSpPr>
        <p:spPr>
          <a:xfrm>
            <a:off x="5950000" y="3405000"/>
            <a:ext cx="5926566" cy="300000"/>
          </a:xfrm>
          <a:prstGeom prst="roundRect">
            <a:avLst>
              <a:gd name="adj" fmla="val 12000"/>
            </a:avLst>
          </a:prstGeom>
          <a:solidFill>
            <a:srgbClr val="EEF2F8"/>
          </a:solidFill>
          <a:ln w="9525">
            <a:solidFill>
              <a:srgbClr val="1F3864"/>
            </a:solidFill>
          </a:ln>
        </p:spPr>
        <p:txBody>
          <a:bodyPr wrap="square" lIns="72000" tIns="18000" rIns="72000" bIns="18000" anchor="ctr"/>
          <a:lstStyle/>
          <a:p>
            <a:pPr indent="0" marL="0">
              <a:buNone/>
            </a:pPr>
            <a:r>
              <a:rPr lang="en-US" sz="720" b="1" dirty="0">
                <a:solidFill>
                  <a:srgbClr val="1F3864"/>
                </a:solidFill>
                <a:latin typeface="Arial" pitchFamily="34" charset="0"/>
              </a:rPr>
              <a:t>Technical or S/4-side:  </a:t>
            </a:r>
            <a:r>
              <a:rPr lang="en-US" sz="720" dirty="0">
                <a:solidFill>
                  <a:srgbClr val="444444"/>
                </a:solidFill>
                <a:latin typeface="Arial" pitchFamily="34" charset="0"/>
              </a:rPr>
              <a:t>email to the technical mailbox + automatic ServiceNow ticket (production) → analysed and fixed in CPI / S/4, replayed — JAMS does nothing.</a:t>
            </a:r>
          </a:p>
        </p:txBody>
      </p:sp>
    </p:spTree>
    <p:extLst>
      <p:ext uri="{BB962C8B-B14F-4D97-AF65-F5344CB8AC3E}">
        <p14:creationId xmlns:p14="http://schemas.microsoft.com/office/powerpoint/2010/main" val="3033675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40111-CABB-A7D4-A45C-F5CE7BBEA0D2}"/>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E428F9AB-0A08-DE0E-C860-1985DE5D72E2}"/>
              </a:ext>
            </a:extLst>
          </p:cNvPr>
          <p:cNvSpPr/>
          <p:nvPr/>
        </p:nvSpPr>
        <p:spPr>
          <a:xfrm>
            <a:off x="502919" y="182880"/>
            <a:ext cx="10258283" cy="502920"/>
          </a:xfrm>
          <a:prstGeom prst="rect">
            <a:avLst/>
          </a:prstGeom>
          <a:noFill/>
          <a:ln/>
        </p:spPr>
        <p:txBody>
          <a:bodyPr wrap="square" lIns="0" tIns="0" rIns="0" bIns="0" rtlCol="0" anchor="ctr"/>
          <a:lstStyle/>
          <a:p>
            <a:r>
              <a:rPr lang="en-US" sz="2300" b="1">
                <a:solidFill>
                  <a:srgbClr val="1F3864"/>
                </a:solidFill>
                <a:latin typeface="Arial"/>
                <a:ea typeface="Arial" pitchFamily="34" charset="-122"/>
                <a:cs typeface="Arial"/>
              </a:rPr>
              <a:t>FSM – JAMS MATERIAL_USAGE Canonical Lifecycle</a:t>
            </a:r>
            <a:endParaRPr lang="en-US" sz="2300">
              <a:latin typeface="Arial"/>
              <a:cs typeface="Arial"/>
            </a:endParaRPr>
          </a:p>
        </p:txBody>
      </p:sp>
      <p:sp>
        <p:nvSpPr>
          <p:cNvPr id="7" name="Text 5">
            <a:extLst>
              <a:ext uri="{FF2B5EF4-FFF2-40B4-BE49-F238E27FC236}">
                <a16:creationId xmlns:a16="http://schemas.microsoft.com/office/drawing/2014/main" id="{8B3DB39D-BD6C-0F7A-2026-FE9C26C9CC6B}"/>
              </a:ext>
            </a:extLst>
          </p:cNvPr>
          <p:cNvSpPr/>
          <p:nvPr/>
        </p:nvSpPr>
        <p:spPr>
          <a:xfrm>
            <a:off x="502920" y="676655"/>
            <a:ext cx="11155680" cy="399059"/>
          </a:xfrm>
          <a:prstGeom prst="rect">
            <a:avLst/>
          </a:prstGeom>
          <a:noFill/>
          <a:ln/>
        </p:spPr>
        <p:txBody>
          <a:bodyPr wrap="square" lIns="0" tIns="0" rIns="0" bIns="0" rtlCol="0" anchor="t"/>
          <a:lstStyle/>
          <a:p>
            <a:pPr marL="0" indent="0">
              <a:buNone/>
            </a:pPr>
            <a:r>
              <a:rPr lang="en-US" sz="1200">
                <a:solidFill>
                  <a:srgbClr val="595959"/>
                </a:solidFill>
                <a:latin typeface="Arial" pitchFamily="34" charset="0"/>
                <a:ea typeface="Arial" pitchFamily="34" charset="-122"/>
                <a:cs typeface="Arial" pitchFamily="34" charset="-120"/>
              </a:rPr>
              <a:t>Trigger: Field Complete (trigger TBC). The canonical response for MATERIAL_USAGE is TBC from the sign-off session.</a:t>
            </a:r>
            <a:endParaRPr lang="en-US" sz="1200"/>
          </a:p>
        </p:txBody>
      </p:sp>
      <p:sp>
        <p:nvSpPr>
          <p:cNvPr id="63" name="Shape 10">
            <a:extLst>
              <a:ext uri="{FF2B5EF4-FFF2-40B4-BE49-F238E27FC236}">
                <a16:creationId xmlns:a16="http://schemas.microsoft.com/office/drawing/2014/main" id="{07F7A6F2-A4B0-75B9-2258-E3B85FDE70B8}"/>
              </a:ext>
            </a:extLst>
          </p:cNvPr>
          <p:cNvSpPr/>
          <p:nvPr/>
        </p:nvSpPr>
        <p:spPr>
          <a:xfrm>
            <a:off x="333153" y="3740564"/>
            <a:ext cx="11525693" cy="2320033"/>
          </a:xfrm>
          <a:prstGeom prst="roundRect">
            <a:avLst>
              <a:gd name="adj" fmla="val 10465"/>
            </a:avLst>
          </a:prstGeom>
          <a:solidFill>
            <a:schemeClr val="bg1"/>
          </a:solidFill>
          <a:ln w="15875">
            <a:noFill/>
            <a:prstDash val="solid"/>
          </a:ln>
        </p:spPr>
        <p:txBody>
          <a:bodyPr/>
          <a:lstStyle/>
          <a:p>
            <a:r>
              <a:rPr lang="en-AU" sz="1600" b="1"/>
              <a:t>Step 2: Retrieval — stock list (frequency TBC)</a:t>
            </a:r>
            <a:r>
              <a:rPr lang="en-AU" sz="1600" b="1" err="1"/>
              <a:t/>
            </a:r>
            <a:r>
              <a:rPr lang="en-AU" sz="1600" b="1"/>
              <a:t/>
            </a:r>
          </a:p>
        </p:txBody>
      </p:sp>
      <p:sp>
        <p:nvSpPr>
          <p:cNvPr id="64" name="Shape 10">
            <a:extLst>
              <a:ext uri="{FF2B5EF4-FFF2-40B4-BE49-F238E27FC236}">
                <a16:creationId xmlns:a16="http://schemas.microsoft.com/office/drawing/2014/main" id="{E6E8F543-4752-9692-5657-913C717491F1}"/>
              </a:ext>
            </a:extLst>
          </p:cNvPr>
          <p:cNvSpPr/>
          <p:nvPr/>
        </p:nvSpPr>
        <p:spPr>
          <a:xfrm>
            <a:off x="333153" y="973306"/>
            <a:ext cx="11525693" cy="1966168"/>
          </a:xfrm>
          <a:prstGeom prst="roundRect">
            <a:avLst>
              <a:gd name="adj" fmla="val 10465"/>
            </a:avLst>
          </a:prstGeom>
          <a:solidFill>
            <a:schemeClr val="bg1"/>
          </a:solidFill>
          <a:ln w="15875">
            <a:noFill/>
            <a:prstDash val="solid"/>
          </a:ln>
        </p:spPr>
        <p:txBody>
          <a:bodyPr/>
          <a:lstStyle/>
          <a:p>
            <a:r>
              <a:rPr lang="en-AU" sz="1600" b="1"/>
              <a:t>Step 1: </a:t>
            </a:r>
            <a:r>
              <a:rPr lang="en-AU" sz="1600" b="1" err="1"/>
              <a:t>MATERIAL_USAGE</a:t>
            </a:r>
            <a:r>
              <a:rPr lang="en-AU" sz="1600" b="1"/>
              <a:t> for Stock Consumption and Canonical Response (response TBC)</a:t>
            </a:r>
          </a:p>
        </p:txBody>
      </p:sp>
      <p:sp>
        <p:nvSpPr>
          <p:cNvPr id="66" name="Shape 8">
            <a:extLst>
              <a:ext uri="{FF2B5EF4-FFF2-40B4-BE49-F238E27FC236}">
                <a16:creationId xmlns:a16="http://schemas.microsoft.com/office/drawing/2014/main" id="{71284D9C-CCBE-D8FE-611F-BAF47464D7AA}"/>
              </a:ext>
            </a:extLst>
          </p:cNvPr>
          <p:cNvSpPr/>
          <p:nvPr/>
        </p:nvSpPr>
        <p:spPr>
          <a:xfrm>
            <a:off x="761646"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JAMS</a:t>
            </a:r>
          </a:p>
        </p:txBody>
      </p:sp>
      <p:sp>
        <p:nvSpPr>
          <p:cNvPr id="67" name="Rounded Rectangle 66">
            <a:extLst>
              <a:ext uri="{FF2B5EF4-FFF2-40B4-BE49-F238E27FC236}">
                <a16:creationId xmlns:a16="http://schemas.microsoft.com/office/drawing/2014/main" id="{135921EE-A7CE-6E4A-64C9-AD992733634B}"/>
              </a:ext>
            </a:extLst>
          </p:cNvPr>
          <p:cNvSpPr/>
          <p:nvPr/>
        </p:nvSpPr>
        <p:spPr>
          <a:xfrm>
            <a:off x="3437861" y="1407544"/>
            <a:ext cx="4986670"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71" name="Shape 8">
            <a:extLst>
              <a:ext uri="{FF2B5EF4-FFF2-40B4-BE49-F238E27FC236}">
                <a16:creationId xmlns:a16="http://schemas.microsoft.com/office/drawing/2014/main" id="{C0C34612-DA8E-977D-E71D-46613133C200}"/>
              </a:ext>
            </a:extLst>
          </p:cNvPr>
          <p:cNvSpPr/>
          <p:nvPr/>
        </p:nvSpPr>
        <p:spPr>
          <a:xfrm>
            <a:off x="3915882"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1</a:t>
            </a:r>
            <a:r>
              <a:rPr lang="en-AU" sz="1400" b="1" baseline="30000"/>
              <a:t>st</a:t>
            </a:r>
            <a:r>
              <a:rPr lang="en-AU" sz="1400" b="1"/>
              <a:t> Leg Interfaces</a:t>
            </a:r>
          </a:p>
        </p:txBody>
      </p:sp>
      <p:sp>
        <p:nvSpPr>
          <p:cNvPr id="72" name="Shape 8">
            <a:extLst>
              <a:ext uri="{FF2B5EF4-FFF2-40B4-BE49-F238E27FC236}">
                <a16:creationId xmlns:a16="http://schemas.microsoft.com/office/drawing/2014/main" id="{EAFF3EAF-DE22-6890-D215-580005F33CD3}"/>
              </a:ext>
            </a:extLst>
          </p:cNvPr>
          <p:cNvSpPr/>
          <p:nvPr/>
        </p:nvSpPr>
        <p:spPr>
          <a:xfrm>
            <a:off x="6399736"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Canonical Model</a:t>
            </a:r>
          </a:p>
        </p:txBody>
      </p:sp>
      <p:sp>
        <p:nvSpPr>
          <p:cNvPr id="73" name="Shape 26">
            <a:extLst>
              <a:ext uri="{FF2B5EF4-FFF2-40B4-BE49-F238E27FC236}">
                <a16:creationId xmlns:a16="http://schemas.microsoft.com/office/drawing/2014/main" id="{D00DEFED-5ED5-4851-5F51-6181A8246097}"/>
              </a:ext>
            </a:extLst>
          </p:cNvPr>
          <p:cNvSpPr/>
          <p:nvPr/>
        </p:nvSpPr>
        <p:spPr>
          <a:xfrm>
            <a:off x="9553972" y="1807536"/>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cxnSp>
        <p:nvCxnSpPr>
          <p:cNvPr id="74" name="Straight Arrow Connector 73">
            <a:extLst>
              <a:ext uri="{FF2B5EF4-FFF2-40B4-BE49-F238E27FC236}">
                <a16:creationId xmlns:a16="http://schemas.microsoft.com/office/drawing/2014/main" id="{CE6480D8-8C6B-21C6-D7B7-D048E19BDD2E}"/>
              </a:ext>
            </a:extLst>
          </p:cNvPr>
          <p:cNvCxnSpPr/>
          <p:nvPr/>
        </p:nvCxnSpPr>
        <p:spPr>
          <a:xfrm>
            <a:off x="2236382" y="197191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9D83CE9-3817-8790-D52A-D755A00412A8}"/>
              </a:ext>
            </a:extLst>
          </p:cNvPr>
          <p:cNvCxnSpPr>
            <a:cxnSpLocks/>
          </p:cNvCxnSpPr>
          <p:nvPr/>
        </p:nvCxnSpPr>
        <p:spPr>
          <a:xfrm>
            <a:off x="7874472" y="197191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8E8BD4F-B178-2D50-6A09-A397CC8846B5}"/>
              </a:ext>
            </a:extLst>
          </p:cNvPr>
          <p:cNvCxnSpPr>
            <a:cxnSpLocks/>
          </p:cNvCxnSpPr>
          <p:nvPr/>
        </p:nvCxnSpPr>
        <p:spPr>
          <a:xfrm>
            <a:off x="5390618" y="1982546"/>
            <a:ext cx="7053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00F9DFE-D2B5-8C2F-4622-BA0913265AED}"/>
              </a:ext>
            </a:extLst>
          </p:cNvPr>
          <p:cNvCxnSpPr>
            <a:cxnSpLocks/>
          </p:cNvCxnSpPr>
          <p:nvPr/>
        </p:nvCxnSpPr>
        <p:spPr>
          <a:xfrm flipH="1">
            <a:off x="2225749" y="2485820"/>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Shape 8">
            <a:extLst>
              <a:ext uri="{FF2B5EF4-FFF2-40B4-BE49-F238E27FC236}">
                <a16:creationId xmlns:a16="http://schemas.microsoft.com/office/drawing/2014/main" id="{90D8951B-6A21-7B71-3C6A-A74797A5DC58}"/>
              </a:ext>
            </a:extLst>
          </p:cNvPr>
          <p:cNvSpPr/>
          <p:nvPr/>
        </p:nvSpPr>
        <p:spPr>
          <a:xfrm>
            <a:off x="6095998" y="1813446"/>
            <a:ext cx="249855" cy="841965"/>
          </a:xfrm>
          <a:prstGeom prst="roundRect">
            <a:avLst>
              <a:gd name="adj" fmla="val 17621"/>
            </a:avLst>
          </a:prstGeom>
          <a:solidFill>
            <a:srgbClr val="EEF2F8"/>
          </a:solidFill>
          <a:ln w="19050">
            <a:solidFill>
              <a:srgbClr val="1F3864"/>
            </a:solidFill>
            <a:prstDash val="solid"/>
          </a:ln>
        </p:spPr>
        <p:txBody>
          <a:bodyPr vert="vert270" anchor="ctr"/>
          <a:lstStyle/>
          <a:p>
            <a:pPr algn="ctr"/>
            <a:r>
              <a:rPr lang="en-AU" sz="1100" b="1"/>
              <a:t>JMS Queue</a:t>
            </a:r>
          </a:p>
        </p:txBody>
      </p:sp>
      <p:sp>
        <p:nvSpPr>
          <p:cNvPr id="80" name="TextBox 79">
            <a:extLst>
              <a:ext uri="{FF2B5EF4-FFF2-40B4-BE49-F238E27FC236}">
                <a16:creationId xmlns:a16="http://schemas.microsoft.com/office/drawing/2014/main" id="{59A5AFA5-CDE1-1D19-414A-C80862542294}"/>
              </a:ext>
            </a:extLst>
          </p:cNvPr>
          <p:cNvSpPr txBox="1"/>
          <p:nvPr/>
        </p:nvSpPr>
        <p:spPr>
          <a:xfrm>
            <a:off x="2264834" y="2526893"/>
            <a:ext cx="1212112" cy="553998"/>
          </a:xfrm>
          <a:prstGeom prst="rect">
            <a:avLst/>
          </a:prstGeom>
          <a:noFill/>
        </p:spPr>
        <p:txBody>
          <a:bodyPr wrap="square" rtlCol="0">
            <a:spAutoFit/>
          </a:bodyPr>
          <a:lstStyle/>
          <a:p>
            <a:r>
              <a:rPr lang="en-US" sz="1000" b="1" i="1">
                <a:solidFill>
                  <a:schemeClr val="bg1">
                    <a:lumMod val="50000"/>
                  </a:schemeClr>
                </a:solidFill>
              </a:rPr>
              <a:t>Acknowledgement.</a:t>
            </a:r>
            <a:br>
              <a:rPr lang="en-US" sz="1000" i="1">
                <a:solidFill>
                  <a:schemeClr val="bg1">
                    <a:lumMod val="50000"/>
                  </a:schemeClr>
                </a:solidFill>
              </a:rPr>
            </a:br>
            <a:r>
              <a:rPr lang="en-US" sz="1000" i="1">
                <a:solidFill>
                  <a:schemeClr val="bg1">
                    <a:lumMod val="50000"/>
                  </a:schemeClr>
                </a:solidFill>
              </a:rPr>
              <a:t>HTTP Response Code</a:t>
            </a:r>
          </a:p>
        </p:txBody>
      </p:sp>
      <p:sp>
        <p:nvSpPr>
          <p:cNvPr id="81" name="TextBox 80">
            <a:extLst>
              <a:ext uri="{FF2B5EF4-FFF2-40B4-BE49-F238E27FC236}">
                <a16:creationId xmlns:a16="http://schemas.microsoft.com/office/drawing/2014/main" id="{845DDA79-01C7-7D35-64DD-0A0705CF7855}"/>
              </a:ext>
            </a:extLst>
          </p:cNvPr>
          <p:cNvSpPr txBox="1"/>
          <p:nvPr/>
        </p:nvSpPr>
        <p:spPr>
          <a:xfrm>
            <a:off x="2264834" y="1522104"/>
            <a:ext cx="1212112" cy="400110"/>
          </a:xfrm>
          <a:prstGeom prst="rect">
            <a:avLst/>
          </a:prstGeom>
          <a:noFill/>
        </p:spPr>
        <p:txBody>
          <a:bodyPr wrap="square" rtlCol="0">
            <a:spAutoFit/>
          </a:bodyPr>
          <a:lstStyle/>
          <a:p>
            <a:r>
              <a:rPr lang="en-US" sz="1000" b="1" i="1" err="1">
                <a:solidFill>
                  <a:schemeClr val="bg1">
                    <a:lumMod val="50000"/>
                  </a:schemeClr>
                </a:solidFill>
              </a:rPr>
              <a:t>MATERIAL_USAGE</a:t>
            </a:r>
            <a:br>
              <a:rPr lang="en-US" sz="1000" b="1" i="1">
                <a:solidFill>
                  <a:schemeClr val="bg1">
                    <a:lumMod val="50000"/>
                  </a:schemeClr>
                </a:solidFill>
              </a:rPr>
            </a:br>
            <a:r>
              <a:rPr lang="en-US" sz="1000" i="1">
                <a:solidFill>
                  <a:schemeClr val="bg1">
                    <a:lumMod val="50000"/>
                  </a:schemeClr>
                </a:solidFill>
              </a:rPr>
              <a:t>Outbound JAMS</a:t>
            </a:r>
          </a:p>
        </p:txBody>
      </p:sp>
      <p:sp>
        <p:nvSpPr>
          <p:cNvPr id="82" name="TextBox 81">
            <a:extLst>
              <a:ext uri="{FF2B5EF4-FFF2-40B4-BE49-F238E27FC236}">
                <a16:creationId xmlns:a16="http://schemas.microsoft.com/office/drawing/2014/main" id="{8EBE07E5-3521-46E4-589A-227BD8E0A96A}"/>
              </a:ext>
            </a:extLst>
          </p:cNvPr>
          <p:cNvSpPr txBox="1"/>
          <p:nvPr/>
        </p:nvSpPr>
        <p:spPr>
          <a:xfrm>
            <a:off x="3860117" y="2686108"/>
            <a:ext cx="1623459" cy="553998"/>
          </a:xfrm>
          <a:prstGeom prst="rect">
            <a:avLst/>
          </a:prstGeom>
          <a:noFill/>
        </p:spPr>
        <p:txBody>
          <a:bodyPr wrap="square" rtlCol="0">
            <a:spAutoFit/>
          </a:bodyPr>
          <a:lstStyle/>
          <a:p>
            <a:r>
              <a:rPr lang="en-US" sz="1000" b="1" i="1">
                <a:solidFill>
                  <a:schemeClr val="bg1">
                    <a:lumMod val="50000"/>
                  </a:schemeClr>
                </a:solidFill>
              </a:rPr>
              <a:t>Mapping and Canonical Trigger</a:t>
            </a:r>
          </a:p>
          <a:p>
            <a:r>
              <a:rPr lang="en-US" sz="1000" i="1">
                <a:solidFill>
                  <a:schemeClr val="bg1">
                    <a:lumMod val="50000"/>
                  </a:schemeClr>
                </a:solidFill>
              </a:rPr>
              <a:t>CPI Process to Process call</a:t>
            </a:r>
          </a:p>
        </p:txBody>
      </p:sp>
      <p:sp>
        <p:nvSpPr>
          <p:cNvPr id="83" name="TextBox 82">
            <a:extLst>
              <a:ext uri="{FF2B5EF4-FFF2-40B4-BE49-F238E27FC236}">
                <a16:creationId xmlns:a16="http://schemas.microsoft.com/office/drawing/2014/main" id="{CC3E88FD-CBA8-9719-B393-4D7555A5085F}"/>
              </a:ext>
            </a:extLst>
          </p:cNvPr>
          <p:cNvSpPr txBox="1"/>
          <p:nvPr/>
        </p:nvSpPr>
        <p:spPr>
          <a:xfrm>
            <a:off x="8353267" y="1582436"/>
            <a:ext cx="1293540" cy="400110"/>
          </a:xfrm>
          <a:prstGeom prst="rect">
            <a:avLst/>
          </a:prstGeom>
          <a:noFill/>
        </p:spPr>
        <p:txBody>
          <a:bodyPr wrap="square" rtlCol="0">
            <a:spAutoFit/>
          </a:bodyPr>
          <a:lstStyle/>
          <a:p>
            <a:r>
              <a:rPr lang="en-US" sz="1000" b="1" i="1">
                <a:solidFill>
                  <a:schemeClr val="bg1">
                    <a:lumMod val="50000"/>
                  </a:schemeClr>
                </a:solidFill>
              </a:rPr>
              <a:t>S/4HANA API Call</a:t>
            </a:r>
          </a:p>
          <a:p>
            <a:r>
              <a:rPr lang="en-US" sz="1000" i="1" err="1">
                <a:solidFill>
                  <a:schemeClr val="bg1">
                    <a:lumMod val="50000"/>
                  </a:schemeClr>
                </a:solidFill>
              </a:rPr>
              <a:t>TBC</a:t>
            </a:r>
            <a:endParaRPr lang="en-US" sz="1000" i="1">
              <a:solidFill>
                <a:schemeClr val="bg1">
                  <a:lumMod val="50000"/>
                </a:schemeClr>
              </a:solidFill>
            </a:endParaRPr>
          </a:p>
        </p:txBody>
      </p:sp>
      <p:sp>
        <p:nvSpPr>
          <p:cNvPr id="85" name="Shape 8">
            <a:extLst>
              <a:ext uri="{FF2B5EF4-FFF2-40B4-BE49-F238E27FC236}">
                <a16:creationId xmlns:a16="http://schemas.microsoft.com/office/drawing/2014/main" id="{116CA344-D1DC-F66D-AB1D-2A7F5116908F}"/>
              </a:ext>
            </a:extLst>
          </p:cNvPr>
          <p:cNvSpPr/>
          <p:nvPr/>
        </p:nvSpPr>
        <p:spPr>
          <a:xfrm>
            <a:off x="6399736" y="2894674"/>
            <a:ext cx="1474736" cy="237029"/>
          </a:xfrm>
          <a:prstGeom prst="roundRect">
            <a:avLst>
              <a:gd name="adj" fmla="val 17621"/>
            </a:avLst>
          </a:prstGeom>
          <a:solidFill>
            <a:srgbClr val="EEF2F8"/>
          </a:solidFill>
          <a:ln w="19050">
            <a:solidFill>
              <a:srgbClr val="1F3864"/>
            </a:solidFill>
            <a:prstDash val="solid"/>
          </a:ln>
        </p:spPr>
        <p:txBody>
          <a:bodyPr anchor="ctr"/>
          <a:lstStyle/>
          <a:p>
            <a:pPr algn="ctr"/>
            <a:r>
              <a:rPr lang="en-AU" sz="1100" b="1"/>
              <a:t>Exception Subprocess</a:t>
            </a:r>
          </a:p>
        </p:txBody>
      </p:sp>
      <p:sp>
        <p:nvSpPr>
          <p:cNvPr id="86" name="TextBox 85">
            <a:extLst>
              <a:ext uri="{FF2B5EF4-FFF2-40B4-BE49-F238E27FC236}">
                <a16:creationId xmlns:a16="http://schemas.microsoft.com/office/drawing/2014/main" id="{1D162BE0-DB5C-B9C8-1F7B-45595BF258DA}"/>
              </a:ext>
            </a:extLst>
          </p:cNvPr>
          <p:cNvSpPr txBox="1"/>
          <p:nvPr/>
        </p:nvSpPr>
        <p:spPr>
          <a:xfrm>
            <a:off x="6748452" y="2647235"/>
            <a:ext cx="1619025" cy="246221"/>
          </a:xfrm>
          <a:prstGeom prst="rect">
            <a:avLst/>
          </a:prstGeom>
          <a:noFill/>
        </p:spPr>
        <p:txBody>
          <a:bodyPr wrap="square" rtlCol="0">
            <a:spAutoFit/>
          </a:bodyPr>
          <a:lstStyle/>
          <a:p>
            <a:r>
              <a:rPr lang="en-US" sz="1000" b="1" i="1">
                <a:solidFill>
                  <a:schemeClr val="bg1">
                    <a:lumMod val="50000"/>
                  </a:schemeClr>
                </a:solidFill>
              </a:rPr>
              <a:t>Canonical Error Logging</a:t>
            </a:r>
          </a:p>
        </p:txBody>
      </p:sp>
      <p:sp>
        <p:nvSpPr>
          <p:cNvPr id="87" name="Shape 26">
            <a:extLst>
              <a:ext uri="{FF2B5EF4-FFF2-40B4-BE49-F238E27FC236}">
                <a16:creationId xmlns:a16="http://schemas.microsoft.com/office/drawing/2014/main" id="{4BDA93AC-488F-AFDF-5D92-4DFC630494C5}"/>
              </a:ext>
            </a:extLst>
          </p:cNvPr>
          <p:cNvSpPr/>
          <p:nvPr/>
        </p:nvSpPr>
        <p:spPr>
          <a:xfrm>
            <a:off x="9549512" y="4738383"/>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sp>
        <p:nvSpPr>
          <p:cNvPr id="88" name="Rounded Rectangle 87">
            <a:extLst>
              <a:ext uri="{FF2B5EF4-FFF2-40B4-BE49-F238E27FC236}">
                <a16:creationId xmlns:a16="http://schemas.microsoft.com/office/drawing/2014/main" id="{4979ACED-8607-317F-BF9B-FCB211433910}"/>
              </a:ext>
            </a:extLst>
          </p:cNvPr>
          <p:cNvSpPr/>
          <p:nvPr/>
        </p:nvSpPr>
        <p:spPr>
          <a:xfrm>
            <a:off x="4063713" y="4303001"/>
            <a:ext cx="3647835"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89" name="Shape 8">
            <a:extLst>
              <a:ext uri="{FF2B5EF4-FFF2-40B4-BE49-F238E27FC236}">
                <a16:creationId xmlns:a16="http://schemas.microsoft.com/office/drawing/2014/main" id="{5640CCFF-69A8-1C94-E69E-BD4CCE724D35}"/>
              </a:ext>
            </a:extLst>
          </p:cNvPr>
          <p:cNvSpPr/>
          <p:nvPr/>
        </p:nvSpPr>
        <p:spPr>
          <a:xfrm>
            <a:off x="4162944" y="5031065"/>
            <a:ext cx="3269003" cy="136687"/>
          </a:xfrm>
          <a:prstGeom prst="roundRect">
            <a:avLst>
              <a:gd name="adj" fmla="val 17621"/>
            </a:avLst>
          </a:prstGeom>
          <a:solidFill>
            <a:srgbClr val="EEF2F8"/>
          </a:solidFill>
          <a:ln w="19050">
            <a:solidFill>
              <a:srgbClr val="1F3864"/>
            </a:solidFill>
            <a:prstDash val="solid"/>
          </a:ln>
        </p:spPr>
        <p:txBody>
          <a:bodyPr anchor="ctr"/>
          <a:lstStyle/>
          <a:p>
            <a:pPr algn="ctr"/>
            <a:r>
              <a:rPr lang="en-AU" sz="1100"/>
              <a:t>Available Stock Query</a:t>
            </a:r>
          </a:p>
        </p:txBody>
      </p:sp>
      <p:sp>
        <p:nvSpPr>
          <p:cNvPr id="90" name="Shape 8">
            <a:extLst>
              <a:ext uri="{FF2B5EF4-FFF2-40B4-BE49-F238E27FC236}">
                <a16:creationId xmlns:a16="http://schemas.microsoft.com/office/drawing/2014/main" id="{7233D9DB-361B-6DC7-F907-2F7E5D1CB1E8}"/>
              </a:ext>
            </a:extLst>
          </p:cNvPr>
          <p:cNvSpPr/>
          <p:nvPr/>
        </p:nvSpPr>
        <p:spPr>
          <a:xfrm>
            <a:off x="751013" y="4816871"/>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JAMS</a:t>
            </a:r>
          </a:p>
        </p:txBody>
      </p:sp>
      <p:cxnSp>
        <p:nvCxnSpPr>
          <p:cNvPr id="91" name="Straight Arrow Connector 90">
            <a:extLst>
              <a:ext uri="{FF2B5EF4-FFF2-40B4-BE49-F238E27FC236}">
                <a16:creationId xmlns:a16="http://schemas.microsoft.com/office/drawing/2014/main" id="{24747EFF-3174-7B55-05F9-4F99543B5249}"/>
              </a:ext>
            </a:extLst>
          </p:cNvPr>
          <p:cNvCxnSpPr>
            <a:cxnSpLocks/>
          </p:cNvCxnSpPr>
          <p:nvPr/>
        </p:nvCxnSpPr>
        <p:spPr>
          <a:xfrm>
            <a:off x="2236382" y="5042135"/>
            <a:ext cx="18273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28AE0277-E164-D7AE-F20A-FC1415CC5B1F}"/>
              </a:ext>
            </a:extLst>
          </p:cNvPr>
          <p:cNvSpPr txBox="1"/>
          <p:nvPr/>
        </p:nvSpPr>
        <p:spPr>
          <a:xfrm>
            <a:off x="2254201" y="4417448"/>
            <a:ext cx="1798879" cy="569387"/>
          </a:xfrm>
          <a:prstGeom prst="rect">
            <a:avLst/>
          </a:prstGeom>
          <a:noFill/>
        </p:spPr>
        <p:txBody>
          <a:bodyPr wrap="square" rtlCol="0">
            <a:spAutoFit/>
          </a:bodyPr>
          <a:lstStyle/>
          <a:p>
            <a:r>
              <a:rPr lang="en-US" sz="1000" b="1" i="1">
                <a:solidFill>
                  <a:schemeClr val="bg1">
                    <a:lumMod val="50000"/>
                  </a:schemeClr>
                </a:solidFill>
              </a:rPr>
              <a:t>GET Call to Available Stock</a:t>
            </a:r>
            <a:br>
              <a:rPr lang="en-US" sz="1000" b="1" i="1">
                <a:solidFill>
                  <a:schemeClr val="bg1">
                    <a:lumMod val="50000"/>
                  </a:schemeClr>
                </a:solidFill>
              </a:rPr>
            </a:br>
            <a:r>
              <a:rPr lang="en-AU" sz="1050"/>
              <a:t>/</a:t>
            </a:r>
            <a:r>
              <a:rPr lang="en-AU" sz="1050" err="1"/>
              <a:t>TBC</a:t>
            </a:r>
            <a:r>
              <a:rPr lang="en-AU" sz="500" err="1"/>
              <a:t>?</a:t>
            </a:r>
            <a:r>
              <a:rPr lang="en-AU" sz="1050" err="1"/>
              <a:t>system</a:t>
            </a:r>
            <a:r>
              <a:rPr lang="en-AU" sz="1050"/>
              <a:t>=JAMS&amp;contract=CCR-145…</a:t>
            </a:r>
            <a:endParaRPr lang="en-US" sz="1000" i="1">
              <a:solidFill>
                <a:schemeClr val="bg1">
                  <a:lumMod val="50000"/>
                </a:schemeClr>
              </a:solidFill>
            </a:endParaRPr>
          </a:p>
        </p:txBody>
      </p:sp>
      <p:cxnSp>
        <p:nvCxnSpPr>
          <p:cNvPr id="93" name="Straight Arrow Connector 92">
            <a:extLst>
              <a:ext uri="{FF2B5EF4-FFF2-40B4-BE49-F238E27FC236}">
                <a16:creationId xmlns:a16="http://schemas.microsoft.com/office/drawing/2014/main" id="{C62B78B9-717C-4EC4-093A-DE1E9F881740}"/>
              </a:ext>
            </a:extLst>
          </p:cNvPr>
          <p:cNvCxnSpPr>
            <a:cxnSpLocks/>
          </p:cNvCxnSpPr>
          <p:nvPr/>
        </p:nvCxnSpPr>
        <p:spPr>
          <a:xfrm>
            <a:off x="7711548" y="5013437"/>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4FB39A18-4485-895B-E7B0-0CF783A6002E}"/>
              </a:ext>
            </a:extLst>
          </p:cNvPr>
          <p:cNvSpPr txBox="1"/>
          <p:nvPr/>
        </p:nvSpPr>
        <p:spPr>
          <a:xfrm>
            <a:off x="7763988" y="4289822"/>
            <a:ext cx="1737543" cy="400110"/>
          </a:xfrm>
          <a:prstGeom prst="rect">
            <a:avLst/>
          </a:prstGeom>
          <a:noFill/>
        </p:spPr>
        <p:txBody>
          <a:bodyPr wrap="square" rtlCol="0">
            <a:spAutoFit/>
          </a:bodyPr>
          <a:lstStyle/>
          <a:p>
            <a:r>
              <a:rPr lang="en-US" sz="1000" b="1" i="1">
                <a:solidFill>
                  <a:schemeClr val="bg1">
                    <a:lumMod val="50000"/>
                  </a:schemeClr>
                </a:solidFill>
              </a:rPr>
              <a:t>S/4HANA API Call</a:t>
            </a:r>
            <a:br>
              <a:rPr lang="en-US" sz="1000" b="1" i="1">
                <a:solidFill>
                  <a:schemeClr val="bg1">
                    <a:lumMod val="50000"/>
                  </a:schemeClr>
                </a:solidFill>
              </a:rPr>
            </a:br>
            <a:r>
              <a:rPr lang="en-US" sz="1000" i="1">
                <a:solidFill>
                  <a:schemeClr val="bg1">
                    <a:lumMod val="50000"/>
                  </a:schemeClr>
                </a:solidFill>
              </a:rPr>
              <a:t>/</a:t>
            </a:r>
            <a:r>
              <a:rPr lang="en-US" sz="1000" i="1" err="1">
                <a:solidFill>
                  <a:schemeClr val="bg1">
                    <a:lumMod val="50000"/>
                  </a:schemeClr>
                </a:solidFill>
              </a:rPr>
              <a:t>TBC</a:t>
            </a:r>
            <a:r>
              <a:rPr lang="en-US" sz="1000" i="1">
                <a:solidFill>
                  <a:schemeClr val="bg1">
                    <a:lumMod val="50000"/>
                  </a:schemeClr>
                </a:solidFill>
              </a:rPr>
              <a:t>/….</a:t>
            </a:r>
          </a:p>
        </p:txBody>
      </p:sp>
      <p:cxnSp>
        <p:nvCxnSpPr>
          <p:cNvPr id="95" name="Straight Arrow Connector 94">
            <a:extLst>
              <a:ext uri="{FF2B5EF4-FFF2-40B4-BE49-F238E27FC236}">
                <a16:creationId xmlns:a16="http://schemas.microsoft.com/office/drawing/2014/main" id="{F6692B6A-A0B9-A154-A2F6-25AA3A8063F5}"/>
              </a:ext>
            </a:extLst>
          </p:cNvPr>
          <p:cNvCxnSpPr>
            <a:cxnSpLocks/>
          </p:cNvCxnSpPr>
          <p:nvPr/>
        </p:nvCxnSpPr>
        <p:spPr>
          <a:xfrm flipH="1">
            <a:off x="7711548" y="5384830"/>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6132993A-B2E9-73F2-F901-4B186D46729F}"/>
              </a:ext>
            </a:extLst>
          </p:cNvPr>
          <p:cNvCxnSpPr>
            <a:cxnSpLocks/>
          </p:cNvCxnSpPr>
          <p:nvPr/>
        </p:nvCxnSpPr>
        <p:spPr>
          <a:xfrm flipH="1">
            <a:off x="2225749" y="5456034"/>
            <a:ext cx="18379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CC7675C9-0E10-512A-5018-9253B7F0B1D9}"/>
              </a:ext>
            </a:extLst>
          </p:cNvPr>
          <p:cNvSpPr txBox="1"/>
          <p:nvPr/>
        </p:nvSpPr>
        <p:spPr>
          <a:xfrm>
            <a:off x="7763987" y="5485662"/>
            <a:ext cx="1737543" cy="400110"/>
          </a:xfrm>
          <a:prstGeom prst="rect">
            <a:avLst/>
          </a:prstGeom>
          <a:noFill/>
        </p:spPr>
        <p:txBody>
          <a:bodyPr wrap="square" rtlCol="0">
            <a:spAutoFit/>
          </a:bodyPr>
          <a:lstStyle/>
          <a:p>
            <a:r>
              <a:rPr lang="en-US" sz="1000" b="1" i="1">
                <a:solidFill>
                  <a:schemeClr val="bg1">
                    <a:lumMod val="50000"/>
                  </a:schemeClr>
                </a:solidFill>
              </a:rPr>
              <a:t>S/4HANA API Response</a:t>
            </a:r>
            <a:br>
              <a:rPr lang="en-US" sz="1000" b="1" i="1">
                <a:solidFill>
                  <a:schemeClr val="bg1">
                    <a:lumMod val="50000"/>
                  </a:schemeClr>
                </a:solidFill>
              </a:rPr>
            </a:br>
            <a:r>
              <a:rPr lang="en-US" sz="1000" i="1">
                <a:solidFill>
                  <a:schemeClr val="bg1">
                    <a:lumMod val="50000"/>
                  </a:schemeClr>
                </a:solidFill>
              </a:rPr>
              <a:t>Standard API Payload</a:t>
            </a:r>
          </a:p>
        </p:txBody>
      </p:sp>
      <p:sp>
        <p:nvSpPr>
          <p:cNvPr id="103" name="TextBox 102">
            <a:extLst>
              <a:ext uri="{FF2B5EF4-FFF2-40B4-BE49-F238E27FC236}">
                <a16:creationId xmlns:a16="http://schemas.microsoft.com/office/drawing/2014/main" id="{D0826A1A-428E-5DE5-D2F0-201E16EC2DB8}"/>
              </a:ext>
            </a:extLst>
          </p:cNvPr>
          <p:cNvSpPr txBox="1"/>
          <p:nvPr/>
        </p:nvSpPr>
        <p:spPr>
          <a:xfrm>
            <a:off x="2273731" y="5518622"/>
            <a:ext cx="1737543" cy="400110"/>
          </a:xfrm>
          <a:prstGeom prst="rect">
            <a:avLst/>
          </a:prstGeom>
          <a:noFill/>
        </p:spPr>
        <p:txBody>
          <a:bodyPr wrap="square" rtlCol="0">
            <a:spAutoFit/>
          </a:bodyPr>
          <a:lstStyle/>
          <a:p>
            <a:r>
              <a:rPr lang="en-US" sz="1000" b="1" i="1">
                <a:solidFill>
                  <a:schemeClr val="bg1">
                    <a:lumMod val="50000"/>
                  </a:schemeClr>
                </a:solidFill>
              </a:rPr>
              <a:t>Response Message</a:t>
            </a:r>
            <a:br>
              <a:rPr lang="en-US" sz="1000" b="1" i="1">
                <a:solidFill>
                  <a:schemeClr val="bg1">
                    <a:lumMod val="50000"/>
                  </a:schemeClr>
                </a:solidFill>
              </a:rPr>
            </a:br>
            <a:r>
              <a:rPr lang="en-US" sz="1000" i="1">
                <a:solidFill>
                  <a:schemeClr val="bg1">
                    <a:lumMod val="50000"/>
                  </a:schemeClr>
                </a:solidFill>
              </a:rPr>
              <a:t>Standard API Payload</a:t>
            </a:r>
          </a:p>
        </p:txBody>
      </p:sp>
      <p:cxnSp>
        <p:nvCxnSpPr>
          <p:cNvPr id="104" name="Straight Arrow Connector 103">
            <a:extLst>
              <a:ext uri="{FF2B5EF4-FFF2-40B4-BE49-F238E27FC236}">
                <a16:creationId xmlns:a16="http://schemas.microsoft.com/office/drawing/2014/main" id="{3B2754E7-07CA-67B8-E75A-6A3DD79B8881}"/>
              </a:ext>
            </a:extLst>
          </p:cNvPr>
          <p:cNvCxnSpPr>
            <a:cxnSpLocks/>
          </p:cNvCxnSpPr>
          <p:nvPr/>
        </p:nvCxnSpPr>
        <p:spPr>
          <a:xfrm>
            <a:off x="6729024" y="2656922"/>
            <a:ext cx="0" cy="236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105">
            <a:extLst>
              <a:ext uri="{FF2B5EF4-FFF2-40B4-BE49-F238E27FC236}">
                <a16:creationId xmlns:a16="http://schemas.microsoft.com/office/drawing/2014/main" id="{351E3097-D6C3-35AE-C487-B5C31C51DCCB}"/>
              </a:ext>
            </a:extLst>
          </p:cNvPr>
          <p:cNvCxnSpPr>
            <a:cxnSpLocks/>
            <a:stCxn id="73" idx="3"/>
          </p:cNvCxnSpPr>
          <p:nvPr/>
        </p:nvCxnSpPr>
        <p:spPr>
          <a:xfrm flipV="1">
            <a:off x="11153109" y="1552789"/>
            <a:ext cx="277245" cy="68004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Snip Single Corner of Rectangle 106">
            <a:extLst>
              <a:ext uri="{FF2B5EF4-FFF2-40B4-BE49-F238E27FC236}">
                <a16:creationId xmlns:a16="http://schemas.microsoft.com/office/drawing/2014/main" id="{59B684AC-FA69-1AC3-972A-B67F21E0A7B6}"/>
              </a:ext>
            </a:extLst>
          </p:cNvPr>
          <p:cNvSpPr/>
          <p:nvPr/>
        </p:nvSpPr>
        <p:spPr>
          <a:xfrm>
            <a:off x="10174916" y="1121124"/>
            <a:ext cx="1869599" cy="196276"/>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Goods Movement Posted</a:t>
            </a:r>
          </a:p>
        </p:txBody>
      </p:sp>
      <p:sp>
        <p:nvSpPr>
          <p:cNvPr id="111" name="Snip Single Corner of Rectangle 110">
            <a:extLst>
              <a:ext uri="{FF2B5EF4-FFF2-40B4-BE49-F238E27FC236}">
                <a16:creationId xmlns:a16="http://schemas.microsoft.com/office/drawing/2014/main" id="{3B94F5BF-D18B-3F29-0B83-C57E6EEAED19}"/>
              </a:ext>
            </a:extLst>
          </p:cNvPr>
          <p:cNvSpPr/>
          <p:nvPr/>
        </p:nvSpPr>
        <p:spPr>
          <a:xfrm>
            <a:off x="10174916" y="1356513"/>
            <a:ext cx="1869599" cy="196276"/>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Goods Movement Posted</a:t>
            </a:r>
          </a:p>
        </p:txBody>
      </p:sp>
      <p:cxnSp>
        <p:nvCxnSpPr>
          <p:cNvPr id="113" name="Elbow Connector 112">
            <a:extLst>
              <a:ext uri="{FF2B5EF4-FFF2-40B4-BE49-F238E27FC236}">
                <a16:creationId xmlns:a16="http://schemas.microsoft.com/office/drawing/2014/main" id="{151B534D-401B-EEF3-2539-84D740AB4875}"/>
              </a:ext>
            </a:extLst>
          </p:cNvPr>
          <p:cNvCxnSpPr>
            <a:cxnSpLocks/>
            <a:stCxn id="73" idx="3"/>
          </p:cNvCxnSpPr>
          <p:nvPr/>
        </p:nvCxnSpPr>
        <p:spPr>
          <a:xfrm>
            <a:off x="11153109" y="2232838"/>
            <a:ext cx="277245" cy="7828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Snip Single Corner of Rectangle 115">
            <a:extLst>
              <a:ext uri="{FF2B5EF4-FFF2-40B4-BE49-F238E27FC236}">
                <a16:creationId xmlns:a16="http://schemas.microsoft.com/office/drawing/2014/main" id="{E01FE335-2D25-F3E6-788F-A1D6C74BF494}"/>
              </a:ext>
            </a:extLst>
          </p:cNvPr>
          <p:cNvSpPr/>
          <p:nvPr/>
        </p:nvSpPr>
        <p:spPr>
          <a:xfrm>
            <a:off x="10174915" y="3047817"/>
            <a:ext cx="1869599" cy="196276"/>
          </a:xfrm>
          <a:prstGeom prst="snip1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Goods Movement Errored</a:t>
            </a:r>
          </a:p>
        </p:txBody>
      </p:sp>
      <p:cxnSp>
        <p:nvCxnSpPr>
          <p:cNvPr id="120" name="Straight Arrow Connector 119">
            <a:extLst>
              <a:ext uri="{FF2B5EF4-FFF2-40B4-BE49-F238E27FC236}">
                <a16:creationId xmlns:a16="http://schemas.microsoft.com/office/drawing/2014/main" id="{506EF5EC-8D89-1B52-347A-61DB909A3642}"/>
              </a:ext>
            </a:extLst>
          </p:cNvPr>
          <p:cNvCxnSpPr>
            <a:stCxn id="85" idx="2"/>
            <a:endCxn id="118" idx="0"/>
          </p:cNvCxnSpPr>
          <p:nvPr/>
        </p:nvCxnSpPr>
        <p:spPr>
          <a:xfrm>
            <a:off x="7137104" y="3131703"/>
            <a:ext cx="0" cy="3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Elbow Connector 122">
            <a:extLst>
              <a:ext uri="{FF2B5EF4-FFF2-40B4-BE49-F238E27FC236}">
                <a16:creationId xmlns:a16="http://schemas.microsoft.com/office/drawing/2014/main" id="{B0F00DD4-8D85-2C81-D17D-7EEA1FFC90CB}"/>
              </a:ext>
            </a:extLst>
          </p:cNvPr>
          <p:cNvCxnSpPr>
            <a:stCxn id="107" idx="2"/>
            <a:endCxn id="72" idx="0"/>
          </p:cNvCxnSpPr>
          <p:nvPr/>
        </p:nvCxnSpPr>
        <p:spPr>
          <a:xfrm rot="10800000" flipV="1">
            <a:off x="7137104" y="1219262"/>
            <a:ext cx="3037812" cy="58827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8668CBCC-07FE-F0FB-97C3-1231DFFF2CBE}"/>
              </a:ext>
            </a:extLst>
          </p:cNvPr>
          <p:cNvCxnSpPr>
            <a:cxnSpLocks/>
            <a:stCxn id="116" idx="2"/>
          </p:cNvCxnSpPr>
          <p:nvPr/>
        </p:nvCxnSpPr>
        <p:spPr>
          <a:xfrm rot="10800000">
            <a:off x="7874473" y="2234687"/>
            <a:ext cx="2300443" cy="911269"/>
          </a:xfrm>
          <a:prstGeom prst="bentConnector3">
            <a:avLst>
              <a:gd name="adj1" fmla="val 69173"/>
            </a:avLst>
          </a:prstGeom>
          <a:ln>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7F49CF00-5BD6-E61F-7C60-2E82F40AC276}"/>
              </a:ext>
            </a:extLst>
          </p:cNvPr>
          <p:cNvSpPr txBox="1"/>
          <p:nvPr/>
        </p:nvSpPr>
        <p:spPr>
          <a:xfrm>
            <a:off x="8632758" y="3179633"/>
            <a:ext cx="1510995" cy="400110"/>
          </a:xfrm>
          <a:prstGeom prst="rect">
            <a:avLst/>
          </a:prstGeom>
          <a:noFill/>
        </p:spPr>
        <p:txBody>
          <a:bodyPr wrap="square" rtlCol="0">
            <a:spAutoFit/>
          </a:bodyPr>
          <a:lstStyle/>
          <a:p>
            <a:r>
              <a:rPr lang="en-US" sz="1000" b="1" i="1">
                <a:solidFill>
                  <a:schemeClr val="bg1">
                    <a:lumMod val="50000"/>
                  </a:schemeClr>
                </a:solidFill>
              </a:rPr>
              <a:t>Error Documents</a:t>
            </a:r>
          </a:p>
          <a:p>
            <a:r>
              <a:rPr lang="en-US" sz="1000" i="1">
                <a:solidFill>
                  <a:schemeClr val="bg1">
                    <a:lumMod val="50000"/>
                  </a:schemeClr>
                </a:solidFill>
              </a:rPr>
              <a:t>API Response and Owner</a:t>
            </a:r>
          </a:p>
        </p:txBody>
      </p:sp>
      <p:sp>
        <p:nvSpPr>
          <p:cNvPr id="129" name="TextBox 128">
            <a:extLst>
              <a:ext uri="{FF2B5EF4-FFF2-40B4-BE49-F238E27FC236}">
                <a16:creationId xmlns:a16="http://schemas.microsoft.com/office/drawing/2014/main" id="{694000A4-C915-6E16-0D32-5452DBA6F56F}"/>
              </a:ext>
            </a:extLst>
          </p:cNvPr>
          <p:cNvSpPr txBox="1"/>
          <p:nvPr/>
        </p:nvSpPr>
        <p:spPr>
          <a:xfrm>
            <a:off x="7137104" y="825322"/>
            <a:ext cx="1869599" cy="400110"/>
          </a:xfrm>
          <a:prstGeom prst="rect">
            <a:avLst/>
          </a:prstGeom>
          <a:noFill/>
        </p:spPr>
        <p:txBody>
          <a:bodyPr wrap="square" rtlCol="0">
            <a:spAutoFit/>
          </a:bodyPr>
          <a:lstStyle/>
          <a:p>
            <a:r>
              <a:rPr lang="en-US" sz="1000" b="1" i="1">
                <a:solidFill>
                  <a:schemeClr val="bg1">
                    <a:lumMod val="50000"/>
                  </a:schemeClr>
                </a:solidFill>
              </a:rPr>
              <a:t>Success Documents</a:t>
            </a:r>
          </a:p>
          <a:p>
            <a:r>
              <a:rPr lang="en-US" sz="1000" i="1">
                <a:solidFill>
                  <a:schemeClr val="bg1">
                    <a:lumMod val="50000"/>
                  </a:schemeClr>
                </a:solidFill>
              </a:rPr>
              <a:t>API Response and Document</a:t>
            </a:r>
          </a:p>
        </p:txBody>
      </p:sp>
      <p:sp>
        <p:nvSpPr>
          <p:cNvPr id="9601" name="Chip9601"/>
          <p:cNvSpPr/>
          <p:nvPr/>
        </p:nvSpPr>
        <p:spPr>
          <a:xfrm>
            <a:off x="350873" y="3405000"/>
            <a:ext cx="5480000" cy="300000"/>
          </a:xfrm>
          <a:prstGeom prst="roundRect">
            <a:avLst>
              <a:gd name="adj" fmla="val 12000"/>
            </a:avLst>
          </a:prstGeom>
          <a:solidFill>
            <a:srgbClr val="FDF6E3"/>
          </a:solidFill>
          <a:ln w="9525">
            <a:solidFill>
              <a:srgbClr val="9C6A00"/>
            </a:solidFill>
          </a:ln>
        </p:spPr>
        <p:txBody>
          <a:bodyPr wrap="square" lIns="72000" tIns="18000" rIns="72000" bIns="18000" anchor="ctr"/>
          <a:lstStyle/>
          <a:p>
            <a:pPr indent="0" marL="0">
              <a:buNone/>
            </a:pPr>
            <a:r>
              <a:rPr lang="en-US" sz="720" b="1" dirty="0">
                <a:solidFill>
                  <a:srgbClr val="9C6A00"/>
                </a:solidFill>
                <a:latin typeface="Arial" pitchFamily="34" charset="0"/>
              </a:rPr>
              <a:t>Business / data error:  </a:t>
            </a:r>
            <a:r>
              <a:rPr lang="en-US" sz="720" dirty="0">
                <a:solidFill>
                  <a:srgbClr val="444444"/>
                </a:solidFill>
                <a:latin typeface="Arial" pitchFamily="34" charset="0"/>
              </a:rPr>
              <a:t>email to the business area mailbox (cc technical) → analysed and fixed in JAMS, resent with a new ID — no ticket.</a:t>
            </a:r>
          </a:p>
        </p:txBody>
      </p:sp>
      <p:sp>
        <p:nvSpPr>
          <p:cNvPr id="9602" name="Chip9602"/>
          <p:cNvSpPr/>
          <p:nvPr/>
        </p:nvSpPr>
        <p:spPr>
          <a:xfrm>
            <a:off x="5950000" y="3405000"/>
            <a:ext cx="5926566" cy="300000"/>
          </a:xfrm>
          <a:prstGeom prst="roundRect">
            <a:avLst>
              <a:gd name="adj" fmla="val 12000"/>
            </a:avLst>
          </a:prstGeom>
          <a:solidFill>
            <a:srgbClr val="EEF2F8"/>
          </a:solidFill>
          <a:ln w="9525">
            <a:solidFill>
              <a:srgbClr val="1F3864"/>
            </a:solidFill>
          </a:ln>
        </p:spPr>
        <p:txBody>
          <a:bodyPr wrap="square" lIns="72000" tIns="18000" rIns="72000" bIns="18000" anchor="ctr"/>
          <a:lstStyle/>
          <a:p>
            <a:pPr indent="0" marL="0">
              <a:buNone/>
            </a:pPr>
            <a:r>
              <a:rPr lang="en-US" sz="720" b="1" dirty="0">
                <a:solidFill>
                  <a:srgbClr val="1F3864"/>
                </a:solidFill>
                <a:latin typeface="Arial" pitchFamily="34" charset="0"/>
              </a:rPr>
              <a:t>Technical or S/4-side:  </a:t>
            </a:r>
            <a:r>
              <a:rPr lang="en-US" sz="720" dirty="0">
                <a:solidFill>
                  <a:srgbClr val="444444"/>
                </a:solidFill>
                <a:latin typeface="Arial" pitchFamily="34" charset="0"/>
              </a:rPr>
              <a:t>email to the technical mailbox + automatic ServiceNow ticket (production) → analysed and fixed in CPI / S/4, replayed — JAMS does nothing.</a:t>
            </a:r>
          </a:p>
        </p:txBody>
      </p:sp>
    </p:spTree>
    <p:extLst>
      <p:ext uri="{BB962C8B-B14F-4D97-AF65-F5344CB8AC3E}">
        <p14:creationId xmlns:p14="http://schemas.microsoft.com/office/powerpoint/2010/main" val="3033675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40111-CABB-A7D4-A45C-F5CE7BBEA0D2}"/>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E428F9AB-0A08-DE0E-C860-1985DE5D72E2}"/>
              </a:ext>
            </a:extLst>
          </p:cNvPr>
          <p:cNvSpPr/>
          <p:nvPr/>
        </p:nvSpPr>
        <p:spPr>
          <a:xfrm>
            <a:off x="502919" y="182880"/>
            <a:ext cx="10258283" cy="502920"/>
          </a:xfrm>
          <a:prstGeom prst="rect">
            <a:avLst/>
          </a:prstGeom>
          <a:noFill/>
          <a:ln/>
        </p:spPr>
        <p:txBody>
          <a:bodyPr wrap="square" lIns="0" tIns="0" rIns="0" bIns="0" rtlCol="0" anchor="ctr"/>
          <a:lstStyle/>
          <a:p>
            <a:r>
              <a:rPr lang="en-US" sz="2300" b="1">
                <a:solidFill>
                  <a:srgbClr val="1F3864"/>
                </a:solidFill>
                <a:latin typeface="Arial"/>
                <a:ea typeface="Arial" pitchFamily="34" charset="-122"/>
                <a:cs typeface="Arial"/>
              </a:rPr>
              <a:t>FSM – JAMS CLAIM Canonical Lifecycle</a:t>
            </a:r>
            <a:endParaRPr lang="en-US" sz="2300">
              <a:latin typeface="Arial"/>
              <a:cs typeface="Arial"/>
            </a:endParaRPr>
          </a:p>
        </p:txBody>
      </p:sp>
      <p:sp>
        <p:nvSpPr>
          <p:cNvPr id="7" name="Text 5">
            <a:extLst>
              <a:ext uri="{FF2B5EF4-FFF2-40B4-BE49-F238E27FC236}">
                <a16:creationId xmlns:a16="http://schemas.microsoft.com/office/drawing/2014/main" id="{8B3DB39D-BD6C-0F7A-2026-FE9C26C9CC6B}"/>
              </a:ext>
            </a:extLst>
          </p:cNvPr>
          <p:cNvSpPr/>
          <p:nvPr/>
        </p:nvSpPr>
        <p:spPr>
          <a:xfrm>
            <a:off x="502920" y="676655"/>
            <a:ext cx="11155680" cy="399059"/>
          </a:xfrm>
          <a:prstGeom prst="rect">
            <a:avLst/>
          </a:prstGeom>
          <a:noFill/>
          <a:ln/>
        </p:spPr>
        <p:txBody>
          <a:bodyPr wrap="square" lIns="0" tIns="0" rIns="0" bIns="0" rtlCol="0" anchor="t"/>
          <a:lstStyle/>
          <a:p>
            <a:pPr marL="0" indent="0">
              <a:buNone/>
            </a:pPr>
            <a:r>
              <a:rPr lang="en-US" sz="1200">
                <a:solidFill>
                  <a:srgbClr val="595959"/>
                </a:solidFill>
                <a:latin typeface="Arial" pitchFamily="34" charset="0"/>
                <a:ea typeface="Arial" pitchFamily="34" charset="-122"/>
                <a:cs typeface="Arial" pitchFamily="34" charset="-120"/>
              </a:rPr>
              <a:t>Trigger: APP, approved (trigger TBC). The canonical response for CLAIM is TBC from the sign-off session.</a:t>
            </a:r>
            <a:endParaRPr lang="en-US" sz="1200"/>
          </a:p>
        </p:txBody>
      </p:sp>
      <p:sp>
        <p:nvSpPr>
          <p:cNvPr id="63" name="Shape 10">
            <a:extLst>
              <a:ext uri="{FF2B5EF4-FFF2-40B4-BE49-F238E27FC236}">
                <a16:creationId xmlns:a16="http://schemas.microsoft.com/office/drawing/2014/main" id="{07F7A6F2-A4B0-75B9-2258-E3B85FDE70B8}"/>
              </a:ext>
            </a:extLst>
          </p:cNvPr>
          <p:cNvSpPr/>
          <p:nvPr/>
        </p:nvSpPr>
        <p:spPr>
          <a:xfrm>
            <a:off x="333153" y="3740564"/>
            <a:ext cx="11525693" cy="2320033"/>
          </a:xfrm>
          <a:prstGeom prst="roundRect">
            <a:avLst>
              <a:gd name="adj" fmla="val 10465"/>
            </a:avLst>
          </a:prstGeom>
          <a:solidFill>
            <a:schemeClr val="bg1"/>
          </a:solidFill>
          <a:ln w="15875">
            <a:noFill/>
            <a:prstDash val="solid"/>
          </a:ln>
        </p:spPr>
        <p:txBody>
          <a:bodyPr/>
          <a:lstStyle/>
          <a:p>
            <a:r>
              <a:rPr lang="en-AU" sz="1600" b="1"/>
              <a:t>Step 2: Retrieval — cost and quantity against work orders (frequency TBC)</a:t>
            </a:r>
            <a:r>
              <a:rPr lang="en-AU" sz="1600" b="1" err="1"/>
              <a:t/>
            </a:r>
            <a:r>
              <a:rPr lang="en-AU" sz="1600" b="1"/>
              <a:t/>
            </a:r>
          </a:p>
        </p:txBody>
      </p:sp>
      <p:sp>
        <p:nvSpPr>
          <p:cNvPr id="64" name="Shape 10">
            <a:extLst>
              <a:ext uri="{FF2B5EF4-FFF2-40B4-BE49-F238E27FC236}">
                <a16:creationId xmlns:a16="http://schemas.microsoft.com/office/drawing/2014/main" id="{E6E8F543-4752-9692-5657-913C717491F1}"/>
              </a:ext>
            </a:extLst>
          </p:cNvPr>
          <p:cNvSpPr/>
          <p:nvPr/>
        </p:nvSpPr>
        <p:spPr>
          <a:xfrm>
            <a:off x="333153" y="973306"/>
            <a:ext cx="11525693" cy="1966168"/>
          </a:xfrm>
          <a:prstGeom prst="roundRect">
            <a:avLst>
              <a:gd name="adj" fmla="val 10465"/>
            </a:avLst>
          </a:prstGeom>
          <a:solidFill>
            <a:schemeClr val="bg1"/>
          </a:solidFill>
          <a:ln w="15875">
            <a:noFill/>
            <a:prstDash val="solid"/>
          </a:ln>
        </p:spPr>
        <p:txBody>
          <a:bodyPr/>
          <a:lstStyle/>
          <a:p>
            <a:r>
              <a:rPr lang="en-AU" sz="1600" b="1"/>
              <a:t>Step 1: </a:t>
            </a:r>
            <a:r>
              <a:rPr lang="en-AU" sz="1600" b="1" err="1"/>
              <a:t>CLAIM</a:t>
            </a:r>
            <a:r>
              <a:rPr lang="en-AU" sz="1600" b="1"/>
              <a:t> for the Customer Claim and Canonical Response (response TBC)</a:t>
            </a:r>
          </a:p>
        </p:txBody>
      </p:sp>
      <p:sp>
        <p:nvSpPr>
          <p:cNvPr id="66" name="Shape 8">
            <a:extLst>
              <a:ext uri="{FF2B5EF4-FFF2-40B4-BE49-F238E27FC236}">
                <a16:creationId xmlns:a16="http://schemas.microsoft.com/office/drawing/2014/main" id="{71284D9C-CCBE-D8FE-611F-BAF47464D7AA}"/>
              </a:ext>
            </a:extLst>
          </p:cNvPr>
          <p:cNvSpPr/>
          <p:nvPr/>
        </p:nvSpPr>
        <p:spPr>
          <a:xfrm>
            <a:off x="761646"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JAMS</a:t>
            </a:r>
          </a:p>
        </p:txBody>
      </p:sp>
      <p:sp>
        <p:nvSpPr>
          <p:cNvPr id="67" name="Rounded Rectangle 66">
            <a:extLst>
              <a:ext uri="{FF2B5EF4-FFF2-40B4-BE49-F238E27FC236}">
                <a16:creationId xmlns:a16="http://schemas.microsoft.com/office/drawing/2014/main" id="{135921EE-A7CE-6E4A-64C9-AD992733634B}"/>
              </a:ext>
            </a:extLst>
          </p:cNvPr>
          <p:cNvSpPr/>
          <p:nvPr/>
        </p:nvSpPr>
        <p:spPr>
          <a:xfrm>
            <a:off x="3437861" y="1407544"/>
            <a:ext cx="4986670"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71" name="Shape 8">
            <a:extLst>
              <a:ext uri="{FF2B5EF4-FFF2-40B4-BE49-F238E27FC236}">
                <a16:creationId xmlns:a16="http://schemas.microsoft.com/office/drawing/2014/main" id="{C0C34612-DA8E-977D-E71D-46613133C200}"/>
              </a:ext>
            </a:extLst>
          </p:cNvPr>
          <p:cNvSpPr/>
          <p:nvPr/>
        </p:nvSpPr>
        <p:spPr>
          <a:xfrm>
            <a:off x="3915882"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1</a:t>
            </a:r>
            <a:r>
              <a:rPr lang="en-AU" sz="1400" b="1" baseline="30000"/>
              <a:t>st</a:t>
            </a:r>
            <a:r>
              <a:rPr lang="en-AU" sz="1400" b="1"/>
              <a:t> Leg Interfaces</a:t>
            </a:r>
          </a:p>
        </p:txBody>
      </p:sp>
      <p:sp>
        <p:nvSpPr>
          <p:cNvPr id="72" name="Shape 8">
            <a:extLst>
              <a:ext uri="{FF2B5EF4-FFF2-40B4-BE49-F238E27FC236}">
                <a16:creationId xmlns:a16="http://schemas.microsoft.com/office/drawing/2014/main" id="{EAFF3EAF-DE22-6890-D215-580005F33CD3}"/>
              </a:ext>
            </a:extLst>
          </p:cNvPr>
          <p:cNvSpPr/>
          <p:nvPr/>
        </p:nvSpPr>
        <p:spPr>
          <a:xfrm>
            <a:off x="6399736" y="1807536"/>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Canonical Model</a:t>
            </a:r>
          </a:p>
        </p:txBody>
      </p:sp>
      <p:sp>
        <p:nvSpPr>
          <p:cNvPr id="73" name="Shape 26">
            <a:extLst>
              <a:ext uri="{FF2B5EF4-FFF2-40B4-BE49-F238E27FC236}">
                <a16:creationId xmlns:a16="http://schemas.microsoft.com/office/drawing/2014/main" id="{D00DEFED-5ED5-4851-5F51-6181A8246097}"/>
              </a:ext>
            </a:extLst>
          </p:cNvPr>
          <p:cNvSpPr/>
          <p:nvPr/>
        </p:nvSpPr>
        <p:spPr>
          <a:xfrm>
            <a:off x="9553972" y="1807536"/>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cxnSp>
        <p:nvCxnSpPr>
          <p:cNvPr id="74" name="Straight Arrow Connector 73">
            <a:extLst>
              <a:ext uri="{FF2B5EF4-FFF2-40B4-BE49-F238E27FC236}">
                <a16:creationId xmlns:a16="http://schemas.microsoft.com/office/drawing/2014/main" id="{CE6480D8-8C6B-21C6-D7B7-D048E19BDD2E}"/>
              </a:ext>
            </a:extLst>
          </p:cNvPr>
          <p:cNvCxnSpPr/>
          <p:nvPr/>
        </p:nvCxnSpPr>
        <p:spPr>
          <a:xfrm>
            <a:off x="2236382" y="197191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9D83CE9-3817-8790-D52A-D755A00412A8}"/>
              </a:ext>
            </a:extLst>
          </p:cNvPr>
          <p:cNvCxnSpPr>
            <a:cxnSpLocks/>
          </p:cNvCxnSpPr>
          <p:nvPr/>
        </p:nvCxnSpPr>
        <p:spPr>
          <a:xfrm>
            <a:off x="7874472" y="1971913"/>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8E8BD4F-B178-2D50-6A09-A397CC8846B5}"/>
              </a:ext>
            </a:extLst>
          </p:cNvPr>
          <p:cNvCxnSpPr>
            <a:cxnSpLocks/>
          </p:cNvCxnSpPr>
          <p:nvPr/>
        </p:nvCxnSpPr>
        <p:spPr>
          <a:xfrm>
            <a:off x="5390618" y="1982546"/>
            <a:ext cx="7053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00F9DFE-D2B5-8C2F-4622-BA0913265AED}"/>
              </a:ext>
            </a:extLst>
          </p:cNvPr>
          <p:cNvCxnSpPr>
            <a:cxnSpLocks/>
          </p:cNvCxnSpPr>
          <p:nvPr/>
        </p:nvCxnSpPr>
        <p:spPr>
          <a:xfrm flipH="1">
            <a:off x="2225749" y="2485820"/>
            <a:ext cx="1679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Shape 8">
            <a:extLst>
              <a:ext uri="{FF2B5EF4-FFF2-40B4-BE49-F238E27FC236}">
                <a16:creationId xmlns:a16="http://schemas.microsoft.com/office/drawing/2014/main" id="{90D8951B-6A21-7B71-3C6A-A74797A5DC58}"/>
              </a:ext>
            </a:extLst>
          </p:cNvPr>
          <p:cNvSpPr/>
          <p:nvPr/>
        </p:nvSpPr>
        <p:spPr>
          <a:xfrm>
            <a:off x="6095998" y="1813446"/>
            <a:ext cx="249855" cy="841965"/>
          </a:xfrm>
          <a:prstGeom prst="roundRect">
            <a:avLst>
              <a:gd name="adj" fmla="val 17621"/>
            </a:avLst>
          </a:prstGeom>
          <a:solidFill>
            <a:srgbClr val="EEF2F8"/>
          </a:solidFill>
          <a:ln w="19050">
            <a:solidFill>
              <a:srgbClr val="1F3864"/>
            </a:solidFill>
            <a:prstDash val="solid"/>
          </a:ln>
        </p:spPr>
        <p:txBody>
          <a:bodyPr vert="vert270" anchor="ctr"/>
          <a:lstStyle/>
          <a:p>
            <a:pPr algn="ctr"/>
            <a:r>
              <a:rPr lang="en-AU" sz="1100" b="1"/>
              <a:t>JMS Queue</a:t>
            </a:r>
          </a:p>
        </p:txBody>
      </p:sp>
      <p:sp>
        <p:nvSpPr>
          <p:cNvPr id="80" name="TextBox 79">
            <a:extLst>
              <a:ext uri="{FF2B5EF4-FFF2-40B4-BE49-F238E27FC236}">
                <a16:creationId xmlns:a16="http://schemas.microsoft.com/office/drawing/2014/main" id="{59A5AFA5-CDE1-1D19-414A-C80862542294}"/>
              </a:ext>
            </a:extLst>
          </p:cNvPr>
          <p:cNvSpPr txBox="1"/>
          <p:nvPr/>
        </p:nvSpPr>
        <p:spPr>
          <a:xfrm>
            <a:off x="2264834" y="2526893"/>
            <a:ext cx="1212112" cy="553998"/>
          </a:xfrm>
          <a:prstGeom prst="rect">
            <a:avLst/>
          </a:prstGeom>
          <a:noFill/>
        </p:spPr>
        <p:txBody>
          <a:bodyPr wrap="square" rtlCol="0">
            <a:spAutoFit/>
          </a:bodyPr>
          <a:lstStyle/>
          <a:p>
            <a:r>
              <a:rPr lang="en-US" sz="1000" b="1" i="1">
                <a:solidFill>
                  <a:schemeClr val="bg1">
                    <a:lumMod val="50000"/>
                  </a:schemeClr>
                </a:solidFill>
              </a:rPr>
              <a:t>Acknowledgement.</a:t>
            </a:r>
            <a:br>
              <a:rPr lang="en-US" sz="1000" i="1">
                <a:solidFill>
                  <a:schemeClr val="bg1">
                    <a:lumMod val="50000"/>
                  </a:schemeClr>
                </a:solidFill>
              </a:rPr>
            </a:br>
            <a:r>
              <a:rPr lang="en-US" sz="1000" i="1">
                <a:solidFill>
                  <a:schemeClr val="bg1">
                    <a:lumMod val="50000"/>
                  </a:schemeClr>
                </a:solidFill>
              </a:rPr>
              <a:t>HTTP Response Code</a:t>
            </a:r>
          </a:p>
        </p:txBody>
      </p:sp>
      <p:sp>
        <p:nvSpPr>
          <p:cNvPr id="81" name="TextBox 80">
            <a:extLst>
              <a:ext uri="{FF2B5EF4-FFF2-40B4-BE49-F238E27FC236}">
                <a16:creationId xmlns:a16="http://schemas.microsoft.com/office/drawing/2014/main" id="{845DDA79-01C7-7D35-64DD-0A0705CF7855}"/>
              </a:ext>
            </a:extLst>
          </p:cNvPr>
          <p:cNvSpPr txBox="1"/>
          <p:nvPr/>
        </p:nvSpPr>
        <p:spPr>
          <a:xfrm>
            <a:off x="2264834" y="1522104"/>
            <a:ext cx="1212112" cy="400110"/>
          </a:xfrm>
          <a:prstGeom prst="rect">
            <a:avLst/>
          </a:prstGeom>
          <a:noFill/>
        </p:spPr>
        <p:txBody>
          <a:bodyPr wrap="square" rtlCol="0">
            <a:spAutoFit/>
          </a:bodyPr>
          <a:lstStyle/>
          <a:p>
            <a:r>
              <a:rPr lang="en-US" sz="1000" b="1" i="1" err="1">
                <a:solidFill>
                  <a:schemeClr val="bg1">
                    <a:lumMod val="50000"/>
                  </a:schemeClr>
                </a:solidFill>
              </a:rPr>
              <a:t>CLAIM</a:t>
            </a:r>
            <a:br>
              <a:rPr lang="en-US" sz="1000" b="1" i="1">
                <a:solidFill>
                  <a:schemeClr val="bg1">
                    <a:lumMod val="50000"/>
                  </a:schemeClr>
                </a:solidFill>
              </a:rPr>
            </a:br>
            <a:r>
              <a:rPr lang="en-US" sz="1000" i="1">
                <a:solidFill>
                  <a:schemeClr val="bg1">
                    <a:lumMod val="50000"/>
                  </a:schemeClr>
                </a:solidFill>
              </a:rPr>
              <a:t>Outbound JAMS</a:t>
            </a:r>
          </a:p>
        </p:txBody>
      </p:sp>
      <p:sp>
        <p:nvSpPr>
          <p:cNvPr id="82" name="TextBox 81">
            <a:extLst>
              <a:ext uri="{FF2B5EF4-FFF2-40B4-BE49-F238E27FC236}">
                <a16:creationId xmlns:a16="http://schemas.microsoft.com/office/drawing/2014/main" id="{8EBE07E5-3521-46E4-589A-227BD8E0A96A}"/>
              </a:ext>
            </a:extLst>
          </p:cNvPr>
          <p:cNvSpPr txBox="1"/>
          <p:nvPr/>
        </p:nvSpPr>
        <p:spPr>
          <a:xfrm>
            <a:off x="3860117" y="2686108"/>
            <a:ext cx="1623459" cy="553998"/>
          </a:xfrm>
          <a:prstGeom prst="rect">
            <a:avLst/>
          </a:prstGeom>
          <a:noFill/>
        </p:spPr>
        <p:txBody>
          <a:bodyPr wrap="square" rtlCol="0">
            <a:spAutoFit/>
          </a:bodyPr>
          <a:lstStyle/>
          <a:p>
            <a:r>
              <a:rPr lang="en-US" sz="1000" b="1" i="1">
                <a:solidFill>
                  <a:schemeClr val="bg1">
                    <a:lumMod val="50000"/>
                  </a:schemeClr>
                </a:solidFill>
              </a:rPr>
              <a:t>Mapping and Canonical Trigger</a:t>
            </a:r>
          </a:p>
          <a:p>
            <a:r>
              <a:rPr lang="en-US" sz="1000" i="1">
                <a:solidFill>
                  <a:schemeClr val="bg1">
                    <a:lumMod val="50000"/>
                  </a:schemeClr>
                </a:solidFill>
              </a:rPr>
              <a:t>CPI Process to Process call</a:t>
            </a:r>
          </a:p>
        </p:txBody>
      </p:sp>
      <p:sp>
        <p:nvSpPr>
          <p:cNvPr id="83" name="TextBox 82">
            <a:extLst>
              <a:ext uri="{FF2B5EF4-FFF2-40B4-BE49-F238E27FC236}">
                <a16:creationId xmlns:a16="http://schemas.microsoft.com/office/drawing/2014/main" id="{CC3E88FD-CBA8-9719-B393-4D7555A5085F}"/>
              </a:ext>
            </a:extLst>
          </p:cNvPr>
          <p:cNvSpPr txBox="1"/>
          <p:nvPr/>
        </p:nvSpPr>
        <p:spPr>
          <a:xfrm>
            <a:off x="8353267" y="1582436"/>
            <a:ext cx="1293540" cy="400110"/>
          </a:xfrm>
          <a:prstGeom prst="rect">
            <a:avLst/>
          </a:prstGeom>
          <a:noFill/>
        </p:spPr>
        <p:txBody>
          <a:bodyPr wrap="square" rtlCol="0">
            <a:spAutoFit/>
          </a:bodyPr>
          <a:lstStyle/>
          <a:p>
            <a:r>
              <a:rPr lang="en-US" sz="1000" b="1" i="1">
                <a:solidFill>
                  <a:schemeClr val="bg1">
                    <a:lumMod val="50000"/>
                  </a:schemeClr>
                </a:solidFill>
              </a:rPr>
              <a:t>S/4HANA API Call</a:t>
            </a:r>
          </a:p>
          <a:p>
            <a:r>
              <a:rPr lang="en-US" sz="1000" i="1" err="1">
                <a:solidFill>
                  <a:schemeClr val="bg1">
                    <a:lumMod val="50000"/>
                  </a:schemeClr>
                </a:solidFill>
              </a:rPr>
              <a:t>TBC</a:t>
            </a:r>
            <a:endParaRPr lang="en-US" sz="1000" i="1">
              <a:solidFill>
                <a:schemeClr val="bg1">
                  <a:lumMod val="50000"/>
                </a:schemeClr>
              </a:solidFill>
            </a:endParaRPr>
          </a:p>
        </p:txBody>
      </p:sp>
      <p:sp>
        <p:nvSpPr>
          <p:cNvPr id="85" name="Shape 8">
            <a:extLst>
              <a:ext uri="{FF2B5EF4-FFF2-40B4-BE49-F238E27FC236}">
                <a16:creationId xmlns:a16="http://schemas.microsoft.com/office/drawing/2014/main" id="{116CA344-D1DC-F66D-AB1D-2A7F5116908F}"/>
              </a:ext>
            </a:extLst>
          </p:cNvPr>
          <p:cNvSpPr/>
          <p:nvPr/>
        </p:nvSpPr>
        <p:spPr>
          <a:xfrm>
            <a:off x="6399736" y="2894674"/>
            <a:ext cx="1474736" cy="237029"/>
          </a:xfrm>
          <a:prstGeom prst="roundRect">
            <a:avLst>
              <a:gd name="adj" fmla="val 17621"/>
            </a:avLst>
          </a:prstGeom>
          <a:solidFill>
            <a:srgbClr val="EEF2F8"/>
          </a:solidFill>
          <a:ln w="19050">
            <a:solidFill>
              <a:srgbClr val="1F3864"/>
            </a:solidFill>
            <a:prstDash val="solid"/>
          </a:ln>
        </p:spPr>
        <p:txBody>
          <a:bodyPr anchor="ctr"/>
          <a:lstStyle/>
          <a:p>
            <a:pPr algn="ctr"/>
            <a:r>
              <a:rPr lang="en-AU" sz="1100" b="1"/>
              <a:t>Exception Subprocess</a:t>
            </a:r>
          </a:p>
        </p:txBody>
      </p:sp>
      <p:sp>
        <p:nvSpPr>
          <p:cNvPr id="86" name="TextBox 85">
            <a:extLst>
              <a:ext uri="{FF2B5EF4-FFF2-40B4-BE49-F238E27FC236}">
                <a16:creationId xmlns:a16="http://schemas.microsoft.com/office/drawing/2014/main" id="{1D162BE0-DB5C-B9C8-1F7B-45595BF258DA}"/>
              </a:ext>
            </a:extLst>
          </p:cNvPr>
          <p:cNvSpPr txBox="1"/>
          <p:nvPr/>
        </p:nvSpPr>
        <p:spPr>
          <a:xfrm>
            <a:off x="6748452" y="2647235"/>
            <a:ext cx="1619025" cy="246221"/>
          </a:xfrm>
          <a:prstGeom prst="rect">
            <a:avLst/>
          </a:prstGeom>
          <a:noFill/>
        </p:spPr>
        <p:txBody>
          <a:bodyPr wrap="square" rtlCol="0">
            <a:spAutoFit/>
          </a:bodyPr>
          <a:lstStyle/>
          <a:p>
            <a:r>
              <a:rPr lang="en-US" sz="1000" b="1" i="1">
                <a:solidFill>
                  <a:schemeClr val="bg1">
                    <a:lumMod val="50000"/>
                  </a:schemeClr>
                </a:solidFill>
              </a:rPr>
              <a:t>Canonical Error Logging</a:t>
            </a:r>
          </a:p>
        </p:txBody>
      </p:sp>
      <p:sp>
        <p:nvSpPr>
          <p:cNvPr id="87" name="Shape 26">
            <a:extLst>
              <a:ext uri="{FF2B5EF4-FFF2-40B4-BE49-F238E27FC236}">
                <a16:creationId xmlns:a16="http://schemas.microsoft.com/office/drawing/2014/main" id="{4BDA93AC-488F-AFDF-5D92-4DFC630494C5}"/>
              </a:ext>
            </a:extLst>
          </p:cNvPr>
          <p:cNvSpPr/>
          <p:nvPr/>
        </p:nvSpPr>
        <p:spPr>
          <a:xfrm>
            <a:off x="9549512" y="4738383"/>
            <a:ext cx="1599137" cy="850604"/>
          </a:xfrm>
          <a:prstGeom prst="roundRect">
            <a:avLst>
              <a:gd name="adj" fmla="val 12123"/>
            </a:avLst>
          </a:prstGeom>
          <a:solidFill>
            <a:srgbClr val="E1F5EE"/>
          </a:solidFill>
          <a:ln w="19050">
            <a:solidFill>
              <a:srgbClr val="0F6E56"/>
            </a:solidFill>
            <a:prstDash val="solid"/>
          </a:ln>
        </p:spPr>
        <p:txBody>
          <a:bodyPr anchor="ctr"/>
          <a:lstStyle/>
          <a:p>
            <a:pPr algn="ctr"/>
            <a:r>
              <a:rPr lang="en-AU" sz="1400" b="1"/>
              <a:t>S/4HANA Cloud</a:t>
            </a:r>
          </a:p>
        </p:txBody>
      </p:sp>
      <p:sp>
        <p:nvSpPr>
          <p:cNvPr id="88" name="Rounded Rectangle 87">
            <a:extLst>
              <a:ext uri="{FF2B5EF4-FFF2-40B4-BE49-F238E27FC236}">
                <a16:creationId xmlns:a16="http://schemas.microsoft.com/office/drawing/2014/main" id="{4979ACED-8607-317F-BF9B-FCB211433910}"/>
              </a:ext>
            </a:extLst>
          </p:cNvPr>
          <p:cNvSpPr/>
          <p:nvPr/>
        </p:nvSpPr>
        <p:spPr>
          <a:xfrm>
            <a:off x="4063713" y="4303001"/>
            <a:ext cx="3647835" cy="1878344"/>
          </a:xfrm>
          <a:prstGeom prst="roundRect">
            <a:avLst/>
          </a:prstGeom>
          <a:solidFill>
            <a:schemeClr val="bg1">
              <a:lumMod val="95000"/>
            </a:schemeClr>
          </a:solid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i="1">
                <a:solidFill>
                  <a:schemeClr val="tx1"/>
                </a:solidFill>
              </a:rPr>
              <a:t>Cloud Integration</a:t>
            </a:r>
          </a:p>
        </p:txBody>
      </p:sp>
      <p:sp>
        <p:nvSpPr>
          <p:cNvPr id="89" name="Shape 8">
            <a:extLst>
              <a:ext uri="{FF2B5EF4-FFF2-40B4-BE49-F238E27FC236}">
                <a16:creationId xmlns:a16="http://schemas.microsoft.com/office/drawing/2014/main" id="{5640CCFF-69A8-1C94-E69E-BD4CCE724D35}"/>
              </a:ext>
            </a:extLst>
          </p:cNvPr>
          <p:cNvSpPr/>
          <p:nvPr/>
        </p:nvSpPr>
        <p:spPr>
          <a:xfrm>
            <a:off x="4162944" y="5031065"/>
            <a:ext cx="3269003" cy="136687"/>
          </a:xfrm>
          <a:prstGeom prst="roundRect">
            <a:avLst>
              <a:gd name="adj" fmla="val 17621"/>
            </a:avLst>
          </a:prstGeom>
          <a:solidFill>
            <a:srgbClr val="EEF2F8"/>
          </a:solidFill>
          <a:ln w="19050">
            <a:solidFill>
              <a:srgbClr val="1F3864"/>
            </a:solidFill>
            <a:prstDash val="solid"/>
          </a:ln>
        </p:spPr>
        <p:txBody>
          <a:bodyPr anchor="ctr"/>
          <a:lstStyle/>
          <a:p>
            <a:pPr algn="ctr"/>
            <a:r>
              <a:rPr lang="en-AU" sz="1100"/>
              <a:t>Cost and Quantity against Work Orders</a:t>
            </a:r>
          </a:p>
        </p:txBody>
      </p:sp>
      <p:sp>
        <p:nvSpPr>
          <p:cNvPr id="90" name="Shape 8">
            <a:extLst>
              <a:ext uri="{FF2B5EF4-FFF2-40B4-BE49-F238E27FC236}">
                <a16:creationId xmlns:a16="http://schemas.microsoft.com/office/drawing/2014/main" id="{7233D9DB-361B-6DC7-F907-2F7E5D1CB1E8}"/>
              </a:ext>
            </a:extLst>
          </p:cNvPr>
          <p:cNvSpPr/>
          <p:nvPr/>
        </p:nvSpPr>
        <p:spPr>
          <a:xfrm>
            <a:off x="751013" y="4816871"/>
            <a:ext cx="1474736" cy="850604"/>
          </a:xfrm>
          <a:prstGeom prst="roundRect">
            <a:avLst>
              <a:gd name="adj" fmla="val 17621"/>
            </a:avLst>
          </a:prstGeom>
          <a:solidFill>
            <a:srgbClr val="EEF2F8"/>
          </a:solidFill>
          <a:ln w="19050">
            <a:solidFill>
              <a:srgbClr val="1F3864"/>
            </a:solidFill>
            <a:prstDash val="solid"/>
          </a:ln>
        </p:spPr>
        <p:txBody>
          <a:bodyPr anchor="ctr"/>
          <a:lstStyle/>
          <a:p>
            <a:pPr algn="ctr"/>
            <a:r>
              <a:rPr lang="en-AU" sz="1400" b="1"/>
              <a:t>JAMS</a:t>
            </a:r>
          </a:p>
        </p:txBody>
      </p:sp>
      <p:cxnSp>
        <p:nvCxnSpPr>
          <p:cNvPr id="91" name="Straight Arrow Connector 90">
            <a:extLst>
              <a:ext uri="{FF2B5EF4-FFF2-40B4-BE49-F238E27FC236}">
                <a16:creationId xmlns:a16="http://schemas.microsoft.com/office/drawing/2014/main" id="{24747EFF-3174-7B55-05F9-4F99543B5249}"/>
              </a:ext>
            </a:extLst>
          </p:cNvPr>
          <p:cNvCxnSpPr>
            <a:cxnSpLocks/>
          </p:cNvCxnSpPr>
          <p:nvPr/>
        </p:nvCxnSpPr>
        <p:spPr>
          <a:xfrm>
            <a:off x="2236382" y="5042135"/>
            <a:ext cx="18273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28AE0277-E164-D7AE-F20A-FC1415CC5B1F}"/>
              </a:ext>
            </a:extLst>
          </p:cNvPr>
          <p:cNvSpPr txBox="1"/>
          <p:nvPr/>
        </p:nvSpPr>
        <p:spPr>
          <a:xfrm>
            <a:off x="2254201" y="4417448"/>
            <a:ext cx="1798879" cy="569387"/>
          </a:xfrm>
          <a:prstGeom prst="rect">
            <a:avLst/>
          </a:prstGeom>
          <a:noFill/>
        </p:spPr>
        <p:txBody>
          <a:bodyPr wrap="square" rtlCol="0">
            <a:spAutoFit/>
          </a:bodyPr>
          <a:lstStyle/>
          <a:p>
            <a:r>
              <a:rPr lang="en-US" sz="1000" b="1" i="1">
                <a:solidFill>
                  <a:schemeClr val="bg1">
                    <a:lumMod val="50000"/>
                  </a:schemeClr>
                </a:solidFill>
              </a:rPr>
              <a:t>GET Call to Cost and Quantity</a:t>
            </a:r>
            <a:br>
              <a:rPr lang="en-US" sz="1000" b="1" i="1">
                <a:solidFill>
                  <a:schemeClr val="bg1">
                    <a:lumMod val="50000"/>
                  </a:schemeClr>
                </a:solidFill>
              </a:rPr>
            </a:br>
            <a:r>
              <a:rPr lang="en-AU" sz="1050"/>
              <a:t>/</a:t>
            </a:r>
            <a:r>
              <a:rPr lang="en-AU" sz="1050" err="1"/>
              <a:t>TBC</a:t>
            </a:r>
            <a:r>
              <a:rPr lang="en-AU" sz="500" err="1"/>
              <a:t>?</a:t>
            </a:r>
            <a:r>
              <a:rPr lang="en-AU" sz="1050" err="1"/>
              <a:t>system</a:t>
            </a:r>
            <a:r>
              <a:rPr lang="en-AU" sz="1050"/>
              <a:t>=JAMS&amp;contract=CCR-145…</a:t>
            </a:r>
            <a:endParaRPr lang="en-US" sz="1000" i="1">
              <a:solidFill>
                <a:schemeClr val="bg1">
                  <a:lumMod val="50000"/>
                </a:schemeClr>
              </a:solidFill>
            </a:endParaRPr>
          </a:p>
        </p:txBody>
      </p:sp>
      <p:cxnSp>
        <p:nvCxnSpPr>
          <p:cNvPr id="93" name="Straight Arrow Connector 92">
            <a:extLst>
              <a:ext uri="{FF2B5EF4-FFF2-40B4-BE49-F238E27FC236}">
                <a16:creationId xmlns:a16="http://schemas.microsoft.com/office/drawing/2014/main" id="{C62B78B9-717C-4EC4-093A-DE1E9F881740}"/>
              </a:ext>
            </a:extLst>
          </p:cNvPr>
          <p:cNvCxnSpPr>
            <a:cxnSpLocks/>
          </p:cNvCxnSpPr>
          <p:nvPr/>
        </p:nvCxnSpPr>
        <p:spPr>
          <a:xfrm>
            <a:off x="7711548" y="5013437"/>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4FB39A18-4485-895B-E7B0-0CF783A6002E}"/>
              </a:ext>
            </a:extLst>
          </p:cNvPr>
          <p:cNvSpPr txBox="1"/>
          <p:nvPr/>
        </p:nvSpPr>
        <p:spPr>
          <a:xfrm>
            <a:off x="7763988" y="4289822"/>
            <a:ext cx="1737543" cy="400110"/>
          </a:xfrm>
          <a:prstGeom prst="rect">
            <a:avLst/>
          </a:prstGeom>
          <a:noFill/>
        </p:spPr>
        <p:txBody>
          <a:bodyPr wrap="square" rtlCol="0">
            <a:spAutoFit/>
          </a:bodyPr>
          <a:lstStyle/>
          <a:p>
            <a:r>
              <a:rPr lang="en-US" sz="1000" b="1" i="1">
                <a:solidFill>
                  <a:schemeClr val="bg1">
                    <a:lumMod val="50000"/>
                  </a:schemeClr>
                </a:solidFill>
              </a:rPr>
              <a:t>S/4HANA API Call</a:t>
            </a:r>
            <a:br>
              <a:rPr lang="en-US" sz="1000" b="1" i="1">
                <a:solidFill>
                  <a:schemeClr val="bg1">
                    <a:lumMod val="50000"/>
                  </a:schemeClr>
                </a:solidFill>
              </a:rPr>
            </a:br>
            <a:r>
              <a:rPr lang="en-US" sz="1000" i="1">
                <a:solidFill>
                  <a:schemeClr val="bg1">
                    <a:lumMod val="50000"/>
                  </a:schemeClr>
                </a:solidFill>
              </a:rPr>
              <a:t>/</a:t>
            </a:r>
            <a:r>
              <a:rPr lang="en-US" sz="1000" i="1" err="1">
                <a:solidFill>
                  <a:schemeClr val="bg1">
                    <a:lumMod val="50000"/>
                  </a:schemeClr>
                </a:solidFill>
              </a:rPr>
              <a:t>TBC</a:t>
            </a:r>
            <a:r>
              <a:rPr lang="en-US" sz="1000" i="1">
                <a:solidFill>
                  <a:schemeClr val="bg1">
                    <a:lumMod val="50000"/>
                  </a:schemeClr>
                </a:solidFill>
              </a:rPr>
              <a:t>/….</a:t>
            </a:r>
          </a:p>
        </p:txBody>
      </p:sp>
      <p:cxnSp>
        <p:nvCxnSpPr>
          <p:cNvPr id="95" name="Straight Arrow Connector 94">
            <a:extLst>
              <a:ext uri="{FF2B5EF4-FFF2-40B4-BE49-F238E27FC236}">
                <a16:creationId xmlns:a16="http://schemas.microsoft.com/office/drawing/2014/main" id="{F6692B6A-A0B9-A154-A2F6-25AA3A8063F5}"/>
              </a:ext>
            </a:extLst>
          </p:cNvPr>
          <p:cNvCxnSpPr>
            <a:cxnSpLocks/>
          </p:cNvCxnSpPr>
          <p:nvPr/>
        </p:nvCxnSpPr>
        <p:spPr>
          <a:xfrm flipH="1">
            <a:off x="7711548" y="5384830"/>
            <a:ext cx="18424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6132993A-B2E9-73F2-F901-4B186D46729F}"/>
              </a:ext>
            </a:extLst>
          </p:cNvPr>
          <p:cNvCxnSpPr>
            <a:cxnSpLocks/>
          </p:cNvCxnSpPr>
          <p:nvPr/>
        </p:nvCxnSpPr>
        <p:spPr>
          <a:xfrm flipH="1">
            <a:off x="2225749" y="5456034"/>
            <a:ext cx="18379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CC7675C9-0E10-512A-5018-9253B7F0B1D9}"/>
              </a:ext>
            </a:extLst>
          </p:cNvPr>
          <p:cNvSpPr txBox="1"/>
          <p:nvPr/>
        </p:nvSpPr>
        <p:spPr>
          <a:xfrm>
            <a:off x="7763987" y="5485662"/>
            <a:ext cx="1737543" cy="400110"/>
          </a:xfrm>
          <a:prstGeom prst="rect">
            <a:avLst/>
          </a:prstGeom>
          <a:noFill/>
        </p:spPr>
        <p:txBody>
          <a:bodyPr wrap="square" rtlCol="0">
            <a:spAutoFit/>
          </a:bodyPr>
          <a:lstStyle/>
          <a:p>
            <a:r>
              <a:rPr lang="en-US" sz="1000" b="1" i="1">
                <a:solidFill>
                  <a:schemeClr val="bg1">
                    <a:lumMod val="50000"/>
                  </a:schemeClr>
                </a:solidFill>
              </a:rPr>
              <a:t>S/4HANA API Response</a:t>
            </a:r>
            <a:br>
              <a:rPr lang="en-US" sz="1000" b="1" i="1">
                <a:solidFill>
                  <a:schemeClr val="bg1">
                    <a:lumMod val="50000"/>
                  </a:schemeClr>
                </a:solidFill>
              </a:rPr>
            </a:br>
            <a:r>
              <a:rPr lang="en-US" sz="1000" i="1">
                <a:solidFill>
                  <a:schemeClr val="bg1">
                    <a:lumMod val="50000"/>
                  </a:schemeClr>
                </a:solidFill>
              </a:rPr>
              <a:t>Standard API Payload</a:t>
            </a:r>
          </a:p>
        </p:txBody>
      </p:sp>
      <p:sp>
        <p:nvSpPr>
          <p:cNvPr id="103" name="TextBox 102">
            <a:extLst>
              <a:ext uri="{FF2B5EF4-FFF2-40B4-BE49-F238E27FC236}">
                <a16:creationId xmlns:a16="http://schemas.microsoft.com/office/drawing/2014/main" id="{D0826A1A-428E-5DE5-D2F0-201E16EC2DB8}"/>
              </a:ext>
            </a:extLst>
          </p:cNvPr>
          <p:cNvSpPr txBox="1"/>
          <p:nvPr/>
        </p:nvSpPr>
        <p:spPr>
          <a:xfrm>
            <a:off x="2273731" y="5518622"/>
            <a:ext cx="1737543" cy="400110"/>
          </a:xfrm>
          <a:prstGeom prst="rect">
            <a:avLst/>
          </a:prstGeom>
          <a:noFill/>
        </p:spPr>
        <p:txBody>
          <a:bodyPr wrap="square" rtlCol="0">
            <a:spAutoFit/>
          </a:bodyPr>
          <a:lstStyle/>
          <a:p>
            <a:r>
              <a:rPr lang="en-US" sz="1000" b="1" i="1">
                <a:solidFill>
                  <a:schemeClr val="bg1">
                    <a:lumMod val="50000"/>
                  </a:schemeClr>
                </a:solidFill>
              </a:rPr>
              <a:t>Response Message</a:t>
            </a:r>
            <a:br>
              <a:rPr lang="en-US" sz="1000" b="1" i="1">
                <a:solidFill>
                  <a:schemeClr val="bg1">
                    <a:lumMod val="50000"/>
                  </a:schemeClr>
                </a:solidFill>
              </a:rPr>
            </a:br>
            <a:r>
              <a:rPr lang="en-US" sz="1000" i="1">
                <a:solidFill>
                  <a:schemeClr val="bg1">
                    <a:lumMod val="50000"/>
                  </a:schemeClr>
                </a:solidFill>
              </a:rPr>
              <a:t>Standard API Payload</a:t>
            </a:r>
          </a:p>
        </p:txBody>
      </p:sp>
      <p:cxnSp>
        <p:nvCxnSpPr>
          <p:cNvPr id="104" name="Straight Arrow Connector 103">
            <a:extLst>
              <a:ext uri="{FF2B5EF4-FFF2-40B4-BE49-F238E27FC236}">
                <a16:creationId xmlns:a16="http://schemas.microsoft.com/office/drawing/2014/main" id="{3B2754E7-07CA-67B8-E75A-6A3DD79B8881}"/>
              </a:ext>
            </a:extLst>
          </p:cNvPr>
          <p:cNvCxnSpPr>
            <a:cxnSpLocks/>
          </p:cNvCxnSpPr>
          <p:nvPr/>
        </p:nvCxnSpPr>
        <p:spPr>
          <a:xfrm>
            <a:off x="6729024" y="2656922"/>
            <a:ext cx="0" cy="236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105">
            <a:extLst>
              <a:ext uri="{FF2B5EF4-FFF2-40B4-BE49-F238E27FC236}">
                <a16:creationId xmlns:a16="http://schemas.microsoft.com/office/drawing/2014/main" id="{351E3097-D6C3-35AE-C487-B5C31C51DCCB}"/>
              </a:ext>
            </a:extLst>
          </p:cNvPr>
          <p:cNvCxnSpPr>
            <a:cxnSpLocks/>
            <a:stCxn id="73" idx="3"/>
          </p:cNvCxnSpPr>
          <p:nvPr/>
        </p:nvCxnSpPr>
        <p:spPr>
          <a:xfrm flipV="1">
            <a:off x="11153109" y="1552789"/>
            <a:ext cx="277245" cy="68004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Snip Single Corner of Rectangle 106">
            <a:extLst>
              <a:ext uri="{FF2B5EF4-FFF2-40B4-BE49-F238E27FC236}">
                <a16:creationId xmlns:a16="http://schemas.microsoft.com/office/drawing/2014/main" id="{59B684AC-FA69-1AC3-972A-B67F21E0A7B6}"/>
              </a:ext>
            </a:extLst>
          </p:cNvPr>
          <p:cNvSpPr/>
          <p:nvPr/>
        </p:nvSpPr>
        <p:spPr>
          <a:xfrm>
            <a:off x="10174916" y="1121124"/>
            <a:ext cx="1869599" cy="196276"/>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Claim Documents Created</a:t>
            </a:r>
          </a:p>
        </p:txBody>
      </p:sp>
      <p:sp>
        <p:nvSpPr>
          <p:cNvPr id="111" name="Snip Single Corner of Rectangle 110">
            <a:extLst>
              <a:ext uri="{FF2B5EF4-FFF2-40B4-BE49-F238E27FC236}">
                <a16:creationId xmlns:a16="http://schemas.microsoft.com/office/drawing/2014/main" id="{3B94F5BF-D18B-3F29-0B83-C57E6EEAED19}"/>
              </a:ext>
            </a:extLst>
          </p:cNvPr>
          <p:cNvSpPr/>
          <p:nvPr/>
        </p:nvSpPr>
        <p:spPr>
          <a:xfrm>
            <a:off x="10174916" y="1356513"/>
            <a:ext cx="1869599" cy="196276"/>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Claim Documents Created</a:t>
            </a:r>
          </a:p>
        </p:txBody>
      </p:sp>
      <p:cxnSp>
        <p:nvCxnSpPr>
          <p:cNvPr id="113" name="Elbow Connector 112">
            <a:extLst>
              <a:ext uri="{FF2B5EF4-FFF2-40B4-BE49-F238E27FC236}">
                <a16:creationId xmlns:a16="http://schemas.microsoft.com/office/drawing/2014/main" id="{151B534D-401B-EEF3-2539-84D740AB4875}"/>
              </a:ext>
            </a:extLst>
          </p:cNvPr>
          <p:cNvCxnSpPr>
            <a:cxnSpLocks/>
            <a:stCxn id="73" idx="3"/>
          </p:cNvCxnSpPr>
          <p:nvPr/>
        </p:nvCxnSpPr>
        <p:spPr>
          <a:xfrm>
            <a:off x="11153109" y="2232838"/>
            <a:ext cx="277245" cy="7828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Snip Single Corner of Rectangle 115">
            <a:extLst>
              <a:ext uri="{FF2B5EF4-FFF2-40B4-BE49-F238E27FC236}">
                <a16:creationId xmlns:a16="http://schemas.microsoft.com/office/drawing/2014/main" id="{E01FE335-2D25-F3E6-788F-A1D6C74BF494}"/>
              </a:ext>
            </a:extLst>
          </p:cNvPr>
          <p:cNvSpPr/>
          <p:nvPr/>
        </p:nvSpPr>
        <p:spPr>
          <a:xfrm>
            <a:off x="10174915" y="3047817"/>
            <a:ext cx="1869599" cy="196276"/>
          </a:xfrm>
          <a:prstGeom prst="snip1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Claim Documents Errored</a:t>
            </a:r>
          </a:p>
        </p:txBody>
      </p:sp>
      <p:cxnSp>
        <p:nvCxnSpPr>
          <p:cNvPr id="120" name="Straight Arrow Connector 119">
            <a:extLst>
              <a:ext uri="{FF2B5EF4-FFF2-40B4-BE49-F238E27FC236}">
                <a16:creationId xmlns:a16="http://schemas.microsoft.com/office/drawing/2014/main" id="{506EF5EC-8D89-1B52-347A-61DB909A3642}"/>
              </a:ext>
            </a:extLst>
          </p:cNvPr>
          <p:cNvCxnSpPr>
            <a:stCxn id="85" idx="2"/>
            <a:endCxn id="118" idx="0"/>
          </p:cNvCxnSpPr>
          <p:nvPr/>
        </p:nvCxnSpPr>
        <p:spPr>
          <a:xfrm>
            <a:off x="7137104" y="3131703"/>
            <a:ext cx="0" cy="3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Elbow Connector 122">
            <a:extLst>
              <a:ext uri="{FF2B5EF4-FFF2-40B4-BE49-F238E27FC236}">
                <a16:creationId xmlns:a16="http://schemas.microsoft.com/office/drawing/2014/main" id="{B0F00DD4-8D85-2C81-D17D-7EEA1FFC90CB}"/>
              </a:ext>
            </a:extLst>
          </p:cNvPr>
          <p:cNvCxnSpPr>
            <a:stCxn id="107" idx="2"/>
            <a:endCxn id="72" idx="0"/>
          </p:cNvCxnSpPr>
          <p:nvPr/>
        </p:nvCxnSpPr>
        <p:spPr>
          <a:xfrm rot="10800000" flipV="1">
            <a:off x="7137104" y="1219262"/>
            <a:ext cx="3037812" cy="58827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8668CBCC-07FE-F0FB-97C3-1231DFFF2CBE}"/>
              </a:ext>
            </a:extLst>
          </p:cNvPr>
          <p:cNvCxnSpPr>
            <a:cxnSpLocks/>
            <a:stCxn id="116" idx="2"/>
          </p:cNvCxnSpPr>
          <p:nvPr/>
        </p:nvCxnSpPr>
        <p:spPr>
          <a:xfrm rot="10800000">
            <a:off x="7874473" y="2234687"/>
            <a:ext cx="2300443" cy="911269"/>
          </a:xfrm>
          <a:prstGeom prst="bentConnector3">
            <a:avLst>
              <a:gd name="adj1" fmla="val 69173"/>
            </a:avLst>
          </a:prstGeom>
          <a:ln>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7F49CF00-5BD6-E61F-7C60-2E82F40AC276}"/>
              </a:ext>
            </a:extLst>
          </p:cNvPr>
          <p:cNvSpPr txBox="1"/>
          <p:nvPr/>
        </p:nvSpPr>
        <p:spPr>
          <a:xfrm>
            <a:off x="8632758" y="3179633"/>
            <a:ext cx="1510995" cy="400110"/>
          </a:xfrm>
          <a:prstGeom prst="rect">
            <a:avLst/>
          </a:prstGeom>
          <a:noFill/>
        </p:spPr>
        <p:txBody>
          <a:bodyPr wrap="square" rtlCol="0">
            <a:spAutoFit/>
          </a:bodyPr>
          <a:lstStyle/>
          <a:p>
            <a:r>
              <a:rPr lang="en-US" sz="1000" b="1" i="1">
                <a:solidFill>
                  <a:schemeClr val="bg1">
                    <a:lumMod val="50000"/>
                  </a:schemeClr>
                </a:solidFill>
              </a:rPr>
              <a:t>Error Documents</a:t>
            </a:r>
          </a:p>
          <a:p>
            <a:r>
              <a:rPr lang="en-US" sz="1000" i="1">
                <a:solidFill>
                  <a:schemeClr val="bg1">
                    <a:lumMod val="50000"/>
                  </a:schemeClr>
                </a:solidFill>
              </a:rPr>
              <a:t>API Response and Owner</a:t>
            </a:r>
          </a:p>
        </p:txBody>
      </p:sp>
      <p:sp>
        <p:nvSpPr>
          <p:cNvPr id="129" name="TextBox 128">
            <a:extLst>
              <a:ext uri="{FF2B5EF4-FFF2-40B4-BE49-F238E27FC236}">
                <a16:creationId xmlns:a16="http://schemas.microsoft.com/office/drawing/2014/main" id="{694000A4-C915-6E16-0D32-5452DBA6F56F}"/>
              </a:ext>
            </a:extLst>
          </p:cNvPr>
          <p:cNvSpPr txBox="1"/>
          <p:nvPr/>
        </p:nvSpPr>
        <p:spPr>
          <a:xfrm>
            <a:off x="7137104" y="825322"/>
            <a:ext cx="1869599" cy="400110"/>
          </a:xfrm>
          <a:prstGeom prst="rect">
            <a:avLst/>
          </a:prstGeom>
          <a:noFill/>
        </p:spPr>
        <p:txBody>
          <a:bodyPr wrap="square" rtlCol="0">
            <a:spAutoFit/>
          </a:bodyPr>
          <a:lstStyle/>
          <a:p>
            <a:r>
              <a:rPr lang="en-US" sz="1000" b="1" i="1">
                <a:solidFill>
                  <a:schemeClr val="bg1">
                    <a:lumMod val="50000"/>
                  </a:schemeClr>
                </a:solidFill>
              </a:rPr>
              <a:t>Success Documents</a:t>
            </a:r>
          </a:p>
          <a:p>
            <a:r>
              <a:rPr lang="en-US" sz="1000" i="1">
                <a:solidFill>
                  <a:schemeClr val="bg1">
                    <a:lumMod val="50000"/>
                  </a:schemeClr>
                </a:solidFill>
              </a:rPr>
              <a:t>API Response and Document</a:t>
            </a:r>
          </a:p>
        </p:txBody>
      </p:sp>
      <p:sp>
        <p:nvSpPr>
          <p:cNvPr id="9601" name="Chip9601"/>
          <p:cNvSpPr/>
          <p:nvPr/>
        </p:nvSpPr>
        <p:spPr>
          <a:xfrm>
            <a:off x="350873" y="3405000"/>
            <a:ext cx="5480000" cy="300000"/>
          </a:xfrm>
          <a:prstGeom prst="roundRect">
            <a:avLst>
              <a:gd name="adj" fmla="val 12000"/>
            </a:avLst>
          </a:prstGeom>
          <a:solidFill>
            <a:srgbClr val="FDF6E3"/>
          </a:solidFill>
          <a:ln w="9525">
            <a:solidFill>
              <a:srgbClr val="9C6A00"/>
            </a:solidFill>
          </a:ln>
        </p:spPr>
        <p:txBody>
          <a:bodyPr wrap="square" lIns="72000" tIns="18000" rIns="72000" bIns="18000" anchor="ctr"/>
          <a:lstStyle/>
          <a:p>
            <a:pPr indent="0" marL="0">
              <a:buNone/>
            </a:pPr>
            <a:r>
              <a:rPr lang="en-US" sz="720" b="1" dirty="0">
                <a:solidFill>
                  <a:srgbClr val="9C6A00"/>
                </a:solidFill>
                <a:latin typeface="Arial" pitchFamily="34" charset="0"/>
              </a:rPr>
              <a:t>Business / data error:  </a:t>
            </a:r>
            <a:r>
              <a:rPr lang="en-US" sz="720" dirty="0">
                <a:solidFill>
                  <a:srgbClr val="444444"/>
                </a:solidFill>
                <a:latin typeface="Arial" pitchFamily="34" charset="0"/>
              </a:rPr>
              <a:t>email to the business area mailbox (cc technical) → analysed and fixed in JAMS, resent with a new ID — no ticket.</a:t>
            </a:r>
          </a:p>
        </p:txBody>
      </p:sp>
      <p:sp>
        <p:nvSpPr>
          <p:cNvPr id="9602" name="Chip9602"/>
          <p:cNvSpPr/>
          <p:nvPr/>
        </p:nvSpPr>
        <p:spPr>
          <a:xfrm>
            <a:off x="5950000" y="3405000"/>
            <a:ext cx="5926566" cy="300000"/>
          </a:xfrm>
          <a:prstGeom prst="roundRect">
            <a:avLst>
              <a:gd name="adj" fmla="val 12000"/>
            </a:avLst>
          </a:prstGeom>
          <a:solidFill>
            <a:srgbClr val="EEF2F8"/>
          </a:solidFill>
          <a:ln w="9525">
            <a:solidFill>
              <a:srgbClr val="1F3864"/>
            </a:solidFill>
          </a:ln>
        </p:spPr>
        <p:txBody>
          <a:bodyPr wrap="square" lIns="72000" tIns="18000" rIns="72000" bIns="18000" anchor="ctr"/>
          <a:lstStyle/>
          <a:p>
            <a:pPr indent="0" marL="0">
              <a:buNone/>
            </a:pPr>
            <a:r>
              <a:rPr lang="en-US" sz="720" b="1" dirty="0">
                <a:solidFill>
                  <a:srgbClr val="1F3864"/>
                </a:solidFill>
                <a:latin typeface="Arial" pitchFamily="34" charset="0"/>
              </a:rPr>
              <a:t>Technical or S/4-side:  </a:t>
            </a:r>
            <a:r>
              <a:rPr lang="en-US" sz="720" dirty="0">
                <a:solidFill>
                  <a:srgbClr val="444444"/>
                </a:solidFill>
                <a:latin typeface="Arial" pitchFamily="34" charset="0"/>
              </a:rPr>
              <a:t>email to the technical mailbox + automatic ServiceNow ticket (production) → analysed and fixed in CPI / S/4, replayed — JAMS does nothing.</a:t>
            </a:r>
          </a:p>
        </p:txBody>
      </p:sp>
    </p:spTree>
    <p:extLst>
      <p:ext uri="{BB962C8B-B14F-4D97-AF65-F5344CB8AC3E}">
        <p14:creationId xmlns:p14="http://schemas.microsoft.com/office/powerpoint/2010/main" val="3033675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3"/>
          <p:cNvSpPr/>
          <p:nvPr/>
        </p:nvSpPr>
        <p:spPr>
          <a:xfrm>
            <a:off x="350873" y="182880"/>
            <a:ext cx="9000000" cy="502920"/>
          </a:xfrm>
          <a:prstGeom prst="rect">
            <a:avLst/>
          </a:prstGeom>
          <a:noFill/>
          <a:ln/>
        </p:spPr>
        <p:txBody>
          <a:bodyPr wrap="square" lIns="0" tIns="0" rIns="0" bIns="0" rtlCol="0" anchor="ctr"/>
          <a:lstStyle/>
          <a:p>
            <a:pPr indent="0" marL="0">
              <a:buNone/>
            </a:pPr>
            <a:r>
              <a:rPr lang="en-US" sz="2000" b="1" dirty="0">
                <a:solidFill>
                  <a:srgbClr val="1F3864"/>
                </a:solidFill>
                <a:latin typeface="Arial" pitchFamily="34" charset="0"/>
                <a:ea typeface="Arial" pitchFamily="34" charset="-122"/>
                <a:cs typeface="Arial" pitchFamily="34" charset="-120"/>
              </a:rPr>
              <a:t>FSM – ServiceNow and SiteTracker: same lifecycle, own 1st leg</a:t>
            </a:r>
          </a:p>
        </p:txBody>
      </p:sp>
      <p:sp>
        <p:nvSpPr>
          <p:cNvPr id="4" name="Text 5"/>
          <p:cNvSpPr/>
          <p:nvPr/>
        </p:nvSpPr>
        <p:spPr>
          <a:xfrm>
            <a:off x="350873" y="700000"/>
            <a:ext cx="11500000" cy="600000"/>
          </a:xfrm>
          <a:prstGeom prst="rect">
            <a:avLst/>
          </a:prstGeom>
          <a:noFill/>
          <a:ln/>
        </p:spPr>
        <p:txBody>
          <a:bodyPr wrap="square" lIns="0" tIns="0" rIns="0" bIns="0" rtlCol="0" anchor="t"/>
          <a:lstStyle/>
          <a:p>
            <a:pPr indent="0" marL="0">
              <a:buNone/>
            </a:pPr>
            <a:r>
              <a:rPr lang="en-US" sz="1100" dirty="0">
                <a:solidFill>
                  <a:srgbClr val="595959"/>
                </a:solidFill>
                <a:latin typeface="Arial" pitchFamily="34" charset="0"/>
                <a:ea typeface="Arial" pitchFamily="34" charset="-122"/>
                <a:cs typeface="Arial" pitchFamily="34" charset="-120"/>
              </a:rPr>
              <a:t>The lifecycle on the previous slides applies to every FSM unchanged: the canonical JMS queue, the canonical model, the S/4HANA calls, the acknowledgement, the pull and the notification routing are one shared build. Only the 1st-leg mapping flow differs per system — and each FSM confirms its own message types in its own sign-off session, as JAMS did on 28 July 2026.</a:t>
            </a:r>
          </a:p>
        </p:txBody>
      </p:sp>
      <p:sp>
        <p:nvSpPr>
          <p:cNvPr id="6" name="Shape 7"/>
          <p:cNvSpPr/>
          <p:nvPr/>
        </p:nvSpPr>
        <p:spPr>
          <a:xfrm>
            <a:off x="350873" y="1650000"/>
            <a:ext cx="11500000" cy="420000"/>
          </a:xfrm>
          <a:prstGeom prst="rect">
            <a:avLst/>
          </a:prstGeom>
          <a:solidFill>
            <a:srgbClr val="1F3864"/>
          </a:solidFill>
          <a:ln/>
        </p:spPr>
      </p:sp>
      <p:sp>
        <p:nvSpPr>
          <p:cNvPr id="8" name="Text 9"/>
          <p:cNvSpPr/>
          <p:nvPr/>
        </p:nvSpPr>
        <p:spPr>
          <a:xfrm>
            <a:off x="470873" y="1740000"/>
            <a:ext cx="2360000" cy="2600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FSM</a:t>
            </a:r>
          </a:p>
        </p:txBody>
      </p:sp>
      <p:sp>
        <p:nvSpPr>
          <p:cNvPr id="10" name="Text 11"/>
          <p:cNvSpPr/>
          <p:nvPr/>
        </p:nvSpPr>
        <p:spPr>
          <a:xfrm>
            <a:off x="3070873" y="1740000"/>
            <a:ext cx="6360000" cy="2600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1st-leg mapping status — from the mapping workbook</a:t>
            </a:r>
          </a:p>
        </p:txBody>
      </p:sp>
      <p:sp>
        <p:nvSpPr>
          <p:cNvPr id="12" name="Text 13"/>
          <p:cNvSpPr/>
          <p:nvPr/>
        </p:nvSpPr>
        <p:spPr>
          <a:xfrm>
            <a:off x="9670873" y="1740000"/>
            <a:ext cx="2060000" cy="2600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Message-types sign-off session</a:t>
            </a:r>
          </a:p>
        </p:txBody>
      </p:sp>
      <p:sp>
        <p:nvSpPr>
          <p:cNvPr id="14" name="Shape 15"/>
          <p:cNvSpPr/>
          <p:nvPr/>
        </p:nvSpPr>
        <p:spPr>
          <a:xfrm>
            <a:off x="350873" y="2070000"/>
            <a:ext cx="11500000" cy="560000"/>
          </a:xfrm>
          <a:prstGeom prst="rect">
            <a:avLst/>
          </a:prstGeom>
          <a:solidFill>
            <a:srgbClr val="FFFFFF"/>
          </a:solidFill>
          <a:ln w="9525">
            <a:solidFill>
              <a:srgbClr val="D9D9D9"/>
            </a:solidFill>
            <a:prstDash val="solid"/>
          </a:ln>
        </p:spPr>
      </p:sp>
      <p:sp>
        <p:nvSpPr>
          <p:cNvPr id="16" name="Text 17"/>
          <p:cNvSpPr/>
          <p:nvPr/>
        </p:nvSpPr>
        <p:spPr>
          <a:xfrm>
            <a:off x="470873" y="2150000"/>
            <a:ext cx="2360000" cy="40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ServiceNow (ITSM)</a:t>
            </a:r>
          </a:p>
        </p:txBody>
      </p:sp>
      <p:sp>
        <p:nvSpPr>
          <p:cNvPr id="18" name="Text 19"/>
          <p:cNvSpPr/>
          <p:nvPr/>
        </p:nvSpPr>
        <p:spPr>
          <a:xfrm>
            <a:off x="3070873" y="2150000"/>
            <a:ext cx="6360000" cy="440000"/>
          </a:xfrm>
          <a:prstGeom prst="rect">
            <a:avLst/>
          </a:prstGeom>
          <a:noFill/>
          <a:ln/>
        </p:spPr>
        <p:txBody>
          <a:bodyPr wrap="square" lIns="0" tIns="0" rIns="0" bIns="0" rtlCol="0" anchor="t"/>
          <a:lstStyle/>
          <a:p>
            <a:pPr indent="0" marL="0">
              <a:buNone/>
            </a:pPr>
            <a:r>
              <a:rPr lang="en-US" sz="850" dirty="0">
                <a:solidFill>
                  <a:srgbClr val="444444"/>
                </a:solidFill>
                <a:latin typeface="Arial" pitchFamily="34" charset="0"/>
                <a:ea typeface="Arial" pitchFamily="34" charset="-122"/>
                <a:cs typeface="Arial" pitchFamily="34" charset="-120"/>
              </a:rPr>
              <a:t>INT-21 mapped in full; INT-22 partial — four rows populated in the sheet</a:t>
            </a:r>
          </a:p>
        </p:txBody>
      </p:sp>
      <p:sp>
        <p:nvSpPr>
          <p:cNvPr id="20" name="Text 21"/>
          <p:cNvSpPr/>
          <p:nvPr/>
        </p:nvSpPr>
        <p:spPr>
          <a:xfrm>
            <a:off x="9670873" y="2150000"/>
            <a:ext cx="2060000" cy="400000"/>
          </a:xfrm>
          <a:prstGeom prst="rect">
            <a:avLst/>
          </a:prstGeom>
          <a:noFill/>
          <a:ln/>
        </p:spPr>
        <p:txBody>
          <a:bodyPr wrap="square" lIns="0" tIns="0" rIns="0" bIns="0" rtlCol="0" anchor="t"/>
          <a:lstStyle/>
          <a:p>
            <a:pPr indent="0" marL="0">
              <a:buNone/>
            </a:pPr>
            <a:r>
              <a:rPr lang="en-US" sz="850" b="1" dirty="0">
                <a:solidFill>
                  <a:srgbClr val="9C6A00"/>
                </a:solidFill>
                <a:latin typeface="Arial" pitchFamily="34" charset="0"/>
                <a:ea typeface="Arial" pitchFamily="34" charset="-122"/>
                <a:cs typeface="Arial" pitchFamily="34" charset="-120"/>
              </a:rPr>
              <a:t>To be held</a:t>
            </a:r>
          </a:p>
        </p:txBody>
      </p:sp>
      <p:sp>
        <p:nvSpPr>
          <p:cNvPr id="22" name="Shape 23"/>
          <p:cNvSpPr/>
          <p:nvPr/>
        </p:nvSpPr>
        <p:spPr>
          <a:xfrm>
            <a:off x="350873" y="2630000"/>
            <a:ext cx="11500000" cy="560000"/>
          </a:xfrm>
          <a:prstGeom prst="rect">
            <a:avLst/>
          </a:prstGeom>
          <a:solidFill>
            <a:srgbClr val="F7F7F5"/>
          </a:solidFill>
          <a:ln w="9525">
            <a:solidFill>
              <a:srgbClr val="D9D9D9"/>
            </a:solidFill>
            <a:prstDash val="solid"/>
          </a:ln>
        </p:spPr>
      </p:sp>
      <p:sp>
        <p:nvSpPr>
          <p:cNvPr id="24" name="Text 25"/>
          <p:cNvSpPr/>
          <p:nvPr/>
        </p:nvSpPr>
        <p:spPr>
          <a:xfrm>
            <a:off x="470873" y="2710000"/>
            <a:ext cx="2360000" cy="40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ServiceNow (Defence)</a:t>
            </a:r>
          </a:p>
        </p:txBody>
      </p:sp>
      <p:sp>
        <p:nvSpPr>
          <p:cNvPr id="26" name="Text 27"/>
          <p:cNvSpPr/>
          <p:nvPr/>
        </p:nvSpPr>
        <p:spPr>
          <a:xfrm>
            <a:off x="3070873" y="2710000"/>
            <a:ext cx="6360000" cy="440000"/>
          </a:xfrm>
          <a:prstGeom prst="rect">
            <a:avLst/>
          </a:prstGeom>
          <a:noFill/>
          <a:ln/>
        </p:spPr>
        <p:txBody>
          <a:bodyPr wrap="square" lIns="0" tIns="0" rIns="0" bIns="0" rtlCol="0" anchor="t"/>
          <a:lstStyle/>
          <a:p>
            <a:pPr indent="0" marL="0">
              <a:buNone/>
            </a:pPr>
            <a:r>
              <a:rPr lang="en-US" sz="850" dirty="0">
                <a:solidFill>
                  <a:srgbClr val="444444"/>
                </a:solidFill>
                <a:latin typeface="Arial" pitchFamily="34" charset="0"/>
                <a:ea typeface="Arial" pitchFamily="34" charset="-122"/>
                <a:cs typeface="Arial" pitchFamily="34" charset="-120"/>
              </a:rPr>
              <a:t>Mapping sheet exists; the FSM source fields are marked TBC in the sheet</a:t>
            </a:r>
          </a:p>
        </p:txBody>
      </p:sp>
      <p:sp>
        <p:nvSpPr>
          <p:cNvPr id="28" name="Text 29"/>
          <p:cNvSpPr/>
          <p:nvPr/>
        </p:nvSpPr>
        <p:spPr>
          <a:xfrm>
            <a:off x="9670873" y="2710000"/>
            <a:ext cx="2060000" cy="400000"/>
          </a:xfrm>
          <a:prstGeom prst="rect">
            <a:avLst/>
          </a:prstGeom>
          <a:noFill/>
          <a:ln/>
        </p:spPr>
        <p:txBody>
          <a:bodyPr wrap="square" lIns="0" tIns="0" rIns="0" bIns="0" rtlCol="0" anchor="t"/>
          <a:lstStyle/>
          <a:p>
            <a:pPr indent="0" marL="0">
              <a:buNone/>
            </a:pPr>
            <a:r>
              <a:rPr lang="en-US" sz="850" b="1" dirty="0">
                <a:solidFill>
                  <a:srgbClr val="9C6A00"/>
                </a:solidFill>
                <a:latin typeface="Arial" pitchFamily="34" charset="0"/>
                <a:ea typeface="Arial" pitchFamily="34" charset="-122"/>
                <a:cs typeface="Arial" pitchFamily="34" charset="-120"/>
              </a:rPr>
              <a:t>To be held</a:t>
            </a:r>
          </a:p>
        </p:txBody>
      </p:sp>
      <p:sp>
        <p:nvSpPr>
          <p:cNvPr id="30" name="Shape 31"/>
          <p:cNvSpPr/>
          <p:nvPr/>
        </p:nvSpPr>
        <p:spPr>
          <a:xfrm>
            <a:off x="350873" y="3190000"/>
            <a:ext cx="11500000" cy="560000"/>
          </a:xfrm>
          <a:prstGeom prst="rect">
            <a:avLst/>
          </a:prstGeom>
          <a:solidFill>
            <a:srgbClr val="FFFFFF"/>
          </a:solidFill>
          <a:ln w="9525">
            <a:solidFill>
              <a:srgbClr val="D9D9D9"/>
            </a:solidFill>
            <a:prstDash val="solid"/>
          </a:ln>
        </p:spPr>
      </p:sp>
      <p:sp>
        <p:nvSpPr>
          <p:cNvPr id="32" name="Text 33"/>
          <p:cNvSpPr/>
          <p:nvPr/>
        </p:nvSpPr>
        <p:spPr>
          <a:xfrm>
            <a:off x="470873" y="3270000"/>
            <a:ext cx="2360000" cy="40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SiteTracker (ODM)</a:t>
            </a:r>
          </a:p>
        </p:txBody>
      </p:sp>
      <p:sp>
        <p:nvSpPr>
          <p:cNvPr id="34" name="Text 35"/>
          <p:cNvSpPr/>
          <p:nvPr/>
        </p:nvSpPr>
        <p:spPr>
          <a:xfrm>
            <a:off x="3070873" y="3270000"/>
            <a:ext cx="6360000" cy="440000"/>
          </a:xfrm>
          <a:prstGeom prst="rect">
            <a:avLst/>
          </a:prstGeom>
          <a:noFill/>
          <a:ln/>
        </p:spPr>
        <p:txBody>
          <a:bodyPr wrap="square" lIns="0" tIns="0" rIns="0" bIns="0" rtlCol="0" anchor="t"/>
          <a:lstStyle/>
          <a:p>
            <a:pPr indent="0" marL="0">
              <a:buNone/>
            </a:pPr>
            <a:r>
              <a:rPr lang="en-US" sz="850" dirty="0">
                <a:solidFill>
                  <a:srgbClr val="444444"/>
                </a:solidFill>
                <a:latin typeface="Arial" pitchFamily="34" charset="0"/>
                <a:ea typeface="Arial" pitchFamily="34" charset="-122"/>
                <a:cs typeface="Arial" pitchFamily="34" charset="-120"/>
              </a:rPr>
              <a:t>INT-21 mapped; the sheet has no INT-22 side</a:t>
            </a:r>
          </a:p>
        </p:txBody>
      </p:sp>
      <p:sp>
        <p:nvSpPr>
          <p:cNvPr id="36" name="Text 37"/>
          <p:cNvSpPr/>
          <p:nvPr/>
        </p:nvSpPr>
        <p:spPr>
          <a:xfrm>
            <a:off x="9670873" y="3270000"/>
            <a:ext cx="2060000" cy="400000"/>
          </a:xfrm>
          <a:prstGeom prst="rect">
            <a:avLst/>
          </a:prstGeom>
          <a:noFill/>
          <a:ln/>
        </p:spPr>
        <p:txBody>
          <a:bodyPr wrap="square" lIns="0" tIns="0" rIns="0" bIns="0" rtlCol="0" anchor="t"/>
          <a:lstStyle/>
          <a:p>
            <a:pPr indent="0" marL="0">
              <a:buNone/>
            </a:pPr>
            <a:r>
              <a:rPr lang="en-US" sz="850" b="1" dirty="0">
                <a:solidFill>
                  <a:srgbClr val="9C6A00"/>
                </a:solidFill>
                <a:latin typeface="Arial" pitchFamily="34" charset="0"/>
                <a:ea typeface="Arial" pitchFamily="34" charset="-122"/>
                <a:cs typeface="Arial" pitchFamily="34" charset="-120"/>
              </a:rPr>
              <a:t>To be held</a:t>
            </a:r>
          </a:p>
        </p:txBody>
      </p:sp>
      <p:sp>
        <p:nvSpPr>
          <p:cNvPr id="38" name="Shape 39"/>
          <p:cNvSpPr/>
          <p:nvPr/>
        </p:nvSpPr>
        <p:spPr>
          <a:xfrm>
            <a:off x="350873" y="3750000"/>
            <a:ext cx="11500000" cy="560000"/>
          </a:xfrm>
          <a:prstGeom prst="rect">
            <a:avLst/>
          </a:prstGeom>
          <a:solidFill>
            <a:srgbClr val="F7F7F5"/>
          </a:solidFill>
          <a:ln w="9525">
            <a:solidFill>
              <a:srgbClr val="D9D9D9"/>
            </a:solidFill>
            <a:prstDash val="solid"/>
          </a:ln>
        </p:spPr>
      </p:sp>
      <p:sp>
        <p:nvSpPr>
          <p:cNvPr id="40" name="Text 41"/>
          <p:cNvSpPr/>
          <p:nvPr/>
        </p:nvSpPr>
        <p:spPr>
          <a:xfrm>
            <a:off x="470873" y="3830000"/>
            <a:ext cx="2360000" cy="40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SiteTracker (Wireless — WIR sheet)</a:t>
            </a:r>
          </a:p>
        </p:txBody>
      </p:sp>
      <p:sp>
        <p:nvSpPr>
          <p:cNvPr id="42" name="Text 43"/>
          <p:cNvSpPr/>
          <p:nvPr/>
        </p:nvSpPr>
        <p:spPr>
          <a:xfrm>
            <a:off x="3070873" y="3830000"/>
            <a:ext cx="6360000" cy="440000"/>
          </a:xfrm>
          <a:prstGeom prst="rect">
            <a:avLst/>
          </a:prstGeom>
          <a:noFill/>
          <a:ln/>
        </p:spPr>
        <p:txBody>
          <a:bodyPr wrap="square" lIns="0" tIns="0" rIns="0" bIns="0" rtlCol="0" anchor="t"/>
          <a:lstStyle/>
          <a:p>
            <a:pPr indent="0" marL="0">
              <a:buNone/>
            </a:pPr>
            <a:r>
              <a:rPr lang="en-US" sz="850" dirty="0">
                <a:solidFill>
                  <a:srgbClr val="444444"/>
                </a:solidFill>
                <a:latin typeface="Arial" pitchFamily="34" charset="0"/>
                <a:ea typeface="Arial" pitchFamily="34" charset="-122"/>
                <a:cs typeface="Arial" pitchFamily="34" charset="-120"/>
              </a:rPr>
              <a:t>INT-21 and INT-22 mapped, including the per-client reference columns (Optus, Telstra, TPG, NTA, NBN)</a:t>
            </a:r>
          </a:p>
        </p:txBody>
      </p:sp>
      <p:sp>
        <p:nvSpPr>
          <p:cNvPr id="44" name="Text 45"/>
          <p:cNvSpPr/>
          <p:nvPr/>
        </p:nvSpPr>
        <p:spPr>
          <a:xfrm>
            <a:off x="9670873" y="3830000"/>
            <a:ext cx="2060000" cy="400000"/>
          </a:xfrm>
          <a:prstGeom prst="rect">
            <a:avLst/>
          </a:prstGeom>
          <a:noFill/>
          <a:ln/>
        </p:spPr>
        <p:txBody>
          <a:bodyPr wrap="square" lIns="0" tIns="0" rIns="0" bIns="0" rtlCol="0" anchor="t"/>
          <a:lstStyle/>
          <a:p>
            <a:pPr indent="0" marL="0">
              <a:buNone/>
            </a:pPr>
            <a:r>
              <a:rPr lang="en-US" sz="850" b="1" dirty="0">
                <a:solidFill>
                  <a:srgbClr val="9C6A00"/>
                </a:solidFill>
                <a:latin typeface="Arial" pitchFamily="34" charset="0"/>
                <a:ea typeface="Arial" pitchFamily="34" charset="-122"/>
                <a:cs typeface="Arial" pitchFamily="34" charset="-120"/>
              </a:rPr>
              <a:t>To be held</a:t>
            </a:r>
          </a:p>
        </p:txBody>
      </p:sp>
      <p:sp>
        <p:nvSpPr>
          <p:cNvPr id="46" name="Shape 47"/>
          <p:cNvSpPr/>
          <p:nvPr/>
        </p:nvSpPr>
        <p:spPr>
          <a:xfrm>
            <a:off x="350873" y="4560000"/>
            <a:ext cx="11500000" cy="800000"/>
          </a:xfrm>
          <a:prstGeom prst="roundRect">
            <a:avLst>
              <a:gd name="adj" fmla="val 4000"/>
            </a:avLst>
          </a:prstGeom>
          <a:solidFill>
            <a:srgbClr val="E1F5EE"/>
          </a:solidFill>
          <a:ln w="12700">
            <a:solidFill>
              <a:srgbClr val="0F6E56"/>
            </a:solidFill>
            <a:prstDash val="solid"/>
          </a:ln>
        </p:spPr>
      </p:sp>
      <p:sp>
        <p:nvSpPr>
          <p:cNvPr id="48" name="Text 49"/>
          <p:cNvSpPr/>
          <p:nvPr/>
        </p:nvSpPr>
        <p:spPr>
          <a:xfrm>
            <a:off x="530873" y="4650000"/>
            <a:ext cx="11140000" cy="320000"/>
          </a:xfrm>
          <a:prstGeom prst="rect">
            <a:avLst/>
          </a:prstGeom>
          <a:noFill/>
          <a:ln/>
        </p:spPr>
        <p:txBody>
          <a:bodyPr wrap="square" lIns="0" tIns="0" rIns="0" bIns="0" rtlCol="0" anchor="t"/>
          <a:lstStyle/>
          <a:p>
            <a:pPr indent="0" marL="0">
              <a:buNone/>
            </a:pPr>
            <a:r>
              <a:rPr lang="en-US" sz="900" b="1" dirty="0">
                <a:solidFill>
                  <a:srgbClr val="085041"/>
                </a:solidFill>
                <a:latin typeface="Arial" pitchFamily="34" charset="0"/>
                <a:ea typeface="Arial" pitchFamily="34" charset="-122"/>
                <a:cs typeface="Arial" pitchFamily="34" charset="-120"/>
              </a:rPr>
              <a:t>Default until each session is held:  </a:t>
            </a:r>
            <a:r>
              <a:rPr lang="en-US" sz="900" dirty="0">
                <a:solidFill>
                  <a:srgbClr val="444444"/>
                </a:solidFill>
                <a:latin typeface="Arial" pitchFamily="34" charset="0"/>
                <a:ea typeface="Arial" pitchFamily="34" charset="-122"/>
                <a:cs typeface="Arial" pitchFamily="34" charset="-120"/>
              </a:rPr>
              <a:t>the JAMS decisions apply — acknowledgement and outcome callback without document details, documents on the pull keyed by contract ID + FSM job number, and the same notification routing (business mailbox for data errors; technical mailbox + ServiceNow for system faults).</a:t>
            </a:r>
          </a:p>
        </p:txBody>
      </p:sp>
      <p:sp>
        <p:nvSpPr>
          <p:cNvPr id="50" name="Text 51"/>
          <p:cNvSpPr/>
          <p:nvPr/>
        </p:nvSpPr>
        <p:spPr>
          <a:xfrm>
            <a:off x="530873" y="5000000"/>
            <a:ext cx="11140000" cy="300000"/>
          </a:xfrm>
          <a:prstGeom prst="rect">
            <a:avLst/>
          </a:prstGeom>
          <a:noFill/>
          <a:ln/>
        </p:spPr>
        <p:txBody>
          <a:bodyPr wrap="square" lIns="0" tIns="0" rIns="0" bIns="0" rtlCol="0" anchor="t"/>
          <a:lstStyle/>
          <a:p>
            <a:pPr indent="0" marL="0">
              <a:buNone/>
            </a:pPr>
            <a:r>
              <a:rPr lang="en-US" sz="900" b="1" dirty="0">
                <a:solidFill>
                  <a:srgbClr val="085041"/>
                </a:solidFill>
                <a:latin typeface="Arial" pitchFamily="34" charset="0"/>
                <a:ea typeface="Arial" pitchFamily="34" charset="-122"/>
                <a:cs typeface="Arial" pitchFamily="34" charset="-120"/>
              </a:rPr>
              <a:t>What each session must confirm:  </a:t>
            </a:r>
            <a:r>
              <a:rPr lang="en-US" sz="900" dirty="0">
                <a:solidFill>
                  <a:srgbClr val="444444"/>
                </a:solidFill>
                <a:latin typeface="Arial" pitchFamily="34" charset="0"/>
                <a:ea typeface="Arial" pitchFamily="34" charset="-122"/>
                <a:cs typeface="Arial" pitchFamily="34" charset="-120"/>
              </a:rPr>
              <a:t>the message types and triggers, the response per type, the pull frequency, and any per-client rules (SiteTracker Wireless already maps per client).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3"/>
          <p:cNvSpPr/>
          <p:nvPr/>
        </p:nvSpPr>
        <p:spPr>
          <a:xfrm>
            <a:off x="11201400" y="201168"/>
            <a:ext cx="777240" cy="274320"/>
          </a:xfrm>
          <a:prstGeom prst="roundRect">
            <a:avLst>
              <a:gd name="adj" fmla="val 26667"/>
            </a:avLst>
          </a:prstGeom>
          <a:solidFill>
            <a:srgbClr val="FFFFFF"/>
          </a:solidFill>
          <a:ln w="12700">
            <a:solidFill>
              <a:srgbClr val="8A8A8A"/>
            </a:solidFill>
            <a:prstDash val="solid"/>
          </a:ln>
        </p:spPr>
      </p:sp>
      <p:sp>
        <p:nvSpPr>
          <p:cNvPr id="4" name="Text 5"/>
          <p:cNvSpPr/>
          <p:nvPr/>
        </p:nvSpPr>
        <p:spPr>
          <a:xfrm>
            <a:off x="11201400" y="201168"/>
            <a:ext cx="777240" cy="274320"/>
          </a:xfrm>
          <a:prstGeom prst="rect">
            <a:avLst/>
          </a:prstGeom>
          <a:noFill/>
          <a:ln/>
        </p:spPr>
        <p:txBody>
          <a:bodyPr wrap="square" lIns="0" tIns="0" rIns="0" bIns="0" rtlCol="0" anchor="ctr"/>
          <a:lstStyle/>
          <a:p>
            <a:pPr algn="ctr" indent="0" marL="0">
              <a:buNone/>
            </a:pPr>
            <a:r>
              <a:rPr lang="en-US" sz="1000" b="1" dirty="0">
                <a:solidFill>
                  <a:srgbClr val="8A8A8A"/>
                </a:solidFill>
                <a:latin typeface="Arial" pitchFamily="34" charset="0"/>
                <a:ea typeface="Arial" pitchFamily="34" charset="-122"/>
                <a:cs typeface="Arial" pitchFamily="34" charset="-120"/>
              </a:rPr>
              <a:t>DRAFT</a:t>
            </a:r>
          </a:p>
        </p:txBody>
      </p:sp>
      <p:sp>
        <p:nvSpPr>
          <p:cNvPr id="6" name="Text 7"/>
          <p:cNvSpPr/>
          <p:nvPr/>
        </p:nvSpPr>
        <p:spPr>
          <a:xfrm>
            <a:off x="502920" y="182880"/>
            <a:ext cx="8503920" cy="502920"/>
          </a:xfrm>
          <a:prstGeom prst="rect">
            <a:avLst/>
          </a:prstGeom>
          <a:noFill/>
          <a:ln/>
        </p:spPr>
        <p:txBody>
          <a:bodyPr wrap="square" lIns="0" tIns="0" rIns="0" bIns="0" rtlCol="0" anchor="ctr"/>
          <a:lstStyle/>
          <a:p>
            <a:pPr indent="0" marL="0">
              <a:buNone/>
            </a:pPr>
            <a:r>
              <a:rPr lang="en-US" sz="2300" b="1" dirty="0">
                <a:solidFill>
                  <a:srgbClr val="1F3864"/>
                </a:solidFill>
                <a:latin typeface="Arial" pitchFamily="34" charset="0"/>
                <a:ea typeface="Arial" pitchFamily="34" charset="-122"/>
                <a:cs typeface="Arial" pitchFamily="34" charset="-120"/>
              </a:rPr>
              <a:t>JAMS sign-off — how each message type is answered</a:t>
            </a:r>
          </a:p>
        </p:txBody>
      </p:sp>
      <p:sp>
        <p:nvSpPr>
          <p:cNvPr id="8" name="Shape 9"/>
          <p:cNvSpPr/>
          <p:nvPr/>
        </p:nvSpPr>
        <p:spPr>
          <a:xfrm>
            <a:off x="9591672" y="201168"/>
            <a:ext cx="1500000" cy="274320"/>
          </a:xfrm>
          <a:prstGeom prst="roundRect">
            <a:avLst>
              <a:gd name="adj" fmla="val 40000"/>
            </a:avLst>
          </a:prstGeom>
          <a:solidFill>
            <a:srgbClr val="E1F5EE"/>
          </a:solidFill>
          <a:ln w="12700">
            <a:solidFill>
              <a:srgbClr val="0F6E56"/>
            </a:solidFill>
            <a:prstDash val="solid"/>
          </a:ln>
        </p:spPr>
      </p:sp>
      <p:sp>
        <p:nvSpPr>
          <p:cNvPr id="10" name="Text 11"/>
          <p:cNvSpPr/>
          <p:nvPr/>
        </p:nvSpPr>
        <p:spPr>
          <a:xfrm>
            <a:off x="9591672" y="201168"/>
            <a:ext cx="1500000" cy="27432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Architecture</a:t>
            </a:r>
          </a:p>
        </p:txBody>
      </p:sp>
      <p:sp>
        <p:nvSpPr>
          <p:cNvPr id="12" name="Text 13"/>
          <p:cNvSpPr/>
          <p:nvPr/>
        </p:nvSpPr>
        <p:spPr>
          <a:xfrm>
            <a:off x="502920" y="676656"/>
            <a:ext cx="11201400" cy="340000"/>
          </a:xfrm>
          <a:prstGeom prst="rect">
            <a:avLst/>
          </a:prstGeom>
          <a:noFill/>
          <a:ln/>
        </p:spPr>
        <p:txBody>
          <a:bodyPr wrap="square" lIns="0" tIns="0" rIns="0" bIns="0" rtlCol="0" anchor="t"/>
          <a:lstStyle/>
          <a:p>
            <a:pPr indent="0" marL="0">
              <a:buNone/>
            </a:pPr>
            <a:r>
              <a:rPr lang="en-US" sz="1150" dirty="0">
                <a:solidFill>
                  <a:srgbClr val="595959"/>
                </a:solidFill>
                <a:latin typeface="Arial" pitchFamily="34" charset="0"/>
                <a:ea typeface="Arial" pitchFamily="34" charset="-122"/>
                <a:cs typeface="Arial" pitchFamily="34" charset="-120"/>
              </a:rPr>
              <a:t>From the JAMS/SAP message-types session (28 July 2026): the canonical response to JAMS acknowledges receipt and outcome — document details travel on the separate pull interface, keyed by contract ID and FSM job number. Items the session left unconfirmed are marked TBC. Run as code.</a:t>
            </a:r>
          </a:p>
        </p:txBody>
      </p:sp>
      <p:sp>
        <p:nvSpPr>
          <p:cNvPr id="14" name="Text 15"/>
          <p:cNvSpPr/>
          <p:nvPr/>
        </p:nvSpPr>
        <p:spPr>
          <a:xfrm>
            <a:off x="502920" y="6510528"/>
            <a:ext cx="5943600" cy="237744"/>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Prepared by Rajesh Sha — SAP Integration and Data Architect</a:t>
            </a:r>
          </a:p>
        </p:txBody>
      </p:sp>
      <p:sp>
        <p:nvSpPr>
          <p:cNvPr id="16" name="Text 17"/>
          <p:cNvSpPr/>
          <p:nvPr/>
        </p:nvSpPr>
        <p:spPr>
          <a:xfrm>
            <a:off x="6035040" y="6510528"/>
            <a:ext cx="5943600" cy="237744"/>
          </a:xfrm>
          <a:prstGeom prst="rect">
            <a:avLst/>
          </a:prstGeom>
          <a:noFill/>
          <a:ln/>
        </p:spPr>
        <p:txBody>
          <a:bodyPr wrap="square" lIns="0" tIns="0" rIns="0" bIns="0" rtlCol="0" anchor="ctr"/>
          <a:lstStyle/>
          <a:p>
            <a:pPr algn="r" indent="0" marL="0">
              <a:buNone/>
            </a:pPr>
            <a:r>
              <a:rPr lang="en-US" sz="900" dirty="0">
                <a:solidFill>
                  <a:srgbClr val="8A8A8A"/>
                </a:solidFill>
                <a:latin typeface="Arial" pitchFamily="34" charset="0"/>
                <a:ea typeface="Arial" pitchFamily="34" charset="-122"/>
                <a:cs typeface="Arial" pitchFamily="34" charset="-120"/>
              </a:rPr>
              <a:t>Project Apollo — canonical request and response pattern — design paper v0.1</a:t>
            </a:r>
          </a:p>
        </p:txBody>
      </p:sp>
      <p:graphicFrame>
        <p:nvGraphicFramePr>
          <p:cNvPr id="18" name="Table 18"/>
          <p:cNvGraphicFramePr/>
          <p:nvPr/>
        </p:nvGraphicFramePr>
        <p:xfrm>
          <a:off x="502920" y="1180000"/>
          <a:ext cx="11201400" cy="2350000"/>
        </p:xfrm>
        <a:graphic>
          <a:graphicData uri="http://schemas.openxmlformats.org/drawingml/2006/table">
            <a:tbl>
              <a:tblPr/>
              <a:tblGrid>
                <a:gridCol w="1500000"/>
                <a:gridCol w="2400000"/>
                <a:gridCol w="3400000"/>
                <a:gridCol w="3901400"/>
              </a:tblGrid>
              <a:tr h="260000">
                <a:tc>
                  <a:txBody>
                    <a:bodyPr/>
                    <a:lstStyle/>
                    <a:p>
                      <a:pPr indent="0" marL="0">
                        <a:buNone/>
                      </a:pPr>
                      <a:r>
                        <a:rPr lang="en-US" sz="800" b="1" dirty="0">
                          <a:solidFill>
                            <a:srgbClr val="FFFFFF"/>
                          </a:solidFill>
                          <a:latin typeface="Arial" pitchFamily="34" charset="0"/>
                          <a:ea typeface="Arial" pitchFamily="34" charset="-122"/>
                          <a:cs typeface="Arial" pitchFamily="34" charset="-120"/>
                        </a:rPr>
                        <a:t>JAMS message</a:t>
                      </a:r>
                      <a:endParaRPr lang="en-US" sz="80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Trigger (all triggers still TBC)</a:t>
                      </a:r>
                      <a:endParaRPr lang="en-US" sz="80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Canonical response to JAMS</a:t>
                      </a:r>
                      <a:endParaRPr lang="en-US" sz="80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Document details</a:t>
                      </a:r>
                      <a:endParaRPr lang="en-US" sz="80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r>
              <a:tr h="300000">
                <a:tc>
                  <a:txBody>
                    <a:bodyPr/>
                    <a:lstStyle/>
                    <a:p>
                      <a:pPr indent="0" marL="0">
                        <a:buNone/>
                      </a:pPr>
                      <a:r>
                        <a:rPr lang="en-US" sz="780" b="1" dirty="0">
                          <a:solidFill>
                            <a:srgbClr val="1F3864"/>
                          </a:solidFill>
                          <a:latin typeface="Arial" pitchFamily="34" charset="0"/>
                          <a:ea typeface="Arial" pitchFamily="34" charset="-122"/>
                          <a:cs typeface="Arial" pitchFamily="34" charset="-120"/>
                        </a:rPr>
                        <a:t>Create_SO</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780" dirty="0">
                          <a:solidFill>
                            <a:srgbClr val="444444"/>
                          </a:solidFill>
                          <a:latin typeface="Arial" pitchFamily="34" charset="0"/>
                          <a:ea typeface="Arial" pitchFamily="34" charset="-122"/>
                          <a:cs typeface="Arial" pitchFamily="34" charset="-120"/>
                        </a:rPr>
                        <a:t>As soon as the JOB is created</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780" dirty="0">
                          <a:solidFill>
                            <a:srgbClr val="444444"/>
                          </a:solidFill>
                          <a:latin typeface="Arial" pitchFamily="34" charset="0"/>
                          <a:ea typeface="Arial" pitchFamily="34" charset="-122"/>
                          <a:cs typeface="Arial" pitchFamily="34" charset="-120"/>
                        </a:rPr>
                        <a:t>Receipt + outcome — no document details in the message</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780" dirty="0">
                          <a:solidFill>
                            <a:srgbClr val="444444"/>
                          </a:solidFill>
                          <a:latin typeface="Arial" pitchFamily="34" charset="0"/>
                          <a:ea typeface="Arial" pitchFamily="34" charset="-122"/>
                          <a:cs typeface="Arial" pitchFamily="34" charset="-120"/>
                        </a:rPr>
                        <a:t>Pull by contract ID + FSM job number. JAMS will not pull initially — the data stays available.</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0000">
                <a:tc>
                  <a:txBody>
                    <a:bodyPr/>
                    <a:lstStyle/>
                    <a:p>
                      <a:pPr indent="0" marL="0">
                        <a:buNone/>
                      </a:pPr>
                      <a:r>
                        <a:rPr lang="en-US" sz="780" b="1" dirty="0">
                          <a:solidFill>
                            <a:srgbClr val="1F3864"/>
                          </a:solidFill>
                          <a:latin typeface="Arial" pitchFamily="34" charset="0"/>
                          <a:ea typeface="Arial" pitchFamily="34" charset="-122"/>
                          <a:cs typeface="Arial" pitchFamily="34" charset="-120"/>
                        </a:rPr>
                        <a:t>Project_WBS</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780" dirty="0">
                          <a:solidFill>
                            <a:srgbClr val="444444"/>
                          </a:solidFill>
                          <a:latin typeface="Arial" pitchFamily="34" charset="0"/>
                          <a:ea typeface="Arial" pitchFamily="34" charset="-122"/>
                          <a:cs typeface="Arial" pitchFamily="34" charset="-120"/>
                        </a:rPr>
                        <a:t>At creation of the JOB</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780" dirty="0">
                          <a:solidFill>
                            <a:srgbClr val="444444"/>
                          </a:solidFill>
                          <a:latin typeface="Arial" pitchFamily="34" charset="0"/>
                          <a:ea typeface="Arial" pitchFamily="34" charset="-122"/>
                          <a:cs typeface="Arial" pitchFamily="34" charset="-120"/>
                        </a:rPr>
                        <a:t>Receipt + outcome — no document details in the message</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780" dirty="0">
                          <a:solidFill>
                            <a:srgbClr val="444444"/>
                          </a:solidFill>
                          <a:latin typeface="Arial" pitchFamily="34" charset="0"/>
                          <a:ea typeface="Arial" pitchFamily="34" charset="-122"/>
                          <a:cs typeface="Arial" pitchFamily="34" charset="-120"/>
                        </a:rPr>
                        <a:t>Same pull. The L1 WBS is added into each job and sent in the Project_WBS message type.</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r>
              <a:tr h="300000">
                <a:tc>
                  <a:txBody>
                    <a:bodyPr/>
                    <a:lstStyle/>
                    <a:p>
                      <a:pPr indent="0" marL="0">
                        <a:buNone/>
                      </a:pPr>
                      <a:r>
                        <a:rPr lang="en-US" sz="780" b="1" dirty="0">
                          <a:solidFill>
                            <a:srgbClr val="1F3864"/>
                          </a:solidFill>
                          <a:latin typeface="Arial" pitchFamily="34" charset="0"/>
                          <a:ea typeface="Arial" pitchFamily="34" charset="-122"/>
                          <a:cs typeface="Arial" pitchFamily="34" charset="-120"/>
                        </a:rPr>
                        <a:t>RCTI</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780" dirty="0">
                          <a:solidFill>
                            <a:srgbClr val="444444"/>
                          </a:solidFill>
                          <a:latin typeface="Arial" pitchFamily="34" charset="0"/>
                          <a:ea typeface="Arial" pitchFamily="34" charset="-122"/>
                          <a:cs typeface="Arial" pitchFamily="34" charset="-120"/>
                        </a:rPr>
                        <a:t>JOB has status APP (approved)</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780" b="1" dirty="0">
                          <a:solidFill>
                            <a:srgbClr val="9C6A00"/>
                          </a:solidFill>
                          <a:latin typeface="Arial" pitchFamily="34" charset="0"/>
                          <a:ea typeface="Arial" pitchFamily="34" charset="-122"/>
                          <a:cs typeface="Arial" pitchFamily="34" charset="-120"/>
                        </a:rPr>
                        <a:t>TBC</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780" b="1" dirty="0">
                          <a:solidFill>
                            <a:srgbClr val="9C6A00"/>
                          </a:solidFill>
                          <a:latin typeface="Arial" pitchFamily="34" charset="0"/>
                          <a:ea typeface="Arial" pitchFamily="34" charset="-122"/>
                          <a:cs typeface="Arial" pitchFamily="34" charset="-120"/>
                        </a:rPr>
                        <a:t>TBC</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0000">
                <a:tc>
                  <a:txBody>
                    <a:bodyPr/>
                    <a:lstStyle/>
                    <a:p>
                      <a:pPr indent="0" marL="0">
                        <a:buNone/>
                      </a:pPr>
                      <a:r>
                        <a:rPr lang="en-US" sz="780" b="1" dirty="0">
                          <a:solidFill>
                            <a:srgbClr val="1F3864"/>
                          </a:solidFill>
                          <a:latin typeface="Arial" pitchFamily="34" charset="0"/>
                          <a:ea typeface="Arial" pitchFamily="34" charset="-122"/>
                          <a:cs typeface="Arial" pitchFamily="34" charset="-120"/>
                        </a:rPr>
                        <a:t>REQUEST_PO</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780" b="1" dirty="0">
                          <a:solidFill>
                            <a:srgbClr val="9C6A00"/>
                          </a:solidFill>
                          <a:latin typeface="Arial" pitchFamily="34" charset="0"/>
                          <a:ea typeface="Arial" pitchFamily="34" charset="-122"/>
                          <a:cs typeface="Arial" pitchFamily="34" charset="-120"/>
                        </a:rPr>
                        <a:t>TBC</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780" dirty="0">
                          <a:solidFill>
                            <a:srgbClr val="444444"/>
                          </a:solidFill>
                          <a:latin typeface="Arial" pitchFamily="34" charset="0"/>
                          <a:ea typeface="Arial" pitchFamily="34" charset="-122"/>
                          <a:cs typeface="Arial" pitchFamily="34" charset="-120"/>
                        </a:rPr>
                        <a:t>Receipt + outcome, as above</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780" dirty="0">
                          <a:solidFill>
                            <a:srgbClr val="444444"/>
                          </a:solidFill>
                          <a:latin typeface="Arial" pitchFamily="34" charset="0"/>
                          <a:ea typeface="Arial" pitchFamily="34" charset="-122"/>
                          <a:cs typeface="Arial" pitchFamily="34" charset="-120"/>
                        </a:rPr>
                        <a:t>PO approval status back to the FSM: not planned.</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r>
              <a:tr h="300000">
                <a:tc>
                  <a:txBody>
                    <a:bodyPr/>
                    <a:lstStyle/>
                    <a:p>
                      <a:pPr indent="0" marL="0">
                        <a:buNone/>
                      </a:pPr>
                      <a:r>
                        <a:rPr lang="en-US" sz="780" b="1" dirty="0">
                          <a:solidFill>
                            <a:srgbClr val="1F3864"/>
                          </a:solidFill>
                          <a:latin typeface="Arial" pitchFamily="34" charset="0"/>
                          <a:ea typeface="Arial" pitchFamily="34" charset="-122"/>
                          <a:cs typeface="Arial" pitchFamily="34" charset="-120"/>
                        </a:rPr>
                        <a:t>MATERIAL_USAGE</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780" dirty="0">
                          <a:solidFill>
                            <a:srgbClr val="444444"/>
                          </a:solidFill>
                          <a:latin typeface="Arial" pitchFamily="34" charset="0"/>
                          <a:ea typeface="Arial" pitchFamily="34" charset="-122"/>
                          <a:cs typeface="Arial" pitchFamily="34" charset="-120"/>
                        </a:rPr>
                        <a:t>Field Complete</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780" b="1" dirty="0">
                          <a:solidFill>
                            <a:srgbClr val="9C6A00"/>
                          </a:solidFill>
                          <a:latin typeface="Arial" pitchFamily="34" charset="0"/>
                          <a:ea typeface="Arial" pitchFamily="34" charset="-122"/>
                          <a:cs typeface="Arial" pitchFamily="34" charset="-120"/>
                        </a:rPr>
                        <a:t>TBC</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780" b="1" dirty="0">
                          <a:solidFill>
                            <a:srgbClr val="9C6A00"/>
                          </a:solidFill>
                          <a:latin typeface="Arial" pitchFamily="34" charset="0"/>
                          <a:ea typeface="Arial" pitchFamily="34" charset="-122"/>
                          <a:cs typeface="Arial" pitchFamily="34" charset="-120"/>
                        </a:rPr>
                        <a:t>TBC</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0000">
                <a:tc>
                  <a:txBody>
                    <a:bodyPr/>
                    <a:lstStyle/>
                    <a:p>
                      <a:pPr indent="0" marL="0">
                        <a:buNone/>
                      </a:pPr>
                      <a:r>
                        <a:rPr lang="en-US" sz="780" b="1" dirty="0">
                          <a:solidFill>
                            <a:srgbClr val="1F3864"/>
                          </a:solidFill>
                          <a:latin typeface="Arial" pitchFamily="34" charset="0"/>
                          <a:ea typeface="Arial" pitchFamily="34" charset="-122"/>
                          <a:cs typeface="Arial" pitchFamily="34" charset="-120"/>
                        </a:rPr>
                        <a:t>CLAIM</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780" dirty="0">
                          <a:solidFill>
                            <a:srgbClr val="444444"/>
                          </a:solidFill>
                          <a:latin typeface="Arial" pitchFamily="34" charset="0"/>
                          <a:ea typeface="Arial" pitchFamily="34" charset="-122"/>
                          <a:cs typeface="Arial" pitchFamily="34" charset="-120"/>
                        </a:rPr>
                        <a:t>APP (approved)</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780" b="1" dirty="0">
                          <a:solidFill>
                            <a:srgbClr val="9C6A00"/>
                          </a:solidFill>
                          <a:latin typeface="Arial" pitchFamily="34" charset="0"/>
                          <a:ea typeface="Arial" pitchFamily="34" charset="-122"/>
                          <a:cs typeface="Arial" pitchFamily="34" charset="-120"/>
                        </a:rPr>
                        <a:t>TBC</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c>
                  <a:txBody>
                    <a:bodyPr/>
                    <a:lstStyle/>
                    <a:p>
                      <a:pPr indent="0" marL="0">
                        <a:buNone/>
                      </a:pPr>
                      <a:r>
                        <a:rPr lang="en-US" sz="780" b="1" dirty="0">
                          <a:solidFill>
                            <a:srgbClr val="9C6A00"/>
                          </a:solidFill>
                          <a:latin typeface="Arial" pitchFamily="34" charset="0"/>
                          <a:ea typeface="Arial" pitchFamily="34" charset="-122"/>
                          <a:cs typeface="Arial" pitchFamily="34" charset="-120"/>
                        </a:rPr>
                        <a:t>TBC</a:t>
                      </a:r>
                      <a:endParaRPr lang="en-US" sz="780" dirty="0">
                        <a:latin typeface="Arial" charset="0"/>
                      </a:endParaRPr>
                    </a:p>
                  </a:txBody>
                  <a:tcPr marL="45720" marR="45720" marT="27432" marB="27432" anchor="t">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5"/>
                    </a:solidFill>
                  </a:tcPr>
                </a:tc>
              </a:tr>
            </a:tbl>
          </a:graphicData>
        </a:graphic>
      </p:graphicFrame>
      <p:sp>
        <p:nvSpPr>
          <p:cNvPr id="19" name="Shape 20"/>
          <p:cNvSpPr/>
          <p:nvPr/>
        </p:nvSpPr>
        <p:spPr>
          <a:xfrm>
            <a:off x="502920" y="3720000"/>
            <a:ext cx="5470000" cy="1500000"/>
          </a:xfrm>
          <a:prstGeom prst="roundRect">
            <a:avLst>
              <a:gd name="adj" fmla="val 3000"/>
            </a:avLst>
          </a:prstGeom>
          <a:solidFill>
            <a:srgbClr val="EEF2F8"/>
          </a:solidFill>
          <a:ln w="15875">
            <a:solidFill>
              <a:srgbClr val="1F3864"/>
            </a:solidFill>
            <a:prstDash val="solid"/>
          </a:ln>
        </p:spPr>
      </p:sp>
      <p:sp>
        <p:nvSpPr>
          <p:cNvPr id="21" name="Text 22"/>
          <p:cNvSpPr/>
          <p:nvPr/>
        </p:nvSpPr>
        <p:spPr>
          <a:xfrm>
            <a:off x="652920" y="3800000"/>
            <a:ext cx="5170000" cy="24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JAMS pulls from S/4 endpoints — frequencies TBC</a:t>
            </a:r>
          </a:p>
        </p:txBody>
      </p:sp>
      <p:sp>
        <p:nvSpPr>
          <p:cNvPr id="23" name="Text 24"/>
          <p:cNvSpPr/>
          <p:nvPr/>
        </p:nvSpPr>
        <p:spPr>
          <a:xfrm>
            <a:off x="652920" y="4080000"/>
            <a:ext cx="5170000" cy="1080000"/>
          </a:xfrm>
          <a:prstGeom prst="rect">
            <a:avLst/>
          </a:prstGeom>
          <a:noFill/>
          <a:ln/>
        </p:spPr>
        <p:txBody>
          <a:bodyPr wrap="square" lIns="0" tIns="0" rIns="0" bIns="0" rtlCol="0" anchor="t"/>
          <a:lstStyle/>
          <a:p>
            <a:pPr indent="0" marL="0">
              <a:spcAft>
                <a:spcPts val="300"/>
              </a:spcAft>
              <a:buNone/>
            </a:pPr>
            <a:r>
              <a:rPr lang="en-US" sz="830" dirty="0">
                <a:solidFill>
                  <a:srgbClr val="444444"/>
                </a:solidFill>
                <a:latin typeface="Arial" pitchFamily="34" charset="0"/>
                <a:ea typeface="Arial" pitchFamily="34" charset="-122"/>
                <a:cs typeface="Arial" pitchFamily="34" charset="-120"/>
              </a:rPr>
              <a:t>Subbie RCTI payment status  ·  stock list  ·  WBS list  ·  cost and quantity against work orders.</a:t>
            </a:r>
          </a:p>
          <a:p>
            <a:pPr indent="0" marL="0">
              <a:spcAft>
                <a:spcPts val="300"/>
              </a:spcAft>
              <a:buNone/>
            </a:pPr>
            <a:r>
              <a:rPr lang="en-US" sz="830" dirty="0">
                <a:solidFill>
                  <a:srgbClr val="9C6A00"/>
                </a:solidFill>
                <a:latin typeface="Arial" pitchFamily="34" charset="0"/>
                <a:ea typeface="Arial" pitchFamily="34" charset="-122"/>
                <a:cs typeface="Arial" pitchFamily="34" charset="-120"/>
              </a:rPr>
              <a:t>Not planned: PO approval status back to the FSM; a new interface exposing MAP together with stock data.</a:t>
            </a:r>
          </a:p>
          <a:p>
            <a:pPr indent="0" marL="0">
              <a:buNone/>
            </a:pPr>
            <a:r>
              <a:rPr lang="en-US" sz="830" i="1" dirty="0">
                <a:solidFill>
                  <a:srgbClr val="6B6B6B"/>
                </a:solidFill>
                <a:latin typeface="Arial" pitchFamily="34" charset="0"/>
                <a:ea typeface="Arial" pitchFamily="34" charset="-122"/>
                <a:cs typeface="Arial" pitchFamily="34" charset="-120"/>
              </a:rPr>
              <a:t>These are the pull rows of the outbound slide (slide 12) — one address, a registered query each.</a:t>
            </a:r>
          </a:p>
        </p:txBody>
      </p:sp>
      <p:sp>
        <p:nvSpPr>
          <p:cNvPr id="25" name="Shape 26"/>
          <p:cNvSpPr/>
          <p:nvPr/>
        </p:nvSpPr>
        <p:spPr>
          <a:xfrm>
            <a:off x="6234160" y="3720000"/>
            <a:ext cx="5470000" cy="1500000"/>
          </a:xfrm>
          <a:prstGeom prst="roundRect">
            <a:avLst>
              <a:gd name="adj" fmla="val 3000"/>
            </a:avLst>
          </a:prstGeom>
          <a:solidFill>
            <a:srgbClr val="F7F7F5"/>
          </a:solidFill>
          <a:ln w="12700">
            <a:solidFill>
              <a:srgbClr val="D9D9D9"/>
            </a:solidFill>
            <a:prstDash val="solid"/>
          </a:ln>
        </p:spPr>
      </p:sp>
      <p:sp>
        <p:nvSpPr>
          <p:cNvPr id="27" name="Text 28"/>
          <p:cNvSpPr/>
          <p:nvPr/>
        </p:nvSpPr>
        <p:spPr>
          <a:xfrm>
            <a:off x="6384160" y="3800000"/>
            <a:ext cx="5170000" cy="240000"/>
          </a:xfrm>
          <a:prstGeom prst="rect">
            <a:avLst/>
          </a:prstGeom>
          <a:noFill/>
          <a:ln/>
        </p:spPr>
        <p:txBody>
          <a:bodyPr wrap="square" lIns="0" tIns="0" rIns="0" bIns="0" rtlCol="0" anchor="t"/>
          <a:lstStyle/>
          <a:p>
            <a:pPr indent="0" marL="0">
              <a:buNone/>
            </a:pPr>
            <a:r>
              <a:rPr lang="en-US" sz="900" b="1" dirty="0">
                <a:solidFill>
                  <a:srgbClr val="1F3864"/>
                </a:solidFill>
                <a:latin typeface="Arial" pitchFamily="34" charset="0"/>
                <a:ea typeface="Arial" pitchFamily="34" charset="-122"/>
                <a:cs typeface="Arial" pitchFamily="34" charset="-120"/>
              </a:rPr>
              <a:t>Master data rules from the session</a:t>
            </a:r>
          </a:p>
        </p:txBody>
      </p:sp>
      <p:sp>
        <p:nvSpPr>
          <p:cNvPr id="29" name="Text 30"/>
          <p:cNvSpPr/>
          <p:nvPr/>
        </p:nvSpPr>
        <p:spPr>
          <a:xfrm>
            <a:off x="6384160" y="4080000"/>
            <a:ext cx="5170000" cy="1150000"/>
          </a:xfrm>
          <a:prstGeom prst="rect">
            <a:avLst/>
          </a:prstGeom>
          <a:noFill/>
          <a:ln/>
        </p:spPr>
        <p:txBody>
          <a:bodyPr wrap="square" lIns="0" tIns="0" rIns="0" bIns="0" rtlCol="0" anchor="t"/>
          <a:lstStyle/>
          <a:p>
            <a:pPr indent="0" marL="0">
              <a:spcAft>
                <a:spcPts val="220"/>
              </a:spcAft>
              <a:buNone/>
            </a:pPr>
            <a:r>
              <a:rPr lang="en-US" sz="800" dirty="0">
                <a:solidFill>
                  <a:srgbClr val="444444"/>
                </a:solidFill>
                <a:latin typeface="Arial" pitchFamily="34" charset="0"/>
                <a:ea typeface="Arial" pitchFamily="34" charset="-122"/>
                <a:cs typeface="Arial" pitchFamily="34" charset="-120"/>
              </a:rPr>
              <a:t>Customer — maintained on the contract mapping table; the FSM does not send it.</a:t>
            </a:r>
          </a:p>
          <a:p>
            <a:pPr indent="0" marL="0">
              <a:spcAft>
                <a:spcPts val="220"/>
              </a:spcAft>
              <a:buNone/>
            </a:pPr>
            <a:r>
              <a:rPr lang="en-US" sz="800" dirty="0">
                <a:solidFill>
                  <a:srgbClr val="444444"/>
                </a:solidFill>
                <a:latin typeface="Arial" pitchFamily="34" charset="0"/>
                <a:ea typeface="Arial" pitchFamily="34" charset="-122"/>
                <a:cs typeface="Arial" pitchFamily="34" charset="-120"/>
              </a:rPr>
              <a:t>Supplier — JAMS sends the Beacon ID; CPI looks up the Beacon ID first, then the SAP ID. A new supplier is updated manually in ITSM.</a:t>
            </a:r>
          </a:p>
          <a:p>
            <a:pPr indent="0" marL="0">
              <a:spcAft>
                <a:spcPts val="220"/>
              </a:spcAft>
              <a:buNone/>
            </a:pPr>
            <a:r>
              <a:rPr lang="en-US" sz="800" dirty="0">
                <a:solidFill>
                  <a:srgbClr val="444444"/>
                </a:solidFill>
                <a:latin typeface="Arial" pitchFamily="34" charset="0"/>
                <a:ea typeface="Arial" pitchFamily="34" charset="-122"/>
                <a:cs typeface="Arial" pitchFamily="34" charset="-120"/>
              </a:rPr>
              <a:t>Stock material — JAMS takes SAP material IDs from the stock report and sends the same ID back.</a:t>
            </a:r>
          </a:p>
          <a:p>
            <a:pPr indent="0" marL="0">
              <a:buNone/>
            </a:pPr>
            <a:r>
              <a:rPr lang="en-US" sz="800" dirty="0">
                <a:solidFill>
                  <a:srgbClr val="444444"/>
                </a:solidFill>
                <a:latin typeface="Arial" pitchFamily="34" charset="0"/>
                <a:ea typeface="Arial" pitchFamily="34" charset="-122"/>
                <a:cs typeface="Arial" pitchFamily="34" charset="-120"/>
              </a:rPr>
              <a:t>SOR material — sent as-is; a new SOR is created manually in both JAMS and SAP.</a:t>
            </a:r>
          </a:p>
        </p:txBody>
      </p:sp>
      <p:sp>
        <p:nvSpPr>
          <p:cNvPr id="31" name="Shape 32"/>
          <p:cNvSpPr/>
          <p:nvPr/>
        </p:nvSpPr>
        <p:spPr>
          <a:xfrm>
            <a:off x="502920" y="5300000"/>
            <a:ext cx="11201400" cy="1150000"/>
          </a:xfrm>
          <a:prstGeom prst="roundRect">
            <a:avLst>
              <a:gd name="adj" fmla="val 3000"/>
            </a:avLst>
          </a:prstGeom>
          <a:solidFill>
            <a:srgbClr val="E1F5EE"/>
          </a:solidFill>
          <a:ln w="12700">
            <a:solidFill>
              <a:srgbClr val="0F6E56"/>
            </a:solidFill>
            <a:prstDash val="solid"/>
          </a:ln>
        </p:spPr>
      </p:sp>
      <p:sp>
        <p:nvSpPr>
          <p:cNvPr id="33" name="Text 34"/>
          <p:cNvSpPr/>
          <p:nvPr/>
        </p:nvSpPr>
        <p:spPr>
          <a:xfrm>
            <a:off x="682920" y="5380000"/>
            <a:ext cx="10850000" cy="340000"/>
          </a:xfrm>
          <a:prstGeom prst="rect">
            <a:avLst/>
          </a:prstGeom>
          <a:noFill/>
          <a:ln/>
        </p:spPr>
        <p:txBody>
          <a:bodyPr wrap="square" lIns="0" tIns="0" rIns="0" bIns="0" rtlCol="0" anchor="t"/>
          <a:lstStyle/>
          <a:p>
            <a:pPr indent="0" marL="0">
              <a:buNone/>
            </a:pPr>
            <a:r>
              <a:rPr lang="en-US" sz="860" b="1" dirty="0">
                <a:solidFill>
                  <a:srgbClr val="085041"/>
                </a:solidFill>
                <a:latin typeface="Arial" pitchFamily="34" charset="0"/>
                <a:ea typeface="Arial" pitchFamily="34" charset="-122"/>
                <a:cs typeface="Arial" pitchFamily="34" charset="-120"/>
              </a:rPr>
              <a:t>Architecture decision — receipt now, callback later, pull for data; no write-back into JAMS.  </a:t>
            </a:r>
            <a:r>
              <a:rPr lang="en-US" sz="820" dirty="0">
                <a:solidFill>
                  <a:srgbClr val="444444"/>
                </a:solidFill>
                <a:latin typeface="Arial" pitchFamily="34" charset="0"/>
                <a:ea typeface="Arial" pitchFamily="34" charset="-122"/>
                <a:cs typeface="Arial" pitchFamily="34" charset="-120"/>
              </a:rPr>
              <a:t>Callback: CPI calls a JAMS address to say how the message ended (status + correlationId). Write-back: CPI updates JAMS records with SAP data — not used. Pull: JAMS asks for the documents when it wants them. The functional need is unchanged — every SAP document stays available to JAMS; only the delivery channel moved. An architecture choice, not a tool limitation.</a:t>
            </a:r>
          </a:p>
        </p:txBody>
      </p:sp>
      <p:sp>
        <p:nvSpPr>
          <p:cNvPr id="35" name="Text 36"/>
          <p:cNvSpPr/>
          <p:nvPr/>
        </p:nvSpPr>
        <p:spPr>
          <a:xfrm>
            <a:off x="682920" y="5750000"/>
            <a:ext cx="10850000" cy="320000"/>
          </a:xfrm>
          <a:prstGeom prst="rect">
            <a:avLst/>
          </a:prstGeom>
          <a:noFill/>
          <a:ln/>
        </p:spPr>
        <p:txBody>
          <a:bodyPr wrap="square" lIns="0" tIns="0" rIns="0" bIns="0" rtlCol="0" anchor="t"/>
          <a:lstStyle/>
          <a:p>
            <a:pPr indent="0" marL="0">
              <a:buNone/>
            </a:pPr>
            <a:r>
              <a:rPr lang="en-US" sz="820" b="1" dirty="0">
                <a:solidFill>
                  <a:srgbClr val="085041"/>
                </a:solidFill>
                <a:latin typeface="Arial" pitchFamily="34" charset="0"/>
                <a:ea typeface="Arial" pitchFamily="34" charset="-122"/>
                <a:cs typeface="Arial" pitchFamily="34" charset="-120"/>
              </a:rPr>
              <a:t>Why the receipt is on the same call and the outcome is not:  </a:t>
            </a:r>
            <a:r>
              <a:rPr lang="en-US" sz="820" dirty="0">
                <a:solidFill>
                  <a:srgbClr val="444444"/>
                </a:solidFill>
                <a:latin typeface="Arial" pitchFamily="34" charset="0"/>
                <a:ea typeface="Arial" pitchFamily="34" charset="-122"/>
                <a:cs typeface="Arial" pitchFamily="34" charset="-120"/>
              </a:rPr>
              <a:t>the door can decide instantly (structure, mandatory, duplicate), so it answers at once with 202 or 400. Posting to S/4 can take minutes — retries run to the set-aside — and a connection held open that long times out, and the resend creates duplicates. So the outcome always arrives as a callback.</a:t>
            </a:r>
          </a:p>
        </p:txBody>
      </p:sp>
      <p:sp>
        <p:nvSpPr>
          <p:cNvPr id="37" name="Text 38"/>
          <p:cNvSpPr/>
          <p:nvPr/>
        </p:nvSpPr>
        <p:spPr>
          <a:xfrm>
            <a:off x="682920" y="6090000"/>
            <a:ext cx="10850000" cy="320000"/>
          </a:xfrm>
          <a:prstGeom prst="rect">
            <a:avLst/>
          </a:prstGeom>
          <a:noFill/>
          <a:ln/>
        </p:spPr>
        <p:txBody>
          <a:bodyPr wrap="square" lIns="0" tIns="0" rIns="0" bIns="0" rtlCol="0" anchor="t"/>
          <a:lstStyle/>
          <a:p>
            <a:pPr indent="0" marL="0">
              <a:buNone/>
            </a:pPr>
            <a:r>
              <a:rPr lang="en-US" sz="820" b="1" dirty="0">
                <a:solidFill>
                  <a:srgbClr val="085041"/>
                </a:solidFill>
                <a:latin typeface="Arial" pitchFamily="34" charset="0"/>
                <a:ea typeface="Arial" pitchFamily="34" charset="-122"/>
                <a:cs typeface="Arial" pitchFamily="34" charset="-120"/>
              </a:rPr>
              <a:t>Why no write-back:  </a:t>
            </a:r>
            <a:r>
              <a:rPr lang="en-US" sz="820" dirty="0">
                <a:solidFill>
                  <a:srgbClr val="444444"/>
                </a:solidFill>
                <a:latin typeface="Arial" pitchFamily="34" charset="0"/>
                <a:ea typeface="Arial" pitchFamily="34" charset="-122"/>
                <a:cs typeface="Arial" pitchFamily="34" charset="-120"/>
              </a:rPr>
              <a:t>it would make CPI a second writer of JAMS job data — a reverse field mapping to build and maintain, JAMS-side rejections to handle, and update clashes with JAMS's own job lifecycle. The callback stays thin, the pull leaves JAMS in control, and a missed pull loses nothing — the tracker keeps every answer 90 days. Run as code: pull (CT-009, 104772) → sapProject P-000451.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4025878315A004AB1F58E1546F67836" ma:contentTypeVersion="14" ma:contentTypeDescription="Create a new document." ma:contentTypeScope="" ma:versionID="cbafd3d905c48bdc268b29353482f8ea">
  <xsd:schema xmlns:xsd="http://www.w3.org/2001/XMLSchema" xmlns:xs="http://www.w3.org/2001/XMLSchema" xmlns:p="http://schemas.microsoft.com/office/2006/metadata/properties" xmlns:ns1="http://schemas.microsoft.com/sharepoint/v3" xmlns:ns2="698b1e29-0ef0-4e77-a2a8-151dbbc9168a" xmlns:ns3="13200648-c482-4fe9-b7a1-96a547474d31" targetNamespace="http://schemas.microsoft.com/office/2006/metadata/properties" ma:root="true" ma:fieldsID="50273da84399737497474dc63b280261" ns1:_="" ns2:_="" ns3:_="">
    <xsd:import namespace="http://schemas.microsoft.com/sharepoint/v3"/>
    <xsd:import namespace="698b1e29-0ef0-4e77-a2a8-151dbbc9168a"/>
    <xsd:import namespace="13200648-c482-4fe9-b7a1-96a547474d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98b1e29-0ef0-4e77-a2a8-151dbbc916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4caaf7f-a10f-4351-a59d-0b91ff4ef03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200648-c482-4fe9-b7a1-96a547474d31"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e075beb-6a3f-412e-910f-b6b1d3bb43c6}" ma:internalName="TaxCatchAll" ma:showField="CatchAllData" ma:web="13200648-c482-4fe9-b7a1-96a547474d3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698b1e29-0ef0-4e77-a2a8-151dbbc9168a">
      <Terms xmlns="http://schemas.microsoft.com/office/infopath/2007/PartnerControls"/>
    </lcf76f155ced4ddcb4097134ff3c332f>
    <TaxCatchAll xmlns="13200648-c482-4fe9-b7a1-96a547474d31" xsi:nil="true"/>
  </documentManagement>
</p:properties>
</file>

<file path=customXml/itemProps1.xml><?xml version="1.0" encoding="utf-8"?>
<ds:datastoreItem xmlns:ds="http://schemas.openxmlformats.org/officeDocument/2006/customXml" ds:itemID="{D287F468-ABCC-4E43-A131-5E32D03F5C64}">
  <ds:schemaRefs>
    <ds:schemaRef ds:uri="http://schemas.microsoft.com/sharepoint/v3/contenttype/forms"/>
  </ds:schemaRefs>
</ds:datastoreItem>
</file>

<file path=customXml/itemProps2.xml><?xml version="1.0" encoding="utf-8"?>
<ds:datastoreItem xmlns:ds="http://schemas.openxmlformats.org/officeDocument/2006/customXml" ds:itemID="{5CC71CC4-A6E4-460F-962A-EE0FFC52C83B}">
  <ds:schemaRefs>
    <ds:schemaRef ds:uri="13200648-c482-4fe9-b7a1-96a547474d31"/>
    <ds:schemaRef ds:uri="698b1e29-0ef0-4e77-a2a8-151dbbc916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816BB14-1DD9-4524-9F8B-3E5FD7FE4A98}">
  <ds:schemaRefs>
    <ds:schemaRef ds:uri="13200648-c482-4fe9-b7a1-96a547474d31"/>
    <ds:schemaRef ds:uri="698b1e29-0ef0-4e77-a2a8-151dbbc9168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6</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Canonical request and response pattern</dc:title>
  <dc:subject>PptxGenJS Presentation</dc:subject>
  <dc:creator>Rajesh Sha</dc:creator>
  <cp:revision>1</cp:revision>
  <dcterms:created xsi:type="dcterms:W3CDTF">2026-07-09T11:42:05Z</dcterms:created>
  <dcterms:modified xsi:type="dcterms:W3CDTF">2026-07-31T00:14:44Z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0x01010004025878315A004AB1F58E1546F67836</vt:lpwstr>
  </property>
  <property fmtid="{D5CDD505-2E9C-101B-9397-08002B2CF9AE}" pid="4" name="MSIP_Label_2b47cb10-e007-4293-ae6c-08823582fcbf_ContentBits">
    <vt:lpwstr>0</vt:lpwstr>
  </property>
  <property fmtid="{D5CDD505-2E9C-101B-9397-08002B2CF9AE}" pid="5" name="MSIP_Label_2b47cb10-e007-4293-ae6c-08823582fcbf_Name">
    <vt:lpwstr>GBIS-IN-CONFIDENCE</vt:lpwstr>
  </property>
  <property fmtid="{D5CDD505-2E9C-101B-9397-08002B2CF9AE}" pid="6" name="MSIP_Label_2b47cb10-e007-4293-ae6c-08823582fcbf_Enabled">
    <vt:lpwstr>true</vt:lpwstr>
  </property>
  <property fmtid="{D5CDD505-2E9C-101B-9397-08002B2CF9AE}" pid="7" name="MSIP_Label_2b47cb10-e007-4293-ae6c-08823582fcbf_ActionId">
    <vt:lpwstr>c35e3942-f36e-4f1c-a854-de2cc97ad700</vt:lpwstr>
  </property>
  <property fmtid="{D5CDD505-2E9C-101B-9397-08002B2CF9AE}" pid="8" name="MSIP_Label_2b47cb10-e007-4293-ae6c-08823582fcbf_SetDate">
    <vt:lpwstr>2026-07-11T05:38:09Z</vt:lpwstr>
  </property>
  <property fmtid="{D5CDD505-2E9C-101B-9397-08002B2CF9AE}" pid="9" name="MSIP_Label_2b47cb10-e007-4293-ae6c-08823582fcbf_Tag">
    <vt:lpwstr>10, 3, 0, 2</vt:lpwstr>
  </property>
  <property fmtid="{D5CDD505-2E9C-101B-9397-08002B2CF9AE}" pid="10" name="MSIP_Label_2b47cb10-e007-4293-ae6c-08823582fcbf_Method">
    <vt:lpwstr>Standard</vt:lpwstr>
  </property>
  <property fmtid="{D5CDD505-2E9C-101B-9397-08002B2CF9AE}" pid="11" name="MSIP_Label_2b47cb10-e007-4293-ae6c-08823582fcbf_SiteId">
    <vt:lpwstr>ac1df4be-765d-4ffc-8dfd-21d263d4a049</vt:lpwstr>
  </property>
</Properties>
</file>