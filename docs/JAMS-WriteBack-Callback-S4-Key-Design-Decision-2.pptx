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84" r:id="rId34"/>
    <p:sldId id="260" r:id="rId9"/>
    <p:sldId id="261" r:id="rId10"/>
    <p:sldId id="273" r:id="rId11"/>
    <p:sldId id="263" r:id="rId12"/>
    <p:sldId id="264" r:id="rId13"/>
    <p:sldId id="265" r:id="rId14"/>
    <p:sldId id="271" r:id="rId15"/>
    <p:sldId id="268" r:id="rId16"/>
    <p:sldId id="269" r:id="rId17"/>
    <p:sldId id="270" r:id="rId18"/>
    <p:sldId id="276" r:id="rId26"/>
    <p:sldId id="277" r:id="rId27"/>
    <p:sldId id="282" r:id="rId32"/>
    <p:sldId id="278" r:id="rId28"/>
    <p:sldId id="283" r:id="rId33"/>
    <p:sldId id="279" r:id="rId29"/>
    <p:sldId id="280" r:id="rId30"/>
    <p:sldId id="281" r:id="rId3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8.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17.xml"/><Relationship Id="rId33" Type="http://schemas.openxmlformats.org/officeDocument/2006/relationships/slide" Target="slides/slide19.xml"/><Relationship Id="rId34"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640080" y="3520439"/>
            <a:ext cx="2468880" cy="137160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300" b="1">
                <a:solidFill>
                  <a:srgbClr val="111111"/>
                </a:solidFill>
                <a:latin typeface="Arial"/>
              </a:rPr>
              <a:t>S/4HANA</a:t>
            </a:r>
          </a:p>
          <a:p>
            <a:pPr algn="ctr"/>
            <a:r>
              <a:rPr sz="950" b="0">
                <a:solidFill>
                  <a:srgbClr val="595959"/>
                </a:solidFill>
                <a:latin typeface="Arial"/>
              </a:rPr>
              <a:t>the single source of truth</a:t>
            </a:r>
          </a:p>
        </p:txBody>
      </p:sp>
      <p:sp>
        <p:nvSpPr>
          <p:cNvPr id="6" name="Rounded Rectangle 5"/>
          <p:cNvSpPr/>
          <p:nvPr/>
        </p:nvSpPr>
        <p:spPr>
          <a:xfrm>
            <a:off x="777240" y="33924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ight Arrow 6"/>
          <p:cNvSpPr/>
          <p:nvPr/>
        </p:nvSpPr>
        <p:spPr>
          <a:xfrm>
            <a:off x="329184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1 · change detected</a:t>
            </a:r>
          </a:p>
          <a:p>
            <a:pPr algn="ctr"/>
            <a:r>
              <a:rPr sz="950" b="1" i="0">
                <a:solidFill>
                  <a:srgbClr val="0F7A3D"/>
                </a:solidFill>
                <a:latin typeface="Arial"/>
              </a:rPr>
              <a:t>(notice from S/4, or timer)</a:t>
            </a:r>
          </a:p>
        </p:txBody>
      </p:sp>
      <p:sp>
        <p:nvSpPr>
          <p:cNvPr id="9" name="Rounded Rectangle 8"/>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1" name="TextBox 10"/>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Distribution layer</a:t>
            </a:r>
          </a:p>
        </p:txBody>
      </p:sp>
      <p:sp>
        <p:nvSpPr>
          <p:cNvPr id="12" name="Rounded Rectangle 11"/>
          <p:cNvSpPr/>
          <p:nvPr/>
        </p:nvSpPr>
        <p:spPr>
          <a:xfrm>
            <a:off x="5074920" y="2670048"/>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3" name="Rounded Rectangle 12"/>
          <p:cNvSpPr/>
          <p:nvPr/>
        </p:nvSpPr>
        <p:spPr>
          <a:xfrm>
            <a:off x="5074920" y="3364991"/>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4" name="Rounded Rectangle 13"/>
          <p:cNvSpPr/>
          <p:nvPr/>
        </p:nvSpPr>
        <p:spPr>
          <a:xfrm>
            <a:off x="5074920" y="4059935"/>
            <a:ext cx="4023360" cy="713232"/>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5" name="Rounded Rectangle 14"/>
          <p:cNvSpPr/>
          <p:nvPr/>
        </p:nvSpPr>
        <p:spPr>
          <a:xfrm>
            <a:off x="5074920" y="4901183"/>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6" name="TextBox 15"/>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holds no business data — ever</a:t>
            </a:r>
          </a:p>
        </p:txBody>
      </p:sp>
      <p:sp>
        <p:nvSpPr>
          <p:cNvPr id="17" name="Right Arrow 16"/>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19" name="Rounded Rectangle 18"/>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JAMS</a:t>
            </a:r>
          </a:p>
          <a:p>
            <a:pPr algn="ctr"/>
            <a:r>
              <a:rPr sz="950" b="0">
                <a:solidFill>
                  <a:srgbClr val="595959"/>
                </a:solidFill>
                <a:latin typeface="Arial"/>
              </a:rPr>
              <a:t>receives a web service call</a:t>
            </a:r>
          </a:p>
        </p:txBody>
      </p:sp>
      <p:sp>
        <p:nvSpPr>
          <p:cNvPr id="20" name="Rounded Rectangle 19"/>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1" name="Rounded Rectangle 20"/>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ServiceNow ITSM / Defence</a:t>
            </a:r>
          </a:p>
          <a:p>
            <a:pPr algn="ctr"/>
            <a:r>
              <a:rPr sz="950" b="0">
                <a:solidFill>
                  <a:srgbClr val="595959"/>
                </a:solidFill>
                <a:latin typeface="Arial"/>
              </a:rPr>
              <a:t>receives via its built-in import interface</a:t>
            </a:r>
          </a:p>
        </p:txBody>
      </p:sp>
      <p:sp>
        <p:nvSpPr>
          <p:cNvPr id="22" name="Rounded Rectangle 21"/>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Sitetracker</a:t>
            </a:r>
          </a:p>
          <a:p>
            <a:pPr algn="ctr"/>
            <a:r>
              <a:rPr sz="950" b="0">
                <a:solidFill>
                  <a:srgbClr val="595959"/>
                </a:solidFill>
                <a:latin typeface="Arial"/>
              </a:rPr>
              <a:t>receives via its standard Salesforce interface</a:t>
            </a:r>
          </a:p>
        </p:txBody>
      </p:sp>
      <p:sp>
        <p:nvSpPr>
          <p:cNvPr id="24" name="Rounded Rectangle 23"/>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System with no interface</a:t>
            </a:r>
          </a:p>
          <a:p>
            <a:pPr algn="ctr"/>
            <a:r>
              <a:rPr sz="950" b="0">
                <a:solidFill>
                  <a:srgbClr val="595959"/>
                </a:solidFill>
                <a:latin typeface="Arial"/>
              </a:rPr>
              <a:t>file drop — or it fetches from the existing pull endpoint</a:t>
            </a:r>
          </a:p>
        </p:txBody>
      </p:sp>
      <p:sp>
        <p:nvSpPr>
          <p:cNvPr id="26" name="Rounded Rectangle 25"/>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TextBox 26"/>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28" name="TextBox 27"/>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29" name="TextBox 28"/>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change-notice service has exactly one job: telling CPI something changed. CPI does everything else. No field system ever connects to it — and a timer can do the same job where no notice exists.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4" name="Rounded Rectangle 33"/>
          <p:cNvSpPr/>
          <p:nvPr/>
        </p:nvSpPr>
        <p:spPr>
          <a:xfrm>
            <a:off x="640080" y="3840480"/>
            <a:ext cx="2651760" cy="137160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S/4HANA</a:t>
            </a:r>
          </a:p>
          <a:p>
            <a:pPr algn="ctr"/>
            <a:r>
              <a:rPr sz="900">
                <a:solidFill>
                  <a:srgbClr val="595959"/>
                </a:solidFill>
                <a:latin typeface="Arial"/>
              </a:rPr>
              <a:t>configuration only —
no development possible or needed</a:t>
            </a:r>
          </a:p>
        </p:txBody>
      </p:sp>
      <p:sp>
        <p:nvSpPr>
          <p:cNvPr id="35" name="Rounded Rectangle 34"/>
          <p:cNvSpPr/>
          <p:nvPr/>
        </p:nvSpPr>
        <p:spPr>
          <a:xfrm>
            <a:off x="777240" y="3712463"/>
            <a:ext cx="1005840" cy="237744"/>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SAP CLOUD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931920"/>
            <a:ext cx="1554480" cy="457200"/>
          </a:xfrm>
          <a:prstGeom prst="rect">
            <a:avLst/>
          </a:prstGeom>
          <a:noFill/>
        </p:spPr>
        <p:txBody>
          <a:bodyPr wrap="square" lIns="0" rIns="0" tIns="0" bIns="0">
            <a:spAutoFit/>
          </a:bodyPr>
          <a:lstStyle/>
          <a:p>
            <a:pPr algn="ctr"/>
            <a:r>
              <a:rPr sz="850" b="1" i="0">
                <a:solidFill>
                  <a:srgbClr val="0F7A3D"/>
                </a:solidFill>
                <a:latin typeface="Arial"/>
              </a:rPr>
              <a:t>notices +</a:t>
            </a:r>
          </a:p>
          <a:p>
            <a:pPr algn="ctr"/>
            <a:r>
              <a:rPr sz="850" b="1" i="0">
                <a:solidFill>
                  <a:srgbClr val="0F7A3D"/>
                </a:solidFill>
                <a:latin typeface="Arial"/>
              </a:rPr>
              <a:t>record reads</a:t>
            </a: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plumbing. It is not the primary pattern, because it moves format conversion into the field systems — the one cost this programme set out to avoid.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plumbing)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plumbing.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