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60" r:id="rId9"/>
    <p:sldId id="261" r:id="rId10"/>
    <p:sldId id="273" r:id="rId11"/>
    <p:sldId id="263" r:id="rId12"/>
    <p:sldId id="264" r:id="rId13"/>
    <p:sldId id="265" r:id="rId14"/>
    <p:sldId id="271" r:id="rId15"/>
    <p:sldId id="268" r:id="rId16"/>
    <p:sldId id="269" r:id="rId17"/>
    <p:sldId id="270" r:id="rId18"/>
    <p:sldId id="276" r:id="rId26"/>
    <p:sldId id="283" r:id="rId33"/>
    <p:sldId id="282" r:id="rId32"/>
    <p:sldId id="278" r:id="rId28"/>
    <p:sldId id="279" r:id="rId29"/>
    <p:sldId id="280" r:id="rId30"/>
    <p:sldId id="281" r:id="rId31"/>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5.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640080" y="3520439"/>
            <a:ext cx="2468880" cy="137160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300" b="1">
                <a:solidFill>
                  <a:srgbClr val="111111"/>
                </a:solidFill>
                <a:latin typeface="Arial"/>
              </a:rPr>
              <a:t>S/4HANA</a:t>
            </a:r>
          </a:p>
          <a:p>
            <a:pPr algn="ctr"/>
            <a:r>
              <a:rPr sz="950" b="0">
                <a:solidFill>
                  <a:srgbClr val="595959"/>
                </a:solidFill>
                <a:latin typeface="Arial"/>
              </a:rPr>
              <a:t>the single source of truth</a:t>
            </a:r>
          </a:p>
        </p:txBody>
      </p:sp>
      <p:sp>
        <p:nvSpPr>
          <p:cNvPr id="6" name="Rounded Rectangle 5"/>
          <p:cNvSpPr/>
          <p:nvPr/>
        </p:nvSpPr>
        <p:spPr>
          <a:xfrm>
            <a:off x="777240" y="33924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ight Arrow 6"/>
          <p:cNvSpPr/>
          <p:nvPr/>
        </p:nvSpPr>
        <p:spPr>
          <a:xfrm>
            <a:off x="329184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1 · change detected</a:t>
            </a:r>
          </a:p>
          <a:p>
            <a:pPr algn="ctr"/>
            <a:r>
              <a:rPr sz="950" b="1" i="0">
                <a:solidFill>
                  <a:srgbClr val="0F7A3D"/>
                </a:solidFill>
                <a:latin typeface="Arial"/>
              </a:rPr>
              <a:t>(notice from S/4, or timer)</a:t>
            </a:r>
          </a:p>
        </p:txBody>
      </p:sp>
      <p:sp>
        <p:nvSpPr>
          <p:cNvPr id="9" name="Rounded Rectangle 8"/>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1" name="TextBox 10"/>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Distribution layer</a:t>
            </a:r>
          </a:p>
        </p:txBody>
      </p:sp>
      <p:sp>
        <p:nvSpPr>
          <p:cNvPr id="12" name="Rounded Rectangle 11"/>
          <p:cNvSpPr/>
          <p:nvPr/>
        </p:nvSpPr>
        <p:spPr>
          <a:xfrm>
            <a:off x="5074920" y="2670048"/>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3" name="Rounded Rectangle 12"/>
          <p:cNvSpPr/>
          <p:nvPr/>
        </p:nvSpPr>
        <p:spPr>
          <a:xfrm>
            <a:off x="5074920" y="3364991"/>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4" name="Rounded Rectangle 13"/>
          <p:cNvSpPr/>
          <p:nvPr/>
        </p:nvSpPr>
        <p:spPr>
          <a:xfrm>
            <a:off x="5074920" y="4059935"/>
            <a:ext cx="4023360" cy="713232"/>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5" name="Rounded Rectangle 14"/>
          <p:cNvSpPr/>
          <p:nvPr/>
        </p:nvSpPr>
        <p:spPr>
          <a:xfrm>
            <a:off x="5074920" y="4901183"/>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6" name="TextBox 15"/>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holds no business data — ever</a:t>
            </a:r>
          </a:p>
        </p:txBody>
      </p:sp>
      <p:sp>
        <p:nvSpPr>
          <p:cNvPr id="17" name="Right Arrow 16"/>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19" name="Rounded Rectangle 18"/>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JAMS</a:t>
            </a:r>
          </a:p>
          <a:p>
            <a:pPr algn="ctr"/>
            <a:r>
              <a:rPr sz="950" b="0">
                <a:solidFill>
                  <a:srgbClr val="595959"/>
                </a:solidFill>
                <a:latin typeface="Arial"/>
              </a:rPr>
              <a:t>receives a web service call</a:t>
            </a:r>
          </a:p>
        </p:txBody>
      </p:sp>
      <p:sp>
        <p:nvSpPr>
          <p:cNvPr id="20" name="Rounded Rectangle 19"/>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1" name="Rounded Rectangle 20"/>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ServiceNow ITSM / Defence</a:t>
            </a:r>
          </a:p>
          <a:p>
            <a:pPr algn="ctr"/>
            <a:r>
              <a:rPr sz="950" b="0">
                <a:solidFill>
                  <a:srgbClr val="595959"/>
                </a:solidFill>
                <a:latin typeface="Arial"/>
              </a:rPr>
              <a:t>receives via its built-in import interface</a:t>
            </a:r>
          </a:p>
        </p:txBody>
      </p:sp>
      <p:sp>
        <p:nvSpPr>
          <p:cNvPr id="22" name="Rounded Rectangle 21"/>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Sitetracker</a:t>
            </a:r>
          </a:p>
          <a:p>
            <a:pPr algn="ctr"/>
            <a:r>
              <a:rPr sz="950" b="0">
                <a:solidFill>
                  <a:srgbClr val="595959"/>
                </a:solidFill>
                <a:latin typeface="Arial"/>
              </a:rPr>
              <a:t>receives via its standard Salesforce interface</a:t>
            </a:r>
          </a:p>
        </p:txBody>
      </p:sp>
      <p:sp>
        <p:nvSpPr>
          <p:cNvPr id="24" name="Rounded Rectangle 23"/>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System with no interface</a:t>
            </a:r>
          </a:p>
          <a:p>
            <a:pPr algn="ctr"/>
            <a:r>
              <a:rPr sz="950" b="0">
                <a:solidFill>
                  <a:srgbClr val="595959"/>
                </a:solidFill>
                <a:latin typeface="Arial"/>
              </a:rPr>
              <a:t>file drop — or it fetches from the existing pull endpoint</a:t>
            </a:r>
          </a:p>
        </p:txBody>
      </p:sp>
      <p:sp>
        <p:nvSpPr>
          <p:cNvPr id="26" name="Rounded Rectangle 25"/>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TextBox 26"/>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28" name="TextBox 27"/>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29" name="TextBox 28"/>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change-notice service has exactly one job: telling CPI something changed. CPI does everything else. No field system ever connects to it — and a timer can do the same job where no notice exists.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The chevrons are the flow; the panel under each carries the technical detail. Only step 6’s delivery method differs per system.</a:t>
            </a:r>
          </a:p>
        </p:txBody>
      </p:sp>
      <p:sp>
        <p:nvSpPr>
          <p:cNvPr id="5" name="Chevron 4"/>
          <p:cNvSpPr/>
          <p:nvPr/>
        </p:nvSpPr>
        <p:spPr>
          <a:xfrm>
            <a:off x="640080" y="160020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99232"/>
            <a:ext cx="2299062" cy="5120640"/>
          </a:xfrm>
          <a:prstGeom prst="roundRect">
            <a:avLst>
              <a:gd name="adj" fmla="val 40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r>
              <a:rPr sz="1050" b="1">
                <a:solidFill>
                  <a:srgbClr val="1F3864"/>
                </a:solidFill>
                <a:latin typeface="Arial"/>
              </a:rPr>
              <a:t>In S/4HANA</a:t>
            </a:r>
          </a:p>
          <a:p>
            <a:pPr algn="l">
              <a:spcBef>
                <a:spcPts val="600"/>
              </a:spcBef>
            </a:pPr>
            <a:r>
              <a:rPr sz="900">
                <a:solidFill>
                  <a:srgbClr val="111111"/>
                </a:solidFill>
                <a:latin typeface="Arial"/>
              </a:rPr>
              <a:t>Any source: a field system’s own message, a user in S/4, another integration.</a:t>
            </a:r>
          </a:p>
          <a:p>
            <a:pPr algn="l">
              <a:spcBef>
                <a:spcPts val="600"/>
              </a:spcBef>
            </a:pPr>
            <a:r>
              <a:rPr sz="900">
                <a:solidFill>
                  <a:srgbClr val="111111"/>
                </a:solidFill>
                <a:latin typeface="Arial"/>
              </a:rPr>
              <a:t>No difference in what follows — one path for all.</a:t>
            </a:r>
          </a:p>
        </p:txBody>
      </p:sp>
      <p:sp>
        <p:nvSpPr>
          <p:cNvPr id="7" name="Chevron 6"/>
          <p:cNvSpPr/>
          <p:nvPr/>
        </p:nvSpPr>
        <p:spPr>
          <a:xfrm>
            <a:off x="3030582" y="160020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99232"/>
            <a:ext cx="2299062" cy="5120640"/>
          </a:xfrm>
          <a:prstGeom prst="roundRect">
            <a:avLst>
              <a:gd name="adj" fmla="val 40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r>
              <a:rPr sz="1050" b="1">
                <a:solidFill>
                  <a:srgbClr val="1F3864"/>
                </a:solidFill>
                <a:latin typeface="Arial"/>
              </a:rPr>
              <a:t>Notice or timer</a:t>
            </a:r>
          </a:p>
          <a:p>
            <a:pPr algn="l">
              <a:spcBef>
                <a:spcPts val="600"/>
              </a:spcBef>
            </a:pPr>
            <a:r>
              <a:rPr sz="900">
                <a:solidFill>
                  <a:srgbClr val="111111"/>
                </a:solidFill>
                <a:latin typeface="Arial"/>
              </a:rPr>
              <a:t>Change notice from S/4 on the active channel EMIS_COM_0092 (carries the record ID only)</a:t>
            </a:r>
          </a:p>
          <a:p>
            <a:pPr algn="l">
              <a:spcBef>
                <a:spcPts val="600"/>
              </a:spcBef>
            </a:pPr>
            <a:r>
              <a:rPr sz="900">
                <a:solidFill>
                  <a:srgbClr val="111111"/>
                </a:solidFill>
                <a:latin typeface="Arial"/>
              </a:rPr>
              <a:t>— or the timed check asks the S/4 API: changed since last run?</a:t>
            </a:r>
          </a:p>
          <a:p>
            <a:pPr algn="l">
              <a:spcBef>
                <a:spcPts val="600"/>
              </a:spcBef>
            </a:pPr>
            <a:r>
              <a:rPr sz="900">
                <a:solidFill>
                  <a:srgbClr val="111111"/>
                </a:solidFill>
                <a:latin typeface="Arial"/>
              </a:rPr>
              <a:t>Chosen per kind of data; both feed step 3.</a:t>
            </a:r>
          </a:p>
        </p:txBody>
      </p:sp>
      <p:sp>
        <p:nvSpPr>
          <p:cNvPr id="9" name="Chevron 8"/>
          <p:cNvSpPr/>
          <p:nvPr/>
        </p:nvSpPr>
        <p:spPr>
          <a:xfrm>
            <a:off x="5421085" y="160020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99232"/>
            <a:ext cx="2299062" cy="5120640"/>
          </a:xfrm>
          <a:prstGeom prst="roundRect">
            <a:avLst>
              <a:gd name="adj" fmla="val 40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r>
              <a:rPr sz="1050" b="1">
                <a:solidFill>
                  <a:srgbClr val="1F3864"/>
                </a:solidFill>
                <a:latin typeface="Arial"/>
              </a:rPr>
              <a:t>From S/4, fresh</a:t>
            </a:r>
          </a:p>
          <a:p>
            <a:pPr algn="l">
              <a:spcBef>
                <a:spcPts val="600"/>
              </a:spcBef>
            </a:pPr>
            <a:r>
              <a:rPr sz="900">
                <a:solidFill>
                  <a:srgbClr val="111111"/>
                </a:solidFill>
                <a:latin typeface="Arial"/>
              </a:rPr>
              <a:t>GET on the released S/4 API — the same APIs already proven for the pull design (systemId + filters).</a:t>
            </a:r>
          </a:p>
          <a:p>
            <a:pPr algn="l">
              <a:spcBef>
                <a:spcPts val="600"/>
              </a:spcBef>
            </a:pPr>
            <a:r>
              <a:rPr sz="900">
                <a:solidFill>
                  <a:srgbClr val="111111"/>
                </a:solidFill>
                <a:latin typeface="Arial"/>
              </a:rPr>
              <a:t>Always current state, even if notices arrive late or out of order.</a:t>
            </a:r>
          </a:p>
        </p:txBody>
      </p:sp>
      <p:sp>
        <p:nvSpPr>
          <p:cNvPr id="11" name="Chevron 10"/>
          <p:cNvSpPr/>
          <p:nvPr/>
        </p:nvSpPr>
        <p:spPr>
          <a:xfrm>
            <a:off x="7811588" y="160020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99232"/>
            <a:ext cx="2299062" cy="5120640"/>
          </a:xfrm>
          <a:prstGeom prst="roundRect">
            <a:avLst>
              <a:gd name="adj" fmla="val 40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r>
              <a:rPr sz="1050" b="1">
                <a:solidFill>
                  <a:srgbClr val="1F3864"/>
                </a:solidFill>
                <a:latin typeface="Arial"/>
              </a:rPr>
              <a:t>One format for all</a:t>
            </a:r>
          </a:p>
          <a:p>
            <a:pPr algn="l">
              <a:spcBef>
                <a:spcPts val="600"/>
              </a:spcBef>
            </a:pPr>
            <a:r>
              <a:rPr sz="900">
                <a:solidFill>
                  <a:srgbClr val="111111"/>
                </a:solidFill>
                <a:latin typeface="Arial"/>
              </a:rPr>
              <a:t>Adds tracking fields: message ID, correlation ID, record ID, contract, changed-at, format version.</a:t>
            </a:r>
          </a:p>
          <a:p>
            <a:pPr algn="l">
              <a:spcBef>
                <a:spcPts val="6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60020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99232"/>
            <a:ext cx="2299062" cy="5120640"/>
          </a:xfrm>
          <a:prstGeom prst="roundRect">
            <a:avLst>
              <a:gd name="adj" fmla="val 40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r>
              <a:rPr sz="1050" b="1">
                <a:solidFill>
                  <a:srgbClr val="1F3864"/>
                </a:solidFill>
                <a:latin typeface="Arial"/>
              </a:rPr>
              <a:t>Who gets it</a:t>
            </a:r>
          </a:p>
          <a:p>
            <a:pPr algn="l">
              <a:spcBef>
                <a:spcPts val="600"/>
              </a:spcBef>
            </a:pPr>
            <a:r>
              <a:rPr sz="900">
                <a:solidFill>
                  <a:srgbClr val="111111"/>
                </a:solidFill>
                <a:latin typeface="Arial"/>
              </a:rPr>
              <a:t>Subscription list: system × kind of data × contract scope. One copy per matching system.</a:t>
            </a:r>
          </a:p>
          <a:p>
            <a:pPr algn="l">
              <a:spcBef>
                <a:spcPts val="600"/>
              </a:spcBef>
            </a:pPr>
            <a:r>
              <a:rPr sz="900">
                <a:solidFill>
                  <a:srgbClr val="111111"/>
                </a:solidFill>
                <a:latin typeface="Arial"/>
              </a:rPr>
              <a:t>No other path exists — Defence can only ever receive Defence contracts. Central, auditable.</a:t>
            </a:r>
          </a:p>
        </p:txBody>
      </p:sp>
      <p:sp>
        <p:nvSpPr>
          <p:cNvPr id="15" name="Chevron 14"/>
          <p:cNvSpPr/>
          <p:nvPr/>
        </p:nvSpPr>
        <p:spPr>
          <a:xfrm>
            <a:off x="12592594" y="160020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99232"/>
            <a:ext cx="2299062" cy="5120640"/>
          </a:xfrm>
          <a:prstGeom prst="roundRect">
            <a:avLst>
              <a:gd name="adj" fmla="val 40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r>
              <a:rPr sz="1050" b="1">
                <a:solidFill>
                  <a:srgbClr val="1F3864"/>
                </a:solidFill>
                <a:latin typeface="Arial"/>
              </a:rPr>
              <a:t>Push or file</a:t>
            </a:r>
          </a:p>
          <a:p>
            <a:pPr algn="l">
              <a:spcBef>
                <a:spcPts val="600"/>
              </a:spcBef>
            </a:pPr>
            <a:r>
              <a:rPr sz="900">
                <a:solidFill>
                  <a:srgbClr val="111111"/>
                </a:solidFill>
                <a:latin typeface="Arial"/>
              </a:rPr>
              <a:t>HTTPS call (JAMS service · ServiceNow import · Salesforce save) or SFTP file.</a:t>
            </a:r>
          </a:p>
          <a:p>
            <a:pPr algn="l">
              <a:spcBef>
                <a:spcPts val="600"/>
              </a:spcBef>
            </a:pPr>
            <a:r>
              <a:rPr sz="900">
                <a:solidFill>
                  <a:srgbClr val="111111"/>
                </a:solidFill>
                <a:latin typeface="Arial"/>
              </a:rPr>
              <a:t>Auto-retry with growing gaps (~1h); then error queue + alert to a named owner. One system down never delays another.</a:t>
            </a:r>
          </a:p>
        </p:txBody>
      </p:sp>
      <p:sp>
        <p:nvSpPr>
          <p:cNvPr id="17" name="Chevron 16"/>
          <p:cNvSpPr/>
          <p:nvPr/>
        </p:nvSpPr>
        <p:spPr>
          <a:xfrm>
            <a:off x="14983097" y="160020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99232"/>
            <a:ext cx="2299062" cy="5120640"/>
          </a:xfrm>
          <a:prstGeom prst="roundRect">
            <a:avLst>
              <a:gd name="adj" fmla="val 40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r>
              <a:rPr sz="1050" b="1">
                <a:solidFill>
                  <a:srgbClr val="1F3864"/>
                </a:solidFill>
                <a:latin typeface="Arial"/>
              </a:rPr>
              <a:t>Create or update</a:t>
            </a:r>
          </a:p>
          <a:p>
            <a:pPr algn="l">
              <a:spcBef>
                <a:spcPts val="600"/>
              </a:spcBef>
            </a:pPr>
            <a:r>
              <a:rPr sz="900">
                <a:solidFill>
                  <a:srgbClr val="111111"/>
                </a:solidFill>
                <a:latin typeface="Arial"/>
              </a:rPr>
              <a:t>Matched on the S/4 document number: create if new, update if existing; newest change wins.</a:t>
            </a:r>
          </a:p>
          <a:p>
            <a:pPr algn="l">
              <a:spcBef>
                <a:spcPts val="600"/>
              </a:spcBef>
            </a:pPr>
            <a:r>
              <a:rPr sz="900">
                <a:solidFill>
                  <a:srgbClr val="111111"/>
                </a:solidFill>
                <a:latin typeface="Arial"/>
              </a:rPr>
              <a:t>Replies saved (200) or rejected + reason (400). Same message twice = no harm.</a:t>
            </a:r>
          </a:p>
        </p:txBody>
      </p:sp>
      <p:sp>
        <p:nvSpPr>
          <p:cNvPr id="19" name="TextBox 18"/>
          <p:cNvSpPr txBox="1"/>
          <p:nvPr/>
        </p:nvSpPr>
        <p:spPr>
          <a:xfrm>
            <a:off x="640080" y="8321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8778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plumbing. It is not the primary pattern, because it moves format conversion into the field systems — the one cost this programme set out to avoid.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plumbing)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plumbing.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4" name="Rounded Rectangle 33"/>
          <p:cNvSpPr/>
          <p:nvPr/>
        </p:nvSpPr>
        <p:spPr>
          <a:xfrm>
            <a:off x="640080" y="3840480"/>
            <a:ext cx="2651760" cy="137160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S/4HANA</a:t>
            </a:r>
          </a:p>
          <a:p>
            <a:pPr algn="ctr"/>
            <a:r>
              <a:rPr sz="900">
                <a:solidFill>
                  <a:srgbClr val="595959"/>
                </a:solidFill>
                <a:latin typeface="Arial"/>
              </a:rPr>
              <a:t>configuration only —
no development possible or needed</a:t>
            </a:r>
          </a:p>
        </p:txBody>
      </p:sp>
      <p:sp>
        <p:nvSpPr>
          <p:cNvPr id="35" name="Rounded Rectangle 34"/>
          <p:cNvSpPr/>
          <p:nvPr/>
        </p:nvSpPr>
        <p:spPr>
          <a:xfrm>
            <a:off x="777240" y="3712463"/>
            <a:ext cx="1005840" cy="237744"/>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SAP CLOUD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80360" y="3931920"/>
            <a:ext cx="1554480" cy="457200"/>
          </a:xfrm>
          <a:prstGeom prst="rect">
            <a:avLst/>
          </a:prstGeom>
          <a:noFill/>
        </p:spPr>
        <p:txBody>
          <a:bodyPr wrap="square" lIns="0" rIns="0" tIns="0" bIns="0">
            <a:spAutoFit/>
          </a:bodyPr>
          <a:lstStyle/>
          <a:p>
            <a:pPr algn="ctr"/>
            <a:r>
              <a:rPr sz="850" b="1" i="0">
                <a:solidFill>
                  <a:srgbClr val="0F7A3D"/>
                </a:solidFill>
                <a:latin typeface="Arial"/>
              </a:rPr>
              <a:t>notices +</a:t>
            </a:r>
          </a:p>
          <a:p>
            <a:pPr algn="ctr"/>
            <a:r>
              <a:rPr sz="850" b="1" i="0">
                <a:solidFill>
                  <a:srgbClr val="0F7A3D"/>
                </a:solidFill>
                <a:latin typeface="Arial"/>
              </a:rPr>
              <a:t>record reads</a:t>
            </a: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