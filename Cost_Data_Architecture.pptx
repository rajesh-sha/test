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11430000" cy="457200"/>
          </a:xfrm>
          <a:prstGeom prst="rect">
            <a:avLst/>
          </a:prstGeom>
          <a:noFill/>
          <a:ln/>
        </p:spPr>
        <p:txBody>
          <a:bodyPr wrap="square" lIns="0" tIns="0" rIns="0" bIns="0" rtlCol="0" anchor="ctr"/>
          <a:lstStyle/>
          <a:p>
            <a:pPr indent="0" marL="0">
              <a:buNone/>
            </a:pPr>
            <a:r>
              <a:rPr lang="en-US" sz="2400" b="1" dirty="0">
                <a:solidFill>
                  <a:srgbClr val="1F3864"/>
                </a:solidFill>
                <a:latin typeface="Arial" pitchFamily="34" charset="0"/>
                <a:ea typeface="Arial" pitchFamily="34" charset="-122"/>
                <a:cs typeface="Arial" pitchFamily="34" charset="-120"/>
              </a:rPr>
              <a:t>Cost data — architecture</a:t>
            </a:r>
            <a:endParaRPr lang="en-US" sz="2400" dirty="0"/>
          </a:p>
        </p:txBody>
      </p:sp>
      <p:sp>
        <p:nvSpPr>
          <p:cNvPr id="3" name="Text 1"/>
          <p:cNvSpPr/>
          <p:nvPr/>
        </p:nvSpPr>
        <p:spPr>
          <a:xfrm>
            <a:off x="365760" y="658368"/>
            <a:ext cx="11430000" cy="310896"/>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Four source documents post into the Universal Journal (ACDOCA), keyed by WBS. Journal entries publish no business event, so change detection is a timed delta extract.</a:t>
            </a:r>
            <a:endParaRPr lang="en-US" sz="950" dirty="0"/>
          </a:p>
        </p:txBody>
      </p:sp>
      <p:sp>
        <p:nvSpPr>
          <p:cNvPr id="4" name="Text 2"/>
          <p:cNvSpPr/>
          <p:nvPr/>
        </p:nvSpPr>
        <p:spPr>
          <a:xfrm>
            <a:off x="365760" y="923544"/>
            <a:ext cx="1097280" cy="237744"/>
          </a:xfrm>
          <a:prstGeom prst="rect">
            <a:avLst/>
          </a:prstGeom>
          <a:solidFill>
            <a:srgbClr val="000000"/>
          </a:solid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SAP CLOUD</a:t>
            </a:r>
            <a:endParaRPr lang="en-US" sz="850" dirty="0"/>
          </a:p>
        </p:txBody>
      </p:sp>
      <p:sp>
        <p:nvSpPr>
          <p:cNvPr id="5" name="Text 3"/>
          <p:cNvSpPr/>
          <p:nvPr/>
        </p:nvSpPr>
        <p:spPr>
          <a:xfrm>
            <a:off x="365760" y="1170432"/>
            <a:ext cx="3063240" cy="5029200"/>
          </a:xfrm>
          <a:prstGeom prst="roundRect">
            <a:avLst>
              <a:gd name="adj" fmla="val 3582"/>
            </a:avLst>
          </a:prstGeom>
          <a:solidFill>
            <a:srgbClr val="FFFFFF"/>
          </a:solidFill>
          <a:ln w="15875">
            <a:solidFill>
              <a:srgbClr val="000000"/>
            </a:solidFill>
          </a:ln>
        </p:spPr>
        <p:txBody>
          <a:bodyPr wrap="square" rtlCol="0" anchor="ctr"/>
          <a:lstStyle/>
          <a:p>
            <a:pPr indent="0" marL="0">
              <a:buNone/>
            </a:pPr>
            <a:endParaRPr lang="en-US" dirty="0"/>
          </a:p>
        </p:txBody>
      </p:sp>
      <p:sp>
        <p:nvSpPr>
          <p:cNvPr id="6" name="Text 4"/>
          <p:cNvSpPr/>
          <p:nvPr/>
        </p:nvSpPr>
        <p:spPr>
          <a:xfrm>
            <a:off x="457200" y="1261872"/>
            <a:ext cx="2880360" cy="45720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S/4HANA</a:t>
            </a:r>
            <a:pPr algn="ctr" indent="0" marL="0">
              <a:buNone/>
            </a:pPr>
            <a:endParaRPr lang="en-US" sz="1200" dirty="0"/>
          </a:p>
          <a:p>
            <a:pPr algn="ctr" indent="0" marL="0">
              <a:buNone/>
            </a:pPr>
            <a:r>
              <a:rPr lang="en-US" sz="800" dirty="0">
                <a:solidFill>
                  <a:srgbClr val="595959"/>
                </a:solidFill>
                <a:latin typeface="Arial" pitchFamily="34" charset="0"/>
                <a:ea typeface="Arial" pitchFamily="34" charset="-122"/>
                <a:cs typeface="Arial" pitchFamily="34" charset="-120"/>
              </a:rPr>
              <a:t>source documents that carry cost</a:t>
            </a:r>
            <a:endParaRPr lang="en-US" sz="1200" dirty="0"/>
          </a:p>
        </p:txBody>
      </p:sp>
      <p:sp>
        <p:nvSpPr>
          <p:cNvPr id="7" name="Text 5"/>
          <p:cNvSpPr/>
          <p:nvPr/>
        </p:nvSpPr>
        <p:spPr>
          <a:xfrm>
            <a:off x="502920" y="1783080"/>
            <a:ext cx="2788920" cy="640080"/>
          </a:xfrm>
          <a:prstGeom prst="roundRect">
            <a:avLst>
              <a:gd name="adj" fmla="val 8571"/>
            </a:avLst>
          </a:prstGeom>
          <a:solidFill>
            <a:srgbClr val="F2F2F5"/>
          </a:solidFill>
          <a:ln w="9525">
            <a:solidFill>
              <a:srgbClr val="BFBFBF"/>
            </a:solidFill>
          </a:ln>
        </p:spPr>
        <p:txBody>
          <a:bodyPr wrap="square" lIns="762" tIns="762" rIns="762" bIns="762" rtlCol="0" anchor="ctr"/>
          <a:lstStyle/>
          <a:p>
            <a:pPr algn="l" indent="0" marL="0">
              <a:buNone/>
            </a:pPr>
            <a:r>
              <a:rPr lang="en-US" sz="950" b="1" dirty="0">
                <a:solidFill>
                  <a:srgbClr val="000000"/>
                </a:solidFill>
                <a:latin typeface="Arial" pitchFamily="34" charset="0"/>
                <a:ea typeface="Arial" pitchFamily="34" charset="-122"/>
                <a:cs typeface="Arial" pitchFamily="34" charset="-120"/>
              </a:rPr>
              <a:t>Labour</a:t>
            </a:r>
            <a:pPr algn="l" indent="0" marL="0">
              <a:buNone/>
            </a:pPr>
            <a:r>
              <a:rPr lang="en-US" sz="850" dirty="0">
                <a:solidFill>
                  <a:srgbClr val="000000"/>
                </a:solidFill>
                <a:latin typeface="Arial" pitchFamily="34" charset="0"/>
                <a:ea typeface="Arial" pitchFamily="34" charset="-122"/>
                <a:cs typeface="Arial" pitchFamily="34" charset="-120"/>
              </a:rPr>
              <a:t> — time confirmation / activity allocation</a:t>
            </a:r>
            <a:pPr algn="l" indent="0" marL="0">
              <a:buNone/>
            </a:pPr>
            <a:endParaRPr lang="en-US" sz="950" dirty="0"/>
          </a:p>
          <a:p>
            <a:pPr algn="l" indent="0" marL="0">
              <a:buNone/>
            </a:pPr>
            <a:r>
              <a:rPr lang="en-US" sz="750" dirty="0">
                <a:solidFill>
                  <a:srgbClr val="C00000"/>
                </a:solidFill>
                <a:latin typeface="Arial" pitchFamily="34" charset="0"/>
                <a:ea typeface="Arial" pitchFamily="34" charset="-122"/>
                <a:cs typeface="Arial" pitchFamily="34" charset="-120"/>
              </a:rPr>
              <a:t>no released event</a:t>
            </a:r>
            <a:endParaRPr lang="en-US" sz="950" dirty="0"/>
          </a:p>
        </p:txBody>
      </p:sp>
      <p:sp>
        <p:nvSpPr>
          <p:cNvPr id="8" name="Text 6"/>
          <p:cNvSpPr/>
          <p:nvPr/>
        </p:nvSpPr>
        <p:spPr>
          <a:xfrm>
            <a:off x="502920" y="2496312"/>
            <a:ext cx="2788920" cy="640080"/>
          </a:xfrm>
          <a:prstGeom prst="roundRect">
            <a:avLst>
              <a:gd name="adj" fmla="val 8571"/>
            </a:avLst>
          </a:prstGeom>
          <a:solidFill>
            <a:srgbClr val="F2F2F5"/>
          </a:solidFill>
          <a:ln w="9525">
            <a:solidFill>
              <a:srgbClr val="BFBFBF"/>
            </a:solidFill>
          </a:ln>
        </p:spPr>
        <p:txBody>
          <a:bodyPr wrap="square" lIns="762" tIns="762" rIns="762" bIns="762" rtlCol="0" anchor="ctr"/>
          <a:lstStyle/>
          <a:p>
            <a:pPr algn="l" indent="0" marL="0">
              <a:buNone/>
            </a:pPr>
            <a:r>
              <a:rPr lang="en-US" sz="950" b="1" dirty="0">
                <a:solidFill>
                  <a:srgbClr val="000000"/>
                </a:solidFill>
                <a:latin typeface="Arial" pitchFamily="34" charset="0"/>
                <a:ea typeface="Arial" pitchFamily="34" charset="-122"/>
                <a:cs typeface="Arial" pitchFamily="34" charset="-120"/>
              </a:rPr>
              <a:t>Equipment / plant</a:t>
            </a:r>
            <a:pPr algn="l" indent="0" marL="0">
              <a:buNone/>
            </a:pPr>
            <a:r>
              <a:rPr lang="en-US" sz="850" dirty="0">
                <a:solidFill>
                  <a:srgbClr val="000000"/>
                </a:solidFill>
                <a:latin typeface="Arial" pitchFamily="34" charset="0"/>
                <a:ea typeface="Arial" pitchFamily="34" charset="-122"/>
                <a:cs typeface="Arial" pitchFamily="34" charset="-120"/>
              </a:rPr>
              <a:t> — internal activity allocation</a:t>
            </a:r>
            <a:pPr algn="l" indent="0" marL="0">
              <a:buNone/>
            </a:pPr>
            <a:endParaRPr lang="en-US" sz="950" dirty="0"/>
          </a:p>
          <a:p>
            <a:pPr algn="l" indent="0" marL="0">
              <a:buNone/>
            </a:pPr>
            <a:r>
              <a:rPr lang="en-US" sz="750" dirty="0">
                <a:solidFill>
                  <a:srgbClr val="C00000"/>
                </a:solidFill>
                <a:latin typeface="Arial" pitchFamily="34" charset="0"/>
                <a:ea typeface="Arial" pitchFamily="34" charset="-122"/>
                <a:cs typeface="Arial" pitchFamily="34" charset="-120"/>
              </a:rPr>
              <a:t>no released event</a:t>
            </a:r>
            <a:endParaRPr lang="en-US" sz="950" dirty="0"/>
          </a:p>
        </p:txBody>
      </p:sp>
      <p:sp>
        <p:nvSpPr>
          <p:cNvPr id="9" name="Text 7"/>
          <p:cNvSpPr/>
          <p:nvPr/>
        </p:nvSpPr>
        <p:spPr>
          <a:xfrm>
            <a:off x="502920" y="3209544"/>
            <a:ext cx="2788920" cy="640080"/>
          </a:xfrm>
          <a:prstGeom prst="roundRect">
            <a:avLst>
              <a:gd name="adj" fmla="val 8571"/>
            </a:avLst>
          </a:prstGeom>
          <a:solidFill>
            <a:srgbClr val="F2F2F5"/>
          </a:solidFill>
          <a:ln w="9525">
            <a:solidFill>
              <a:srgbClr val="BFBFBF"/>
            </a:solidFill>
          </a:ln>
        </p:spPr>
        <p:txBody>
          <a:bodyPr wrap="square" lIns="762" tIns="762" rIns="762" bIns="762" rtlCol="0" anchor="ctr"/>
          <a:lstStyle/>
          <a:p>
            <a:pPr algn="l" indent="0" marL="0">
              <a:buNone/>
            </a:pPr>
            <a:r>
              <a:rPr lang="en-US" sz="950" b="1" dirty="0">
                <a:solidFill>
                  <a:srgbClr val="000000"/>
                </a:solidFill>
                <a:latin typeface="Arial" pitchFamily="34" charset="0"/>
                <a:ea typeface="Arial" pitchFamily="34" charset="-122"/>
                <a:cs typeface="Arial" pitchFamily="34" charset="-120"/>
              </a:rPr>
              <a:t>Proc</a:t>
            </a:r>
            <a:pPr algn="l" indent="0" marL="0">
              <a:buNone/>
            </a:pPr>
            <a:r>
              <a:rPr lang="en-US" sz="850" dirty="0">
                <a:solidFill>
                  <a:srgbClr val="000000"/>
                </a:solidFill>
                <a:latin typeface="Arial" pitchFamily="34" charset="0"/>
                <a:ea typeface="Arial" pitchFamily="34" charset="-122"/>
                <a:cs typeface="Arial" pitchFamily="34" charset="-120"/>
              </a:rPr>
              <a:t> — service entry sheet + supplier invoice on the PO</a:t>
            </a:r>
            <a:pPr algn="l" indent="0" marL="0">
              <a:buNone/>
            </a:pPr>
            <a:endParaRPr lang="en-US" sz="950" dirty="0"/>
          </a:p>
          <a:p>
            <a:pPr algn="l" indent="0" marL="0">
              <a:buNone/>
            </a:pPr>
            <a:r>
              <a:rPr lang="en-US" sz="750" dirty="0">
                <a:solidFill>
                  <a:srgbClr val="C00000"/>
                </a:solidFill>
                <a:latin typeface="Arial" pitchFamily="34" charset="0"/>
                <a:ea typeface="Arial" pitchFamily="34" charset="-122"/>
                <a:cs typeface="Arial" pitchFamily="34" charset="-120"/>
              </a:rPr>
              <a:t>SES Changed event active in dev; supplier invoice event to confirm</a:t>
            </a:r>
            <a:endParaRPr lang="en-US" sz="950" dirty="0"/>
          </a:p>
        </p:txBody>
      </p:sp>
      <p:sp>
        <p:nvSpPr>
          <p:cNvPr id="10" name="Text 8"/>
          <p:cNvSpPr/>
          <p:nvPr/>
        </p:nvSpPr>
        <p:spPr>
          <a:xfrm>
            <a:off x="502920" y="3922776"/>
            <a:ext cx="2788920" cy="640080"/>
          </a:xfrm>
          <a:prstGeom prst="roundRect">
            <a:avLst>
              <a:gd name="adj" fmla="val 8571"/>
            </a:avLst>
          </a:prstGeom>
          <a:solidFill>
            <a:srgbClr val="F2F2F5"/>
          </a:solidFill>
          <a:ln w="9525">
            <a:solidFill>
              <a:srgbClr val="BFBFBF"/>
            </a:solidFill>
          </a:ln>
        </p:spPr>
        <p:txBody>
          <a:bodyPr wrap="square" lIns="762" tIns="762" rIns="762" bIns="762" rtlCol="0" anchor="ctr"/>
          <a:lstStyle/>
          <a:p>
            <a:pPr algn="l" indent="0" marL="0">
              <a:buNone/>
            </a:pPr>
            <a:r>
              <a:rPr lang="en-US" sz="950" b="1" dirty="0">
                <a:solidFill>
                  <a:srgbClr val="000000"/>
                </a:solidFill>
                <a:latin typeface="Arial" pitchFamily="34" charset="0"/>
                <a:ea typeface="Arial" pitchFamily="34" charset="-122"/>
                <a:cs typeface="Arial" pitchFamily="34" charset="-120"/>
              </a:rPr>
              <a:t>Material usage</a:t>
            </a:r>
            <a:pPr algn="l" indent="0" marL="0">
              <a:buNone/>
            </a:pPr>
            <a:r>
              <a:rPr lang="en-US" sz="850" dirty="0">
                <a:solidFill>
                  <a:srgbClr val="000000"/>
                </a:solidFill>
                <a:latin typeface="Arial" pitchFamily="34" charset="0"/>
                <a:ea typeface="Arial" pitchFamily="34" charset="-122"/>
                <a:cs typeface="Arial" pitchFamily="34" charset="-120"/>
              </a:rPr>
              <a:t> — goods issue (material document)</a:t>
            </a:r>
            <a:pPr algn="l" indent="0" marL="0">
              <a:buNone/>
            </a:pPr>
            <a:endParaRPr lang="en-US" sz="950" dirty="0"/>
          </a:p>
          <a:p>
            <a:pPr algn="l" indent="0" marL="0">
              <a:buNone/>
            </a:pPr>
            <a:r>
              <a:rPr lang="en-US" sz="750" dirty="0">
                <a:solidFill>
                  <a:srgbClr val="C00000"/>
                </a:solidFill>
                <a:latin typeface="Arial" pitchFamily="34" charset="0"/>
                <a:ea typeface="Arial" pitchFamily="34" charset="-122"/>
                <a:cs typeface="Arial" pitchFamily="34" charset="-120"/>
              </a:rPr>
              <a:t>goods movement event — confirm in tenant catalog</a:t>
            </a:r>
            <a:endParaRPr lang="en-US" sz="950" dirty="0"/>
          </a:p>
        </p:txBody>
      </p:sp>
      <p:sp>
        <p:nvSpPr>
          <p:cNvPr id="11" name="Text 9"/>
          <p:cNvSpPr/>
          <p:nvPr/>
        </p:nvSpPr>
        <p:spPr>
          <a:xfrm>
            <a:off x="502920" y="4754880"/>
            <a:ext cx="2788920" cy="658368"/>
          </a:xfrm>
          <a:prstGeom prst="roundRect">
            <a:avLst>
              <a:gd name="adj" fmla="val 8333"/>
            </a:avLst>
          </a:prstGeom>
          <a:solidFill>
            <a:srgbClr val="FFFFFF"/>
          </a:solidFill>
          <a:ln w="15875">
            <a:solidFill>
              <a:srgbClr val="000000"/>
            </a:solidFill>
          </a:ln>
        </p:spPr>
        <p:txBody>
          <a:bodyPr wrap="square" lIns="635" tIns="635" rIns="635" bIns="635"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Universal Journal (ACDOCA)</a:t>
            </a:r>
            <a:pPr algn="ctr" indent="0" marL="0">
              <a:buNone/>
            </a:pPr>
            <a:endParaRPr lang="en-US" sz="950" dirty="0"/>
          </a:p>
          <a:p>
            <a:pPr algn="ctr" indent="0" marL="0">
              <a:buNone/>
            </a:pPr>
            <a:r>
              <a:rPr lang="en-US" sz="750" dirty="0">
                <a:solidFill>
                  <a:srgbClr val="595959"/>
                </a:solidFill>
                <a:latin typeface="Arial" pitchFamily="34" charset="0"/>
                <a:ea typeface="Arial" pitchFamily="34" charset="-122"/>
                <a:cs typeface="Arial" pitchFamily="34" charset="-120"/>
              </a:rPr>
              <a:t>all four post here as journal entry line items, keyed by WBS · no business event</a:t>
            </a:r>
            <a:endParaRPr lang="en-US" sz="950" dirty="0"/>
          </a:p>
        </p:txBody>
      </p:sp>
      <p:sp>
        <p:nvSpPr>
          <p:cNvPr id="12" name="Shape 10"/>
          <p:cNvSpPr/>
          <p:nvPr/>
        </p:nvSpPr>
        <p:spPr>
          <a:xfrm>
            <a:off x="1828800" y="4590288"/>
            <a:ext cx="146304" cy="146304"/>
          </a:xfrm>
          <a:prstGeom prst="downArrow">
            <a:avLst/>
          </a:prstGeom>
          <a:solidFill>
            <a:srgbClr val="000000"/>
          </a:solidFill>
          <a:ln/>
        </p:spPr>
      </p:sp>
      <p:sp>
        <p:nvSpPr>
          <p:cNvPr id="13" name="Shape 11"/>
          <p:cNvSpPr/>
          <p:nvPr/>
        </p:nvSpPr>
        <p:spPr>
          <a:xfrm>
            <a:off x="3493008" y="3566160"/>
            <a:ext cx="457200" cy="201168"/>
          </a:xfrm>
          <a:prstGeom prst="rightArrow">
            <a:avLst/>
          </a:prstGeom>
          <a:solidFill>
            <a:srgbClr val="000000"/>
          </a:solidFill>
          <a:ln/>
        </p:spPr>
      </p:sp>
      <p:sp>
        <p:nvSpPr>
          <p:cNvPr id="14" name="Text 12"/>
          <p:cNvSpPr/>
          <p:nvPr/>
        </p:nvSpPr>
        <p:spPr>
          <a:xfrm>
            <a:off x="3465576" y="2240280"/>
            <a:ext cx="548640" cy="1188720"/>
          </a:xfrm>
          <a:prstGeom prst="rect">
            <a:avLst/>
          </a:prstGeom>
          <a:noFill/>
          <a:ln/>
        </p:spPr>
        <p:txBody>
          <a:bodyPr wrap="square" lIns="0" tIns="0" rIns="0" bIns="0" rtlCol="0" anchor="b"/>
          <a:lstStyle/>
          <a:p>
            <a:pPr algn="ctr" indent="0" marL="0">
              <a:buNone/>
            </a:pPr>
            <a:r>
              <a:rPr lang="en-US" sz="700" b="1" dirty="0">
                <a:solidFill>
                  <a:srgbClr val="1E7B45"/>
                </a:solidFill>
                <a:latin typeface="Arial" pitchFamily="34" charset="0"/>
                <a:ea typeface="Arial" pitchFamily="34" charset="-122"/>
                <a:cs typeface="Arial" pitchFamily="34" charset="-120"/>
              </a:rPr>
              <a:t>1 · timed delta read, every 15–60 min</a:t>
            </a:r>
            <a:endParaRPr lang="en-US" sz="700" dirty="0"/>
          </a:p>
        </p:txBody>
      </p:sp>
      <p:sp>
        <p:nvSpPr>
          <p:cNvPr id="15" name="Text 13"/>
          <p:cNvSpPr/>
          <p:nvPr/>
        </p:nvSpPr>
        <p:spPr>
          <a:xfrm>
            <a:off x="4041648" y="923544"/>
            <a:ext cx="1554480" cy="237744"/>
          </a:xfrm>
          <a:prstGeom prst="rect">
            <a:avLst/>
          </a:prstGeom>
          <a:solidFill>
            <a:srgbClr val="000000"/>
          </a:solid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SAP BTP · SAP CPI</a:t>
            </a:r>
            <a:endParaRPr lang="en-US" sz="850" dirty="0"/>
          </a:p>
        </p:txBody>
      </p:sp>
      <p:sp>
        <p:nvSpPr>
          <p:cNvPr id="16" name="Text 14"/>
          <p:cNvSpPr/>
          <p:nvPr/>
        </p:nvSpPr>
        <p:spPr>
          <a:xfrm>
            <a:off x="4041648" y="1170432"/>
            <a:ext cx="4114800" cy="5029200"/>
          </a:xfrm>
          <a:prstGeom prst="roundRect">
            <a:avLst>
              <a:gd name="adj" fmla="val 2667"/>
            </a:avLst>
          </a:prstGeom>
          <a:solidFill>
            <a:srgbClr val="FFFFFF"/>
          </a:solidFill>
          <a:ln w="15875">
            <a:solidFill>
              <a:srgbClr val="000000"/>
            </a:solidFill>
          </a:ln>
        </p:spPr>
        <p:txBody>
          <a:bodyPr wrap="square" rtlCol="0" anchor="ctr"/>
          <a:lstStyle/>
          <a:p>
            <a:pPr indent="0" marL="0">
              <a:buNone/>
            </a:pPr>
            <a:endParaRPr lang="en-US" dirty="0"/>
          </a:p>
        </p:txBody>
      </p:sp>
      <p:sp>
        <p:nvSpPr>
          <p:cNvPr id="17" name="Text 15"/>
          <p:cNvSpPr/>
          <p:nvPr/>
        </p:nvSpPr>
        <p:spPr>
          <a:xfrm>
            <a:off x="4160520" y="1280160"/>
            <a:ext cx="3877056" cy="274320"/>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Cost extract (Option B)</a:t>
            </a:r>
            <a:endParaRPr lang="en-US" sz="1200" dirty="0"/>
          </a:p>
        </p:txBody>
      </p:sp>
      <p:sp>
        <p:nvSpPr>
          <p:cNvPr id="18" name="Text 16"/>
          <p:cNvSpPr/>
          <p:nvPr/>
        </p:nvSpPr>
        <p:spPr>
          <a:xfrm>
            <a:off x="7269480" y="1298448"/>
            <a:ext cx="777240" cy="219456"/>
          </a:xfrm>
          <a:prstGeom prst="rect">
            <a:avLst/>
          </a:prstGeom>
          <a:solidFill>
            <a:srgbClr val="1F5FBF"/>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BUILD</a:t>
            </a:r>
            <a:endParaRPr lang="en-US" sz="800" dirty="0"/>
          </a:p>
        </p:txBody>
      </p:sp>
      <p:sp>
        <p:nvSpPr>
          <p:cNvPr id="19" name="Text 17"/>
          <p:cNvSpPr/>
          <p:nvPr/>
        </p:nvSpPr>
        <p:spPr>
          <a:xfrm>
            <a:off x="4206240" y="1691640"/>
            <a:ext cx="3785616" cy="786384"/>
          </a:xfrm>
          <a:prstGeom prst="roundRect">
            <a:avLst>
              <a:gd name="adj" fmla="val 6977"/>
            </a:avLst>
          </a:prstGeom>
          <a:solidFill>
            <a:srgbClr val="F2F2F5"/>
          </a:solidFill>
          <a:ln w="9525">
            <a:solidFill>
              <a:srgbClr val="BFBFBF"/>
            </a:solidFill>
          </a:ln>
        </p:spPr>
        <p:txBody>
          <a:bodyPr wrap="square" lIns="889" tIns="889" rIns="889" bIns="889" rtlCol="0" anchor="ctr"/>
          <a:lstStyle/>
          <a:p>
            <a:pPr algn="l" indent="0" marL="0">
              <a:buNone/>
            </a:pPr>
            <a:r>
              <a:rPr lang="en-US" sz="950" b="1" dirty="0">
                <a:solidFill>
                  <a:srgbClr val="000000"/>
                </a:solidFill>
                <a:latin typeface="Arial" pitchFamily="34" charset="0"/>
                <a:ea typeface="Arial" pitchFamily="34" charset="-122"/>
                <a:cs typeface="Arial" pitchFamily="34" charset="-120"/>
              </a:rPr>
              <a:t>1 · Delta extract</a:t>
            </a:r>
            <a:pPr algn="l" indent="0" marL="0">
              <a:buNone/>
            </a:pPr>
            <a:endParaRPr lang="en-US" sz="950" dirty="0"/>
          </a:p>
          <a:p>
            <a:pPr algn="l" indent="0" marL="0">
              <a:buNone/>
            </a:pPr>
            <a:r>
              <a:rPr lang="en-US" sz="850" dirty="0">
                <a:solidFill>
                  <a:srgbClr val="C00000"/>
                </a:solidFill>
                <a:latin typeface="Arial" pitchFamily="34" charset="0"/>
                <a:ea typeface="Arial" pitchFamily="34" charset="-122"/>
                <a:cs typeface="Arial" pitchFamily="34" charset="-120"/>
              </a:rPr>
              <a:t>Journal Entry Item API (API_JOURNALENTRYITEMBASIC_SRV / I_JournalEntryItem), scheduled every 15–60 min. No journal entry event exists.</a:t>
            </a:r>
            <a:endParaRPr lang="en-US" sz="950" dirty="0"/>
          </a:p>
        </p:txBody>
      </p:sp>
      <p:sp>
        <p:nvSpPr>
          <p:cNvPr id="20" name="Text 18"/>
          <p:cNvSpPr/>
          <p:nvPr/>
        </p:nvSpPr>
        <p:spPr>
          <a:xfrm>
            <a:off x="4206240" y="2551176"/>
            <a:ext cx="3785616" cy="786384"/>
          </a:xfrm>
          <a:prstGeom prst="roundRect">
            <a:avLst>
              <a:gd name="adj" fmla="val 6977"/>
            </a:avLst>
          </a:prstGeom>
          <a:solidFill>
            <a:srgbClr val="F2F2F5"/>
          </a:solidFill>
          <a:ln w="9525">
            <a:solidFill>
              <a:srgbClr val="BFBFBF"/>
            </a:solidFill>
          </a:ln>
        </p:spPr>
        <p:txBody>
          <a:bodyPr wrap="square" lIns="889" tIns="889" rIns="889" bIns="889" rtlCol="0" anchor="ctr"/>
          <a:lstStyle/>
          <a:p>
            <a:pPr algn="l" indent="0" marL="0">
              <a:buNone/>
            </a:pPr>
            <a:r>
              <a:rPr lang="en-US" sz="950" b="1" dirty="0">
                <a:solidFill>
                  <a:srgbClr val="000000"/>
                </a:solidFill>
                <a:latin typeface="Arial" pitchFamily="34" charset="0"/>
                <a:ea typeface="Arial" pitchFamily="34" charset="-122"/>
                <a:cs typeface="Arial" pitchFamily="34" charset="-120"/>
              </a:rPr>
              <a:t>2 · Filter</a:t>
            </a:r>
            <a:pPr algn="l" indent="0" marL="0">
              <a:buNone/>
            </a:pPr>
            <a:endParaRPr lang="en-US" sz="950" dirty="0"/>
          </a:p>
          <a:p>
            <a:pPr algn="l" indent="0" marL="0">
              <a:buNone/>
            </a:pPr>
            <a:r>
              <a:rPr lang="en-US" sz="850" dirty="0">
                <a:solidFill>
                  <a:srgbClr val="000000"/>
                </a:solidFill>
                <a:latin typeface="Arial" pitchFamily="34" charset="0"/>
                <a:ea typeface="Arial" pitchFamily="34" charset="-122"/>
                <a:cs typeface="Arial" pitchFamily="34" charset="-120"/>
              </a:rPr>
              <a:t>job-costed lines: WBS is the common key on every cost line; the service order reference is kept where present.</a:t>
            </a:r>
            <a:endParaRPr lang="en-US" sz="950" dirty="0"/>
          </a:p>
        </p:txBody>
      </p:sp>
      <p:sp>
        <p:nvSpPr>
          <p:cNvPr id="21" name="Text 19"/>
          <p:cNvSpPr/>
          <p:nvPr/>
        </p:nvSpPr>
        <p:spPr>
          <a:xfrm>
            <a:off x="4206240" y="3410712"/>
            <a:ext cx="3785616" cy="786384"/>
          </a:xfrm>
          <a:prstGeom prst="roundRect">
            <a:avLst>
              <a:gd name="adj" fmla="val 6977"/>
            </a:avLst>
          </a:prstGeom>
          <a:solidFill>
            <a:srgbClr val="F2F2F5"/>
          </a:solidFill>
          <a:ln w="9525">
            <a:solidFill>
              <a:srgbClr val="BFBFBF"/>
            </a:solidFill>
          </a:ln>
        </p:spPr>
        <p:txBody>
          <a:bodyPr wrap="square" lIns="889" tIns="889" rIns="889" bIns="889" rtlCol="0" anchor="ctr"/>
          <a:lstStyle/>
          <a:p>
            <a:pPr algn="l" indent="0" marL="0">
              <a:buNone/>
            </a:pPr>
            <a:r>
              <a:rPr lang="en-US" sz="950" b="1" dirty="0">
                <a:solidFill>
                  <a:srgbClr val="000000"/>
                </a:solidFill>
                <a:latin typeface="Arial" pitchFamily="34" charset="0"/>
                <a:ea typeface="Arial" pitchFamily="34" charset="-122"/>
                <a:cs typeface="Arial" pitchFamily="34" charset="-120"/>
              </a:rPr>
              <a:t>3 · Split by G/L account group</a:t>
            </a:r>
            <a:pPr algn="l" indent="0" marL="0">
              <a:buNone/>
            </a:pPr>
            <a:endParaRPr lang="en-US" sz="950" dirty="0"/>
          </a:p>
          <a:p>
            <a:pPr algn="l" indent="0" marL="0">
              <a:buNone/>
            </a:pPr>
            <a:r>
              <a:rPr lang="en-US" sz="850" dirty="0">
                <a:solidFill>
                  <a:srgbClr val="000000"/>
                </a:solidFill>
                <a:latin typeface="Arial" pitchFamily="34" charset="0"/>
                <a:ea typeface="Arial" pitchFamily="34" charset="-122"/>
                <a:cs typeface="Arial" pitchFamily="34" charset="-120"/>
              </a:rPr>
              <a:t>Labour · Equipment/Plant · Proc · Material Usage — four logical messages per cycle, one correlation ID.</a:t>
            </a:r>
            <a:endParaRPr lang="en-US" sz="950" dirty="0"/>
          </a:p>
        </p:txBody>
      </p:sp>
      <p:sp>
        <p:nvSpPr>
          <p:cNvPr id="22" name="Text 20"/>
          <p:cNvSpPr/>
          <p:nvPr/>
        </p:nvSpPr>
        <p:spPr>
          <a:xfrm>
            <a:off x="4206240" y="4270248"/>
            <a:ext cx="3785616" cy="786384"/>
          </a:xfrm>
          <a:prstGeom prst="roundRect">
            <a:avLst>
              <a:gd name="adj" fmla="val 6977"/>
            </a:avLst>
          </a:prstGeom>
          <a:solidFill>
            <a:srgbClr val="F2F2F5"/>
          </a:solidFill>
          <a:ln w="9525">
            <a:solidFill>
              <a:srgbClr val="BFBFBF"/>
            </a:solidFill>
          </a:ln>
        </p:spPr>
        <p:txBody>
          <a:bodyPr wrap="square" lIns="889" tIns="889" rIns="889" bIns="889" rtlCol="0" anchor="ctr"/>
          <a:lstStyle/>
          <a:p>
            <a:pPr algn="l" indent="0" marL="0">
              <a:buNone/>
            </a:pPr>
            <a:r>
              <a:rPr lang="en-US" sz="950" b="1" dirty="0">
                <a:solidFill>
                  <a:srgbClr val="000000"/>
                </a:solidFill>
                <a:latin typeface="Arial" pitchFamily="34" charset="0"/>
                <a:ea typeface="Arial" pitchFamily="34" charset="-122"/>
                <a:cs typeface="Arial" pitchFamily="34" charset="-120"/>
              </a:rPr>
              <a:t>4 · Idempotency</a:t>
            </a:r>
            <a:pPr algn="l" indent="0" marL="0">
              <a:buNone/>
            </a:pPr>
            <a:endParaRPr lang="en-US" sz="950" dirty="0"/>
          </a:p>
          <a:p>
            <a:pPr algn="l" indent="0" marL="0">
              <a:buNone/>
            </a:pPr>
            <a:r>
              <a:rPr lang="en-US" sz="850" dirty="0">
                <a:solidFill>
                  <a:srgbClr val="000000"/>
                </a:solidFill>
                <a:latin typeface="Arial" pitchFamily="34" charset="0"/>
                <a:ea typeface="Arial" pitchFamily="34" charset="-122"/>
                <a:cs typeface="Arial" pitchFamily="34" charset="-120"/>
              </a:rPr>
              <a:t>keyed on AccountingDocument + line item; a re-run sends nothing twice.</a:t>
            </a:r>
            <a:endParaRPr lang="en-US" sz="950" dirty="0"/>
          </a:p>
        </p:txBody>
      </p:sp>
      <p:sp>
        <p:nvSpPr>
          <p:cNvPr id="23" name="Text 21"/>
          <p:cNvSpPr/>
          <p:nvPr/>
        </p:nvSpPr>
        <p:spPr>
          <a:xfrm>
            <a:off x="4206240" y="5129784"/>
            <a:ext cx="3785616" cy="786384"/>
          </a:xfrm>
          <a:prstGeom prst="roundRect">
            <a:avLst>
              <a:gd name="adj" fmla="val 6977"/>
            </a:avLst>
          </a:prstGeom>
          <a:solidFill>
            <a:srgbClr val="F2F2F5"/>
          </a:solidFill>
          <a:ln w="9525">
            <a:solidFill>
              <a:srgbClr val="BFBFBF"/>
            </a:solidFill>
          </a:ln>
        </p:spPr>
        <p:txBody>
          <a:bodyPr wrap="square" lIns="889" tIns="889" rIns="889" bIns="889" rtlCol="0" anchor="ctr"/>
          <a:lstStyle/>
          <a:p>
            <a:pPr algn="l" indent="0" marL="0">
              <a:buNone/>
            </a:pPr>
            <a:r>
              <a:rPr lang="en-US" sz="950" b="1" dirty="0">
                <a:solidFill>
                  <a:srgbClr val="000000"/>
                </a:solidFill>
                <a:latin typeface="Arial" pitchFamily="34" charset="0"/>
                <a:ea typeface="Arial" pitchFamily="34" charset="-122"/>
                <a:cs typeface="Arial" pitchFamily="34" charset="-120"/>
              </a:rPr>
              <a:t>5 · Deliver</a:t>
            </a:r>
            <a:pPr algn="l" indent="0" marL="0">
              <a:buNone/>
            </a:pPr>
            <a:endParaRPr lang="en-US" sz="950" dirty="0"/>
          </a:p>
          <a:p>
            <a:pPr algn="l" indent="0" marL="0">
              <a:buNone/>
            </a:pPr>
            <a:r>
              <a:rPr lang="en-US" sz="850" dirty="0">
                <a:solidFill>
                  <a:srgbClr val="000000"/>
                </a:solidFill>
                <a:latin typeface="Arial" pitchFamily="34" charset="0"/>
                <a:ea typeface="Arial" pitchFamily="34" charset="-122"/>
                <a:cs typeface="Arial" pitchFamily="34" charset="-120"/>
              </a:rPr>
              <a:t>route per subscription list, one copy per system on its queue, automatic retries, error queue with a named owner.</a:t>
            </a:r>
            <a:endParaRPr lang="en-US" sz="950" dirty="0"/>
          </a:p>
        </p:txBody>
      </p:sp>
      <p:sp>
        <p:nvSpPr>
          <p:cNvPr id="24" name="Shape 22"/>
          <p:cNvSpPr/>
          <p:nvPr/>
        </p:nvSpPr>
        <p:spPr>
          <a:xfrm>
            <a:off x="8229600" y="3566160"/>
            <a:ext cx="457200" cy="201168"/>
          </a:xfrm>
          <a:prstGeom prst="rightArrow">
            <a:avLst/>
          </a:prstGeom>
          <a:solidFill>
            <a:srgbClr val="000000"/>
          </a:solidFill>
          <a:ln/>
        </p:spPr>
      </p:sp>
      <p:sp>
        <p:nvSpPr>
          <p:cNvPr id="25" name="Text 23"/>
          <p:cNvSpPr/>
          <p:nvPr/>
        </p:nvSpPr>
        <p:spPr>
          <a:xfrm>
            <a:off x="8202168" y="2240280"/>
            <a:ext cx="548640" cy="1188720"/>
          </a:xfrm>
          <a:prstGeom prst="rect">
            <a:avLst/>
          </a:prstGeom>
          <a:noFill/>
          <a:ln/>
        </p:spPr>
        <p:txBody>
          <a:bodyPr wrap="square" lIns="0" tIns="0" rIns="0" bIns="0" rtlCol="0" anchor="b"/>
          <a:lstStyle/>
          <a:p>
            <a:pPr algn="ctr" indent="0" marL="0">
              <a:buNone/>
            </a:pPr>
            <a:r>
              <a:rPr lang="en-US" sz="700" b="1" dirty="0">
                <a:solidFill>
                  <a:srgbClr val="1E7B45"/>
                </a:solidFill>
                <a:latin typeface="Arial" pitchFamily="34" charset="0"/>
                <a:ea typeface="Arial" pitchFamily="34" charset="-122"/>
                <a:cs typeface="Arial" pitchFamily="34" charset="-120"/>
              </a:rPr>
              <a:t>2 · push, each system its own data</a:t>
            </a:r>
            <a:endParaRPr lang="en-US" sz="700" dirty="0"/>
          </a:p>
        </p:txBody>
      </p:sp>
      <p:sp>
        <p:nvSpPr>
          <p:cNvPr id="26" name="Text 24"/>
          <p:cNvSpPr/>
          <p:nvPr/>
        </p:nvSpPr>
        <p:spPr>
          <a:xfrm>
            <a:off x="8778240" y="923544"/>
            <a:ext cx="1234440" cy="237744"/>
          </a:xfrm>
          <a:prstGeom prst="rect">
            <a:avLst/>
          </a:prstGeom>
          <a:solidFill>
            <a:srgbClr val="000000"/>
          </a:solid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FIELD SYSTEMS</a:t>
            </a:r>
            <a:endParaRPr lang="en-US" sz="850" dirty="0"/>
          </a:p>
        </p:txBody>
      </p:sp>
      <p:sp>
        <p:nvSpPr>
          <p:cNvPr id="27" name="Text 25"/>
          <p:cNvSpPr/>
          <p:nvPr/>
        </p:nvSpPr>
        <p:spPr>
          <a:xfrm>
            <a:off x="8778240" y="1170432"/>
            <a:ext cx="3063240" cy="2834640"/>
          </a:xfrm>
          <a:prstGeom prst="roundRect">
            <a:avLst>
              <a:gd name="adj" fmla="val 3871"/>
            </a:avLst>
          </a:prstGeom>
          <a:solidFill>
            <a:srgbClr val="FFFFFF"/>
          </a:solidFill>
          <a:ln w="15875">
            <a:solidFill>
              <a:srgbClr val="000000"/>
            </a:solidFill>
          </a:ln>
        </p:spPr>
        <p:txBody>
          <a:bodyPr wrap="square" rtlCol="0" anchor="ctr"/>
          <a:lstStyle/>
          <a:p>
            <a:pPr indent="0" marL="0">
              <a:buNone/>
            </a:pPr>
            <a:endParaRPr lang="en-US" dirty="0"/>
          </a:p>
        </p:txBody>
      </p:sp>
      <p:sp>
        <p:nvSpPr>
          <p:cNvPr id="28" name="Text 26"/>
          <p:cNvSpPr/>
          <p:nvPr/>
        </p:nvSpPr>
        <p:spPr>
          <a:xfrm>
            <a:off x="8915400" y="1325880"/>
            <a:ext cx="2788920" cy="2560320"/>
          </a:xfrm>
          <a:prstGeom prst="rect">
            <a:avLst/>
          </a:prstGeom>
          <a:noFill/>
          <a:ln/>
        </p:spPr>
        <p:txBody>
          <a:bodyPr wrap="square" lIns="0" tIns="0" rIns="0" bIns="0" rtlCol="0" anchor="t"/>
          <a:lstStyle/>
          <a:p>
            <a:pPr algn="l" indent="0" marL="0">
              <a:buNone/>
            </a:pPr>
            <a:r>
              <a:rPr lang="en-US" sz="1200" b="1" dirty="0">
                <a:solidFill>
                  <a:srgbClr val="000000"/>
                </a:solidFill>
                <a:latin typeface="Arial" pitchFamily="34" charset="0"/>
                <a:ea typeface="Arial" pitchFamily="34" charset="-122"/>
                <a:cs typeface="Arial" pitchFamily="34" charset="-120"/>
              </a:rPr>
              <a:t>Field systems</a:t>
            </a:r>
            <a:pPr algn="l" indent="0" marL="0">
              <a:buNone/>
            </a:pPr>
            <a:endParaRPr lang="en-US" sz="1200" dirty="0"/>
          </a:p>
          <a:p>
            <a:pPr algn="l" indent="0" marL="0">
              <a:buNone/>
            </a:pPr>
            <a:endParaRPr lang="en-US" sz="1200" dirty="0"/>
          </a:p>
          <a:p>
            <a:pPr algn="l" indent="0" marL="0">
              <a:buNone/>
            </a:pPr>
            <a:r>
              <a:rPr lang="en-US" sz="850" dirty="0">
                <a:solidFill>
                  <a:srgbClr val="000000"/>
                </a:solidFill>
                <a:latin typeface="Arial" pitchFamily="34" charset="0"/>
                <a:ea typeface="Arial" pitchFamily="34" charset="-122"/>
                <a:cs typeface="Arial" pitchFamily="34" charset="-120"/>
              </a:rPr>
              <a:t>receive four cost messages per cycle. Each line carries:</a:t>
            </a:r>
            <a:endParaRPr lang="en-US" sz="1200" dirty="0"/>
          </a:p>
          <a:p>
            <a:pPr algn="l" indent="0" marL="0">
              <a:buNone/>
            </a:pPr>
            <a:endParaRPr lang="en-US" sz="1200" dirty="0"/>
          </a:p>
          <a:p>
            <a:pPr algn="l" indent="0" marL="0">
              <a:buNone/>
            </a:pPr>
            <a:r>
              <a:rPr lang="en-US" sz="850" b="1" dirty="0">
                <a:solidFill>
                  <a:srgbClr val="000000"/>
                </a:solidFill>
                <a:latin typeface="Arial" pitchFamily="34" charset="0"/>
                <a:ea typeface="Arial" pitchFamily="34" charset="-122"/>
                <a:cs typeface="Arial" pitchFamily="34" charset="-120"/>
              </a:rPr>
              <a:t>cost element · WBS → Job ID · amount · quantity · source document reference · service order no. where the posting came from a service transaction</a:t>
            </a:r>
            <a:endParaRPr lang="en-US" sz="1200" dirty="0"/>
          </a:p>
          <a:p>
            <a:pPr algn="l" indent="0" marL="0">
              <a:buNone/>
            </a:pPr>
            <a:endParaRPr lang="en-US" sz="1200" dirty="0"/>
          </a:p>
          <a:p>
            <a:pPr algn="l" indent="0" marL="0">
              <a:buNone/>
            </a:pPr>
            <a:endParaRPr lang="en-US" sz="1200" dirty="0"/>
          </a:p>
          <a:p>
            <a:pPr algn="l" indent="0" marL="0">
              <a:buNone/>
            </a:pPr>
            <a:r>
              <a:rPr lang="en-US" sz="850" dirty="0">
                <a:solidFill>
                  <a:srgbClr val="595959"/>
                </a:solidFill>
                <a:latin typeface="Arial" pitchFamily="34" charset="0"/>
                <a:ea typeface="Arial" pitchFamily="34" charset="-122"/>
                <a:cs typeface="Arial" pitchFamily="34" charset="-120"/>
              </a:rPr>
              <a:t>Delivery is the same CPI push as every other data need — nothing special on the receiving side.</a:t>
            </a:r>
            <a:endParaRPr lang="en-US" sz="1200" dirty="0"/>
          </a:p>
        </p:txBody>
      </p:sp>
      <p:sp>
        <p:nvSpPr>
          <p:cNvPr id="29" name="Text 27"/>
          <p:cNvSpPr/>
          <p:nvPr/>
        </p:nvSpPr>
        <p:spPr>
          <a:xfrm>
            <a:off x="8778240" y="4206240"/>
            <a:ext cx="3063240" cy="1005840"/>
          </a:xfrm>
          <a:prstGeom prst="roundRect">
            <a:avLst>
              <a:gd name="adj" fmla="val 7273"/>
            </a:avLst>
          </a:prstGeom>
          <a:solidFill>
            <a:srgbClr val="FFF9EC"/>
          </a:solidFill>
          <a:ln w="9525">
            <a:solidFill>
              <a:srgbClr val="BFBFBF"/>
            </a:solidFill>
          </a:ln>
        </p:spPr>
        <p:txBody>
          <a:bodyPr wrap="square" lIns="1016" tIns="1016" rIns="1016" bIns="1016" rtlCol="0" anchor="ctr"/>
          <a:lstStyle/>
          <a:p>
            <a:pPr algn="l" indent="0" marL="0">
              <a:buNone/>
            </a:pPr>
            <a:r>
              <a:rPr lang="en-US" sz="850" b="1" dirty="0">
                <a:solidFill>
                  <a:srgbClr val="9C6500"/>
                </a:solidFill>
                <a:latin typeface="Arial" pitchFamily="34" charset="0"/>
                <a:ea typeface="Arial" pitchFamily="34" charset="-122"/>
                <a:cs typeface="Arial" pitchFamily="34" charset="-120"/>
              </a:rPr>
              <a:t>Later option (C): </a:t>
            </a:r>
            <a:pPr algn="l" indent="0" marL="0">
              <a:buNone/>
            </a:pPr>
            <a:r>
              <a:rPr lang="en-US" sz="850" dirty="0">
                <a:solidFill>
                  <a:srgbClr val="000000"/>
                </a:solidFill>
                <a:latin typeface="Arial" pitchFamily="34" charset="0"/>
                <a:ea typeface="Arial" pitchFamily="34" charset="-122"/>
                <a:cs typeface="Arial" pitchFamily="34" charset="-120"/>
              </a:rPr>
              <a:t>where a source event already fires (service entry sheet), use it to start an early extract run for that WBS. Data still comes only from the journal entry API.</a:t>
            </a:r>
            <a:endParaRPr lang="en-US" sz="850" dirty="0"/>
          </a:p>
        </p:txBody>
      </p:sp>
      <p:sp>
        <p:nvSpPr>
          <p:cNvPr id="30" name="Text 28"/>
          <p:cNvSpPr/>
          <p:nvPr/>
        </p:nvSpPr>
        <p:spPr>
          <a:xfrm>
            <a:off x="8778240" y="5349240"/>
            <a:ext cx="3063240" cy="868680"/>
          </a:xfrm>
          <a:prstGeom prst="roundRect">
            <a:avLst>
              <a:gd name="adj" fmla="val 8421"/>
            </a:avLst>
          </a:prstGeom>
          <a:solidFill>
            <a:srgbClr val="FDF0F0"/>
          </a:solidFill>
          <a:ln w="9525">
            <a:solidFill>
              <a:srgbClr val="BFBFBF"/>
            </a:solidFill>
          </a:ln>
        </p:spPr>
        <p:txBody>
          <a:bodyPr wrap="square" lIns="1016" tIns="1016" rIns="1016" bIns="1016" rtlCol="0" anchor="ctr"/>
          <a:lstStyle/>
          <a:p>
            <a:pPr algn="l" indent="0" marL="0">
              <a:buNone/>
            </a:pPr>
            <a:r>
              <a:rPr lang="en-US" sz="850" b="1" dirty="0">
                <a:solidFill>
                  <a:srgbClr val="C00000"/>
                </a:solidFill>
                <a:latin typeface="Arial" pitchFamily="34" charset="0"/>
                <a:ea typeface="Arial" pitchFamily="34" charset="-122"/>
                <a:cs typeface="Arial" pitchFamily="34" charset="-120"/>
              </a:rPr>
              <a:t>Declined: </a:t>
            </a:r>
            <a:pPr algn="l" indent="0" marL="0">
              <a:buNone/>
            </a:pPr>
            <a:r>
              <a:rPr lang="en-US" sz="850" dirty="0">
                <a:solidFill>
                  <a:srgbClr val="000000"/>
                </a:solidFill>
                <a:latin typeface="Arial" pitchFamily="34" charset="0"/>
                <a:ea typeface="Arial" pitchFamily="34" charset="-122"/>
                <a:cs typeface="Arial" pitchFamily="34" charset="-120"/>
              </a:rPr>
              <a:t>assembling cost messages from source-document events — no labour or journal entry events exist, and correlation risks double counting.</a:t>
            </a:r>
            <a:endParaRPr lang="en-US" sz="850" dirty="0"/>
          </a:p>
        </p:txBody>
      </p:sp>
      <p:sp>
        <p:nvSpPr>
          <p:cNvPr id="31" name="Text 29"/>
          <p:cNvSpPr/>
          <p:nvPr/>
        </p:nvSpPr>
        <p:spPr>
          <a:xfrm>
            <a:off x="365760" y="6355080"/>
            <a:ext cx="11430000" cy="274320"/>
          </a:xfrm>
          <a:prstGeom prst="rect">
            <a:avLst/>
          </a:prstGeom>
          <a:noFill/>
          <a:ln/>
        </p:spPr>
        <p:txBody>
          <a:bodyPr wrap="square" lIns="0" tIns="0" rIns="0" bIns="0" rtlCol="0" anchor="ctr"/>
          <a:lstStyle/>
          <a:p>
            <a:pPr indent="0" marL="0">
              <a:buNone/>
            </a:pPr>
            <a:r>
              <a:rPr lang="en-US" sz="850" i="1" dirty="0">
                <a:solidFill>
                  <a:srgbClr val="595959"/>
                </a:solidFill>
                <a:latin typeface="Arial" pitchFamily="34" charset="0"/>
                <a:ea typeface="Arial" pitchFamily="34" charset="-122"/>
                <a:cs typeface="Arial" pitchFamily="34" charset="-120"/>
              </a:rPr>
              <a:t>No availability check or runtime lookup anywhere in the path. Amounts and quantities come from the journal only, so all four cost elements reconcile to the ledger by construction.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11430000" cy="457200"/>
          </a:xfrm>
          <a:prstGeom prst="rect">
            <a:avLst/>
          </a:prstGeom>
          <a:noFill/>
          <a:ln/>
        </p:spPr>
        <p:txBody>
          <a:bodyPr wrap="square" lIns="0" tIns="0" rIns="0" bIns="0" rtlCol="0" anchor="ctr"/>
          <a:lstStyle/>
          <a:p>
            <a:pPr indent="0" marL="0">
              <a:buNone/>
            </a:pPr>
            <a:r>
              <a:rPr lang="en-US" sz="2400" b="1" dirty="0">
                <a:solidFill>
                  <a:srgbClr val="1F3864"/>
                </a:solidFill>
                <a:latin typeface="Arial" pitchFamily="34" charset="0"/>
                <a:ea typeface="Arial" pitchFamily="34" charset="-122"/>
                <a:cs typeface="Arial" pitchFamily="34" charset="-120"/>
              </a:rPr>
              <a:t>Cost data — options considered</a:t>
            </a:r>
            <a:endParaRPr lang="en-US" sz="2400" dirty="0"/>
          </a:p>
        </p:txBody>
      </p:sp>
      <p:sp>
        <p:nvSpPr>
          <p:cNvPr id="3" name="Text 1"/>
          <p:cNvSpPr/>
          <p:nvPr/>
        </p:nvSpPr>
        <p:spPr>
          <a:xfrm>
            <a:off x="365760" y="658368"/>
            <a:ext cx="11430000" cy="274320"/>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Two ways to detect cost changes were compared against a timed extract. The deciding facts: no labour or journal entry events exist, and every posting lands in the Universal Journal.</a:t>
            </a:r>
            <a:endParaRPr lang="en-US" sz="950" dirty="0"/>
          </a:p>
        </p:txBody>
      </p:sp>
      <p:sp>
        <p:nvSpPr>
          <p:cNvPr id="4" name="Text 2"/>
          <p:cNvSpPr/>
          <p:nvPr/>
        </p:nvSpPr>
        <p:spPr>
          <a:xfrm>
            <a:off x="365760" y="1143000"/>
            <a:ext cx="3749040" cy="5029200"/>
          </a:xfrm>
          <a:prstGeom prst="roundRect">
            <a:avLst>
              <a:gd name="adj" fmla="val 2439"/>
            </a:avLst>
          </a:prstGeom>
          <a:solidFill>
            <a:srgbClr val="FFFFFF"/>
          </a:solidFill>
          <a:ln w="15875">
            <a:solidFill>
              <a:srgbClr val="000000"/>
            </a:solidFill>
          </a:ln>
        </p:spPr>
        <p:txBody>
          <a:bodyPr wrap="square" rtlCol="0" anchor="ctr"/>
          <a:lstStyle/>
          <a:p>
            <a:pPr indent="0" marL="0">
              <a:buNone/>
            </a:pPr>
            <a:endParaRPr lang="en-US" dirty="0"/>
          </a:p>
        </p:txBody>
      </p:sp>
      <p:sp>
        <p:nvSpPr>
          <p:cNvPr id="5" name="Text 3"/>
          <p:cNvSpPr/>
          <p:nvPr/>
        </p:nvSpPr>
        <p:spPr>
          <a:xfrm>
            <a:off x="502920" y="1280160"/>
            <a:ext cx="3520440" cy="54864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A — Combine source-document events</a:t>
            </a:r>
            <a:endParaRPr lang="en-US" sz="1200" dirty="0"/>
          </a:p>
        </p:txBody>
      </p:sp>
      <p:sp>
        <p:nvSpPr>
          <p:cNvPr id="6" name="Text 4"/>
          <p:cNvSpPr/>
          <p:nvPr/>
        </p:nvSpPr>
        <p:spPr>
          <a:xfrm>
            <a:off x="502920" y="1874520"/>
            <a:ext cx="1371600" cy="292608"/>
          </a:xfrm>
          <a:prstGeom prst="roundRect">
            <a:avLst>
              <a:gd name="adj" fmla="val 18750"/>
            </a:avLst>
          </a:prstGeom>
          <a:solidFill>
            <a:srgbClr val="FDF0F0"/>
          </a:solidFill>
          <a:ln/>
        </p:spPr>
        <p:txBody>
          <a:bodyPr wrap="square" lIns="0" tIns="0" rIns="0" bIns="0" rtlCol="0" anchor="ctr"/>
          <a:lstStyle/>
          <a:p>
            <a:pPr algn="ctr" indent="0" marL="0">
              <a:buNone/>
            </a:pPr>
            <a:r>
              <a:rPr lang="en-US" sz="1000" b="1" dirty="0">
                <a:solidFill>
                  <a:srgbClr val="C00000"/>
                </a:solidFill>
                <a:latin typeface="Arial" pitchFamily="34" charset="0"/>
                <a:ea typeface="Arial" pitchFamily="34" charset="-122"/>
                <a:cs typeface="Arial" pitchFamily="34" charset="-120"/>
              </a:rPr>
              <a:t>Declined</a:t>
            </a:r>
            <a:endParaRPr lang="en-US" sz="1000" dirty="0"/>
          </a:p>
        </p:txBody>
      </p:sp>
      <p:sp>
        <p:nvSpPr>
          <p:cNvPr id="7" name="Text 5"/>
          <p:cNvSpPr/>
          <p:nvPr/>
        </p:nvSpPr>
        <p:spPr>
          <a:xfrm>
            <a:off x="502920" y="2331720"/>
            <a:ext cx="3474720" cy="1600200"/>
          </a:xfrm>
          <a:prstGeom prst="rect">
            <a:avLst/>
          </a:prstGeom>
          <a:noFill/>
          <a:ln/>
        </p:spPr>
        <p:txBody>
          <a:bodyPr wrap="square" lIns="0" tIns="0" rIns="0" bIns="0" rtlCol="0" anchor="t"/>
          <a:lstStyle/>
          <a:p>
            <a:pPr algn="l" indent="0" marL="0">
              <a:buNone/>
            </a:pPr>
            <a:r>
              <a:rPr lang="en-US" sz="950" b="1" dirty="0">
                <a:solidFill>
                  <a:srgbClr val="000000"/>
                </a:solidFill>
                <a:latin typeface="Arial" pitchFamily="34" charset="0"/>
                <a:ea typeface="Arial" pitchFamily="34" charset="-122"/>
                <a:cs typeface="Arial" pitchFamily="34" charset="-120"/>
              </a:rPr>
              <a:t>Approach
</a:t>
            </a:r>
            <a:pPr algn="l" indent="0" marL="0">
              <a:buNone/>
            </a:pPr>
            <a:r>
              <a:rPr lang="en-US" sz="900" dirty="0">
                <a:solidFill>
                  <a:srgbClr val="000000"/>
                </a:solidFill>
                <a:latin typeface="Arial" pitchFamily="34" charset="0"/>
                <a:ea typeface="Arial" pitchFamily="34" charset="-122"/>
                <a:cs typeface="Arial" pitchFamily="34" charset="-120"/>
              </a:rPr>
              <a:t>Subscribe to every source event (service entry sheet, goods movement, invoice), correlate them per WBS, and assemble cost messages from the pieces.</a:t>
            </a:r>
            <a:endParaRPr lang="en-US" sz="950" dirty="0"/>
          </a:p>
        </p:txBody>
      </p:sp>
      <p:sp>
        <p:nvSpPr>
          <p:cNvPr id="8" name="Text 6"/>
          <p:cNvSpPr/>
          <p:nvPr/>
        </p:nvSpPr>
        <p:spPr>
          <a:xfrm>
            <a:off x="502920" y="3977640"/>
            <a:ext cx="3474720" cy="2011680"/>
          </a:xfrm>
          <a:prstGeom prst="rect">
            <a:avLst/>
          </a:prstGeom>
          <a:noFill/>
          <a:ln/>
        </p:spPr>
        <p:txBody>
          <a:bodyPr wrap="square" lIns="0" tIns="0" rIns="0" bIns="0" rtlCol="0" anchor="t"/>
          <a:lstStyle/>
          <a:p>
            <a:pPr algn="l" indent="0" marL="0">
              <a:buNone/>
            </a:pPr>
            <a:r>
              <a:rPr lang="en-US" sz="950" b="1" dirty="0">
                <a:solidFill>
                  <a:srgbClr val="000000"/>
                </a:solidFill>
                <a:latin typeface="Arial" pitchFamily="34" charset="0"/>
                <a:ea typeface="Arial" pitchFamily="34" charset="-122"/>
                <a:cs typeface="Arial" pitchFamily="34" charset="-120"/>
              </a:rPr>
              <a:t>Why
</a:t>
            </a:r>
            <a:pPr algn="l" indent="0" marL="0">
              <a:buNone/>
            </a:pPr>
            <a:r>
              <a:rPr lang="en-US" sz="900" dirty="0">
                <a:solidFill>
                  <a:srgbClr val="000000"/>
                </a:solidFill>
                <a:latin typeface="Arial" pitchFamily="34" charset="0"/>
                <a:ea typeface="Arial" pitchFamily="34" charset="-122"/>
                <a:cs typeface="Arial" pitchFamily="34" charset="-120"/>
              </a:rPr>
              <a:t>Event coverage is incomplete: no labour or journal entry events exist. Correlating partial events risks double counting and ordering errors. Every new cost source adds new event handling.</a:t>
            </a:r>
            <a:endParaRPr lang="en-US" sz="950" dirty="0"/>
          </a:p>
        </p:txBody>
      </p:sp>
      <p:sp>
        <p:nvSpPr>
          <p:cNvPr id="9" name="Text 7"/>
          <p:cNvSpPr/>
          <p:nvPr/>
        </p:nvSpPr>
        <p:spPr>
          <a:xfrm>
            <a:off x="4343400" y="1143000"/>
            <a:ext cx="3749040" cy="5029200"/>
          </a:xfrm>
          <a:prstGeom prst="roundRect">
            <a:avLst>
              <a:gd name="adj" fmla="val 2439"/>
            </a:avLst>
          </a:prstGeom>
          <a:solidFill>
            <a:srgbClr val="FFFFFF"/>
          </a:solidFill>
          <a:ln w="15875">
            <a:solidFill>
              <a:srgbClr val="000000"/>
            </a:solidFill>
          </a:ln>
        </p:spPr>
        <p:txBody>
          <a:bodyPr wrap="square" rtlCol="0" anchor="ctr"/>
          <a:lstStyle/>
          <a:p>
            <a:pPr indent="0" marL="0">
              <a:buNone/>
            </a:pPr>
            <a:endParaRPr lang="en-US" dirty="0"/>
          </a:p>
        </p:txBody>
      </p:sp>
      <p:sp>
        <p:nvSpPr>
          <p:cNvPr id="10" name="Text 8"/>
          <p:cNvSpPr/>
          <p:nvPr/>
        </p:nvSpPr>
        <p:spPr>
          <a:xfrm>
            <a:off x="4480560" y="1280160"/>
            <a:ext cx="3520440" cy="54864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B — Timed delta extract from the Universal Journal</a:t>
            </a:r>
            <a:endParaRPr lang="en-US" sz="1200" dirty="0"/>
          </a:p>
        </p:txBody>
      </p:sp>
      <p:sp>
        <p:nvSpPr>
          <p:cNvPr id="11" name="Text 9"/>
          <p:cNvSpPr/>
          <p:nvPr/>
        </p:nvSpPr>
        <p:spPr>
          <a:xfrm>
            <a:off x="4480560" y="1874520"/>
            <a:ext cx="1371600" cy="292608"/>
          </a:xfrm>
          <a:prstGeom prst="roundRect">
            <a:avLst>
              <a:gd name="adj" fmla="val 18750"/>
            </a:avLst>
          </a:prstGeom>
          <a:solidFill>
            <a:srgbClr val="E7F4EC"/>
          </a:solidFill>
          <a:ln/>
        </p:spPr>
        <p:txBody>
          <a:bodyPr wrap="square" lIns="0" tIns="0" rIns="0" bIns="0" rtlCol="0" anchor="ctr"/>
          <a:lstStyle/>
          <a:p>
            <a:pPr algn="ctr" indent="0" marL="0">
              <a:buNone/>
            </a:pPr>
            <a:r>
              <a:rPr lang="en-US" sz="1000" b="1" dirty="0">
                <a:solidFill>
                  <a:srgbClr val="1E7B45"/>
                </a:solidFill>
                <a:latin typeface="Arial" pitchFamily="34" charset="0"/>
                <a:ea typeface="Arial" pitchFamily="34" charset="-122"/>
                <a:cs typeface="Arial" pitchFamily="34" charset="-120"/>
              </a:rPr>
              <a:t>Recommended</a:t>
            </a:r>
            <a:endParaRPr lang="en-US" sz="1000" dirty="0"/>
          </a:p>
        </p:txBody>
      </p:sp>
      <p:sp>
        <p:nvSpPr>
          <p:cNvPr id="12" name="Text 10"/>
          <p:cNvSpPr/>
          <p:nvPr/>
        </p:nvSpPr>
        <p:spPr>
          <a:xfrm>
            <a:off x="4480560" y="2331720"/>
            <a:ext cx="3474720" cy="1600200"/>
          </a:xfrm>
          <a:prstGeom prst="rect">
            <a:avLst/>
          </a:prstGeom>
          <a:noFill/>
          <a:ln/>
        </p:spPr>
        <p:txBody>
          <a:bodyPr wrap="square" lIns="0" tIns="0" rIns="0" bIns="0" rtlCol="0" anchor="t"/>
          <a:lstStyle/>
          <a:p>
            <a:pPr algn="l" indent="0" marL="0">
              <a:buNone/>
            </a:pPr>
            <a:r>
              <a:rPr lang="en-US" sz="950" b="1" dirty="0">
                <a:solidFill>
                  <a:srgbClr val="000000"/>
                </a:solidFill>
                <a:latin typeface="Arial" pitchFamily="34" charset="0"/>
                <a:ea typeface="Arial" pitchFamily="34" charset="-122"/>
                <a:cs typeface="Arial" pitchFamily="34" charset="-120"/>
              </a:rPr>
              <a:t>Approach
</a:t>
            </a:r>
            <a:pPr algn="l" indent="0" marL="0">
              <a:buNone/>
            </a:pPr>
            <a:r>
              <a:rPr lang="en-US" sz="900" dirty="0">
                <a:solidFill>
                  <a:srgbClr val="000000"/>
                </a:solidFill>
                <a:latin typeface="Arial" pitchFamily="34" charset="0"/>
                <a:ea typeface="Arial" pitchFamily="34" charset="-122"/>
                <a:cs typeface="Arial" pitchFamily="34" charset="-120"/>
              </a:rPr>
              <a:t>One scheduled CPI delta extract on the Journal Entry Item API, every 15–60 min, filtered to job-costed WBS lines, split by G/L account group into the four cost elements. Four messages per cycle, one correlation ID, idempotent on AccountingDocument + line item.</a:t>
            </a:r>
            <a:endParaRPr lang="en-US" sz="950" dirty="0"/>
          </a:p>
        </p:txBody>
      </p:sp>
      <p:sp>
        <p:nvSpPr>
          <p:cNvPr id="13" name="Text 11"/>
          <p:cNvSpPr/>
          <p:nvPr/>
        </p:nvSpPr>
        <p:spPr>
          <a:xfrm>
            <a:off x="4480560" y="3977640"/>
            <a:ext cx="3474720" cy="2011680"/>
          </a:xfrm>
          <a:prstGeom prst="rect">
            <a:avLst/>
          </a:prstGeom>
          <a:noFill/>
          <a:ln/>
        </p:spPr>
        <p:txBody>
          <a:bodyPr wrap="square" lIns="0" tIns="0" rIns="0" bIns="0" rtlCol="0" anchor="t"/>
          <a:lstStyle/>
          <a:p>
            <a:pPr algn="l" indent="0" marL="0">
              <a:buNone/>
            </a:pPr>
            <a:r>
              <a:rPr lang="en-US" sz="950" b="1" dirty="0">
                <a:solidFill>
                  <a:srgbClr val="000000"/>
                </a:solidFill>
                <a:latin typeface="Arial" pitchFamily="34" charset="0"/>
                <a:ea typeface="Arial" pitchFamily="34" charset="-122"/>
                <a:cs typeface="Arial" pitchFamily="34" charset="-120"/>
              </a:rPr>
              <a:t>Why
</a:t>
            </a:r>
            <a:pPr algn="l" indent="0" marL="0">
              <a:buNone/>
            </a:pPr>
            <a:r>
              <a:rPr lang="en-US" sz="900" dirty="0">
                <a:solidFill>
                  <a:srgbClr val="000000"/>
                </a:solidFill>
                <a:latin typeface="Arial" pitchFamily="34" charset="0"/>
                <a:ea typeface="Arial" pitchFamily="34" charset="-122"/>
                <a:cs typeface="Arial" pitchFamily="34" charset="-120"/>
              </a:rPr>
              <a:t>The journal covers all four cost elements in one consistent source and reconciles to the ledger. Matches the agreed 'separate trigger per cost element + Job ID'. No runtime lookups. Latency is minutes, which cost reporting tolerates.</a:t>
            </a:r>
            <a:endParaRPr lang="en-US" sz="950" dirty="0"/>
          </a:p>
        </p:txBody>
      </p:sp>
      <p:sp>
        <p:nvSpPr>
          <p:cNvPr id="14" name="Text 12"/>
          <p:cNvSpPr/>
          <p:nvPr/>
        </p:nvSpPr>
        <p:spPr>
          <a:xfrm>
            <a:off x="8321040" y="1143000"/>
            <a:ext cx="3749040" cy="5029200"/>
          </a:xfrm>
          <a:prstGeom prst="roundRect">
            <a:avLst>
              <a:gd name="adj" fmla="val 2439"/>
            </a:avLst>
          </a:prstGeom>
          <a:solidFill>
            <a:srgbClr val="FFFFFF"/>
          </a:solidFill>
          <a:ln w="15875">
            <a:solidFill>
              <a:srgbClr val="000000"/>
            </a:solidFill>
          </a:ln>
        </p:spPr>
        <p:txBody>
          <a:bodyPr wrap="square" rtlCol="0" anchor="ctr"/>
          <a:lstStyle/>
          <a:p>
            <a:pPr indent="0" marL="0">
              <a:buNone/>
            </a:pPr>
            <a:endParaRPr lang="en-US" dirty="0"/>
          </a:p>
        </p:txBody>
      </p:sp>
      <p:sp>
        <p:nvSpPr>
          <p:cNvPr id="15" name="Text 13"/>
          <p:cNvSpPr/>
          <p:nvPr/>
        </p:nvSpPr>
        <p:spPr>
          <a:xfrm>
            <a:off x="8458200" y="1280160"/>
            <a:ext cx="3520440" cy="54864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C — Hybrid: events start an early run</a:t>
            </a:r>
            <a:endParaRPr lang="en-US" sz="1200" dirty="0"/>
          </a:p>
        </p:txBody>
      </p:sp>
      <p:sp>
        <p:nvSpPr>
          <p:cNvPr id="16" name="Text 14"/>
          <p:cNvSpPr/>
          <p:nvPr/>
        </p:nvSpPr>
        <p:spPr>
          <a:xfrm>
            <a:off x="8458200" y="1874520"/>
            <a:ext cx="1371600" cy="292608"/>
          </a:xfrm>
          <a:prstGeom prst="roundRect">
            <a:avLst>
              <a:gd name="adj" fmla="val 18750"/>
            </a:avLst>
          </a:prstGeom>
          <a:solidFill>
            <a:srgbClr val="FFF9EC"/>
          </a:solidFill>
          <a:ln/>
        </p:spPr>
        <p:txBody>
          <a:bodyPr wrap="square" lIns="0" tIns="0" rIns="0" bIns="0" rtlCol="0" anchor="ctr"/>
          <a:lstStyle/>
          <a:p>
            <a:pPr algn="ctr" indent="0" marL="0">
              <a:buNone/>
            </a:pPr>
            <a:r>
              <a:rPr lang="en-US" sz="1000" b="1" dirty="0">
                <a:solidFill>
                  <a:srgbClr val="9C6500"/>
                </a:solidFill>
                <a:latin typeface="Arial" pitchFamily="34" charset="0"/>
                <a:ea typeface="Arial" pitchFamily="34" charset="-122"/>
                <a:cs typeface="Arial" pitchFamily="34" charset="-120"/>
              </a:rPr>
              <a:t>Later option</a:t>
            </a:r>
            <a:endParaRPr lang="en-US" sz="1000" dirty="0"/>
          </a:p>
        </p:txBody>
      </p:sp>
      <p:sp>
        <p:nvSpPr>
          <p:cNvPr id="17" name="Text 15"/>
          <p:cNvSpPr/>
          <p:nvPr/>
        </p:nvSpPr>
        <p:spPr>
          <a:xfrm>
            <a:off x="8458200" y="2331720"/>
            <a:ext cx="3474720" cy="1600200"/>
          </a:xfrm>
          <a:prstGeom prst="rect">
            <a:avLst/>
          </a:prstGeom>
          <a:noFill/>
          <a:ln/>
        </p:spPr>
        <p:txBody>
          <a:bodyPr wrap="square" lIns="0" tIns="0" rIns="0" bIns="0" rtlCol="0" anchor="t"/>
          <a:lstStyle/>
          <a:p>
            <a:pPr algn="l" indent="0" marL="0">
              <a:buNone/>
            </a:pPr>
            <a:r>
              <a:rPr lang="en-US" sz="950" b="1" dirty="0">
                <a:solidFill>
                  <a:srgbClr val="000000"/>
                </a:solidFill>
                <a:latin typeface="Arial" pitchFamily="34" charset="0"/>
                <a:ea typeface="Arial" pitchFamily="34" charset="-122"/>
                <a:cs typeface="Arial" pitchFamily="34" charset="-120"/>
              </a:rPr>
              <a:t>Approach
</a:t>
            </a:r>
            <a:pPr algn="l" indent="0" marL="0">
              <a:buNone/>
            </a:pPr>
            <a:r>
              <a:rPr lang="en-US" sz="900" dirty="0">
                <a:solidFill>
                  <a:srgbClr val="000000"/>
                </a:solidFill>
                <a:latin typeface="Arial" pitchFamily="34" charset="0"/>
                <a:ea typeface="Arial" pitchFamily="34" charset="-122"/>
                <a:cs typeface="Arial" pitchFamily="34" charset="-120"/>
              </a:rPr>
              <a:t>Run Option B as the base. Where a source event already fires (service entry sheet is live in dev), use it to start an early extract run for that WBS. Data still comes only from the journal entry API.</a:t>
            </a:r>
            <a:endParaRPr lang="en-US" sz="950" dirty="0"/>
          </a:p>
        </p:txBody>
      </p:sp>
      <p:sp>
        <p:nvSpPr>
          <p:cNvPr id="18" name="Text 16"/>
          <p:cNvSpPr/>
          <p:nvPr/>
        </p:nvSpPr>
        <p:spPr>
          <a:xfrm>
            <a:off x="8458200" y="3977640"/>
            <a:ext cx="3474720" cy="2011680"/>
          </a:xfrm>
          <a:prstGeom prst="rect">
            <a:avLst/>
          </a:prstGeom>
          <a:noFill/>
          <a:ln/>
        </p:spPr>
        <p:txBody>
          <a:bodyPr wrap="square" lIns="0" tIns="0" rIns="0" bIns="0" rtlCol="0" anchor="t"/>
          <a:lstStyle/>
          <a:p>
            <a:pPr algn="l" indent="0" marL="0">
              <a:buNone/>
            </a:pPr>
            <a:r>
              <a:rPr lang="en-US" sz="950" b="1" dirty="0">
                <a:solidFill>
                  <a:srgbClr val="000000"/>
                </a:solidFill>
                <a:latin typeface="Arial" pitchFamily="34" charset="0"/>
                <a:ea typeface="Arial" pitchFamily="34" charset="-122"/>
                <a:cs typeface="Arial" pitchFamily="34" charset="-120"/>
              </a:rPr>
              <a:t>Why
</a:t>
            </a:r>
            <a:pPr algn="l" indent="0" marL="0">
              <a:buNone/>
            </a:pPr>
            <a:r>
              <a:rPr lang="en-US" sz="900" dirty="0">
                <a:solidFill>
                  <a:srgbClr val="000000"/>
                </a:solidFill>
                <a:latin typeface="Arial" pitchFamily="34" charset="0"/>
                <a:ea typeface="Arial" pitchFamily="34" charset="-122"/>
                <a:cs typeface="Arial" pitchFamily="34" charset="-120"/>
              </a:rPr>
              <a:t>Adds freshness without changing the data source. Only worth building if the 15–60 min cycle is too slow for a named consumer.</a:t>
            </a:r>
            <a:endParaRPr lang="en-US" sz="950" dirty="0"/>
          </a:p>
        </p:txBody>
      </p:sp>
      <p:sp>
        <p:nvSpPr>
          <p:cNvPr id="19" name="Text 17"/>
          <p:cNvSpPr/>
          <p:nvPr/>
        </p:nvSpPr>
        <p:spPr>
          <a:xfrm>
            <a:off x="365760" y="6355080"/>
            <a:ext cx="11430000" cy="274320"/>
          </a:xfrm>
          <a:prstGeom prst="rect">
            <a:avLst/>
          </a:prstGeom>
          <a:noFill/>
          <a:ln/>
        </p:spPr>
        <p:txBody>
          <a:bodyPr wrap="square" lIns="0" tIns="0" rIns="0" bIns="0" rtlCol="0" anchor="ctr"/>
          <a:lstStyle/>
          <a:p>
            <a:pPr indent="0" marL="0">
              <a:buNone/>
            </a:pPr>
            <a:r>
              <a:rPr lang="en-US" sz="850" i="1" dirty="0">
                <a:solidFill>
                  <a:srgbClr val="595959"/>
                </a:solidFill>
                <a:latin typeface="Arial" pitchFamily="34" charset="0"/>
                <a:ea typeface="Arial" pitchFamily="34" charset="-122"/>
                <a:cs typeface="Arial" pitchFamily="34" charset="-120"/>
              </a:rPr>
              <a:t>Confirm before the functional spec: extract frequency, the G/L account groups that define each cost element, the account assignment model (service order item vs direct WBS), and the agreed field list per receiving system.</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2026-08-13T04:49:12Z</dcterms:created>
  <dcterms:modified xsi:type="dcterms:W3CDTF">2026-08-13T04:49:12Z</dcterms:modified>
</cp:coreProperties>
</file>